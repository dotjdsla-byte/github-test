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Lubrication Strategy Follows Criticality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  <a:ea typeface="맑은 고딕"/>
                <a:cs typeface="Calibri"/>
              </a:rPr>
              <a:t>Classified as Internal - This content is proprietary information intended for employees and partners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Why lubrication is preventive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440680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If roughly 80% of failures trace back to contaminated or degraded oil, then every lubrication action counts as preventive maintenance — not housekeeping.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  <a:ea typeface="맑은 고딕"/>
                <a:cs typeface="Calibri"/>
              </a:rPr>
              <a:t>The same logic as heart health: diet and a blood test every six months cost very little. Surgery does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20040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The six functions of a lubricant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27203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657600"/>
            <a:ext cx="2574036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Reduce friction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3260" y="3657600"/>
            <a:ext cx="27203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6412" y="3657600"/>
            <a:ext cx="2574036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Reduce wear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41648"/>
            <a:ext cx="27203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041648"/>
            <a:ext cx="2574036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Prevent corrosion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3260" y="4041648"/>
            <a:ext cx="27203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6412" y="4041648"/>
            <a:ext cx="2574036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Remove heat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25696"/>
            <a:ext cx="27203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425696"/>
            <a:ext cx="2574036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Remove contaminants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3260" y="4425696"/>
            <a:ext cx="27203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6412" y="4425696"/>
            <a:ext cx="2574036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Transmit fluid power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There is no single right answer — spend where it counts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1783080"/>
            <a:ext cx="2606040" cy="5669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1783080"/>
            <a:ext cx="24597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Equipment character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392" y="1783080"/>
            <a:ext cx="2834640" cy="5669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4544" y="1783080"/>
            <a:ext cx="26883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What to specify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2350008"/>
            <a:ext cx="2606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2350008"/>
            <a:ext cx="24597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Cheap, easy to replace,
not critical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51392" y="2350008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4544" y="2350008"/>
            <a:ext cx="26883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A basic lubricant is enough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2916936"/>
            <a:ext cx="2606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2916936"/>
            <a:ext cx="24597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Spare held on board,
quick swap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51392" y="2916936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4544" y="2916936"/>
            <a:ext cx="26883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Standard grade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3483864"/>
            <a:ext cx="2606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3483864"/>
            <a:ext cx="24597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3D"/>
                </a:solidFill>
                <a:latin typeface="Calibri"/>
                <a:ea typeface="맑은 고딕"/>
                <a:cs typeface="Calibri"/>
              </a:rPr>
              <a:t>Stern tube, thruster —
costly, hard to reach,
expensive downtime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51392" y="3483864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544" y="3483864"/>
            <a:ext cx="2688336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3D"/>
                </a:solidFill>
                <a:latin typeface="Calibri"/>
                <a:ea typeface="맑은 고딕"/>
                <a:cs typeface="Calibri"/>
              </a:rPr>
              <a:t>Specify the best available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4279392"/>
            <a:ext cx="5440680" cy="64008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279392"/>
            <a:ext cx="5074920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72A4A"/>
                </a:solidFill>
                <a:latin typeface="Calibri"/>
                <a:ea typeface="맑은 고딕"/>
                <a:cs typeface="Calibri"/>
              </a:rPr>
              <a:t>Criticality — not price — sets the specification.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Friction and the Four Lubrication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  <a:ea typeface="맑은 고딕"/>
                <a:cs typeface="Calibri"/>
              </a:rPr>
              <a:t>Classified as Internal - This content is proprietary information intended for employees and partners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Stribeck curve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5440680" cy="27289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636008"/>
            <a:ext cx="544068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  <a:ea typeface="맑은 고딕"/>
                <a:cs typeface="Calibri"/>
              </a:rPr>
              <a:t>Friction against ZN/P, and where each regime shows up on 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5440680" cy="64008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5074920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72A4A"/>
                </a:solidFill>
                <a:latin typeface="Calibri"/>
                <a:ea typeface="맑은 고딕"/>
                <a:cs typeface="Calibri"/>
              </a:rPr>
              <a:t>Slow and heavily loaded → higher viscosity, so the film forms sooner.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The intuition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783080"/>
            <a:ext cx="5440680" cy="26418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45352" y="4544568"/>
            <a:ext cx="5440680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Push a block across concrete and friction is highest before it moves — and barely depends on speed.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Add a lubricant and friction drops sharply. Keep raising the speed and it climbs again, the way a ship has to push aside more water the faster it goes: now the oil itself is what must be sheared.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Base Oils — Mineral and Synthetic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  <a:ea typeface="맑은 고딕"/>
                <a:cs typeface="Calibri"/>
              </a:rPr>
              <a:t>Classified as Internal - This content is proprietary information intended for employees and partners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Two ways to make a base oil</a:t>
            </a:r>
          </a:p>
        </p:txBody>
      </p:sp>
      <p:pic>
        <p:nvPicPr>
          <p:cNvPr id="7" name="Picture 6" descr="image9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5440680" cy="24029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325112"/>
            <a:ext cx="5440680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Mineral — refined from crude oil. A box of mixed Lego: many shapes, many sizes, whatever the barrel gave you.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Synthetic — known molecules assembled into the structure you actually want.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API base oil groups</a:t>
            </a:r>
          </a:p>
        </p:txBody>
      </p:sp>
      <p:pic>
        <p:nvPicPr>
          <p:cNvPr id="11" name="Picture 10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783080"/>
            <a:ext cx="5440680" cy="26429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5352" y="4572000"/>
            <a:ext cx="5440680" cy="1463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Group III is sold as synthetic in most markets, but it is still refined mineral stock — synthetic in name.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Group IV (PAO) is the workhorse synthetic — gears and some compressors.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Group V is everything that fits nowhere else, which does not make it better.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5669280"/>
            <a:ext cx="5440680" cy="59436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5669280"/>
            <a:ext cx="5074920" cy="5943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72A4A"/>
                </a:solidFill>
                <a:latin typeface="Calibri"/>
                <a:ea typeface="맑은 고딕"/>
                <a:cs typeface="Calibri"/>
              </a:rPr>
              <a:t>Viscosity Index = how much the oil thins as it heats. Higher VI, flatter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Additives, Viscosity and Grease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  <a:ea typeface="맑은 고딕"/>
                <a:cs typeface="Calibri"/>
              </a:rPr>
              <a:t>Classified as Internal - This content is proprietary information intended for employees and partners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Additive families</a:t>
            </a:r>
          </a:p>
        </p:txBody>
      </p:sp>
      <p:pic>
        <p:nvPicPr>
          <p:cNvPr id="7" name="Picture 6" descr="image11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783080"/>
            <a:ext cx="4297680" cy="27302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636008"/>
            <a:ext cx="544068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6F3D"/>
                </a:solidFill>
                <a:latin typeface="Calibri"/>
                <a:ea typeface="맑은 고딕"/>
                <a:cs typeface="Calibri"/>
              </a:rPr>
              <a:t>Additives are the most expensive part of the blend — do not pay for what the application does not need.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66360"/>
            <a:ext cx="2240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5166360"/>
            <a:ext cx="209397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Open to atmosphere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5166360"/>
            <a:ext cx="3200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5166360"/>
            <a:ext cx="305409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More oxidation inhibitor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458968"/>
            <a:ext cx="2240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5458968"/>
            <a:ext cx="209397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Heavily loaded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5458968"/>
            <a:ext cx="3200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5458968"/>
            <a:ext cx="305409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Extreme pressure (EP)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51576"/>
            <a:ext cx="2240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5751576"/>
            <a:ext cx="209397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Hydraulic pump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751576"/>
            <a:ext cx="3200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5751576"/>
            <a:ext cx="305409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Antiwear (AW)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44184"/>
            <a:ext cx="2240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6044184"/>
            <a:ext cx="209397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Compressor, turbine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6044184"/>
            <a:ext cx="3200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16352" y="6044184"/>
            <a:ext cx="3054096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R&amp;O — rust and oxidation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325880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325880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The three properties that matter most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783080"/>
            <a:ext cx="594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1783080"/>
            <a:ext cx="448056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72A4A"/>
                </a:solidFill>
                <a:latin typeface="Calibri"/>
                <a:ea typeface="맑은 고딕"/>
                <a:cs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9712" y="1783080"/>
            <a:ext cx="4846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1783080"/>
            <a:ext cx="4700016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Viscosity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112264"/>
            <a:ext cx="594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2112264"/>
            <a:ext cx="448056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72A4A"/>
                </a:solidFill>
                <a:latin typeface="Calibri"/>
                <a:ea typeface="맑은 고딕"/>
                <a:cs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9712" y="2112264"/>
            <a:ext cx="4846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2112264"/>
            <a:ext cx="4700016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Viscosity against temperature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441448"/>
            <a:ext cx="594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2441448"/>
            <a:ext cx="448056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72A4A"/>
                </a:solidFill>
                <a:latin typeface="Calibri"/>
                <a:ea typeface="맑은 고딕"/>
                <a:cs typeface="Calibr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39712" y="2441448"/>
            <a:ext cx="4846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2864" y="2441448"/>
            <a:ext cx="4700016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Viscosity against pressure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80360"/>
            <a:ext cx="54406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Calibri"/>
                <a:ea typeface="맑은 고딕"/>
                <a:cs typeface="Calibri"/>
              </a:rPr>
              <a:t>Kinematic viscosity is the figure normally quoted; ISO VG is the grading standard.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3456432"/>
            <a:ext cx="544068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456432"/>
            <a:ext cx="525780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Calibri"/>
                <a:ea typeface="맑은 고딕"/>
                <a:cs typeface="Calibri"/>
              </a:rPr>
              <a:t>Grease = base oil + thickener + additives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913632"/>
            <a:ext cx="5440680" cy="1463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Think of a sponge holding water. Squeeze it and water comes out; release it and the sponge takes the water back.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맑은 고딕"/>
                <a:cs typeface="Calibri"/>
              </a:rPr>
              <a:t>The thickener matrix holds the base oil until the bearing turns and load comes on. The oil is pushed out, and it is the base oil that does the lubricating.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5513832"/>
            <a:ext cx="5440680" cy="73152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5513832"/>
            <a:ext cx="5074920" cy="7315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72A4A"/>
                </a:solidFill>
                <a:latin typeface="Calibri"/>
                <a:ea typeface="맑은 고딕"/>
                <a:cs typeface="Calibri"/>
              </a:rPr>
              <a:t>Consistency is graded by worked penetration (NLGI). NLGI 2 is the general multipurpose grade.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