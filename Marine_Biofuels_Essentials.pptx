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343" autoAdjust="0"/>
  </p:normalViewPr>
  <p:slideViewPr>
    <p:cSldViewPr snapToGrid="0" snapToObjects="1">
      <p:cViewPr varScale="1">
        <p:scale>
          <a:sx n="67" d="100"/>
          <a:sy n="67" d="100"/>
        </p:scale>
        <p:origin x="55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ong, Peter" userId="84dba6ce-dc99-4d1d-b73d-a1e33699aa70" providerId="ADAL" clId="{BE2B2E2D-DACA-45F7-A15F-EEBD169E5821}"/>
    <pc:docChg chg="addSld">
      <pc:chgData name="Jeong, Peter" userId="84dba6ce-dc99-4d1d-b73d-a1e33699aa70" providerId="ADAL" clId="{BE2B2E2D-DACA-45F7-A15F-EEBD169E5821}" dt="2026-08-20T07:47:04.534" v="0" actId="680"/>
      <pc:docMkLst>
        <pc:docMk/>
      </pc:docMkLst>
      <pc:sldChg chg="new">
        <pc:chgData name="Jeong, Peter" userId="84dba6ce-dc99-4d1d-b73d-a1e33699aa70" providerId="ADAL" clId="{BE2B2E2D-DACA-45F7-A15F-EEBD169E5821}" dt="2026-08-20T07:47:04.534" v="0" actId="680"/>
        <pc:sldMkLst>
          <pc:docMk/>
          <pc:sldMk cId="2831487298"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0569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Opening — 30 sec.</a:t>
            </a:r>
          </a:p>
          <a:p>
            <a:endParaRPr lang="ko-KR" altLang="en-US" dirty="0"/>
          </a:p>
          <a:p>
            <a:r>
              <a:rPr lang="ko-KR" altLang="en-US" dirty="0"/>
              <a:t>Biofuel is the one alternative fuel a customer can adopt without touching the ship. That is exactly why it gets underestimated.</a:t>
            </a:r>
          </a:p>
          <a:p>
            <a:endParaRPr lang="ko-KR" altLang="en-US" dirty="0"/>
          </a:p>
          <a:p>
            <a:r>
              <a:rPr lang="ko-KR" altLang="en-US" dirty="0"/>
              <a:t>Today: what actually goes wrong on board, what to check before bunkering, what the regulators require, and what the price really pays for.</a:t>
            </a:r>
          </a:p>
          <a:p>
            <a:endParaRPr lang="ko-KR" altLang="en-US" dirty="0"/>
          </a:p>
          <a:p>
            <a:r>
              <a:rPr lang="ko-KR" altLang="en-US" dirty="0"/>
              <a:t>Four parts, about 15 minutes. Source is the SSA Biofuels FAQ, August 2026 edition.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1 min — say these five, then spend the rest of the deck backing them up.</a:t>
            </a:r>
          </a:p>
          <a:p>
            <a:endParaRPr lang="ko-KR" altLang="en-US" dirty="0"/>
          </a:p>
          <a:p>
            <a:r>
              <a:rPr lang="ko-KR" altLang="en-US" dirty="0"/>
              <a:t>Message 1 is the one customers most often miss. Drop-in means no engine conversion. It does not mean no management.</a:t>
            </a:r>
          </a:p>
          <a:p>
            <a:endParaRPr lang="ko-KR" altLang="en-US" dirty="0"/>
          </a:p>
          <a:p>
            <a:r>
              <a:rPr lang="ko-KR" altLang="en-US" dirty="0"/>
              <a:t>Message 3 and 4 are where the money is: the regulatory benefit comes from certification, not from the fuel itself.</a:t>
            </a:r>
          </a:p>
          <a:p>
            <a:endParaRPr lang="ko-KR" altLang="en-US" dirty="0"/>
          </a:p>
          <a:p>
            <a:r>
              <a:rPr lang="ko-KR" altLang="en-US" dirty="0"/>
              <a:t>Message 5 explains the price. The premium is not just energy — it is compliance value.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2 min — the single most useful slide for a chief engineer.</a:t>
            </a:r>
          </a:p>
          <a:p>
            <a:endParaRPr lang="ko-KR" altLang="en-US" dirty="0"/>
          </a:p>
          <a:p>
            <a:r>
              <a:rPr lang="ko-KR" altLang="en-US" dirty="0"/>
              <a:t>Read the chain on the left out loud. Water, oxidation and microbial activity all end in the same place: sludge, and then blocked filters and purifiers.</a:t>
            </a:r>
          </a:p>
          <a:p>
            <a:endParaRPr lang="ko-KR" altLang="en-US" dirty="0"/>
          </a:p>
          <a:p>
            <a:r>
              <a:rPr lang="ko-KR" altLang="en-US" dirty="0"/>
              <a:t>The FAME solvent property is the one that surprises crews. The fuel does not create the deposit — it releases what was already on the tank walls. So the clogging is worst right after switching, then settles.</a:t>
            </a:r>
          </a:p>
          <a:p>
            <a:endParaRPr lang="ko-KR" altLang="en-US" dirty="0"/>
          </a:p>
          <a:p>
            <a:r>
              <a:rPr lang="ko-KR" altLang="en-US" dirty="0"/>
              <a:t>That is why the sequence on the right matters. Clean the tank first, and watch the filters hardest in the first days after bunkering.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1 min — keep it short, it is a reference slide.</a:t>
            </a:r>
          </a:p>
          <a:p>
            <a:endParaRPr lang="ko-KR" altLang="en-US" dirty="0"/>
          </a:p>
          <a:p>
            <a:r>
              <a:rPr lang="ko-KR" altLang="en-US" dirty="0"/>
              <a:t>One additive per problem. Nothing here is a general-purpose fix.</a:t>
            </a:r>
          </a:p>
          <a:p>
            <a:endParaRPr lang="ko-KR" altLang="en-US" dirty="0"/>
          </a:p>
          <a:p>
            <a:r>
              <a:rPr lang="ko-KR" altLang="en-US" dirty="0"/>
              <a:t>The line to emphasise is the antioxidant caveat: oxidation is irreversible. An antioxidant slows what has not happened yet. It does not restore fuel that has already degraded.</a:t>
            </a:r>
          </a:p>
          <a:p>
            <a:endParaRPr lang="ko-KR" altLang="en-US" dirty="0"/>
          </a:p>
          <a:p>
            <a:r>
              <a:rPr lang="ko-KR" altLang="en-US" dirty="0"/>
              <a:t>And the FAQ is explicit that dosage and efficacy should be agreed between supplier and end user — not decided on board.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1 min 30.</a:t>
            </a:r>
          </a:p>
          <a:p>
            <a:endParaRPr lang="ko-KR" altLang="en-US" dirty="0"/>
          </a:p>
          <a:p>
            <a:r>
              <a:rPr lang="ko-KR" altLang="en-US" dirty="0"/>
              <a:t>Three rules. Ten degrees above pour point, no temperature swings, use it within about three months.</a:t>
            </a:r>
          </a:p>
          <a:p>
            <a:endParaRPr lang="ko-KR" altLang="en-US" dirty="0"/>
          </a:p>
          <a:p>
            <a:r>
              <a:rPr lang="ko-KR" altLang="en-US" dirty="0"/>
              <a:t>Be honest about the three months. GCMD stored B24 on board for six months and the acid value rose but stayed inside ISO 8217 limits under the conditions tested. So three months is a practical rule of thumb, not a cliff.</a:t>
            </a:r>
          </a:p>
          <a:p>
            <a:endParaRPr lang="ko-KR" altLang="en-US" dirty="0"/>
          </a:p>
          <a:p>
            <a:r>
              <a:rPr lang="ko-KR" altLang="en-US" dirty="0"/>
              <a:t>If a customer has to store longer, the answer is not to refuse — it is to monitor the four indicators on the right and keep the stock turning.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1 min — two corrections customers appreciate.</a:t>
            </a:r>
          </a:p>
          <a:p>
            <a:endParaRPr lang="ko-KR" altLang="en-US" dirty="0"/>
          </a:p>
          <a:p>
            <a:r>
              <a:rPr lang="ko-KR" altLang="en-US" dirty="0"/>
              <a:t>First, B30 is not 30 percent FAME. The number is bio-content by volume. Since EN 14214 B100 is at least 96.5 percent FAME by mass, B30 gives you about 28.95 percent. It matters when anyone calculates blends or emission factors.</a:t>
            </a:r>
          </a:p>
          <a:p>
            <a:endParaRPr lang="ko-KR" altLang="en-US" dirty="0"/>
          </a:p>
          <a:p>
            <a:r>
              <a:rPr lang="ko-KR" altLang="en-US" dirty="0"/>
              <a:t>Second, checking the engine is not checking the ship. Purifiers, filters, the treatment plant, the boiler, seals and gaskets, and the tank and piping all sit in the fuel path. Any one of them can be the weak link.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1 min 30.</a:t>
            </a:r>
          </a:p>
          <a:p>
            <a:endParaRPr lang="ko-KR" altLang="en-US" dirty="0"/>
          </a:p>
          <a:p>
            <a:r>
              <a:rPr lang="ko-KR" altLang="en-US" dirty="0"/>
              <a:t>Get the confirmation in writing. A Letter of No Objection, or a service letter, stating which blends the engine accepts. Verbal assurance is not enough if a claim follows.</a:t>
            </a:r>
          </a:p>
          <a:p>
            <a:endParaRPr lang="ko-KR" altLang="en-US" dirty="0"/>
          </a:p>
          <a:p>
            <a:r>
              <a:rPr lang="ko-KR" altLang="en-US" dirty="0"/>
              <a:t>If the OEM will not confirm, it is not a dead end — Class will assess the installed arrangement and any proposed modification instead.</a:t>
            </a:r>
          </a:p>
          <a:p>
            <a:endParaRPr lang="ko-KR" altLang="en-US" dirty="0"/>
          </a:p>
          <a:p>
            <a:r>
              <a:rPr lang="ko-KR" altLang="en-US" dirty="0"/>
              <a:t>The right-hand list is what Class typically asks for. Worth sending to the customer early, because assembling it takes longer than they expect.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2 min — the part customers ask about most.</a:t>
            </a:r>
          </a:p>
          <a:p>
            <a:endParaRPr lang="ko-KR" altLang="en-US" dirty="0"/>
          </a:p>
          <a:p>
            <a:r>
              <a:rPr lang="ko-KR" altLang="en-US" dirty="0"/>
              <a:t>IMO first. Interim guidance recognises certified sustainable biofuel: at least 65 percent well-to-wake reduction against fossil MGO at 94 grams, so 33 grams or below. Certified under ISCC or RSB. And the Proof of Sustainability has to come with the Bunker Delivery Note, or none of it counts.</a:t>
            </a:r>
          </a:p>
          <a:p>
            <a:endParaRPr lang="ko-KR" altLang="en-US" dirty="0"/>
          </a:p>
          <a:p>
            <a:r>
              <a:rPr lang="ko-KR" altLang="en-US" dirty="0"/>
              <a:t>EU next, and the easy way to remember it: ETS asks what the ship actually emitted — tank-to-wake. FuelEU asks what the energy cost over its whole life — well-to-wake.</a:t>
            </a:r>
          </a:p>
          <a:p>
            <a:endParaRPr lang="ko-KR" altLang="en-US" dirty="0"/>
          </a:p>
          <a:p>
            <a:r>
              <a:rPr lang="ko-KR" altLang="en-US" dirty="0"/>
              <a:t>The key point for both: not every biofuel qualifies. Miss the RED III 65 percent threshold, or use a food or feed crop feedstock, and it is treated as its fossil equivalent.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1 min 30 — flag this as the change to plan for.</a:t>
            </a:r>
          </a:p>
          <a:p>
            <a:endParaRPr lang="ko-KR" altLang="en-US" dirty="0"/>
          </a:p>
          <a:p>
            <a:r>
              <a:rPr lang="ko-KR" altLang="en-US" dirty="0"/>
              <a:t>From 1 January 2027, the conversion factor for a blend moves from an energy-weighted average to a mass-weighted average. Same fuel, different number, and it feeds straight into CII.</a:t>
            </a:r>
          </a:p>
          <a:p>
            <a:endParaRPr lang="ko-KR" altLang="en-US" dirty="0"/>
          </a:p>
          <a:p>
            <a:r>
              <a:rPr lang="ko-KR" altLang="en-US" dirty="0"/>
              <a:t>The second change is the one with commercial teeth: if the biogenic component is not certified, the whole blend is treated as the equivalent fossil fuel.</a:t>
            </a:r>
          </a:p>
          <a:p>
            <a:endParaRPr lang="ko-KR" altLang="en-US" dirty="0"/>
          </a:p>
          <a:p>
            <a:r>
              <a:rPr lang="ko-KR" altLang="en-US" dirty="0"/>
              <a:t>So the message to the customer is simple. Buying biofuel is not the compliance event. Certification and the PoS are.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1 min 30.</a:t>
            </a:r>
          </a:p>
          <a:p>
            <a:endParaRPr lang="ko-KR" altLang="en-US" dirty="0"/>
          </a:p>
          <a:p>
            <a:r>
              <a:rPr lang="ko-KR" altLang="en-US" dirty="0"/>
              <a:t>The main chain runs oxidation, degradation and acid formation, sludge, then blockage. Three side paths feed into it: water leading to microbial growth, low temperature leading to wax, and the FAME solvent property attacking materials.</a:t>
            </a:r>
          </a:p>
          <a:p>
            <a:endParaRPr lang="ko-KR" altLang="en-US" dirty="0"/>
          </a:p>
          <a:p>
            <a:r>
              <a:rPr lang="ko-KR" altLang="en-US" dirty="0"/>
              <a:t>On testing, ISO 8217:2024 is the base but it is not sufficient on its own — TR 140:2025 adds the parameters that matter for a blend.</a:t>
            </a:r>
          </a:p>
          <a:p>
            <a:endParaRPr lang="ko-KR" altLang="en-US" dirty="0"/>
          </a:p>
          <a:p>
            <a:r>
              <a:rPr lang="ko-KR" altLang="en-US" dirty="0"/>
              <a:t>Iodine value is worth calling out. It measures unsaturation, and unsaturation drives oxidation, polymerisation and sediment. It is the cheapest early warning you can buy.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1 min 30.</a:t>
            </a:r>
          </a:p>
          <a:p>
            <a:endParaRPr lang="ko-KR" altLang="en-US" dirty="0"/>
          </a:p>
          <a:p>
            <a:r>
              <a:rPr lang="ko-KR" altLang="en-US" dirty="0"/>
              <a:t>Through 2024 and 2025 the B24 and B30 premium held in the low to mid 200 dollars per tonne over cargo prices, mainly in Singapore.</a:t>
            </a:r>
          </a:p>
          <a:p>
            <a:endParaRPr lang="ko-KR" altLang="en-US" dirty="0"/>
          </a:p>
          <a:p>
            <a:r>
              <a:rPr lang="ko-KR" altLang="en-US" dirty="0"/>
              <a:t>It held because the buyers were owners with EU compliance exposure. When demand softened the premium narrowed, but prices did not fall — they track crude and VLSFO, not biofuel fundamentals.</a:t>
            </a:r>
          </a:p>
          <a:p>
            <a:endParaRPr lang="ko-KR" altLang="en-US" dirty="0"/>
          </a:p>
          <a:p>
            <a:r>
              <a:rPr lang="ko-KR" altLang="en-US" dirty="0"/>
              <a:t>Then the PoS. Unlike the BDN it is not issued on delivery, because the supplier has to allocate quantity across the chain. Around 30 days for a new feedstock batch, faster afterwards, and one delivery can carry several PoS. Tell customers this up front — it is a common source of complaints.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1 min — close on the chain, then invite questions.</a:t>
            </a:r>
          </a:p>
          <a:p>
            <a:endParaRPr lang="ko-KR" altLang="en-US" dirty="0"/>
          </a:p>
          <a:p>
            <a:r>
              <a:rPr lang="ko-KR" altLang="en-US" dirty="0"/>
              <a:t>This is the line to leave them with. The technical work protects the machinery. The certification converts the fuel into a regulatory benefit. And that benefit is what the premium is actually buying.</a:t>
            </a:r>
          </a:p>
          <a:p>
            <a:endParaRPr lang="ko-KR" altLang="en-US" dirty="0"/>
          </a:p>
          <a:p>
            <a:r>
              <a:rPr lang="ko-KR" altLang="en-US" dirty="0"/>
              <a:t>Break any one link and the customer is paying a 200 dollar premium for a fuel that gives them no compliance credit and a filter problem.</a:t>
            </a:r>
          </a:p>
          <a:p>
            <a:endParaRPr lang="ko-KR" altLang="en-US" dirty="0"/>
          </a:p>
          <a:p>
            <a:r>
              <a:rPr lang="ko-KR" altLang="en-US" dirty="0"/>
              <a:t>That is where we can help — on all three links, not just the supply.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896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FBE5D85A-D5CA-3CDB-2D2C-737E2B81245C}"/>
              </a:ext>
            </a:extLst>
          </p:cNvPr>
          <p:cNvSpPr txBox="1"/>
          <p:nvPr userDrawn="1">
            <p:extLst>
              <p:ext uri="{1162E1C5-73C7-4A58-AE30-91384D911F3F}">
                <p184:classification xmlns:p184="http://schemas.microsoft.com/office/powerpoint/2018/4/main" val="ftr"/>
              </p:ext>
            </p:extLst>
          </p:nvPr>
        </p:nvSpPr>
        <p:spPr>
          <a:xfrm>
            <a:off x="63500" y="6642100"/>
            <a:ext cx="569277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Internal - This content is proprietary information intended for employees and partners only.</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F49DF0-6E37-F7B0-2AA4-A1FA68754445}"/>
              </a:ext>
            </a:extLst>
          </p:cNvPr>
          <p:cNvSpPr txBox="1"/>
          <p:nvPr userDrawn="1">
            <p:extLst>
              <p:ext uri="{1162E1C5-73C7-4A58-AE30-91384D911F3F}">
                <p184:classification xmlns:p184="http://schemas.microsoft.com/office/powerpoint/2018/4/main" val="ftr"/>
              </p:ext>
            </p:extLst>
          </p:nvPr>
        </p:nvSpPr>
        <p:spPr>
          <a:xfrm>
            <a:off x="84667" y="6570134"/>
            <a:ext cx="7590367" cy="205121"/>
          </a:xfrm>
          <a:prstGeom prst="rect">
            <a:avLst/>
          </a:prstGeom>
        </p:spPr>
        <p:txBody>
          <a:bodyPr horzOverflow="overflow" lIns="0" tIns="0" rIns="0" bIns="0">
            <a:spAutoFit/>
          </a:bodyPr>
          <a:lstStyle/>
          <a:p>
            <a:pPr algn="l"/>
            <a:r>
              <a:rPr lang="en-US" sz="1333">
                <a:solidFill>
                  <a:srgbClr val="000000">
                    <a:alpha val="50000"/>
                  </a:srgbClr>
                </a:solidFill>
                <a:latin typeface="Aptos" panose="020B0004020202020204" pitchFamily="34" charset="0"/>
              </a:rPr>
              <a:t>Classified as Internal - This content is proprietary information intended for employees and partners only.</a:t>
            </a:r>
          </a:p>
        </p:txBody>
      </p:sp>
    </p:spTree>
    <p:extLst>
      <p:ext uri="{BB962C8B-B14F-4D97-AF65-F5344CB8AC3E}">
        <p14:creationId xmlns:p14="http://schemas.microsoft.com/office/powerpoint/2010/main" val="4038517432"/>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2.png"/><Relationship Id="rIdNotes"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globe_only.png"/>
          <p:cNvPicPr>
            <a:picLocks noChangeAspect="1"/>
          </p:cNvPicPr>
          <p:nvPr/>
        </p:nvPicPr>
        <p:blipFill>
          <a:blip r:embed="rId3"/>
          <a:srcRect/>
          <a:stretch/>
        </p:blipFill>
        <p:spPr>
          <a:xfrm>
            <a:off x="6888175" y="0"/>
            <a:ext cx="5303520" cy="6858000"/>
          </a:xfrm>
          <a:prstGeom prst="rect">
            <a:avLst/>
          </a:prstGeom>
        </p:spPr>
      </p:pic>
      <p:pic>
        <p:nvPicPr>
          <p:cNvPr id="3" name="Image 1" descr="wil_logo.png"/>
          <p:cNvPicPr>
            <a:picLocks noChangeAspect="1"/>
          </p:cNvPicPr>
          <p:nvPr/>
        </p:nvPicPr>
        <p:blipFill>
          <a:blip r:embed="rId4"/>
          <a:srcRect/>
          <a:stretch/>
        </p:blipFill>
        <p:spPr>
          <a:xfrm>
            <a:off x="548640" y="457200"/>
            <a:ext cx="1554480" cy="438912"/>
          </a:xfrm>
          <a:prstGeom prst="rect">
            <a:avLst/>
          </a:prstGeom>
        </p:spPr>
      </p:pic>
      <p:sp>
        <p:nvSpPr>
          <p:cNvPr id="5" name="Text 1"/>
          <p:cNvSpPr/>
          <p:nvPr/>
        </p:nvSpPr>
        <p:spPr>
          <a:xfrm>
            <a:off x="566928" y="896112"/>
            <a:ext cx="8686800" cy="2560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4472C4">
                    <a:lumMod val="75000"/>
                  </a:srgbClr>
                </a:solidFill>
                <a:effectLst/>
                <a:uLnTx/>
                <a:uFillTx/>
                <a:latin typeface="Oswald"/>
                <a:ea typeface="Oswald"/>
                <a:cs typeface="Oswald"/>
                <a:sym typeface="Oswald"/>
              </a:rPr>
              <a:t>AGENDA</a:t>
            </a:r>
            <a:endParaRPr kumimoji="0" lang="en-US" sz="5400" b="0" i="0" u="none" strike="noStrike" kern="0" cap="none" spc="0" normalizeH="0" baseline="0" noProof="0" dirty="0">
              <a:ln>
                <a:noFill/>
              </a:ln>
              <a:solidFill>
                <a:srgbClr val="4472C4">
                  <a:lumMod val="75000"/>
                </a:srgbClr>
              </a:solidFill>
              <a:effectLst/>
              <a:uLnTx/>
              <a:uFillTx/>
              <a:latin typeface="Arial"/>
              <a:cs typeface="Arial"/>
              <a:sym typeface="Arial"/>
            </a:endParaRPr>
          </a:p>
        </p:txBody>
      </p:sp>
      <p:sp>
        <p:nvSpPr>
          <p:cNvPr id="4" name="Google Shape;99;p14">
            <a:extLst>
              <a:ext uri="{FF2B5EF4-FFF2-40B4-BE49-F238E27FC236}">
                <a16:creationId xmlns:a16="http://schemas.microsoft.com/office/drawing/2014/main" id="{A8359433-9952-6A10-0453-926E743CAAF4}"/>
              </a:ext>
            </a:extLst>
          </p:cNvPr>
          <p:cNvSpPr/>
          <p:nvPr/>
        </p:nvSpPr>
        <p:spPr>
          <a:xfrm flipV="1">
            <a:off x="566928" y="2793559"/>
            <a:ext cx="6321247" cy="45719"/>
          </a:xfrm>
          <a:prstGeom prst="rect">
            <a:avLst/>
          </a:prstGeom>
          <a:solidFill>
            <a:schemeClr val="bg1">
              <a:lumMod val="85000"/>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20" name="Agenda 1"/>
          <p:cNvSpPr txBox="1"/>
          <p:nvPr/>
        </p:nvSpPr>
        <p:spPr>
          <a:xfrm>
            <a:off x="548641" y="3193691"/>
            <a:ext cx="6241774" cy="492443"/>
          </a:xfrm>
          <a:prstGeom prst="rect">
            <a:avLst/>
          </a:prstGeom>
          <a:noFill/>
          <a:ln>
            <a:noFill/>
          </a:ln>
        </p:spPr>
        <p:txBody>
          <a:bodyPr spcFirstLastPara="1" wrap="square" lIns="0" tIns="0" rIns="0" bIns="0" anchor="t" anchorCtr="0"/>
          <a:lstStyle/>
          <a:p>
            <a:pPr lvl="0" defTabSz="914400">
              <a:lnSpc>
                <a:spcPct val="160000"/>
              </a:lnSpc>
            </a:pPr>
            <a:r>
              <a:rPr lang="en-US" sz="1800" b="1" kern="0" dirty="0">
                <a:solidFill>
                  <a:srgbClr val="ED7D31"/>
                </a:solidFill>
                <a:latin typeface="Roboto"/>
                <a:ea typeface="맑은 고딕"/>
                <a:cs typeface="Roboto"/>
                <a:sym typeface="Roboto"/>
              </a:rPr>
              <a:t>01  Technical — what goes wrong on board</a:t>
            </a:r>
          </a:p>
        </p:txBody>
      </p:sp>
      <p:sp>
        <p:nvSpPr>
          <p:cNvPr id="21" name="Agenda 2"/>
          <p:cNvSpPr txBox="1"/>
          <p:nvPr/>
        </p:nvSpPr>
        <p:spPr>
          <a:xfrm>
            <a:off x="548641" y="3823615"/>
            <a:ext cx="6241774" cy="492443"/>
          </a:xfrm>
          <a:prstGeom prst="rect">
            <a:avLst/>
          </a:prstGeom>
          <a:noFill/>
          <a:ln>
            <a:noFill/>
          </a:ln>
        </p:spPr>
        <p:txBody>
          <a:bodyPr spcFirstLastPara="1" wrap="square" lIns="0" tIns="0" rIns="0" bIns="0" anchor="t" anchorCtr="0"/>
          <a:lstStyle/>
          <a:p>
            <a:pPr lvl="0" defTabSz="914400">
              <a:lnSpc>
                <a:spcPct val="160000"/>
              </a:lnSpc>
            </a:pPr>
            <a:r>
              <a:rPr lang="en-US" sz="1800" b="1" kern="0" dirty="0">
                <a:solidFill>
                  <a:srgbClr val="ED7D31"/>
                </a:solidFill>
                <a:latin typeface="Roboto"/>
                <a:ea typeface="맑은 고딕"/>
                <a:cs typeface="Roboto"/>
                <a:sym typeface="Roboto"/>
              </a:rPr>
              <a:t>02  Before you bunker — checks and approvals</a:t>
            </a:r>
          </a:p>
        </p:txBody>
      </p:sp>
      <p:sp>
        <p:nvSpPr>
          <p:cNvPr id="22" name="Agenda 3"/>
          <p:cNvSpPr txBox="1"/>
          <p:nvPr/>
        </p:nvSpPr>
        <p:spPr>
          <a:xfrm>
            <a:off x="548641" y="4453539"/>
            <a:ext cx="6241774" cy="492443"/>
          </a:xfrm>
          <a:prstGeom prst="rect">
            <a:avLst/>
          </a:prstGeom>
          <a:noFill/>
          <a:ln>
            <a:noFill/>
          </a:ln>
        </p:spPr>
        <p:txBody>
          <a:bodyPr spcFirstLastPara="1" wrap="square" lIns="0" tIns="0" rIns="0" bIns="0" anchor="t" anchorCtr="0"/>
          <a:lstStyle/>
          <a:p>
            <a:pPr lvl="0" defTabSz="914400">
              <a:lnSpc>
                <a:spcPct val="160000"/>
              </a:lnSpc>
            </a:pPr>
            <a:r>
              <a:rPr lang="en-US" sz="1800" b="1" kern="0" dirty="0">
                <a:solidFill>
                  <a:srgbClr val="ED7D31"/>
                </a:solidFill>
                <a:latin typeface="Roboto"/>
                <a:ea typeface="맑은 고딕"/>
                <a:cs typeface="Roboto"/>
                <a:sym typeface="Roboto"/>
              </a:rPr>
              <a:t>03  Regulatory — IMO, EU and 2027</a:t>
            </a:r>
          </a:p>
        </p:txBody>
      </p:sp>
      <p:sp>
        <p:nvSpPr>
          <p:cNvPr id="23" name="Agenda 4"/>
          <p:cNvSpPr txBox="1"/>
          <p:nvPr/>
        </p:nvSpPr>
        <p:spPr>
          <a:xfrm>
            <a:off x="548641" y="5083463"/>
            <a:ext cx="6241774" cy="492443"/>
          </a:xfrm>
          <a:prstGeom prst="rect">
            <a:avLst/>
          </a:prstGeom>
          <a:noFill/>
          <a:ln>
            <a:noFill/>
          </a:ln>
        </p:spPr>
        <p:txBody>
          <a:bodyPr spcFirstLastPara="1" wrap="square" lIns="0" tIns="0" rIns="0" bIns="0" anchor="t" anchorCtr="0"/>
          <a:lstStyle/>
          <a:p>
            <a:pPr lvl="0" defTabSz="914400">
              <a:lnSpc>
                <a:spcPct val="160000"/>
              </a:lnSpc>
            </a:pPr>
            <a:r>
              <a:rPr lang="en-US" sz="1800" b="1" kern="0" dirty="0">
                <a:solidFill>
                  <a:srgbClr val="ED7D31"/>
                </a:solidFill>
                <a:latin typeface="Roboto"/>
                <a:ea typeface="맑은 고딕"/>
                <a:cs typeface="Roboto"/>
                <a:sym typeface="Roboto"/>
              </a:rPr>
              <a:t>04  Commercial — premium and the PoS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tangle 102"/>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103" name="TextBox 104"/>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Marine Biofuels — Five Things to Remember</a:t>
            </a:r>
          </a:p>
        </p:txBody>
      </p:sp>
      <p:sp>
        <p:nvSpPr>
          <p:cNvPr id="105" name="Rectangle 106"/>
          <p:cNvSpPr/>
          <p:nvPr/>
        </p:nvSpPr>
        <p:spPr>
          <a:xfrm>
            <a:off x="502920" y="1280160"/>
            <a:ext cx="685800" cy="841248"/>
          </a:xfrm>
          <a:prstGeom prst="rect">
            <a:avLst/>
          </a:prstGeom>
          <a:solidFill>
            <a:srgbClr val="FFFFFF"/>
          </a:solidFill>
          <a:ln w="9525">
            <a:solidFill>
              <a:srgbClr val="D0D4DA"/>
            </a:solidFill>
          </a:ln>
          <a:effectLst/>
        </p:spPr>
        <p:txBody>
          <a:bodyPr rtlCol="0" anchor="ctr"/>
          <a:lstStyle/>
          <a:p>
            <a:pPr algn="ctr"/>
            <a:endParaRPr/>
          </a:p>
        </p:txBody>
      </p:sp>
      <p:sp>
        <p:nvSpPr>
          <p:cNvPr id="107" name="TextBox 108"/>
          <p:cNvSpPr txBox="1"/>
          <p:nvPr/>
        </p:nvSpPr>
        <p:spPr>
          <a:xfrm>
            <a:off x="576072" y="1280160"/>
            <a:ext cx="539496" cy="841248"/>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01</a:t>
            </a:r>
          </a:p>
        </p:txBody>
      </p:sp>
      <p:sp>
        <p:nvSpPr>
          <p:cNvPr id="109" name="Rectangle 110"/>
          <p:cNvSpPr/>
          <p:nvPr/>
        </p:nvSpPr>
        <p:spPr>
          <a:xfrm>
            <a:off x="1188720" y="1280160"/>
            <a:ext cx="4206240" cy="841248"/>
          </a:xfrm>
          <a:prstGeom prst="rect">
            <a:avLst/>
          </a:prstGeom>
          <a:solidFill>
            <a:srgbClr val="FFFFFF"/>
          </a:solidFill>
          <a:ln w="9525">
            <a:solidFill>
              <a:srgbClr val="D0D4DA"/>
            </a:solidFill>
          </a:ln>
          <a:effectLst/>
        </p:spPr>
        <p:txBody>
          <a:bodyPr rtlCol="0" anchor="ctr"/>
          <a:lstStyle/>
          <a:p>
            <a:pPr algn="ctr"/>
            <a:endParaRPr/>
          </a:p>
        </p:txBody>
      </p:sp>
      <p:sp>
        <p:nvSpPr>
          <p:cNvPr id="111" name="TextBox 112"/>
          <p:cNvSpPr txBox="1"/>
          <p:nvPr/>
        </p:nvSpPr>
        <p:spPr>
          <a:xfrm>
            <a:off x="1261872" y="1280160"/>
            <a:ext cx="4059936" cy="841248"/>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Drop-in does not mean drop-and-forget</a:t>
            </a:r>
          </a:p>
        </p:txBody>
      </p:sp>
      <p:sp>
        <p:nvSpPr>
          <p:cNvPr id="113" name="Rectangle 114"/>
          <p:cNvSpPr/>
          <p:nvPr/>
        </p:nvSpPr>
        <p:spPr>
          <a:xfrm>
            <a:off x="5394960" y="1280160"/>
            <a:ext cx="6291072" cy="841248"/>
          </a:xfrm>
          <a:prstGeom prst="rect">
            <a:avLst/>
          </a:prstGeom>
          <a:solidFill>
            <a:srgbClr val="FFFFFF"/>
          </a:solidFill>
          <a:ln w="9525">
            <a:solidFill>
              <a:srgbClr val="D0D4DA"/>
            </a:solidFill>
          </a:ln>
          <a:effectLst/>
        </p:spPr>
        <p:txBody>
          <a:bodyPr rtlCol="0" anchor="ctr"/>
          <a:lstStyle/>
          <a:p>
            <a:pPr algn="ctr"/>
            <a:endParaRPr/>
          </a:p>
        </p:txBody>
      </p:sp>
      <p:sp>
        <p:nvSpPr>
          <p:cNvPr id="115" name="TextBox 116"/>
          <p:cNvSpPr txBox="1"/>
          <p:nvPr/>
        </p:nvSpPr>
        <p:spPr>
          <a:xfrm>
            <a:off x="5468112" y="1280160"/>
            <a:ext cx="6144768" cy="841248"/>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No engine conversion is needed — but tank, filter, purifier, temperature and material management all are.</a:t>
            </a:r>
          </a:p>
        </p:txBody>
      </p:sp>
      <p:sp>
        <p:nvSpPr>
          <p:cNvPr id="117" name="Rectangle 118"/>
          <p:cNvSpPr/>
          <p:nvPr/>
        </p:nvSpPr>
        <p:spPr>
          <a:xfrm>
            <a:off x="502920" y="2121408"/>
            <a:ext cx="685800" cy="914400"/>
          </a:xfrm>
          <a:prstGeom prst="rect">
            <a:avLst/>
          </a:prstGeom>
          <a:solidFill>
            <a:srgbClr val="FFFFFF"/>
          </a:solidFill>
          <a:ln w="9525">
            <a:solidFill>
              <a:srgbClr val="D0D4DA"/>
            </a:solidFill>
          </a:ln>
          <a:effectLst/>
        </p:spPr>
        <p:txBody>
          <a:bodyPr rtlCol="0" anchor="ctr"/>
          <a:lstStyle/>
          <a:p>
            <a:pPr algn="ctr"/>
            <a:endParaRPr/>
          </a:p>
        </p:txBody>
      </p:sp>
      <p:sp>
        <p:nvSpPr>
          <p:cNvPr id="119" name="TextBox 120"/>
          <p:cNvSpPr txBox="1"/>
          <p:nvPr/>
        </p:nvSpPr>
        <p:spPr>
          <a:xfrm>
            <a:off x="576072" y="2121408"/>
            <a:ext cx="539496" cy="914400"/>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02</a:t>
            </a:r>
          </a:p>
        </p:txBody>
      </p:sp>
      <p:sp>
        <p:nvSpPr>
          <p:cNvPr id="121" name="Rectangle 122"/>
          <p:cNvSpPr/>
          <p:nvPr/>
        </p:nvSpPr>
        <p:spPr>
          <a:xfrm>
            <a:off x="1188720" y="2121408"/>
            <a:ext cx="4206240" cy="914400"/>
          </a:xfrm>
          <a:prstGeom prst="rect">
            <a:avLst/>
          </a:prstGeom>
          <a:solidFill>
            <a:srgbClr val="FFFFFF"/>
          </a:solidFill>
          <a:ln w="9525">
            <a:solidFill>
              <a:srgbClr val="D0D4DA"/>
            </a:solidFill>
          </a:ln>
          <a:effectLst/>
        </p:spPr>
        <p:txBody>
          <a:bodyPr rtlCol="0" anchor="ctr"/>
          <a:lstStyle/>
          <a:p>
            <a:pPr algn="ctr"/>
            <a:endParaRPr/>
          </a:p>
        </p:txBody>
      </p:sp>
      <p:sp>
        <p:nvSpPr>
          <p:cNvPr id="123" name="TextBox 124"/>
          <p:cNvSpPr txBox="1"/>
          <p:nvPr/>
        </p:nvSpPr>
        <p:spPr>
          <a:xfrm>
            <a:off x="1261872" y="2121408"/>
            <a:ext cx="4059936" cy="914400"/>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Five technical risks, one endpoint</a:t>
            </a:r>
          </a:p>
        </p:txBody>
      </p:sp>
      <p:sp>
        <p:nvSpPr>
          <p:cNvPr id="125" name="Rectangle 126"/>
          <p:cNvSpPr/>
          <p:nvPr/>
        </p:nvSpPr>
        <p:spPr>
          <a:xfrm>
            <a:off x="5394960" y="2121408"/>
            <a:ext cx="6291072" cy="914400"/>
          </a:xfrm>
          <a:prstGeom prst="rect">
            <a:avLst/>
          </a:prstGeom>
          <a:solidFill>
            <a:srgbClr val="FFFFFF"/>
          </a:solidFill>
          <a:ln w="9525">
            <a:solidFill>
              <a:srgbClr val="D0D4DA"/>
            </a:solidFill>
          </a:ln>
          <a:effectLst/>
        </p:spPr>
        <p:txBody>
          <a:bodyPr rtlCol="0" anchor="ctr"/>
          <a:lstStyle/>
          <a:p>
            <a:pPr algn="ctr"/>
            <a:endParaRPr/>
          </a:p>
        </p:txBody>
      </p:sp>
      <p:sp>
        <p:nvSpPr>
          <p:cNvPr id="127" name="TextBox 128"/>
          <p:cNvSpPr txBox="1"/>
          <p:nvPr/>
        </p:nvSpPr>
        <p:spPr>
          <a:xfrm>
            <a:off x="5468112" y="2121408"/>
            <a:ext cx="6144768" cy="914400"/>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Water, oxidation, microbial growth, cold flow and the solvent effect all end in sludge — and then in blocked filters and purifiers.</a:t>
            </a:r>
          </a:p>
        </p:txBody>
      </p:sp>
      <p:sp>
        <p:nvSpPr>
          <p:cNvPr id="129" name="Rectangle 130"/>
          <p:cNvSpPr/>
          <p:nvPr/>
        </p:nvSpPr>
        <p:spPr>
          <a:xfrm>
            <a:off x="502920" y="3035808"/>
            <a:ext cx="685800" cy="841248"/>
          </a:xfrm>
          <a:prstGeom prst="rect">
            <a:avLst/>
          </a:prstGeom>
          <a:solidFill>
            <a:srgbClr val="FFFFFF"/>
          </a:solidFill>
          <a:ln w="9525">
            <a:solidFill>
              <a:srgbClr val="D0D4DA"/>
            </a:solidFill>
          </a:ln>
          <a:effectLst/>
        </p:spPr>
        <p:txBody>
          <a:bodyPr rtlCol="0" anchor="ctr"/>
          <a:lstStyle/>
          <a:p>
            <a:pPr algn="ctr"/>
            <a:endParaRPr/>
          </a:p>
        </p:txBody>
      </p:sp>
      <p:sp>
        <p:nvSpPr>
          <p:cNvPr id="131" name="TextBox 132"/>
          <p:cNvSpPr txBox="1"/>
          <p:nvPr/>
        </p:nvSpPr>
        <p:spPr>
          <a:xfrm>
            <a:off x="576072" y="3035808"/>
            <a:ext cx="539496" cy="841248"/>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03</a:t>
            </a:r>
          </a:p>
        </p:txBody>
      </p:sp>
      <p:sp>
        <p:nvSpPr>
          <p:cNvPr id="133" name="Rectangle 134"/>
          <p:cNvSpPr/>
          <p:nvPr/>
        </p:nvSpPr>
        <p:spPr>
          <a:xfrm>
            <a:off x="1188720" y="3035808"/>
            <a:ext cx="4206240" cy="841248"/>
          </a:xfrm>
          <a:prstGeom prst="rect">
            <a:avLst/>
          </a:prstGeom>
          <a:solidFill>
            <a:srgbClr val="FFFFFF"/>
          </a:solidFill>
          <a:ln w="9525">
            <a:solidFill>
              <a:srgbClr val="D0D4DA"/>
            </a:solidFill>
          </a:ln>
          <a:effectLst/>
        </p:spPr>
        <p:txBody>
          <a:bodyPr rtlCol="0" anchor="ctr"/>
          <a:lstStyle/>
          <a:p>
            <a:pPr algn="ctr"/>
            <a:endParaRPr/>
          </a:p>
        </p:txBody>
      </p:sp>
      <p:sp>
        <p:nvSpPr>
          <p:cNvPr id="135" name="TextBox 136"/>
          <p:cNvSpPr txBox="1"/>
          <p:nvPr/>
        </p:nvSpPr>
        <p:spPr>
          <a:xfrm>
            <a:off x="1261872" y="3035808"/>
            <a:ext cx="4059936" cy="841248"/>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The benefit comes from certification, not from the fuel</a:t>
            </a:r>
          </a:p>
        </p:txBody>
      </p:sp>
      <p:sp>
        <p:nvSpPr>
          <p:cNvPr id="137" name="Rectangle 138"/>
          <p:cNvSpPr/>
          <p:nvPr/>
        </p:nvSpPr>
        <p:spPr>
          <a:xfrm>
            <a:off x="5394960" y="3035808"/>
            <a:ext cx="6291072" cy="841248"/>
          </a:xfrm>
          <a:prstGeom prst="rect">
            <a:avLst/>
          </a:prstGeom>
          <a:solidFill>
            <a:srgbClr val="FFFFFF"/>
          </a:solidFill>
          <a:ln w="9525">
            <a:solidFill>
              <a:srgbClr val="D0D4DA"/>
            </a:solidFill>
          </a:ln>
          <a:effectLst/>
        </p:spPr>
        <p:txBody>
          <a:bodyPr rtlCol="0" anchor="ctr"/>
          <a:lstStyle/>
          <a:p>
            <a:pPr algn="ctr"/>
            <a:endParaRPr/>
          </a:p>
        </p:txBody>
      </p:sp>
      <p:sp>
        <p:nvSpPr>
          <p:cNvPr id="139" name="TextBox 140"/>
          <p:cNvSpPr txBox="1"/>
          <p:nvPr/>
        </p:nvSpPr>
        <p:spPr>
          <a:xfrm>
            <a:off x="5468112" y="3035808"/>
            <a:ext cx="6144768" cy="841248"/>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“We used biofuel” earns nothing. “We used certified sustainable biofuel” is what IMO and the EU recognise.</a:t>
            </a:r>
          </a:p>
        </p:txBody>
      </p:sp>
      <p:sp>
        <p:nvSpPr>
          <p:cNvPr id="141" name="Rectangle 142"/>
          <p:cNvSpPr/>
          <p:nvPr/>
        </p:nvSpPr>
        <p:spPr>
          <a:xfrm>
            <a:off x="502920" y="3877056"/>
            <a:ext cx="685800" cy="731520"/>
          </a:xfrm>
          <a:prstGeom prst="rect">
            <a:avLst/>
          </a:prstGeom>
          <a:solidFill>
            <a:srgbClr val="FFFFFF"/>
          </a:solidFill>
          <a:ln w="9525">
            <a:solidFill>
              <a:srgbClr val="D0D4DA"/>
            </a:solidFill>
          </a:ln>
          <a:effectLst/>
        </p:spPr>
        <p:txBody>
          <a:bodyPr rtlCol="0" anchor="ctr"/>
          <a:lstStyle/>
          <a:p>
            <a:pPr algn="ctr"/>
            <a:endParaRPr/>
          </a:p>
        </p:txBody>
      </p:sp>
      <p:sp>
        <p:nvSpPr>
          <p:cNvPr id="143" name="TextBox 144"/>
          <p:cNvSpPr txBox="1"/>
          <p:nvPr/>
        </p:nvSpPr>
        <p:spPr>
          <a:xfrm>
            <a:off x="576072" y="3877056"/>
            <a:ext cx="539496" cy="731520"/>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04</a:t>
            </a:r>
          </a:p>
        </p:txBody>
      </p:sp>
      <p:sp>
        <p:nvSpPr>
          <p:cNvPr id="145" name="Rectangle 146"/>
          <p:cNvSpPr/>
          <p:nvPr/>
        </p:nvSpPr>
        <p:spPr>
          <a:xfrm>
            <a:off x="1188720" y="3877056"/>
            <a:ext cx="4206240" cy="731520"/>
          </a:xfrm>
          <a:prstGeom prst="rect">
            <a:avLst/>
          </a:prstGeom>
          <a:solidFill>
            <a:srgbClr val="FFFFFF"/>
          </a:solidFill>
          <a:ln w="9525">
            <a:solidFill>
              <a:srgbClr val="D0D4DA"/>
            </a:solidFill>
          </a:ln>
          <a:effectLst/>
        </p:spPr>
        <p:txBody>
          <a:bodyPr rtlCol="0" anchor="ctr"/>
          <a:lstStyle/>
          <a:p>
            <a:pPr algn="ctr"/>
            <a:endParaRPr/>
          </a:p>
        </p:txBody>
      </p:sp>
      <p:sp>
        <p:nvSpPr>
          <p:cNvPr id="147" name="TextBox 148"/>
          <p:cNvSpPr txBox="1"/>
          <p:nvPr/>
        </p:nvSpPr>
        <p:spPr>
          <a:xfrm>
            <a:off x="1261872" y="3877056"/>
            <a:ext cx="4059936" cy="731520"/>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BDN + PoS are the two documents that matter</a:t>
            </a:r>
          </a:p>
        </p:txBody>
      </p:sp>
      <p:sp>
        <p:nvSpPr>
          <p:cNvPr id="149" name="Rectangle 150"/>
          <p:cNvSpPr/>
          <p:nvPr/>
        </p:nvSpPr>
        <p:spPr>
          <a:xfrm>
            <a:off x="5394960" y="3877056"/>
            <a:ext cx="6291072" cy="731520"/>
          </a:xfrm>
          <a:prstGeom prst="rect">
            <a:avLst/>
          </a:prstGeom>
          <a:solidFill>
            <a:srgbClr val="FFFFFF"/>
          </a:solidFill>
          <a:ln w="9525">
            <a:solidFill>
              <a:srgbClr val="D0D4DA"/>
            </a:solidFill>
          </a:ln>
          <a:effectLst/>
        </p:spPr>
        <p:txBody>
          <a:bodyPr rtlCol="0" anchor="ctr"/>
          <a:lstStyle/>
          <a:p>
            <a:pPr algn="ctr"/>
            <a:endParaRPr/>
          </a:p>
        </p:txBody>
      </p:sp>
      <p:sp>
        <p:nvSpPr>
          <p:cNvPr id="151" name="TextBox 152"/>
          <p:cNvSpPr txBox="1"/>
          <p:nvPr/>
        </p:nvSpPr>
        <p:spPr>
          <a:xfrm>
            <a:off x="5468112" y="3877056"/>
            <a:ext cx="6144768" cy="731520"/>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And from 1 January 2027 the IMO DCS conversion factor is calculated a different way.</a:t>
            </a:r>
          </a:p>
        </p:txBody>
      </p:sp>
      <p:sp>
        <p:nvSpPr>
          <p:cNvPr id="153" name="Rectangle 154"/>
          <p:cNvSpPr/>
          <p:nvPr/>
        </p:nvSpPr>
        <p:spPr>
          <a:xfrm>
            <a:off x="502920" y="4608576"/>
            <a:ext cx="685800" cy="841248"/>
          </a:xfrm>
          <a:prstGeom prst="rect">
            <a:avLst/>
          </a:prstGeom>
          <a:solidFill>
            <a:srgbClr val="FFFFFF"/>
          </a:solidFill>
          <a:ln w="9525">
            <a:solidFill>
              <a:srgbClr val="D0D4DA"/>
            </a:solidFill>
          </a:ln>
          <a:effectLst/>
        </p:spPr>
        <p:txBody>
          <a:bodyPr rtlCol="0" anchor="ctr"/>
          <a:lstStyle/>
          <a:p>
            <a:pPr algn="ctr"/>
            <a:endParaRPr/>
          </a:p>
        </p:txBody>
      </p:sp>
      <p:sp>
        <p:nvSpPr>
          <p:cNvPr id="155" name="TextBox 156"/>
          <p:cNvSpPr txBox="1"/>
          <p:nvPr/>
        </p:nvSpPr>
        <p:spPr>
          <a:xfrm>
            <a:off x="576072" y="4608576"/>
            <a:ext cx="539496" cy="841248"/>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05</a:t>
            </a:r>
          </a:p>
        </p:txBody>
      </p:sp>
      <p:sp>
        <p:nvSpPr>
          <p:cNvPr id="157" name="Rectangle 158"/>
          <p:cNvSpPr/>
          <p:nvPr/>
        </p:nvSpPr>
        <p:spPr>
          <a:xfrm>
            <a:off x="1188720" y="4608576"/>
            <a:ext cx="4206240" cy="841248"/>
          </a:xfrm>
          <a:prstGeom prst="rect">
            <a:avLst/>
          </a:prstGeom>
          <a:solidFill>
            <a:srgbClr val="FFFFFF"/>
          </a:solidFill>
          <a:ln w="9525">
            <a:solidFill>
              <a:srgbClr val="D0D4DA"/>
            </a:solidFill>
          </a:ln>
          <a:effectLst/>
        </p:spPr>
        <p:txBody>
          <a:bodyPr rtlCol="0" anchor="ctr"/>
          <a:lstStyle/>
          <a:p>
            <a:pPr algn="ctr"/>
            <a:endParaRPr/>
          </a:p>
        </p:txBody>
      </p:sp>
      <p:sp>
        <p:nvSpPr>
          <p:cNvPr id="159" name="TextBox 160"/>
          <p:cNvSpPr txBox="1"/>
          <p:nvPr/>
        </p:nvSpPr>
        <p:spPr>
          <a:xfrm>
            <a:off x="1261872" y="4608576"/>
            <a:ext cx="4059936" cy="841248"/>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The premium is compliance value, not just energy</a:t>
            </a:r>
          </a:p>
        </p:txBody>
      </p:sp>
      <p:sp>
        <p:nvSpPr>
          <p:cNvPr id="161" name="Rectangle 162"/>
          <p:cNvSpPr/>
          <p:nvPr/>
        </p:nvSpPr>
        <p:spPr>
          <a:xfrm>
            <a:off x="5394960" y="4608576"/>
            <a:ext cx="6291072" cy="841248"/>
          </a:xfrm>
          <a:prstGeom prst="rect">
            <a:avLst/>
          </a:prstGeom>
          <a:solidFill>
            <a:srgbClr val="FFFFFF"/>
          </a:solidFill>
          <a:ln w="9525">
            <a:solidFill>
              <a:srgbClr val="D0D4DA"/>
            </a:solidFill>
          </a:ln>
          <a:effectLst/>
        </p:spPr>
        <p:txBody>
          <a:bodyPr rtlCol="0" anchor="ctr"/>
          <a:lstStyle/>
          <a:p>
            <a:pPr algn="ctr"/>
            <a:endParaRPr/>
          </a:p>
        </p:txBody>
      </p:sp>
      <p:sp>
        <p:nvSpPr>
          <p:cNvPr id="163" name="TextBox 164"/>
          <p:cNvSpPr txBox="1"/>
          <p:nvPr/>
        </p:nvSpPr>
        <p:spPr>
          <a:xfrm>
            <a:off x="5468112" y="4608576"/>
            <a:ext cx="6144768" cy="841248"/>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Blends hold a structural premium over VLSFO because the buyers are owners with EU compliance exposure.</a:t>
            </a:r>
          </a:p>
        </p:txBody>
      </p:sp>
      <p:sp>
        <p:nvSpPr>
          <p:cNvPr id="165" name="TextBox 166"/>
          <p:cNvSpPr txBox="1"/>
          <p:nvPr/>
        </p:nvSpPr>
        <p:spPr>
          <a:xfrm>
            <a:off x="502920" y="5577840"/>
            <a:ext cx="11183112" cy="365760"/>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Source: Singapore Shipping Association, FAQ on Bunkering of Biofuels for Ocean-Going Vessels in the Port of Singapore, August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Rectangle 168"/>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169" name="TextBox 170"/>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Technical — How Biofuel Actually Fails on Board</a:t>
            </a:r>
          </a:p>
        </p:txBody>
      </p:sp>
      <p:sp>
        <p:nvSpPr>
          <p:cNvPr id="171" name="Rectangle 172"/>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173" name="TextBox 174"/>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One chain, three entry points</a:t>
            </a:r>
          </a:p>
        </p:txBody>
      </p:sp>
      <p:sp>
        <p:nvSpPr>
          <p:cNvPr id="175" name="Rectangle 176"/>
          <p:cNvSpPr/>
          <p:nvPr/>
        </p:nvSpPr>
        <p:spPr>
          <a:xfrm>
            <a:off x="502920" y="1783080"/>
            <a:ext cx="5440680" cy="384048"/>
          </a:xfrm>
          <a:prstGeom prst="rect">
            <a:avLst/>
          </a:prstGeom>
          <a:solidFill>
            <a:srgbClr val="FFFFFF"/>
          </a:solidFill>
          <a:ln w="9525">
            <a:solidFill>
              <a:srgbClr val="D0D4DA"/>
            </a:solidFill>
          </a:ln>
          <a:effectLst/>
        </p:spPr>
        <p:txBody>
          <a:bodyPr rtlCol="0" anchor="ctr"/>
          <a:lstStyle/>
          <a:p>
            <a:pPr algn="ctr"/>
            <a:endParaRPr/>
          </a:p>
        </p:txBody>
      </p:sp>
      <p:sp>
        <p:nvSpPr>
          <p:cNvPr id="177" name="TextBox 178"/>
          <p:cNvSpPr txBox="1"/>
          <p:nvPr/>
        </p:nvSpPr>
        <p:spPr>
          <a:xfrm>
            <a:off x="576072" y="1783080"/>
            <a:ext cx="5294376" cy="384048"/>
          </a:xfrm>
          <a:prstGeom prst="rect">
            <a:avLst/>
          </a:prstGeom>
          <a:noFill/>
        </p:spPr>
        <p:txBody>
          <a:bodyPr wrap="square" lIns="36576" tIns="0" rIns="36576" bIns="0" anchor="ctr"/>
          <a:lstStyle/>
          <a:p>
            <a:pPr algn="ctr">
              <a:lnSpc>
                <a:spcPct val="110000"/>
              </a:lnSpc>
              <a:spcAft>
                <a:spcPts val="0"/>
              </a:spcAft>
            </a:pPr>
            <a:r>
              <a:rPr sz="1200" b="1">
                <a:solidFill>
                  <a:srgbClr val="1A1A1A"/>
                </a:solidFill>
                <a:latin typeface="Calibri"/>
                <a:ea typeface="맑은 고딕"/>
                <a:cs typeface="Calibri"/>
              </a:rPr>
              <a:t>Biofuel</a:t>
            </a:r>
          </a:p>
        </p:txBody>
      </p:sp>
      <p:sp>
        <p:nvSpPr>
          <p:cNvPr id="179" name="TextBox 180"/>
          <p:cNvSpPr txBox="1"/>
          <p:nvPr/>
        </p:nvSpPr>
        <p:spPr>
          <a:xfrm>
            <a:off x="502920" y="2167128"/>
            <a:ext cx="5440680" cy="182880"/>
          </a:xfrm>
          <a:prstGeom prst="rect">
            <a:avLst/>
          </a:prstGeom>
          <a:noFill/>
        </p:spPr>
        <p:txBody>
          <a:bodyPr wrap="square" lIns="36576" tIns="0" rIns="36576" bIns="0" anchor="ctr"/>
          <a:lstStyle/>
          <a:p>
            <a:pPr algn="ctr">
              <a:lnSpc>
                <a:spcPct val="100000"/>
              </a:lnSpc>
              <a:spcAft>
                <a:spcPts val="0"/>
              </a:spcAft>
            </a:pPr>
            <a:r>
              <a:rPr sz="1000" b="0">
                <a:solidFill>
                  <a:srgbClr val="595959"/>
                </a:solidFill>
                <a:latin typeface="Calibri"/>
                <a:ea typeface="맑은 고딕"/>
                <a:cs typeface="Calibri"/>
              </a:rPr>
              <a:t>↓</a:t>
            </a:r>
          </a:p>
        </p:txBody>
      </p:sp>
      <p:sp>
        <p:nvSpPr>
          <p:cNvPr id="181" name="Rectangle 182"/>
          <p:cNvSpPr/>
          <p:nvPr/>
        </p:nvSpPr>
        <p:spPr>
          <a:xfrm>
            <a:off x="502920" y="2350008"/>
            <a:ext cx="5440680" cy="384048"/>
          </a:xfrm>
          <a:prstGeom prst="rect">
            <a:avLst/>
          </a:prstGeom>
          <a:solidFill>
            <a:srgbClr val="FFFFFF"/>
          </a:solidFill>
          <a:ln w="9525">
            <a:solidFill>
              <a:srgbClr val="D0D4DA"/>
            </a:solidFill>
          </a:ln>
          <a:effectLst/>
        </p:spPr>
        <p:txBody>
          <a:bodyPr rtlCol="0" anchor="ctr"/>
          <a:lstStyle/>
          <a:p>
            <a:pPr algn="ctr"/>
            <a:endParaRPr/>
          </a:p>
        </p:txBody>
      </p:sp>
      <p:sp>
        <p:nvSpPr>
          <p:cNvPr id="183" name="TextBox 184"/>
          <p:cNvSpPr txBox="1"/>
          <p:nvPr/>
        </p:nvSpPr>
        <p:spPr>
          <a:xfrm>
            <a:off x="576072" y="2350008"/>
            <a:ext cx="5294376" cy="384048"/>
          </a:xfrm>
          <a:prstGeom prst="rect">
            <a:avLst/>
          </a:prstGeom>
          <a:noFill/>
        </p:spPr>
        <p:txBody>
          <a:bodyPr wrap="square" lIns="36576" tIns="0" rIns="36576" bIns="0" anchor="ctr"/>
          <a:lstStyle/>
          <a:p>
            <a:pPr algn="ctr">
              <a:lnSpc>
                <a:spcPct val="110000"/>
              </a:lnSpc>
              <a:spcAft>
                <a:spcPts val="0"/>
              </a:spcAft>
            </a:pPr>
            <a:r>
              <a:rPr sz="1200" b="1">
                <a:solidFill>
                  <a:srgbClr val="1A1A1A"/>
                </a:solidFill>
                <a:latin typeface="Calibri"/>
                <a:ea typeface="맑은 고딕"/>
                <a:cs typeface="Calibri"/>
              </a:rPr>
              <a:t>Water  /  Oxidation  /  Microbial growth</a:t>
            </a:r>
          </a:p>
        </p:txBody>
      </p:sp>
      <p:sp>
        <p:nvSpPr>
          <p:cNvPr id="185" name="TextBox 186"/>
          <p:cNvSpPr txBox="1"/>
          <p:nvPr/>
        </p:nvSpPr>
        <p:spPr>
          <a:xfrm>
            <a:off x="502920" y="2734056"/>
            <a:ext cx="5440680" cy="182880"/>
          </a:xfrm>
          <a:prstGeom prst="rect">
            <a:avLst/>
          </a:prstGeom>
          <a:noFill/>
        </p:spPr>
        <p:txBody>
          <a:bodyPr wrap="square" lIns="36576" tIns="0" rIns="36576" bIns="0" anchor="ctr"/>
          <a:lstStyle/>
          <a:p>
            <a:pPr algn="ctr">
              <a:lnSpc>
                <a:spcPct val="100000"/>
              </a:lnSpc>
              <a:spcAft>
                <a:spcPts val="0"/>
              </a:spcAft>
            </a:pPr>
            <a:r>
              <a:rPr sz="1000" b="0">
                <a:solidFill>
                  <a:srgbClr val="595959"/>
                </a:solidFill>
                <a:latin typeface="Calibri"/>
                <a:ea typeface="맑은 고딕"/>
                <a:cs typeface="Calibri"/>
              </a:rPr>
              <a:t>↓</a:t>
            </a:r>
          </a:p>
        </p:txBody>
      </p:sp>
      <p:sp>
        <p:nvSpPr>
          <p:cNvPr id="187" name="Rectangle 188"/>
          <p:cNvSpPr/>
          <p:nvPr/>
        </p:nvSpPr>
        <p:spPr>
          <a:xfrm>
            <a:off x="502920" y="2916936"/>
            <a:ext cx="5440680" cy="384048"/>
          </a:xfrm>
          <a:prstGeom prst="rect">
            <a:avLst/>
          </a:prstGeom>
          <a:solidFill>
            <a:srgbClr val="FFFFFF"/>
          </a:solidFill>
          <a:ln w="9525">
            <a:solidFill>
              <a:srgbClr val="D0D4DA"/>
            </a:solidFill>
          </a:ln>
          <a:effectLst/>
        </p:spPr>
        <p:txBody>
          <a:bodyPr rtlCol="0" anchor="ctr"/>
          <a:lstStyle/>
          <a:p>
            <a:pPr algn="ctr"/>
            <a:endParaRPr/>
          </a:p>
        </p:txBody>
      </p:sp>
      <p:sp>
        <p:nvSpPr>
          <p:cNvPr id="189" name="TextBox 190"/>
          <p:cNvSpPr txBox="1"/>
          <p:nvPr/>
        </p:nvSpPr>
        <p:spPr>
          <a:xfrm>
            <a:off x="576072" y="2916936"/>
            <a:ext cx="5294376" cy="384048"/>
          </a:xfrm>
          <a:prstGeom prst="rect">
            <a:avLst/>
          </a:prstGeom>
          <a:noFill/>
        </p:spPr>
        <p:txBody>
          <a:bodyPr wrap="square" lIns="36576" tIns="0" rIns="36576" bIns="0" anchor="ctr"/>
          <a:lstStyle/>
          <a:p>
            <a:pPr algn="ctr">
              <a:lnSpc>
                <a:spcPct val="110000"/>
              </a:lnSpc>
              <a:spcAft>
                <a:spcPts val="0"/>
              </a:spcAft>
            </a:pPr>
            <a:r>
              <a:rPr sz="1200" b="1">
                <a:solidFill>
                  <a:srgbClr val="1A1A1A"/>
                </a:solidFill>
                <a:latin typeface="Calibri"/>
                <a:ea typeface="맑은 고딕"/>
                <a:cs typeface="Calibri"/>
              </a:rPr>
              <a:t>Degradation</a:t>
            </a:r>
          </a:p>
        </p:txBody>
      </p:sp>
      <p:sp>
        <p:nvSpPr>
          <p:cNvPr id="191" name="TextBox 192"/>
          <p:cNvSpPr txBox="1"/>
          <p:nvPr/>
        </p:nvSpPr>
        <p:spPr>
          <a:xfrm>
            <a:off x="502920" y="3300984"/>
            <a:ext cx="5440680" cy="182880"/>
          </a:xfrm>
          <a:prstGeom prst="rect">
            <a:avLst/>
          </a:prstGeom>
          <a:noFill/>
        </p:spPr>
        <p:txBody>
          <a:bodyPr wrap="square" lIns="36576" tIns="0" rIns="36576" bIns="0" anchor="ctr"/>
          <a:lstStyle/>
          <a:p>
            <a:pPr algn="ctr">
              <a:lnSpc>
                <a:spcPct val="100000"/>
              </a:lnSpc>
              <a:spcAft>
                <a:spcPts val="0"/>
              </a:spcAft>
            </a:pPr>
            <a:r>
              <a:rPr sz="1000" b="0">
                <a:solidFill>
                  <a:srgbClr val="595959"/>
                </a:solidFill>
                <a:latin typeface="Calibri"/>
                <a:ea typeface="맑은 고딕"/>
                <a:cs typeface="Calibri"/>
              </a:rPr>
              <a:t>↓</a:t>
            </a:r>
          </a:p>
        </p:txBody>
      </p:sp>
      <p:sp>
        <p:nvSpPr>
          <p:cNvPr id="193" name="Rectangle 194"/>
          <p:cNvSpPr/>
          <p:nvPr/>
        </p:nvSpPr>
        <p:spPr>
          <a:xfrm>
            <a:off x="502920" y="3483864"/>
            <a:ext cx="5440680" cy="384048"/>
          </a:xfrm>
          <a:prstGeom prst="rect">
            <a:avLst/>
          </a:prstGeom>
          <a:solidFill>
            <a:srgbClr val="FFFFFF"/>
          </a:solidFill>
          <a:ln w="9525">
            <a:solidFill>
              <a:srgbClr val="D0D4DA"/>
            </a:solidFill>
          </a:ln>
          <a:effectLst/>
        </p:spPr>
        <p:txBody>
          <a:bodyPr rtlCol="0" anchor="ctr"/>
          <a:lstStyle/>
          <a:p>
            <a:pPr algn="ctr"/>
            <a:endParaRPr/>
          </a:p>
        </p:txBody>
      </p:sp>
      <p:sp>
        <p:nvSpPr>
          <p:cNvPr id="195" name="TextBox 196"/>
          <p:cNvSpPr txBox="1"/>
          <p:nvPr/>
        </p:nvSpPr>
        <p:spPr>
          <a:xfrm>
            <a:off x="576072" y="3483864"/>
            <a:ext cx="5294376" cy="384048"/>
          </a:xfrm>
          <a:prstGeom prst="rect">
            <a:avLst/>
          </a:prstGeom>
          <a:noFill/>
        </p:spPr>
        <p:txBody>
          <a:bodyPr wrap="square" lIns="36576" tIns="0" rIns="36576" bIns="0" anchor="ctr"/>
          <a:lstStyle/>
          <a:p>
            <a:pPr algn="ctr">
              <a:lnSpc>
                <a:spcPct val="110000"/>
              </a:lnSpc>
              <a:spcAft>
                <a:spcPts val="0"/>
              </a:spcAft>
            </a:pPr>
            <a:r>
              <a:rPr sz="1200" b="1">
                <a:solidFill>
                  <a:srgbClr val="1A1A1A"/>
                </a:solidFill>
                <a:latin typeface="Calibri"/>
                <a:ea typeface="맑은 고딕"/>
                <a:cs typeface="Calibri"/>
              </a:rPr>
              <a:t>Sludge</a:t>
            </a:r>
          </a:p>
        </p:txBody>
      </p:sp>
      <p:sp>
        <p:nvSpPr>
          <p:cNvPr id="197" name="TextBox 198"/>
          <p:cNvSpPr txBox="1"/>
          <p:nvPr/>
        </p:nvSpPr>
        <p:spPr>
          <a:xfrm>
            <a:off x="502920" y="3867912"/>
            <a:ext cx="5440680" cy="182880"/>
          </a:xfrm>
          <a:prstGeom prst="rect">
            <a:avLst/>
          </a:prstGeom>
          <a:noFill/>
        </p:spPr>
        <p:txBody>
          <a:bodyPr wrap="square" lIns="36576" tIns="0" rIns="36576" bIns="0" anchor="ctr"/>
          <a:lstStyle/>
          <a:p>
            <a:pPr algn="ctr">
              <a:lnSpc>
                <a:spcPct val="100000"/>
              </a:lnSpc>
              <a:spcAft>
                <a:spcPts val="0"/>
              </a:spcAft>
            </a:pPr>
            <a:r>
              <a:rPr sz="1000" b="0">
                <a:solidFill>
                  <a:srgbClr val="595959"/>
                </a:solidFill>
                <a:latin typeface="Calibri"/>
                <a:ea typeface="맑은 고딕"/>
                <a:cs typeface="Calibri"/>
              </a:rPr>
              <a:t>↓</a:t>
            </a:r>
          </a:p>
        </p:txBody>
      </p:sp>
      <p:sp>
        <p:nvSpPr>
          <p:cNvPr id="199" name="Rectangle 200"/>
          <p:cNvSpPr/>
          <p:nvPr/>
        </p:nvSpPr>
        <p:spPr>
          <a:xfrm>
            <a:off x="502920" y="4050792"/>
            <a:ext cx="5440680" cy="384048"/>
          </a:xfrm>
          <a:prstGeom prst="rect">
            <a:avLst/>
          </a:prstGeom>
          <a:solidFill>
            <a:srgbClr val="172A4A"/>
          </a:solidFill>
          <a:ln>
            <a:noFill/>
          </a:ln>
          <a:effectLst/>
        </p:spPr>
        <p:txBody>
          <a:bodyPr rtlCol="0" anchor="ctr"/>
          <a:lstStyle/>
          <a:p>
            <a:pPr algn="ctr"/>
            <a:endParaRPr/>
          </a:p>
        </p:txBody>
      </p:sp>
      <p:sp>
        <p:nvSpPr>
          <p:cNvPr id="201" name="TextBox 202"/>
          <p:cNvSpPr txBox="1"/>
          <p:nvPr/>
        </p:nvSpPr>
        <p:spPr>
          <a:xfrm>
            <a:off x="576072" y="4050792"/>
            <a:ext cx="5294376" cy="384048"/>
          </a:xfrm>
          <a:prstGeom prst="rect">
            <a:avLst/>
          </a:prstGeom>
          <a:noFill/>
        </p:spPr>
        <p:txBody>
          <a:bodyPr wrap="square" lIns="36576" tIns="0" rIns="36576" bIns="0" anchor="ctr"/>
          <a:lstStyle/>
          <a:p>
            <a:pPr algn="ctr">
              <a:lnSpc>
                <a:spcPct val="110000"/>
              </a:lnSpc>
              <a:spcAft>
                <a:spcPts val="0"/>
              </a:spcAft>
            </a:pPr>
            <a:r>
              <a:rPr sz="1200" b="1">
                <a:solidFill>
                  <a:srgbClr val="FFFFFF"/>
                </a:solidFill>
                <a:latin typeface="Calibri"/>
                <a:ea typeface="맑은 고딕"/>
                <a:cs typeface="Calibri"/>
              </a:rPr>
              <a:t>Filter &amp; purifier problems</a:t>
            </a:r>
          </a:p>
        </p:txBody>
      </p:sp>
      <p:sp>
        <p:nvSpPr>
          <p:cNvPr id="203" name="TextBox 204"/>
          <p:cNvSpPr txBox="1"/>
          <p:nvPr/>
        </p:nvSpPr>
        <p:spPr>
          <a:xfrm>
            <a:off x="502920" y="4617720"/>
            <a:ext cx="5440680" cy="1188720"/>
          </a:xfrm>
          <a:prstGeom prst="rect">
            <a:avLst/>
          </a:prstGeom>
          <a:noFill/>
        </p:spPr>
        <p:txBody>
          <a:bodyPr wrap="square" lIns="36576" tIns="0" rIns="36576" bIns="0" anchor="t"/>
          <a:lstStyle/>
          <a:p>
            <a:pPr algn="l">
              <a:lnSpc>
                <a:spcPct val="125000"/>
              </a:lnSpc>
              <a:spcAft>
                <a:spcPts val="0"/>
              </a:spcAft>
            </a:pPr>
            <a:r>
              <a:rPr sz="1200" b="0">
                <a:solidFill>
                  <a:srgbClr val="1A1A1A"/>
                </a:solidFill>
                <a:latin typeface="Calibri"/>
                <a:ea typeface="맑은 고딕"/>
                <a:cs typeface="Calibri"/>
              </a:rPr>
              <a:t>The FAME solvent property adds a second source. Biofuel dissolves the sludge and deposits already sitting in the tank, so filters can clog heavily in the first days after a switch — from old dirt, not from the new fuel.</a:t>
            </a:r>
          </a:p>
        </p:txBody>
      </p:sp>
      <p:sp>
        <p:nvSpPr>
          <p:cNvPr id="205" name="Rectangle 206"/>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207" name="TextBox 208"/>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Manage it in this order</a:t>
            </a:r>
          </a:p>
        </p:txBody>
      </p:sp>
      <p:sp>
        <p:nvSpPr>
          <p:cNvPr id="209" name="Rectangle 210"/>
          <p:cNvSpPr/>
          <p:nvPr/>
        </p:nvSpPr>
        <p:spPr>
          <a:xfrm>
            <a:off x="6245352" y="1783080"/>
            <a:ext cx="5440680" cy="384048"/>
          </a:xfrm>
          <a:prstGeom prst="rect">
            <a:avLst/>
          </a:prstGeom>
          <a:solidFill>
            <a:srgbClr val="FFFFFF"/>
          </a:solidFill>
          <a:ln w="9525">
            <a:solidFill>
              <a:srgbClr val="D0D4DA"/>
            </a:solidFill>
          </a:ln>
          <a:effectLst/>
        </p:spPr>
        <p:txBody>
          <a:bodyPr rtlCol="0" anchor="ctr"/>
          <a:lstStyle/>
          <a:p>
            <a:pPr algn="ctr"/>
            <a:endParaRPr/>
          </a:p>
        </p:txBody>
      </p:sp>
      <p:sp>
        <p:nvSpPr>
          <p:cNvPr id="211" name="TextBox 212"/>
          <p:cNvSpPr txBox="1"/>
          <p:nvPr/>
        </p:nvSpPr>
        <p:spPr>
          <a:xfrm>
            <a:off x="6318504" y="1783080"/>
            <a:ext cx="5294376" cy="384048"/>
          </a:xfrm>
          <a:prstGeom prst="rect">
            <a:avLst/>
          </a:prstGeom>
          <a:noFill/>
        </p:spPr>
        <p:txBody>
          <a:bodyPr wrap="square" lIns="36576" tIns="0" rIns="36576" bIns="0" anchor="ctr"/>
          <a:lstStyle/>
          <a:p>
            <a:pPr algn="ctr">
              <a:lnSpc>
                <a:spcPct val="110000"/>
              </a:lnSpc>
              <a:spcAft>
                <a:spcPts val="0"/>
              </a:spcAft>
            </a:pPr>
            <a:r>
              <a:rPr sz="1200" b="1">
                <a:solidFill>
                  <a:srgbClr val="1A1A1A"/>
                </a:solidFill>
                <a:latin typeface="Calibri"/>
                <a:ea typeface="맑은 고딕"/>
                <a:cs typeface="Calibri"/>
              </a:rPr>
              <a:t>1.  Tank cleaning</a:t>
            </a:r>
          </a:p>
        </p:txBody>
      </p:sp>
      <p:sp>
        <p:nvSpPr>
          <p:cNvPr id="213" name="TextBox 214"/>
          <p:cNvSpPr txBox="1"/>
          <p:nvPr/>
        </p:nvSpPr>
        <p:spPr>
          <a:xfrm>
            <a:off x="6245352" y="2167128"/>
            <a:ext cx="5440680" cy="182880"/>
          </a:xfrm>
          <a:prstGeom prst="rect">
            <a:avLst/>
          </a:prstGeom>
          <a:noFill/>
        </p:spPr>
        <p:txBody>
          <a:bodyPr wrap="square" lIns="36576" tIns="0" rIns="36576" bIns="0" anchor="ctr"/>
          <a:lstStyle/>
          <a:p>
            <a:pPr algn="ctr">
              <a:lnSpc>
                <a:spcPct val="100000"/>
              </a:lnSpc>
              <a:spcAft>
                <a:spcPts val="0"/>
              </a:spcAft>
            </a:pPr>
            <a:r>
              <a:rPr sz="1000" b="0">
                <a:solidFill>
                  <a:srgbClr val="595959"/>
                </a:solidFill>
                <a:latin typeface="Calibri"/>
                <a:ea typeface="맑은 고딕"/>
                <a:cs typeface="Calibri"/>
              </a:rPr>
              <a:t>↓</a:t>
            </a:r>
          </a:p>
        </p:txBody>
      </p:sp>
      <p:sp>
        <p:nvSpPr>
          <p:cNvPr id="215" name="Rectangle 216"/>
          <p:cNvSpPr/>
          <p:nvPr/>
        </p:nvSpPr>
        <p:spPr>
          <a:xfrm>
            <a:off x="6245352" y="2350008"/>
            <a:ext cx="5440680" cy="384048"/>
          </a:xfrm>
          <a:prstGeom prst="rect">
            <a:avLst/>
          </a:prstGeom>
          <a:solidFill>
            <a:srgbClr val="FFFFFF"/>
          </a:solidFill>
          <a:ln w="9525">
            <a:solidFill>
              <a:srgbClr val="D0D4DA"/>
            </a:solidFill>
          </a:ln>
          <a:effectLst/>
        </p:spPr>
        <p:txBody>
          <a:bodyPr rtlCol="0" anchor="ctr"/>
          <a:lstStyle/>
          <a:p>
            <a:pPr algn="ctr"/>
            <a:endParaRPr/>
          </a:p>
        </p:txBody>
      </p:sp>
      <p:sp>
        <p:nvSpPr>
          <p:cNvPr id="217" name="TextBox 218"/>
          <p:cNvSpPr txBox="1"/>
          <p:nvPr/>
        </p:nvSpPr>
        <p:spPr>
          <a:xfrm>
            <a:off x="6318504" y="2350008"/>
            <a:ext cx="5294376" cy="384048"/>
          </a:xfrm>
          <a:prstGeom prst="rect">
            <a:avLst/>
          </a:prstGeom>
          <a:noFill/>
        </p:spPr>
        <p:txBody>
          <a:bodyPr wrap="square" lIns="36576" tIns="0" rIns="36576" bIns="0" anchor="ctr"/>
          <a:lstStyle/>
          <a:p>
            <a:pPr algn="ctr">
              <a:lnSpc>
                <a:spcPct val="110000"/>
              </a:lnSpc>
              <a:spcAft>
                <a:spcPts val="0"/>
              </a:spcAft>
            </a:pPr>
            <a:r>
              <a:rPr sz="1200" b="1">
                <a:solidFill>
                  <a:srgbClr val="1A1A1A"/>
                </a:solidFill>
                <a:latin typeface="Calibri"/>
                <a:ea typeface="맑은 고딕"/>
                <a:cs typeface="Calibri"/>
              </a:rPr>
              <a:t>2.  Bunkering</a:t>
            </a:r>
          </a:p>
        </p:txBody>
      </p:sp>
      <p:sp>
        <p:nvSpPr>
          <p:cNvPr id="219" name="TextBox 220"/>
          <p:cNvSpPr txBox="1"/>
          <p:nvPr/>
        </p:nvSpPr>
        <p:spPr>
          <a:xfrm>
            <a:off x="6245352" y="2734056"/>
            <a:ext cx="5440680" cy="182880"/>
          </a:xfrm>
          <a:prstGeom prst="rect">
            <a:avLst/>
          </a:prstGeom>
          <a:noFill/>
        </p:spPr>
        <p:txBody>
          <a:bodyPr wrap="square" lIns="36576" tIns="0" rIns="36576" bIns="0" anchor="ctr"/>
          <a:lstStyle/>
          <a:p>
            <a:pPr algn="ctr">
              <a:lnSpc>
                <a:spcPct val="100000"/>
              </a:lnSpc>
              <a:spcAft>
                <a:spcPts val="0"/>
              </a:spcAft>
            </a:pPr>
            <a:r>
              <a:rPr sz="1000" b="0">
                <a:solidFill>
                  <a:srgbClr val="595959"/>
                </a:solidFill>
                <a:latin typeface="Calibri"/>
                <a:ea typeface="맑은 고딕"/>
                <a:cs typeface="Calibri"/>
              </a:rPr>
              <a:t>↓</a:t>
            </a:r>
          </a:p>
        </p:txBody>
      </p:sp>
      <p:sp>
        <p:nvSpPr>
          <p:cNvPr id="221" name="Rectangle 222"/>
          <p:cNvSpPr/>
          <p:nvPr/>
        </p:nvSpPr>
        <p:spPr>
          <a:xfrm>
            <a:off x="6245352" y="2916936"/>
            <a:ext cx="5440680" cy="384048"/>
          </a:xfrm>
          <a:prstGeom prst="rect">
            <a:avLst/>
          </a:prstGeom>
          <a:solidFill>
            <a:srgbClr val="FFFFFF"/>
          </a:solidFill>
          <a:ln w="9525">
            <a:solidFill>
              <a:srgbClr val="D0D4DA"/>
            </a:solidFill>
          </a:ln>
          <a:effectLst/>
        </p:spPr>
        <p:txBody>
          <a:bodyPr rtlCol="0" anchor="ctr"/>
          <a:lstStyle/>
          <a:p>
            <a:pPr algn="ctr"/>
            <a:endParaRPr/>
          </a:p>
        </p:txBody>
      </p:sp>
      <p:sp>
        <p:nvSpPr>
          <p:cNvPr id="223" name="TextBox 224"/>
          <p:cNvSpPr txBox="1"/>
          <p:nvPr/>
        </p:nvSpPr>
        <p:spPr>
          <a:xfrm>
            <a:off x="6318504" y="2916936"/>
            <a:ext cx="5294376" cy="384048"/>
          </a:xfrm>
          <a:prstGeom prst="rect">
            <a:avLst/>
          </a:prstGeom>
          <a:noFill/>
        </p:spPr>
        <p:txBody>
          <a:bodyPr wrap="square" lIns="36576" tIns="0" rIns="36576" bIns="0" anchor="ctr"/>
          <a:lstStyle/>
          <a:p>
            <a:pPr algn="ctr">
              <a:lnSpc>
                <a:spcPct val="110000"/>
              </a:lnSpc>
              <a:spcAft>
                <a:spcPts val="0"/>
              </a:spcAft>
            </a:pPr>
            <a:r>
              <a:rPr sz="1200" b="1">
                <a:solidFill>
                  <a:srgbClr val="1A1A1A"/>
                </a:solidFill>
                <a:latin typeface="Calibri"/>
                <a:ea typeface="맑은 고딕"/>
                <a:cs typeface="Calibri"/>
              </a:rPr>
              <a:t>3.  Filter monitoring</a:t>
            </a:r>
          </a:p>
        </p:txBody>
      </p:sp>
      <p:sp>
        <p:nvSpPr>
          <p:cNvPr id="225" name="TextBox 226"/>
          <p:cNvSpPr txBox="1"/>
          <p:nvPr/>
        </p:nvSpPr>
        <p:spPr>
          <a:xfrm>
            <a:off x="6245352" y="3300984"/>
            <a:ext cx="5440680" cy="182880"/>
          </a:xfrm>
          <a:prstGeom prst="rect">
            <a:avLst/>
          </a:prstGeom>
          <a:noFill/>
        </p:spPr>
        <p:txBody>
          <a:bodyPr wrap="square" lIns="36576" tIns="0" rIns="36576" bIns="0" anchor="ctr"/>
          <a:lstStyle/>
          <a:p>
            <a:pPr algn="ctr">
              <a:lnSpc>
                <a:spcPct val="100000"/>
              </a:lnSpc>
              <a:spcAft>
                <a:spcPts val="0"/>
              </a:spcAft>
            </a:pPr>
            <a:r>
              <a:rPr sz="1000" b="0">
                <a:solidFill>
                  <a:srgbClr val="595959"/>
                </a:solidFill>
                <a:latin typeface="Calibri"/>
                <a:ea typeface="맑은 고딕"/>
                <a:cs typeface="Calibri"/>
              </a:rPr>
              <a:t>↓</a:t>
            </a:r>
          </a:p>
        </p:txBody>
      </p:sp>
      <p:sp>
        <p:nvSpPr>
          <p:cNvPr id="227" name="Rectangle 228"/>
          <p:cNvSpPr/>
          <p:nvPr/>
        </p:nvSpPr>
        <p:spPr>
          <a:xfrm>
            <a:off x="6245352" y="3483864"/>
            <a:ext cx="5440680" cy="384048"/>
          </a:xfrm>
          <a:prstGeom prst="rect">
            <a:avLst/>
          </a:prstGeom>
          <a:solidFill>
            <a:srgbClr val="172A4A"/>
          </a:solidFill>
          <a:ln>
            <a:noFill/>
          </a:ln>
          <a:effectLst/>
        </p:spPr>
        <p:txBody>
          <a:bodyPr rtlCol="0" anchor="ctr"/>
          <a:lstStyle/>
          <a:p>
            <a:pPr algn="ctr"/>
            <a:endParaRPr/>
          </a:p>
        </p:txBody>
      </p:sp>
      <p:sp>
        <p:nvSpPr>
          <p:cNvPr id="229" name="TextBox 230"/>
          <p:cNvSpPr txBox="1"/>
          <p:nvPr/>
        </p:nvSpPr>
        <p:spPr>
          <a:xfrm>
            <a:off x="6318504" y="3483864"/>
            <a:ext cx="5294376" cy="384048"/>
          </a:xfrm>
          <a:prstGeom prst="rect">
            <a:avLst/>
          </a:prstGeom>
          <a:noFill/>
        </p:spPr>
        <p:txBody>
          <a:bodyPr wrap="square" lIns="36576" tIns="0" rIns="36576" bIns="0" anchor="ctr"/>
          <a:lstStyle/>
          <a:p>
            <a:pPr algn="ctr">
              <a:lnSpc>
                <a:spcPct val="110000"/>
              </a:lnSpc>
              <a:spcAft>
                <a:spcPts val="0"/>
              </a:spcAft>
            </a:pPr>
            <a:r>
              <a:rPr sz="1200" b="1">
                <a:solidFill>
                  <a:srgbClr val="FFFFFF"/>
                </a:solidFill>
                <a:latin typeface="Calibri"/>
                <a:ea typeface="맑은 고딕"/>
                <a:cs typeface="Calibri"/>
              </a:rPr>
              <a:t>4.  Fuel analysis</a:t>
            </a:r>
          </a:p>
        </p:txBody>
      </p:sp>
      <p:sp>
        <p:nvSpPr>
          <p:cNvPr id="231" name="Rectangle 232"/>
          <p:cNvSpPr/>
          <p:nvPr/>
        </p:nvSpPr>
        <p:spPr>
          <a:xfrm>
            <a:off x="6245352" y="4160520"/>
            <a:ext cx="5440680" cy="777240"/>
          </a:xfrm>
          <a:prstGeom prst="rect">
            <a:avLst/>
          </a:prstGeom>
          <a:solidFill>
            <a:srgbClr val="EFEFEF"/>
          </a:solidFill>
          <a:ln>
            <a:noFill/>
          </a:ln>
          <a:effectLst/>
        </p:spPr>
        <p:txBody>
          <a:bodyPr rtlCol="0" anchor="ctr"/>
          <a:lstStyle/>
          <a:p>
            <a:pPr algn="ctr"/>
            <a:endParaRPr/>
          </a:p>
        </p:txBody>
      </p:sp>
      <p:sp>
        <p:nvSpPr>
          <p:cNvPr id="233" name="TextBox 234"/>
          <p:cNvSpPr txBox="1"/>
          <p:nvPr/>
        </p:nvSpPr>
        <p:spPr>
          <a:xfrm>
            <a:off x="6428232" y="4160520"/>
            <a:ext cx="5074920" cy="777240"/>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Clean the tank before the first biofuel stem — not after the first filter alarm.</a:t>
            </a:r>
          </a:p>
        </p:txBody>
      </p:sp>
      <p:sp>
        <p:nvSpPr>
          <p:cNvPr id="235" name="TextBox 236"/>
          <p:cNvSpPr txBox="1"/>
          <p:nvPr/>
        </p:nvSpPr>
        <p:spPr>
          <a:xfrm>
            <a:off x="6245352" y="5120640"/>
            <a:ext cx="5440680" cy="548640"/>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Flush the system and watch filters closely through the changeover period; the rate settles once the old deposits have been carried out.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Rectangle 238"/>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239" name="TextBox 240"/>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Additives — One Problem, One Additive</a:t>
            </a:r>
          </a:p>
        </p:txBody>
      </p:sp>
      <p:sp>
        <p:nvSpPr>
          <p:cNvPr id="241" name="Rectangle 242"/>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243" name="TextBox 244"/>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What each additive is for</a:t>
            </a:r>
          </a:p>
        </p:txBody>
      </p:sp>
      <p:sp>
        <p:nvSpPr>
          <p:cNvPr id="245" name="Rectangle 246"/>
          <p:cNvSpPr/>
          <p:nvPr/>
        </p:nvSpPr>
        <p:spPr>
          <a:xfrm>
            <a:off x="502920" y="1783080"/>
            <a:ext cx="2148840" cy="402336"/>
          </a:xfrm>
          <a:prstGeom prst="rect">
            <a:avLst/>
          </a:prstGeom>
          <a:solidFill>
            <a:srgbClr val="172A4A"/>
          </a:solidFill>
          <a:ln>
            <a:noFill/>
          </a:ln>
          <a:effectLst/>
        </p:spPr>
        <p:txBody>
          <a:bodyPr rtlCol="0" anchor="ctr"/>
          <a:lstStyle/>
          <a:p>
            <a:pPr algn="ctr"/>
            <a:endParaRPr/>
          </a:p>
        </p:txBody>
      </p:sp>
      <p:sp>
        <p:nvSpPr>
          <p:cNvPr id="247" name="TextBox 248"/>
          <p:cNvSpPr txBox="1"/>
          <p:nvPr/>
        </p:nvSpPr>
        <p:spPr>
          <a:xfrm>
            <a:off x="576072" y="1783080"/>
            <a:ext cx="200253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Problem</a:t>
            </a:r>
          </a:p>
        </p:txBody>
      </p:sp>
      <p:sp>
        <p:nvSpPr>
          <p:cNvPr id="249" name="Rectangle 250"/>
          <p:cNvSpPr/>
          <p:nvPr/>
        </p:nvSpPr>
        <p:spPr>
          <a:xfrm>
            <a:off x="2651760" y="1783080"/>
            <a:ext cx="3291840" cy="402336"/>
          </a:xfrm>
          <a:prstGeom prst="rect">
            <a:avLst/>
          </a:prstGeom>
          <a:solidFill>
            <a:srgbClr val="172A4A"/>
          </a:solidFill>
          <a:ln>
            <a:noFill/>
          </a:ln>
          <a:effectLst/>
        </p:spPr>
        <p:txBody>
          <a:bodyPr rtlCol="0" anchor="ctr"/>
          <a:lstStyle/>
          <a:p>
            <a:pPr algn="ctr"/>
            <a:endParaRPr/>
          </a:p>
        </p:txBody>
      </p:sp>
      <p:sp>
        <p:nvSpPr>
          <p:cNvPr id="251" name="TextBox 252"/>
          <p:cNvSpPr txBox="1"/>
          <p:nvPr/>
        </p:nvSpPr>
        <p:spPr>
          <a:xfrm>
            <a:off x="2724912" y="1783080"/>
            <a:ext cx="314553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Additive</a:t>
            </a:r>
          </a:p>
        </p:txBody>
      </p:sp>
      <p:sp>
        <p:nvSpPr>
          <p:cNvPr id="253" name="Rectangle 254"/>
          <p:cNvSpPr/>
          <p:nvPr/>
        </p:nvSpPr>
        <p:spPr>
          <a:xfrm>
            <a:off x="502920" y="2185416"/>
            <a:ext cx="2148840" cy="438912"/>
          </a:xfrm>
          <a:prstGeom prst="rect">
            <a:avLst/>
          </a:prstGeom>
          <a:solidFill>
            <a:srgbClr val="FFFFFF"/>
          </a:solidFill>
          <a:ln w="9525">
            <a:solidFill>
              <a:srgbClr val="D0D4DA"/>
            </a:solidFill>
          </a:ln>
          <a:effectLst/>
        </p:spPr>
        <p:txBody>
          <a:bodyPr rtlCol="0" anchor="ctr"/>
          <a:lstStyle/>
          <a:p>
            <a:pPr algn="ctr"/>
            <a:endParaRPr/>
          </a:p>
        </p:txBody>
      </p:sp>
      <p:sp>
        <p:nvSpPr>
          <p:cNvPr id="255" name="TextBox 256"/>
          <p:cNvSpPr txBox="1"/>
          <p:nvPr/>
        </p:nvSpPr>
        <p:spPr>
          <a:xfrm>
            <a:off x="576072" y="2185416"/>
            <a:ext cx="2002536" cy="43891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Water in the fuel</a:t>
            </a:r>
          </a:p>
        </p:txBody>
      </p:sp>
      <p:sp>
        <p:nvSpPr>
          <p:cNvPr id="257" name="Rectangle 258"/>
          <p:cNvSpPr/>
          <p:nvPr/>
        </p:nvSpPr>
        <p:spPr>
          <a:xfrm>
            <a:off x="2651760" y="2185416"/>
            <a:ext cx="3291840" cy="438912"/>
          </a:xfrm>
          <a:prstGeom prst="rect">
            <a:avLst/>
          </a:prstGeom>
          <a:solidFill>
            <a:srgbClr val="FFFFFF"/>
          </a:solidFill>
          <a:ln w="9525">
            <a:solidFill>
              <a:srgbClr val="D0D4DA"/>
            </a:solidFill>
          </a:ln>
          <a:effectLst/>
        </p:spPr>
        <p:txBody>
          <a:bodyPr rtlCol="0" anchor="ctr"/>
          <a:lstStyle/>
          <a:p>
            <a:pPr algn="ctr"/>
            <a:endParaRPr/>
          </a:p>
        </p:txBody>
      </p:sp>
      <p:sp>
        <p:nvSpPr>
          <p:cNvPr id="259" name="TextBox 260"/>
          <p:cNvSpPr txBox="1"/>
          <p:nvPr/>
        </p:nvSpPr>
        <p:spPr>
          <a:xfrm>
            <a:off x="2724912" y="2185416"/>
            <a:ext cx="3145536" cy="43891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Demulsifier — helps water separate out</a:t>
            </a:r>
          </a:p>
        </p:txBody>
      </p:sp>
      <p:sp>
        <p:nvSpPr>
          <p:cNvPr id="261" name="Rectangle 262"/>
          <p:cNvSpPr/>
          <p:nvPr/>
        </p:nvSpPr>
        <p:spPr>
          <a:xfrm>
            <a:off x="502920" y="2624328"/>
            <a:ext cx="2148840" cy="438912"/>
          </a:xfrm>
          <a:prstGeom prst="rect">
            <a:avLst/>
          </a:prstGeom>
          <a:solidFill>
            <a:srgbClr val="FFFFFF"/>
          </a:solidFill>
          <a:ln w="9525">
            <a:solidFill>
              <a:srgbClr val="D0D4DA"/>
            </a:solidFill>
          </a:ln>
          <a:effectLst/>
        </p:spPr>
        <p:txBody>
          <a:bodyPr rtlCol="0" anchor="ctr"/>
          <a:lstStyle/>
          <a:p>
            <a:pPr algn="ctr"/>
            <a:endParaRPr/>
          </a:p>
        </p:txBody>
      </p:sp>
      <p:sp>
        <p:nvSpPr>
          <p:cNvPr id="263" name="TextBox 264"/>
          <p:cNvSpPr txBox="1"/>
          <p:nvPr/>
        </p:nvSpPr>
        <p:spPr>
          <a:xfrm>
            <a:off x="576072" y="2624328"/>
            <a:ext cx="2002536" cy="43891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Microbial growth</a:t>
            </a:r>
          </a:p>
        </p:txBody>
      </p:sp>
      <p:sp>
        <p:nvSpPr>
          <p:cNvPr id="265" name="Rectangle 266"/>
          <p:cNvSpPr/>
          <p:nvPr/>
        </p:nvSpPr>
        <p:spPr>
          <a:xfrm>
            <a:off x="2651760" y="2624328"/>
            <a:ext cx="3291840" cy="438912"/>
          </a:xfrm>
          <a:prstGeom prst="rect">
            <a:avLst/>
          </a:prstGeom>
          <a:solidFill>
            <a:srgbClr val="FFFFFF"/>
          </a:solidFill>
          <a:ln w="9525">
            <a:solidFill>
              <a:srgbClr val="D0D4DA"/>
            </a:solidFill>
          </a:ln>
          <a:effectLst/>
        </p:spPr>
        <p:txBody>
          <a:bodyPr rtlCol="0" anchor="ctr"/>
          <a:lstStyle/>
          <a:p>
            <a:pPr algn="ctr"/>
            <a:endParaRPr/>
          </a:p>
        </p:txBody>
      </p:sp>
      <p:sp>
        <p:nvSpPr>
          <p:cNvPr id="267" name="TextBox 268"/>
          <p:cNvSpPr txBox="1"/>
          <p:nvPr/>
        </p:nvSpPr>
        <p:spPr>
          <a:xfrm>
            <a:off x="2724912" y="2624328"/>
            <a:ext cx="3145536" cy="43891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Biocide — inhibits bacteria and fungi</a:t>
            </a:r>
          </a:p>
        </p:txBody>
      </p:sp>
      <p:sp>
        <p:nvSpPr>
          <p:cNvPr id="269" name="Rectangle 270"/>
          <p:cNvSpPr/>
          <p:nvPr/>
        </p:nvSpPr>
        <p:spPr>
          <a:xfrm>
            <a:off x="502920" y="3063240"/>
            <a:ext cx="2148840" cy="438912"/>
          </a:xfrm>
          <a:prstGeom prst="rect">
            <a:avLst/>
          </a:prstGeom>
          <a:solidFill>
            <a:srgbClr val="FFFFFF"/>
          </a:solidFill>
          <a:ln w="9525">
            <a:solidFill>
              <a:srgbClr val="D0D4DA"/>
            </a:solidFill>
          </a:ln>
          <a:effectLst/>
        </p:spPr>
        <p:txBody>
          <a:bodyPr rtlCol="0" anchor="ctr"/>
          <a:lstStyle/>
          <a:p>
            <a:pPr algn="ctr"/>
            <a:endParaRPr/>
          </a:p>
        </p:txBody>
      </p:sp>
      <p:sp>
        <p:nvSpPr>
          <p:cNvPr id="271" name="TextBox 272"/>
          <p:cNvSpPr txBox="1"/>
          <p:nvPr/>
        </p:nvSpPr>
        <p:spPr>
          <a:xfrm>
            <a:off x="576072" y="3063240"/>
            <a:ext cx="2002536" cy="43891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Oxidation</a:t>
            </a:r>
          </a:p>
        </p:txBody>
      </p:sp>
      <p:sp>
        <p:nvSpPr>
          <p:cNvPr id="273" name="Rectangle 274"/>
          <p:cNvSpPr/>
          <p:nvPr/>
        </p:nvSpPr>
        <p:spPr>
          <a:xfrm>
            <a:off x="2651760" y="3063240"/>
            <a:ext cx="3291840" cy="438912"/>
          </a:xfrm>
          <a:prstGeom prst="rect">
            <a:avLst/>
          </a:prstGeom>
          <a:solidFill>
            <a:srgbClr val="FFFFFF"/>
          </a:solidFill>
          <a:ln w="9525">
            <a:solidFill>
              <a:srgbClr val="D0D4DA"/>
            </a:solidFill>
          </a:ln>
          <a:effectLst/>
        </p:spPr>
        <p:txBody>
          <a:bodyPr rtlCol="0" anchor="ctr"/>
          <a:lstStyle/>
          <a:p>
            <a:pPr algn="ctr"/>
            <a:endParaRPr/>
          </a:p>
        </p:txBody>
      </p:sp>
      <p:sp>
        <p:nvSpPr>
          <p:cNvPr id="275" name="TextBox 276"/>
          <p:cNvSpPr txBox="1"/>
          <p:nvPr/>
        </p:nvSpPr>
        <p:spPr>
          <a:xfrm>
            <a:off x="2724912" y="3063240"/>
            <a:ext cx="3145536" cy="43891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Antioxidant — interrupts the oxidation chain</a:t>
            </a:r>
          </a:p>
        </p:txBody>
      </p:sp>
      <p:sp>
        <p:nvSpPr>
          <p:cNvPr id="277" name="Rectangle 278"/>
          <p:cNvSpPr/>
          <p:nvPr/>
        </p:nvSpPr>
        <p:spPr>
          <a:xfrm>
            <a:off x="502920" y="3502152"/>
            <a:ext cx="2148840" cy="402336"/>
          </a:xfrm>
          <a:prstGeom prst="rect">
            <a:avLst/>
          </a:prstGeom>
          <a:solidFill>
            <a:srgbClr val="FFFFFF"/>
          </a:solidFill>
          <a:ln w="9525">
            <a:solidFill>
              <a:srgbClr val="D0D4DA"/>
            </a:solidFill>
          </a:ln>
          <a:effectLst/>
        </p:spPr>
        <p:txBody>
          <a:bodyPr rtlCol="0" anchor="ctr"/>
          <a:lstStyle/>
          <a:p>
            <a:pPr algn="ctr"/>
            <a:endParaRPr/>
          </a:p>
        </p:txBody>
      </p:sp>
      <p:sp>
        <p:nvSpPr>
          <p:cNvPr id="279" name="TextBox 280"/>
          <p:cNvSpPr txBox="1"/>
          <p:nvPr/>
        </p:nvSpPr>
        <p:spPr>
          <a:xfrm>
            <a:off x="576072" y="3502152"/>
            <a:ext cx="200253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Corrosion</a:t>
            </a:r>
          </a:p>
        </p:txBody>
      </p:sp>
      <p:sp>
        <p:nvSpPr>
          <p:cNvPr id="281" name="Rectangle 282"/>
          <p:cNvSpPr/>
          <p:nvPr/>
        </p:nvSpPr>
        <p:spPr>
          <a:xfrm>
            <a:off x="2651760" y="3502152"/>
            <a:ext cx="3291840" cy="402336"/>
          </a:xfrm>
          <a:prstGeom prst="rect">
            <a:avLst/>
          </a:prstGeom>
          <a:solidFill>
            <a:srgbClr val="FFFFFF"/>
          </a:solidFill>
          <a:ln w="9525">
            <a:solidFill>
              <a:srgbClr val="D0D4DA"/>
            </a:solidFill>
          </a:ln>
          <a:effectLst/>
        </p:spPr>
        <p:txBody>
          <a:bodyPr rtlCol="0" anchor="ctr"/>
          <a:lstStyle/>
          <a:p>
            <a:pPr algn="ctr"/>
            <a:endParaRPr/>
          </a:p>
        </p:txBody>
      </p:sp>
      <p:sp>
        <p:nvSpPr>
          <p:cNvPr id="283" name="TextBox 284"/>
          <p:cNvSpPr txBox="1"/>
          <p:nvPr/>
        </p:nvSpPr>
        <p:spPr>
          <a:xfrm>
            <a:off x="2724912" y="3502152"/>
            <a:ext cx="314553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Corrosion inhibitor</a:t>
            </a:r>
          </a:p>
        </p:txBody>
      </p:sp>
      <p:sp>
        <p:nvSpPr>
          <p:cNvPr id="285" name="TextBox 286"/>
          <p:cNvSpPr txBox="1"/>
          <p:nvPr/>
        </p:nvSpPr>
        <p:spPr>
          <a:xfrm>
            <a:off x="502920" y="4023360"/>
            <a:ext cx="5440680" cy="548640"/>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Biofuels are hygroscopic — they absorb water from the air. Leaking heating coils, venting and condensation in the tank headspace all add to it.</a:t>
            </a:r>
          </a:p>
        </p:txBody>
      </p:sp>
      <p:sp>
        <p:nvSpPr>
          <p:cNvPr id="287" name="Rectangle 288"/>
          <p:cNvSpPr/>
          <p:nvPr/>
        </p:nvSpPr>
        <p:spPr>
          <a:xfrm>
            <a:off x="502920" y="4754880"/>
            <a:ext cx="5440680" cy="777240"/>
          </a:xfrm>
          <a:prstGeom prst="rect">
            <a:avLst/>
          </a:prstGeom>
          <a:solidFill>
            <a:srgbClr val="EFEFEF"/>
          </a:solidFill>
          <a:ln>
            <a:noFill/>
          </a:ln>
          <a:effectLst/>
        </p:spPr>
        <p:txBody>
          <a:bodyPr rtlCol="0" anchor="ctr"/>
          <a:lstStyle/>
          <a:p>
            <a:pPr algn="ctr"/>
            <a:endParaRPr/>
          </a:p>
        </p:txBody>
      </p:sp>
      <p:sp>
        <p:nvSpPr>
          <p:cNvPr id="289" name="TextBox 290"/>
          <p:cNvSpPr txBox="1"/>
          <p:nvPr/>
        </p:nvSpPr>
        <p:spPr>
          <a:xfrm>
            <a:off x="685800" y="4754880"/>
            <a:ext cx="5074920" cy="777240"/>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Dosage and efficacy should be agreed between supplier and end user — not decided on board.</a:t>
            </a:r>
          </a:p>
        </p:txBody>
      </p:sp>
      <p:sp>
        <p:nvSpPr>
          <p:cNvPr id="291" name="Rectangle 292"/>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293" name="TextBox 294"/>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What additives cannot do</a:t>
            </a:r>
          </a:p>
        </p:txBody>
      </p:sp>
      <p:sp>
        <p:nvSpPr>
          <p:cNvPr id="295" name="TextBox 296"/>
          <p:cNvSpPr txBox="1"/>
          <p:nvPr/>
        </p:nvSpPr>
        <p:spPr>
          <a:xfrm>
            <a:off x="6245352" y="1783080"/>
            <a:ext cx="5440680" cy="2194560"/>
          </a:xfrm>
          <a:prstGeom prst="rect">
            <a:avLst/>
          </a:prstGeom>
          <a:noFill/>
        </p:spPr>
        <p:txBody>
          <a:bodyPr wrap="square" lIns="36576" tIns="0" rIns="36576" bIns="0" anchor="t"/>
          <a:lstStyle/>
          <a:p>
            <a:pPr algn="l">
              <a:lnSpc>
                <a:spcPct val="125000"/>
              </a:lnSpc>
              <a:spcAft>
                <a:spcPts val="700"/>
              </a:spcAft>
            </a:pPr>
            <a:r>
              <a:rPr sz="1200" b="1">
                <a:solidFill>
                  <a:srgbClr val="C00000"/>
                </a:solidFill>
                <a:latin typeface="Calibri"/>
                <a:ea typeface="맑은 고딕"/>
                <a:cs typeface="Calibri"/>
              </a:rPr>
              <a:t>Oxidation is irreversible. Once it has happened, an antioxidant cannot restore the fuel to its original condition — it can only slow further deterioration.</a:t>
            </a:r>
          </a:p>
          <a:p>
            <a:pPr algn="l">
              <a:lnSpc>
                <a:spcPct val="125000"/>
              </a:lnSpc>
              <a:spcAft>
                <a:spcPts val="700"/>
              </a:spcAft>
            </a:pPr>
            <a:r>
              <a:rPr sz="1200" b="0">
                <a:solidFill>
                  <a:srgbClr val="1A1A1A"/>
                </a:solidFill>
                <a:latin typeface="Calibri"/>
                <a:ea typeface="맑은 고딕"/>
                <a:cs typeface="Calibri"/>
              </a:rPr>
              <a:t>So an antioxidant is a shelf-life measure, taken before storage. It is not a remedy for fuel that has already degraded.</a:t>
            </a:r>
          </a:p>
          <a:p>
            <a:pPr algn="l">
              <a:lnSpc>
                <a:spcPct val="125000"/>
              </a:lnSpc>
              <a:spcAft>
                <a:spcPts val="0"/>
              </a:spcAft>
            </a:pPr>
            <a:r>
              <a:rPr sz="1200" b="0">
                <a:solidFill>
                  <a:srgbClr val="1A1A1A"/>
                </a:solidFill>
                <a:latin typeface="Calibri"/>
                <a:ea typeface="맑은 고딕"/>
                <a:cs typeface="Calibri"/>
              </a:rPr>
              <a:t>Water is the multiplier. It feeds microbial growth, drives hydrolysis, and accelerates oxidation — remove it first and the other additives work less hard.</a:t>
            </a:r>
          </a:p>
        </p:txBody>
      </p:sp>
      <p:sp>
        <p:nvSpPr>
          <p:cNvPr id="297" name="Rectangle 298"/>
          <p:cNvSpPr/>
          <p:nvPr/>
        </p:nvSpPr>
        <p:spPr>
          <a:xfrm>
            <a:off x="6245352" y="4206240"/>
            <a:ext cx="5440680" cy="777240"/>
          </a:xfrm>
          <a:prstGeom prst="rect">
            <a:avLst/>
          </a:prstGeom>
          <a:solidFill>
            <a:srgbClr val="EFEFEF"/>
          </a:solidFill>
          <a:ln>
            <a:noFill/>
          </a:ln>
          <a:effectLst/>
        </p:spPr>
        <p:txBody>
          <a:bodyPr rtlCol="0" anchor="ctr"/>
          <a:lstStyle/>
          <a:p>
            <a:pPr algn="ctr"/>
            <a:endParaRPr/>
          </a:p>
        </p:txBody>
      </p:sp>
      <p:sp>
        <p:nvSpPr>
          <p:cNvPr id="299" name="TextBox 300"/>
          <p:cNvSpPr txBox="1"/>
          <p:nvPr/>
        </p:nvSpPr>
        <p:spPr>
          <a:xfrm>
            <a:off x="6428232" y="4206240"/>
            <a:ext cx="5074920" cy="777240"/>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Order of defence: keep water out, then dose — not the other way round.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Rectangle 302"/>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303" name="TextBox 304"/>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Storage — Three Rules Worth Remembering</a:t>
            </a:r>
          </a:p>
        </p:txBody>
      </p:sp>
      <p:sp>
        <p:nvSpPr>
          <p:cNvPr id="305" name="Rectangle 306"/>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307" name="TextBox 308"/>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The three rules</a:t>
            </a:r>
          </a:p>
        </p:txBody>
      </p:sp>
      <p:sp>
        <p:nvSpPr>
          <p:cNvPr id="309" name="Rectangle 310"/>
          <p:cNvSpPr/>
          <p:nvPr/>
        </p:nvSpPr>
        <p:spPr>
          <a:xfrm>
            <a:off x="502920" y="1783080"/>
            <a:ext cx="566928" cy="640080"/>
          </a:xfrm>
          <a:prstGeom prst="rect">
            <a:avLst/>
          </a:prstGeom>
          <a:solidFill>
            <a:srgbClr val="FFFFFF"/>
          </a:solidFill>
          <a:ln w="9525">
            <a:solidFill>
              <a:srgbClr val="D0D4DA"/>
            </a:solidFill>
          </a:ln>
          <a:effectLst/>
        </p:spPr>
        <p:txBody>
          <a:bodyPr rtlCol="0" anchor="ctr"/>
          <a:lstStyle/>
          <a:p>
            <a:pPr algn="ctr"/>
            <a:endParaRPr/>
          </a:p>
        </p:txBody>
      </p:sp>
      <p:sp>
        <p:nvSpPr>
          <p:cNvPr id="311" name="TextBox 312"/>
          <p:cNvSpPr txBox="1"/>
          <p:nvPr/>
        </p:nvSpPr>
        <p:spPr>
          <a:xfrm>
            <a:off x="576072" y="1783080"/>
            <a:ext cx="420624" cy="64008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1</a:t>
            </a:r>
          </a:p>
        </p:txBody>
      </p:sp>
      <p:sp>
        <p:nvSpPr>
          <p:cNvPr id="313" name="Rectangle 314"/>
          <p:cNvSpPr/>
          <p:nvPr/>
        </p:nvSpPr>
        <p:spPr>
          <a:xfrm>
            <a:off x="1069848" y="1783080"/>
            <a:ext cx="4873752" cy="640080"/>
          </a:xfrm>
          <a:prstGeom prst="rect">
            <a:avLst/>
          </a:prstGeom>
          <a:solidFill>
            <a:srgbClr val="FFFFFF"/>
          </a:solidFill>
          <a:ln w="9525">
            <a:solidFill>
              <a:srgbClr val="D0D4DA"/>
            </a:solidFill>
          </a:ln>
          <a:effectLst/>
        </p:spPr>
        <p:txBody>
          <a:bodyPr rtlCol="0" anchor="ctr"/>
          <a:lstStyle/>
          <a:p>
            <a:pPr algn="ctr"/>
            <a:endParaRPr/>
          </a:p>
        </p:txBody>
      </p:sp>
      <p:sp>
        <p:nvSpPr>
          <p:cNvPr id="315" name="TextBox 316"/>
          <p:cNvSpPr txBox="1"/>
          <p:nvPr/>
        </p:nvSpPr>
        <p:spPr>
          <a:xfrm>
            <a:off x="1143000" y="1783080"/>
            <a:ext cx="4727448" cy="64008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Keep the fuel about 10 °C above the pour point on the Certificate of Quality</a:t>
            </a:r>
          </a:p>
        </p:txBody>
      </p:sp>
      <p:sp>
        <p:nvSpPr>
          <p:cNvPr id="317" name="Rectangle 318"/>
          <p:cNvSpPr/>
          <p:nvPr/>
        </p:nvSpPr>
        <p:spPr>
          <a:xfrm>
            <a:off x="502920" y="2423160"/>
            <a:ext cx="566928" cy="457200"/>
          </a:xfrm>
          <a:prstGeom prst="rect">
            <a:avLst/>
          </a:prstGeom>
          <a:solidFill>
            <a:srgbClr val="FFFFFF"/>
          </a:solidFill>
          <a:ln w="9525">
            <a:solidFill>
              <a:srgbClr val="D0D4DA"/>
            </a:solidFill>
          </a:ln>
          <a:effectLst/>
        </p:spPr>
        <p:txBody>
          <a:bodyPr rtlCol="0" anchor="ctr"/>
          <a:lstStyle/>
          <a:p>
            <a:pPr algn="ctr"/>
            <a:endParaRPr/>
          </a:p>
        </p:txBody>
      </p:sp>
      <p:sp>
        <p:nvSpPr>
          <p:cNvPr id="319" name="TextBox 320"/>
          <p:cNvSpPr txBox="1"/>
          <p:nvPr/>
        </p:nvSpPr>
        <p:spPr>
          <a:xfrm>
            <a:off x="576072" y="2423160"/>
            <a:ext cx="420624" cy="45720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2</a:t>
            </a:r>
          </a:p>
        </p:txBody>
      </p:sp>
      <p:sp>
        <p:nvSpPr>
          <p:cNvPr id="321" name="Rectangle 322"/>
          <p:cNvSpPr/>
          <p:nvPr/>
        </p:nvSpPr>
        <p:spPr>
          <a:xfrm>
            <a:off x="1069848" y="2423160"/>
            <a:ext cx="4873752" cy="457200"/>
          </a:xfrm>
          <a:prstGeom prst="rect">
            <a:avLst/>
          </a:prstGeom>
          <a:solidFill>
            <a:srgbClr val="FFFFFF"/>
          </a:solidFill>
          <a:ln w="9525">
            <a:solidFill>
              <a:srgbClr val="D0D4DA"/>
            </a:solidFill>
          </a:ln>
          <a:effectLst/>
        </p:spPr>
        <p:txBody>
          <a:bodyPr rtlCol="0" anchor="ctr"/>
          <a:lstStyle/>
          <a:p>
            <a:pPr algn="ctr"/>
            <a:endParaRPr/>
          </a:p>
        </p:txBody>
      </p:sp>
      <p:sp>
        <p:nvSpPr>
          <p:cNvPr id="323" name="TextBox 324"/>
          <p:cNvSpPr txBox="1"/>
          <p:nvPr/>
        </p:nvSpPr>
        <p:spPr>
          <a:xfrm>
            <a:off x="1143000" y="2423160"/>
            <a:ext cx="4727448" cy="45720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Avoid temperature swings</a:t>
            </a:r>
          </a:p>
        </p:txBody>
      </p:sp>
      <p:sp>
        <p:nvSpPr>
          <p:cNvPr id="325" name="Rectangle 326"/>
          <p:cNvSpPr/>
          <p:nvPr/>
        </p:nvSpPr>
        <p:spPr>
          <a:xfrm>
            <a:off x="502920" y="2880360"/>
            <a:ext cx="566928" cy="457200"/>
          </a:xfrm>
          <a:prstGeom prst="rect">
            <a:avLst/>
          </a:prstGeom>
          <a:solidFill>
            <a:srgbClr val="FFFFFF"/>
          </a:solidFill>
          <a:ln w="9525">
            <a:solidFill>
              <a:srgbClr val="D0D4DA"/>
            </a:solidFill>
          </a:ln>
          <a:effectLst/>
        </p:spPr>
        <p:txBody>
          <a:bodyPr rtlCol="0" anchor="ctr"/>
          <a:lstStyle/>
          <a:p>
            <a:pPr algn="ctr"/>
            <a:endParaRPr/>
          </a:p>
        </p:txBody>
      </p:sp>
      <p:sp>
        <p:nvSpPr>
          <p:cNvPr id="327" name="TextBox 328"/>
          <p:cNvSpPr txBox="1"/>
          <p:nvPr/>
        </p:nvSpPr>
        <p:spPr>
          <a:xfrm>
            <a:off x="576072" y="2880360"/>
            <a:ext cx="420624" cy="45720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3</a:t>
            </a:r>
          </a:p>
        </p:txBody>
      </p:sp>
      <p:sp>
        <p:nvSpPr>
          <p:cNvPr id="329" name="Rectangle 330"/>
          <p:cNvSpPr/>
          <p:nvPr/>
        </p:nvSpPr>
        <p:spPr>
          <a:xfrm>
            <a:off x="1069848" y="2880360"/>
            <a:ext cx="4873752" cy="457200"/>
          </a:xfrm>
          <a:prstGeom prst="rect">
            <a:avLst/>
          </a:prstGeom>
          <a:solidFill>
            <a:srgbClr val="FFFFFF"/>
          </a:solidFill>
          <a:ln w="9525">
            <a:solidFill>
              <a:srgbClr val="D0D4DA"/>
            </a:solidFill>
          </a:ln>
          <a:effectLst/>
        </p:spPr>
        <p:txBody>
          <a:bodyPr rtlCol="0" anchor="ctr"/>
          <a:lstStyle/>
          <a:p>
            <a:pPr algn="ctr"/>
            <a:endParaRPr/>
          </a:p>
        </p:txBody>
      </p:sp>
      <p:sp>
        <p:nvSpPr>
          <p:cNvPr id="331" name="TextBox 332"/>
          <p:cNvSpPr txBox="1"/>
          <p:nvPr/>
        </p:nvSpPr>
        <p:spPr>
          <a:xfrm>
            <a:off x="1143000" y="2880360"/>
            <a:ext cx="4727448" cy="45720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Use it within about three months</a:t>
            </a:r>
          </a:p>
        </p:txBody>
      </p:sp>
      <p:sp>
        <p:nvSpPr>
          <p:cNvPr id="333" name="TextBox 334"/>
          <p:cNvSpPr txBox="1"/>
          <p:nvPr/>
        </p:nvSpPr>
        <p:spPr>
          <a:xfrm>
            <a:off x="502920" y="3474720"/>
            <a:ext cx="5440680" cy="685800"/>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If the temperature has dropped below the pour point, heat the fuel until all waxes redissolve. Pour point can understate waxing — use Wax Appearance Temperature where it matters.</a:t>
            </a:r>
          </a:p>
        </p:txBody>
      </p:sp>
      <p:sp>
        <p:nvSpPr>
          <p:cNvPr id="335" name="Rectangle 336"/>
          <p:cNvSpPr/>
          <p:nvPr/>
        </p:nvSpPr>
        <p:spPr>
          <a:xfrm>
            <a:off x="502920" y="4343400"/>
            <a:ext cx="5440680" cy="1188720"/>
          </a:xfrm>
          <a:prstGeom prst="rect">
            <a:avLst/>
          </a:prstGeom>
          <a:solidFill>
            <a:srgbClr val="EFEFEF"/>
          </a:solidFill>
          <a:ln>
            <a:noFill/>
          </a:ln>
          <a:effectLst/>
        </p:spPr>
        <p:txBody>
          <a:bodyPr rtlCol="0" anchor="ctr"/>
          <a:lstStyle/>
          <a:p>
            <a:pPr algn="ctr"/>
            <a:endParaRPr/>
          </a:p>
        </p:txBody>
      </p:sp>
      <p:sp>
        <p:nvSpPr>
          <p:cNvPr id="337" name="TextBox 338"/>
          <p:cNvSpPr txBox="1"/>
          <p:nvPr/>
        </p:nvSpPr>
        <p:spPr>
          <a:xfrm>
            <a:off x="685800" y="4343400"/>
            <a:ext cx="5074920" cy="1188720"/>
          </a:xfrm>
          <a:prstGeom prst="rect">
            <a:avLst/>
          </a:prstGeom>
          <a:noFill/>
        </p:spPr>
        <p:txBody>
          <a:bodyPr wrap="square" lIns="36576" tIns="0" rIns="36576" bIns="0" anchor="ctr"/>
          <a:lstStyle/>
          <a:p>
            <a:pPr algn="l">
              <a:lnSpc>
                <a:spcPct val="125000"/>
              </a:lnSpc>
              <a:spcAft>
                <a:spcPts val="0"/>
              </a:spcAft>
            </a:pPr>
            <a:r>
              <a:rPr sz="1250" b="1">
                <a:solidFill>
                  <a:srgbClr val="172A4A"/>
                </a:solidFill>
                <a:latin typeface="Calibri"/>
                <a:ea typeface="맑은 고딕"/>
                <a:cs typeface="Calibri"/>
              </a:rPr>
              <a:t>Three months is a practical rule of thumb, not a hard quality limit. GCMD stored B24 on board for six months and the acid value stayed within ISO 8217 limits.</a:t>
            </a:r>
          </a:p>
        </p:txBody>
      </p:sp>
      <p:sp>
        <p:nvSpPr>
          <p:cNvPr id="339" name="Rectangle 340"/>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341" name="TextBox 342"/>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Monitor these four during long storage</a:t>
            </a:r>
          </a:p>
        </p:txBody>
      </p:sp>
      <p:sp>
        <p:nvSpPr>
          <p:cNvPr id="343" name="Rectangle 344"/>
          <p:cNvSpPr/>
          <p:nvPr/>
        </p:nvSpPr>
        <p:spPr>
          <a:xfrm>
            <a:off x="6245352" y="1783080"/>
            <a:ext cx="2103120" cy="402336"/>
          </a:xfrm>
          <a:prstGeom prst="rect">
            <a:avLst/>
          </a:prstGeom>
          <a:solidFill>
            <a:srgbClr val="172A4A"/>
          </a:solidFill>
          <a:ln>
            <a:noFill/>
          </a:ln>
          <a:effectLst/>
        </p:spPr>
        <p:txBody>
          <a:bodyPr rtlCol="0" anchor="ctr"/>
          <a:lstStyle/>
          <a:p>
            <a:pPr algn="ctr"/>
            <a:endParaRPr/>
          </a:p>
        </p:txBody>
      </p:sp>
      <p:sp>
        <p:nvSpPr>
          <p:cNvPr id="345" name="TextBox 346"/>
          <p:cNvSpPr txBox="1"/>
          <p:nvPr/>
        </p:nvSpPr>
        <p:spPr>
          <a:xfrm>
            <a:off x="6318504" y="1783080"/>
            <a:ext cx="195681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Indicator</a:t>
            </a:r>
          </a:p>
        </p:txBody>
      </p:sp>
      <p:sp>
        <p:nvSpPr>
          <p:cNvPr id="347" name="Rectangle 348"/>
          <p:cNvSpPr/>
          <p:nvPr/>
        </p:nvSpPr>
        <p:spPr>
          <a:xfrm>
            <a:off x="8348472" y="1783080"/>
            <a:ext cx="3337560" cy="402336"/>
          </a:xfrm>
          <a:prstGeom prst="rect">
            <a:avLst/>
          </a:prstGeom>
          <a:solidFill>
            <a:srgbClr val="172A4A"/>
          </a:solidFill>
          <a:ln>
            <a:noFill/>
          </a:ln>
          <a:effectLst/>
        </p:spPr>
        <p:txBody>
          <a:bodyPr rtlCol="0" anchor="ctr"/>
          <a:lstStyle/>
          <a:p>
            <a:pPr algn="ctr"/>
            <a:endParaRPr/>
          </a:p>
        </p:txBody>
      </p:sp>
      <p:sp>
        <p:nvSpPr>
          <p:cNvPr id="349" name="TextBox 350"/>
          <p:cNvSpPr txBox="1"/>
          <p:nvPr/>
        </p:nvSpPr>
        <p:spPr>
          <a:xfrm>
            <a:off x="8421624" y="1783080"/>
            <a:ext cx="319125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What it tells you</a:t>
            </a:r>
          </a:p>
        </p:txBody>
      </p:sp>
      <p:sp>
        <p:nvSpPr>
          <p:cNvPr id="351" name="Rectangle 352"/>
          <p:cNvSpPr/>
          <p:nvPr/>
        </p:nvSpPr>
        <p:spPr>
          <a:xfrm>
            <a:off x="6245352" y="2185416"/>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353" name="TextBox 354"/>
          <p:cNvSpPr txBox="1"/>
          <p:nvPr/>
        </p:nvSpPr>
        <p:spPr>
          <a:xfrm>
            <a:off x="6318504" y="2185416"/>
            <a:ext cx="19568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Oxidation stability</a:t>
            </a:r>
          </a:p>
        </p:txBody>
      </p:sp>
      <p:sp>
        <p:nvSpPr>
          <p:cNvPr id="355" name="Rectangle 356"/>
          <p:cNvSpPr/>
          <p:nvPr/>
        </p:nvSpPr>
        <p:spPr>
          <a:xfrm>
            <a:off x="8348472" y="2185416"/>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357" name="TextBox 358"/>
          <p:cNvSpPr txBox="1"/>
          <p:nvPr/>
        </p:nvSpPr>
        <p:spPr>
          <a:xfrm>
            <a:off x="8421624" y="2185416"/>
            <a:ext cx="31912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The most direct sign of degradation</a:t>
            </a:r>
          </a:p>
        </p:txBody>
      </p:sp>
      <p:sp>
        <p:nvSpPr>
          <p:cNvPr id="359" name="Rectangle 360"/>
          <p:cNvSpPr/>
          <p:nvPr/>
        </p:nvSpPr>
        <p:spPr>
          <a:xfrm>
            <a:off x="6245352" y="2587752"/>
            <a:ext cx="2103120" cy="438912"/>
          </a:xfrm>
          <a:prstGeom prst="rect">
            <a:avLst/>
          </a:prstGeom>
          <a:solidFill>
            <a:srgbClr val="FFFFFF"/>
          </a:solidFill>
          <a:ln w="9525">
            <a:solidFill>
              <a:srgbClr val="D0D4DA"/>
            </a:solidFill>
          </a:ln>
          <a:effectLst/>
        </p:spPr>
        <p:txBody>
          <a:bodyPr rtlCol="0" anchor="ctr"/>
          <a:lstStyle/>
          <a:p>
            <a:pPr algn="ctr"/>
            <a:endParaRPr/>
          </a:p>
        </p:txBody>
      </p:sp>
      <p:sp>
        <p:nvSpPr>
          <p:cNvPr id="361" name="TextBox 362"/>
          <p:cNvSpPr txBox="1"/>
          <p:nvPr/>
        </p:nvSpPr>
        <p:spPr>
          <a:xfrm>
            <a:off x="6318504" y="2587752"/>
            <a:ext cx="1956816" cy="43891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FAME content</a:t>
            </a:r>
          </a:p>
        </p:txBody>
      </p:sp>
      <p:sp>
        <p:nvSpPr>
          <p:cNvPr id="363" name="Rectangle 364"/>
          <p:cNvSpPr/>
          <p:nvPr/>
        </p:nvSpPr>
        <p:spPr>
          <a:xfrm>
            <a:off x="8348472" y="2587752"/>
            <a:ext cx="3337560" cy="438912"/>
          </a:xfrm>
          <a:prstGeom prst="rect">
            <a:avLst/>
          </a:prstGeom>
          <a:solidFill>
            <a:srgbClr val="FFFFFF"/>
          </a:solidFill>
          <a:ln w="9525">
            <a:solidFill>
              <a:srgbClr val="D0D4DA"/>
            </a:solidFill>
          </a:ln>
          <a:effectLst/>
        </p:spPr>
        <p:txBody>
          <a:bodyPr rtlCol="0" anchor="ctr"/>
          <a:lstStyle/>
          <a:p>
            <a:pPr algn="ctr"/>
            <a:endParaRPr/>
          </a:p>
        </p:txBody>
      </p:sp>
      <p:sp>
        <p:nvSpPr>
          <p:cNvPr id="365" name="TextBox 366"/>
          <p:cNvSpPr txBox="1"/>
          <p:nvPr/>
        </p:nvSpPr>
        <p:spPr>
          <a:xfrm>
            <a:off x="8421624" y="2587752"/>
            <a:ext cx="3191256" cy="43891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Falls as esters break down, or on dilution</a:t>
            </a:r>
          </a:p>
        </p:txBody>
      </p:sp>
      <p:sp>
        <p:nvSpPr>
          <p:cNvPr id="367" name="Rectangle 368"/>
          <p:cNvSpPr/>
          <p:nvPr/>
        </p:nvSpPr>
        <p:spPr>
          <a:xfrm>
            <a:off x="6245352" y="3026664"/>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369" name="TextBox 370"/>
          <p:cNvSpPr txBox="1"/>
          <p:nvPr/>
        </p:nvSpPr>
        <p:spPr>
          <a:xfrm>
            <a:off x="6318504" y="3026664"/>
            <a:ext cx="19568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Acid value</a:t>
            </a:r>
          </a:p>
        </p:txBody>
      </p:sp>
      <p:sp>
        <p:nvSpPr>
          <p:cNvPr id="371" name="Rectangle 372"/>
          <p:cNvSpPr/>
          <p:nvPr/>
        </p:nvSpPr>
        <p:spPr>
          <a:xfrm>
            <a:off x="8348472" y="3026664"/>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373" name="TextBox 374"/>
          <p:cNvSpPr txBox="1"/>
          <p:nvPr/>
        </p:nvSpPr>
        <p:spPr>
          <a:xfrm>
            <a:off x="8421624" y="3026664"/>
            <a:ext cx="31912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Rises as free fatty acids form</a:t>
            </a:r>
          </a:p>
        </p:txBody>
      </p:sp>
      <p:sp>
        <p:nvSpPr>
          <p:cNvPr id="375" name="Rectangle 376"/>
          <p:cNvSpPr/>
          <p:nvPr/>
        </p:nvSpPr>
        <p:spPr>
          <a:xfrm>
            <a:off x="6245352" y="3429000"/>
            <a:ext cx="2103120" cy="438912"/>
          </a:xfrm>
          <a:prstGeom prst="rect">
            <a:avLst/>
          </a:prstGeom>
          <a:solidFill>
            <a:srgbClr val="FFFFFF"/>
          </a:solidFill>
          <a:ln w="9525">
            <a:solidFill>
              <a:srgbClr val="D0D4DA"/>
            </a:solidFill>
          </a:ln>
          <a:effectLst/>
        </p:spPr>
        <p:txBody>
          <a:bodyPr rtlCol="0" anchor="ctr"/>
          <a:lstStyle/>
          <a:p>
            <a:pPr algn="ctr"/>
            <a:endParaRPr/>
          </a:p>
        </p:txBody>
      </p:sp>
      <p:sp>
        <p:nvSpPr>
          <p:cNvPr id="377" name="TextBox 378"/>
          <p:cNvSpPr txBox="1"/>
          <p:nvPr/>
        </p:nvSpPr>
        <p:spPr>
          <a:xfrm>
            <a:off x="6318504" y="3429000"/>
            <a:ext cx="1956816" cy="43891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Water content</a:t>
            </a:r>
          </a:p>
        </p:txBody>
      </p:sp>
      <p:sp>
        <p:nvSpPr>
          <p:cNvPr id="379" name="Rectangle 380"/>
          <p:cNvSpPr/>
          <p:nvPr/>
        </p:nvSpPr>
        <p:spPr>
          <a:xfrm>
            <a:off x="8348472" y="3429000"/>
            <a:ext cx="3337560" cy="438912"/>
          </a:xfrm>
          <a:prstGeom prst="rect">
            <a:avLst/>
          </a:prstGeom>
          <a:solidFill>
            <a:srgbClr val="FFFFFF"/>
          </a:solidFill>
          <a:ln w="9525">
            <a:solidFill>
              <a:srgbClr val="D0D4DA"/>
            </a:solidFill>
          </a:ln>
          <a:effectLst/>
        </p:spPr>
        <p:txBody>
          <a:bodyPr rtlCol="0" anchor="ctr"/>
          <a:lstStyle/>
          <a:p>
            <a:pPr algn="ctr"/>
            <a:endParaRPr/>
          </a:p>
        </p:txBody>
      </p:sp>
      <p:sp>
        <p:nvSpPr>
          <p:cNvPr id="381" name="TextBox 382"/>
          <p:cNvSpPr txBox="1"/>
          <p:nvPr/>
        </p:nvSpPr>
        <p:spPr>
          <a:xfrm>
            <a:off x="8421624" y="3429000"/>
            <a:ext cx="3191256" cy="43891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Rises with absorption, and accelerates oxidation</a:t>
            </a:r>
          </a:p>
        </p:txBody>
      </p:sp>
      <p:sp>
        <p:nvSpPr>
          <p:cNvPr id="383" name="TextBox 384"/>
          <p:cNvSpPr txBox="1"/>
          <p:nvPr/>
        </p:nvSpPr>
        <p:spPr>
          <a:xfrm>
            <a:off x="6245352" y="3977640"/>
            <a:ext cx="5440680" cy="1188720"/>
          </a:xfrm>
          <a:prstGeom prst="rect">
            <a:avLst/>
          </a:prstGeom>
          <a:noFill/>
        </p:spPr>
        <p:txBody>
          <a:bodyPr wrap="square" lIns="36576" tIns="0" rIns="36576" bIns="0" anchor="t"/>
          <a:lstStyle/>
          <a:p>
            <a:pPr algn="l">
              <a:lnSpc>
                <a:spcPct val="125000"/>
              </a:lnSpc>
              <a:spcAft>
                <a:spcPts val="0"/>
              </a:spcAft>
            </a:pPr>
            <a:r>
              <a:rPr sz="1200" b="0">
                <a:solidFill>
                  <a:srgbClr val="1A1A1A"/>
                </a:solidFill>
                <a:latin typeface="Calibri"/>
                <a:ea typeface="맑은 고딕"/>
                <a:cs typeface="Calibri"/>
              </a:rPr>
              <a:t>If degradation is mild the fuel can often still be used — raising filtration temperature, reducing flow rates, in-line blending with fresh bunkers. Consult Class or the testing laboratory before deciding.</a:t>
            </a:r>
          </a:p>
        </p:txBody>
      </p:sp>
      <p:sp>
        <p:nvSpPr>
          <p:cNvPr id="385" name="Rectangle 386"/>
          <p:cNvSpPr/>
          <p:nvPr/>
        </p:nvSpPr>
        <p:spPr>
          <a:xfrm>
            <a:off x="6245352" y="5303520"/>
            <a:ext cx="5440680" cy="566928"/>
          </a:xfrm>
          <a:prstGeom prst="rect">
            <a:avLst/>
          </a:prstGeom>
          <a:solidFill>
            <a:srgbClr val="EFEFEF"/>
          </a:solidFill>
          <a:ln>
            <a:noFill/>
          </a:ln>
          <a:effectLst/>
        </p:spPr>
        <p:txBody>
          <a:bodyPr rtlCol="0" anchor="ctr"/>
          <a:lstStyle/>
          <a:p>
            <a:pPr algn="ctr"/>
            <a:endParaRPr/>
          </a:p>
        </p:txBody>
      </p:sp>
      <p:sp>
        <p:nvSpPr>
          <p:cNvPr id="387" name="TextBox 388"/>
          <p:cNvSpPr txBox="1"/>
          <p:nvPr/>
        </p:nvSpPr>
        <p:spPr>
          <a:xfrm>
            <a:off x="6428232" y="5303520"/>
            <a:ext cx="5074920" cy="566928"/>
          </a:xfrm>
          <a:prstGeom prst="rect">
            <a:avLst/>
          </a:prstGeom>
          <a:noFill/>
        </p:spPr>
        <p:txBody>
          <a:bodyPr wrap="square" lIns="36576" tIns="0" rIns="36576" bIns="0" anchor="ctr"/>
          <a:lstStyle/>
          <a:p>
            <a:pPr algn="l">
              <a:lnSpc>
                <a:spcPct val="125000"/>
              </a:lnSpc>
              <a:spcAft>
                <a:spcPts val="0"/>
              </a:spcAft>
            </a:pPr>
            <a:r>
              <a:rPr sz="1400" b="1">
                <a:solidFill>
                  <a:srgbClr val="172A4A"/>
                </a:solidFill>
                <a:latin typeface="Calibri"/>
                <a:ea typeface="맑은 고딕"/>
                <a:cs typeface="Calibri"/>
              </a:rPr>
              <a:t>Fresh in, fresh out.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Rectangle 390"/>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391" name="TextBox 392"/>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Two Things That Get Misread</a:t>
            </a:r>
          </a:p>
        </p:txBody>
      </p:sp>
      <p:sp>
        <p:nvSpPr>
          <p:cNvPr id="393" name="Rectangle 394"/>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395" name="TextBox 396"/>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B30 is not 30% FAME</a:t>
            </a:r>
          </a:p>
        </p:txBody>
      </p:sp>
      <p:sp>
        <p:nvSpPr>
          <p:cNvPr id="397" name="TextBox 398"/>
          <p:cNvSpPr txBox="1"/>
          <p:nvPr/>
        </p:nvSpPr>
        <p:spPr>
          <a:xfrm>
            <a:off x="502920" y="1783080"/>
            <a:ext cx="5440680" cy="1005840"/>
          </a:xfrm>
          <a:prstGeom prst="rect">
            <a:avLst/>
          </a:prstGeom>
          <a:noFill/>
        </p:spPr>
        <p:txBody>
          <a:bodyPr wrap="square" lIns="36576" tIns="0" rIns="36576" bIns="0" anchor="t"/>
          <a:lstStyle/>
          <a:p>
            <a:pPr algn="l">
              <a:lnSpc>
                <a:spcPct val="125000"/>
              </a:lnSpc>
              <a:spcAft>
                <a:spcPts val="0"/>
              </a:spcAft>
            </a:pPr>
            <a:r>
              <a:rPr sz="1200" b="0">
                <a:solidFill>
                  <a:srgbClr val="1A1A1A"/>
                </a:solidFill>
                <a:latin typeface="Calibri"/>
                <a:ea typeface="맑은 고딕"/>
                <a:cs typeface="Calibri"/>
              </a:rPr>
              <a:t>The number after the B is the bio-content by volume — not the FAME content. The actual FAME share depends on the bio-component used.</a:t>
            </a:r>
          </a:p>
        </p:txBody>
      </p:sp>
      <p:sp>
        <p:nvSpPr>
          <p:cNvPr id="399" name="Rectangle 400"/>
          <p:cNvSpPr/>
          <p:nvPr/>
        </p:nvSpPr>
        <p:spPr>
          <a:xfrm>
            <a:off x="502920" y="2651760"/>
            <a:ext cx="2926080" cy="457200"/>
          </a:xfrm>
          <a:prstGeom prst="rect">
            <a:avLst/>
          </a:prstGeom>
          <a:solidFill>
            <a:srgbClr val="FFFFFF"/>
          </a:solidFill>
          <a:ln w="9525">
            <a:solidFill>
              <a:srgbClr val="D0D4DA"/>
            </a:solidFill>
          </a:ln>
          <a:effectLst/>
        </p:spPr>
        <p:txBody>
          <a:bodyPr rtlCol="0" anchor="ctr"/>
          <a:lstStyle/>
          <a:p>
            <a:pPr algn="ctr"/>
            <a:endParaRPr/>
          </a:p>
        </p:txBody>
      </p:sp>
      <p:sp>
        <p:nvSpPr>
          <p:cNvPr id="401" name="TextBox 402"/>
          <p:cNvSpPr txBox="1"/>
          <p:nvPr/>
        </p:nvSpPr>
        <p:spPr>
          <a:xfrm>
            <a:off x="576072" y="2651760"/>
            <a:ext cx="2779776" cy="45720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EN 14214 compliant B100</a:t>
            </a:r>
          </a:p>
        </p:txBody>
      </p:sp>
      <p:sp>
        <p:nvSpPr>
          <p:cNvPr id="403" name="Rectangle 404"/>
          <p:cNvSpPr/>
          <p:nvPr/>
        </p:nvSpPr>
        <p:spPr>
          <a:xfrm>
            <a:off x="3429000" y="2651760"/>
            <a:ext cx="2514600" cy="457200"/>
          </a:xfrm>
          <a:prstGeom prst="rect">
            <a:avLst/>
          </a:prstGeom>
          <a:solidFill>
            <a:srgbClr val="FFFFFF"/>
          </a:solidFill>
          <a:ln w="9525">
            <a:solidFill>
              <a:srgbClr val="D0D4DA"/>
            </a:solidFill>
          </a:ln>
          <a:effectLst/>
        </p:spPr>
        <p:txBody>
          <a:bodyPr rtlCol="0" anchor="ctr"/>
          <a:lstStyle/>
          <a:p>
            <a:pPr algn="ctr"/>
            <a:endParaRPr/>
          </a:p>
        </p:txBody>
      </p:sp>
      <p:sp>
        <p:nvSpPr>
          <p:cNvPr id="405" name="TextBox 406"/>
          <p:cNvSpPr txBox="1"/>
          <p:nvPr/>
        </p:nvSpPr>
        <p:spPr>
          <a:xfrm>
            <a:off x="3502152" y="2651760"/>
            <a:ext cx="2368296" cy="45720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FAME ≥ 96.5% by mass</a:t>
            </a:r>
          </a:p>
        </p:txBody>
      </p:sp>
      <p:sp>
        <p:nvSpPr>
          <p:cNvPr id="407" name="Rectangle 408"/>
          <p:cNvSpPr/>
          <p:nvPr/>
        </p:nvSpPr>
        <p:spPr>
          <a:xfrm>
            <a:off x="502920" y="3108960"/>
            <a:ext cx="2926080" cy="457200"/>
          </a:xfrm>
          <a:prstGeom prst="rect">
            <a:avLst/>
          </a:prstGeom>
          <a:solidFill>
            <a:srgbClr val="FFFFFF"/>
          </a:solidFill>
          <a:ln w="9525">
            <a:solidFill>
              <a:srgbClr val="D0D4DA"/>
            </a:solidFill>
          </a:ln>
          <a:effectLst/>
        </p:spPr>
        <p:txBody>
          <a:bodyPr rtlCol="0" anchor="ctr"/>
          <a:lstStyle/>
          <a:p>
            <a:pPr algn="ctr"/>
            <a:endParaRPr/>
          </a:p>
        </p:txBody>
      </p:sp>
      <p:sp>
        <p:nvSpPr>
          <p:cNvPr id="409" name="TextBox 410"/>
          <p:cNvSpPr txBox="1"/>
          <p:nvPr/>
        </p:nvSpPr>
        <p:spPr>
          <a:xfrm>
            <a:off x="576072" y="3108960"/>
            <a:ext cx="2779776" cy="45720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B30 blend</a:t>
            </a:r>
          </a:p>
        </p:txBody>
      </p:sp>
      <p:sp>
        <p:nvSpPr>
          <p:cNvPr id="411" name="Rectangle 412"/>
          <p:cNvSpPr/>
          <p:nvPr/>
        </p:nvSpPr>
        <p:spPr>
          <a:xfrm>
            <a:off x="3429000" y="3108960"/>
            <a:ext cx="2514600" cy="457200"/>
          </a:xfrm>
          <a:prstGeom prst="rect">
            <a:avLst/>
          </a:prstGeom>
          <a:solidFill>
            <a:srgbClr val="FFFFFF"/>
          </a:solidFill>
          <a:ln w="9525">
            <a:solidFill>
              <a:srgbClr val="D0D4DA"/>
            </a:solidFill>
          </a:ln>
          <a:effectLst/>
        </p:spPr>
        <p:txBody>
          <a:bodyPr rtlCol="0" anchor="ctr"/>
          <a:lstStyle/>
          <a:p>
            <a:pPr algn="ctr"/>
            <a:endParaRPr/>
          </a:p>
        </p:txBody>
      </p:sp>
      <p:sp>
        <p:nvSpPr>
          <p:cNvPr id="413" name="TextBox 414"/>
          <p:cNvSpPr txBox="1"/>
          <p:nvPr/>
        </p:nvSpPr>
        <p:spPr>
          <a:xfrm>
            <a:off x="3502152" y="3108960"/>
            <a:ext cx="2368296" cy="457200"/>
          </a:xfrm>
          <a:prstGeom prst="rect">
            <a:avLst/>
          </a:prstGeom>
          <a:noFill/>
        </p:spPr>
        <p:txBody>
          <a:bodyPr wrap="square" lIns="36576" tIns="0" rIns="36576" bIns="0" anchor="ctr"/>
          <a:lstStyle/>
          <a:p>
            <a:pPr algn="l">
              <a:lnSpc>
                <a:spcPct val="110000"/>
              </a:lnSpc>
              <a:spcAft>
                <a:spcPts val="0"/>
              </a:spcAft>
            </a:pPr>
            <a:r>
              <a:rPr sz="1200" b="1">
                <a:solidFill>
                  <a:srgbClr val="1F6F3D"/>
                </a:solidFill>
                <a:latin typeface="Calibri"/>
                <a:ea typeface="맑은 고딕"/>
                <a:cs typeface="Calibri"/>
              </a:rPr>
              <a:t>30% × 96.5% ≈ 28.95% FAME</a:t>
            </a:r>
          </a:p>
        </p:txBody>
      </p:sp>
      <p:sp>
        <p:nvSpPr>
          <p:cNvPr id="415" name="Rectangle 416"/>
          <p:cNvSpPr/>
          <p:nvPr/>
        </p:nvSpPr>
        <p:spPr>
          <a:xfrm>
            <a:off x="502920" y="3749040"/>
            <a:ext cx="5440680" cy="777240"/>
          </a:xfrm>
          <a:prstGeom prst="rect">
            <a:avLst/>
          </a:prstGeom>
          <a:solidFill>
            <a:srgbClr val="EFEFEF"/>
          </a:solidFill>
          <a:ln>
            <a:noFill/>
          </a:ln>
          <a:effectLst/>
        </p:spPr>
        <p:txBody>
          <a:bodyPr rtlCol="0" anchor="ctr"/>
          <a:lstStyle/>
          <a:p>
            <a:pPr algn="ctr"/>
            <a:endParaRPr/>
          </a:p>
        </p:txBody>
      </p:sp>
      <p:sp>
        <p:nvSpPr>
          <p:cNvPr id="417" name="TextBox 418"/>
          <p:cNvSpPr txBox="1"/>
          <p:nvPr/>
        </p:nvSpPr>
        <p:spPr>
          <a:xfrm>
            <a:off x="685800" y="3749040"/>
            <a:ext cx="5074920" cy="777240"/>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It matters whenever anyone calculates a blend ratio or an emission factor.</a:t>
            </a:r>
          </a:p>
        </p:txBody>
      </p:sp>
      <p:sp>
        <p:nvSpPr>
          <p:cNvPr id="419" name="Rectangle 420"/>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421" name="TextBox 422"/>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Approving the engine is not approving the ship</a:t>
            </a:r>
          </a:p>
        </p:txBody>
      </p:sp>
      <p:sp>
        <p:nvSpPr>
          <p:cNvPr id="423" name="TextBox 424"/>
          <p:cNvSpPr txBox="1"/>
          <p:nvPr/>
        </p:nvSpPr>
        <p:spPr>
          <a:xfrm>
            <a:off x="6245352" y="1783080"/>
            <a:ext cx="5440680" cy="822960"/>
          </a:xfrm>
          <a:prstGeom prst="rect">
            <a:avLst/>
          </a:prstGeom>
          <a:noFill/>
        </p:spPr>
        <p:txBody>
          <a:bodyPr wrap="square" lIns="36576" tIns="0" rIns="36576" bIns="0" anchor="t"/>
          <a:lstStyle/>
          <a:p>
            <a:pPr algn="l">
              <a:lnSpc>
                <a:spcPct val="125000"/>
              </a:lnSpc>
              <a:spcAft>
                <a:spcPts val="0"/>
              </a:spcAft>
            </a:pPr>
            <a:r>
              <a:rPr sz="1200" b="0">
                <a:solidFill>
                  <a:srgbClr val="1A1A1A"/>
                </a:solidFill>
                <a:latin typeface="Calibri"/>
                <a:ea typeface="맑은 고딕"/>
                <a:cs typeface="Calibri"/>
              </a:rPr>
              <a:t>Everything in the fuel path has to be confirmed as suitable for the specified blend. Any one of these can be the weak link:</a:t>
            </a:r>
          </a:p>
        </p:txBody>
      </p:sp>
      <p:sp>
        <p:nvSpPr>
          <p:cNvPr id="425" name="Rectangle 426"/>
          <p:cNvSpPr/>
          <p:nvPr/>
        </p:nvSpPr>
        <p:spPr>
          <a:xfrm>
            <a:off x="6245352" y="2697480"/>
            <a:ext cx="2651760" cy="402336"/>
          </a:xfrm>
          <a:prstGeom prst="rect">
            <a:avLst/>
          </a:prstGeom>
          <a:solidFill>
            <a:srgbClr val="FFFFFF"/>
          </a:solidFill>
          <a:ln w="9525">
            <a:solidFill>
              <a:srgbClr val="D0D4DA"/>
            </a:solidFill>
          </a:ln>
          <a:effectLst/>
        </p:spPr>
        <p:txBody>
          <a:bodyPr rtlCol="0" anchor="ctr"/>
          <a:lstStyle/>
          <a:p>
            <a:pPr algn="ctr"/>
            <a:endParaRPr/>
          </a:p>
        </p:txBody>
      </p:sp>
      <p:sp>
        <p:nvSpPr>
          <p:cNvPr id="427" name="TextBox 428"/>
          <p:cNvSpPr txBox="1"/>
          <p:nvPr/>
        </p:nvSpPr>
        <p:spPr>
          <a:xfrm>
            <a:off x="6318504" y="2697480"/>
            <a:ext cx="25054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Engine</a:t>
            </a:r>
          </a:p>
        </p:txBody>
      </p:sp>
      <p:sp>
        <p:nvSpPr>
          <p:cNvPr id="429" name="Rectangle 430"/>
          <p:cNvSpPr/>
          <p:nvPr/>
        </p:nvSpPr>
        <p:spPr>
          <a:xfrm>
            <a:off x="8897112" y="2697480"/>
            <a:ext cx="2788920" cy="402336"/>
          </a:xfrm>
          <a:prstGeom prst="rect">
            <a:avLst/>
          </a:prstGeom>
          <a:solidFill>
            <a:srgbClr val="FFFFFF"/>
          </a:solidFill>
          <a:ln w="9525">
            <a:solidFill>
              <a:srgbClr val="D0D4DA"/>
            </a:solidFill>
          </a:ln>
          <a:effectLst/>
        </p:spPr>
        <p:txBody>
          <a:bodyPr rtlCol="0" anchor="ctr"/>
          <a:lstStyle/>
          <a:p>
            <a:pPr algn="ctr"/>
            <a:endParaRPr/>
          </a:p>
        </p:txBody>
      </p:sp>
      <p:sp>
        <p:nvSpPr>
          <p:cNvPr id="431" name="TextBox 432"/>
          <p:cNvSpPr txBox="1"/>
          <p:nvPr/>
        </p:nvSpPr>
        <p:spPr>
          <a:xfrm>
            <a:off x="8970264" y="2697480"/>
            <a:ext cx="26426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Purifier</a:t>
            </a:r>
          </a:p>
        </p:txBody>
      </p:sp>
      <p:sp>
        <p:nvSpPr>
          <p:cNvPr id="433" name="Rectangle 434"/>
          <p:cNvSpPr/>
          <p:nvPr/>
        </p:nvSpPr>
        <p:spPr>
          <a:xfrm>
            <a:off x="6245352" y="3099816"/>
            <a:ext cx="2651760" cy="402336"/>
          </a:xfrm>
          <a:prstGeom prst="rect">
            <a:avLst/>
          </a:prstGeom>
          <a:solidFill>
            <a:srgbClr val="FFFFFF"/>
          </a:solidFill>
          <a:ln w="9525">
            <a:solidFill>
              <a:srgbClr val="D0D4DA"/>
            </a:solidFill>
          </a:ln>
          <a:effectLst/>
        </p:spPr>
        <p:txBody>
          <a:bodyPr rtlCol="0" anchor="ctr"/>
          <a:lstStyle/>
          <a:p>
            <a:pPr algn="ctr"/>
            <a:endParaRPr/>
          </a:p>
        </p:txBody>
      </p:sp>
      <p:sp>
        <p:nvSpPr>
          <p:cNvPr id="435" name="TextBox 436"/>
          <p:cNvSpPr txBox="1"/>
          <p:nvPr/>
        </p:nvSpPr>
        <p:spPr>
          <a:xfrm>
            <a:off x="6318504" y="3099816"/>
            <a:ext cx="25054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Filter</a:t>
            </a:r>
          </a:p>
        </p:txBody>
      </p:sp>
      <p:sp>
        <p:nvSpPr>
          <p:cNvPr id="437" name="Rectangle 438"/>
          <p:cNvSpPr/>
          <p:nvPr/>
        </p:nvSpPr>
        <p:spPr>
          <a:xfrm>
            <a:off x="8897112" y="3099816"/>
            <a:ext cx="2788920" cy="402336"/>
          </a:xfrm>
          <a:prstGeom prst="rect">
            <a:avLst/>
          </a:prstGeom>
          <a:solidFill>
            <a:srgbClr val="FFFFFF"/>
          </a:solidFill>
          <a:ln w="9525">
            <a:solidFill>
              <a:srgbClr val="D0D4DA"/>
            </a:solidFill>
          </a:ln>
          <a:effectLst/>
        </p:spPr>
        <p:txBody>
          <a:bodyPr rtlCol="0" anchor="ctr"/>
          <a:lstStyle/>
          <a:p>
            <a:pPr algn="ctr"/>
            <a:endParaRPr/>
          </a:p>
        </p:txBody>
      </p:sp>
      <p:sp>
        <p:nvSpPr>
          <p:cNvPr id="439" name="TextBox 440"/>
          <p:cNvSpPr txBox="1"/>
          <p:nvPr/>
        </p:nvSpPr>
        <p:spPr>
          <a:xfrm>
            <a:off x="8970264" y="3099816"/>
            <a:ext cx="26426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Fuel treatment plant</a:t>
            </a:r>
          </a:p>
        </p:txBody>
      </p:sp>
      <p:sp>
        <p:nvSpPr>
          <p:cNvPr id="441" name="Rectangle 442"/>
          <p:cNvSpPr/>
          <p:nvPr/>
        </p:nvSpPr>
        <p:spPr>
          <a:xfrm>
            <a:off x="6245352" y="3502152"/>
            <a:ext cx="2651760" cy="402336"/>
          </a:xfrm>
          <a:prstGeom prst="rect">
            <a:avLst/>
          </a:prstGeom>
          <a:solidFill>
            <a:srgbClr val="FFFFFF"/>
          </a:solidFill>
          <a:ln w="9525">
            <a:solidFill>
              <a:srgbClr val="D0D4DA"/>
            </a:solidFill>
          </a:ln>
          <a:effectLst/>
        </p:spPr>
        <p:txBody>
          <a:bodyPr rtlCol="0" anchor="ctr"/>
          <a:lstStyle/>
          <a:p>
            <a:pPr algn="ctr"/>
            <a:endParaRPr/>
          </a:p>
        </p:txBody>
      </p:sp>
      <p:sp>
        <p:nvSpPr>
          <p:cNvPr id="443" name="TextBox 444"/>
          <p:cNvSpPr txBox="1"/>
          <p:nvPr/>
        </p:nvSpPr>
        <p:spPr>
          <a:xfrm>
            <a:off x="6318504" y="3502152"/>
            <a:ext cx="25054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Boiler</a:t>
            </a:r>
          </a:p>
        </p:txBody>
      </p:sp>
      <p:sp>
        <p:nvSpPr>
          <p:cNvPr id="445" name="Rectangle 446"/>
          <p:cNvSpPr/>
          <p:nvPr/>
        </p:nvSpPr>
        <p:spPr>
          <a:xfrm>
            <a:off x="8897112" y="3502152"/>
            <a:ext cx="2788920" cy="402336"/>
          </a:xfrm>
          <a:prstGeom prst="rect">
            <a:avLst/>
          </a:prstGeom>
          <a:solidFill>
            <a:srgbClr val="FFFFFF"/>
          </a:solidFill>
          <a:ln w="9525">
            <a:solidFill>
              <a:srgbClr val="D0D4DA"/>
            </a:solidFill>
          </a:ln>
          <a:effectLst/>
        </p:spPr>
        <p:txBody>
          <a:bodyPr rtlCol="0" anchor="ctr"/>
          <a:lstStyle/>
          <a:p>
            <a:pPr algn="ctr"/>
            <a:endParaRPr/>
          </a:p>
        </p:txBody>
      </p:sp>
      <p:sp>
        <p:nvSpPr>
          <p:cNvPr id="447" name="TextBox 448"/>
          <p:cNvSpPr txBox="1"/>
          <p:nvPr/>
        </p:nvSpPr>
        <p:spPr>
          <a:xfrm>
            <a:off x="8970264" y="3502152"/>
            <a:ext cx="26426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Seals and gaskets</a:t>
            </a:r>
          </a:p>
        </p:txBody>
      </p:sp>
      <p:sp>
        <p:nvSpPr>
          <p:cNvPr id="449" name="Rectangle 450"/>
          <p:cNvSpPr/>
          <p:nvPr/>
        </p:nvSpPr>
        <p:spPr>
          <a:xfrm>
            <a:off x="6245352" y="3904488"/>
            <a:ext cx="2651760" cy="402336"/>
          </a:xfrm>
          <a:prstGeom prst="rect">
            <a:avLst/>
          </a:prstGeom>
          <a:solidFill>
            <a:srgbClr val="FFFFFF"/>
          </a:solidFill>
          <a:ln w="9525">
            <a:solidFill>
              <a:srgbClr val="D0D4DA"/>
            </a:solidFill>
          </a:ln>
          <a:effectLst/>
        </p:spPr>
        <p:txBody>
          <a:bodyPr rtlCol="0" anchor="ctr"/>
          <a:lstStyle/>
          <a:p>
            <a:pPr algn="ctr"/>
            <a:endParaRPr/>
          </a:p>
        </p:txBody>
      </p:sp>
      <p:sp>
        <p:nvSpPr>
          <p:cNvPr id="451" name="TextBox 452"/>
          <p:cNvSpPr txBox="1"/>
          <p:nvPr/>
        </p:nvSpPr>
        <p:spPr>
          <a:xfrm>
            <a:off x="6318504" y="3904488"/>
            <a:ext cx="25054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Fuel tank and piping</a:t>
            </a:r>
          </a:p>
        </p:txBody>
      </p:sp>
      <p:sp>
        <p:nvSpPr>
          <p:cNvPr id="453" name="Rectangle 454"/>
          <p:cNvSpPr/>
          <p:nvPr/>
        </p:nvSpPr>
        <p:spPr>
          <a:xfrm>
            <a:off x="8897112" y="3904488"/>
            <a:ext cx="2788920" cy="402336"/>
          </a:xfrm>
          <a:prstGeom prst="rect">
            <a:avLst/>
          </a:prstGeom>
          <a:solidFill>
            <a:srgbClr val="FFFFFF"/>
          </a:solidFill>
          <a:ln w="9525">
            <a:solidFill>
              <a:srgbClr val="D0D4DA"/>
            </a:solidFill>
          </a:ln>
          <a:effectLst/>
        </p:spPr>
        <p:txBody>
          <a:bodyPr rtlCol="0" anchor="ctr"/>
          <a:lstStyle/>
          <a:p>
            <a:pPr algn="ctr"/>
            <a:endParaRPr/>
          </a:p>
        </p:txBody>
      </p:sp>
      <p:sp>
        <p:nvSpPr>
          <p:cNvPr id="455" name="TextBox 456"/>
          <p:cNvSpPr txBox="1"/>
          <p:nvPr/>
        </p:nvSpPr>
        <p:spPr>
          <a:xfrm>
            <a:off x="8970264" y="3904488"/>
            <a:ext cx="26426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Coatings and materials</a:t>
            </a:r>
          </a:p>
        </p:txBody>
      </p:sp>
      <p:sp>
        <p:nvSpPr>
          <p:cNvPr id="457" name="Rectangle 458"/>
          <p:cNvSpPr/>
          <p:nvPr/>
        </p:nvSpPr>
        <p:spPr>
          <a:xfrm>
            <a:off x="6245352" y="4480560"/>
            <a:ext cx="5440680" cy="777240"/>
          </a:xfrm>
          <a:prstGeom prst="rect">
            <a:avLst/>
          </a:prstGeom>
          <a:solidFill>
            <a:srgbClr val="EFEFEF"/>
          </a:solidFill>
          <a:ln>
            <a:noFill/>
          </a:ln>
          <a:effectLst/>
        </p:spPr>
        <p:txBody>
          <a:bodyPr rtlCol="0" anchor="ctr"/>
          <a:lstStyle/>
          <a:p>
            <a:pPr algn="ctr"/>
            <a:endParaRPr/>
          </a:p>
        </p:txBody>
      </p:sp>
      <p:sp>
        <p:nvSpPr>
          <p:cNvPr id="459" name="TextBox 460"/>
          <p:cNvSpPr txBox="1"/>
          <p:nvPr/>
        </p:nvSpPr>
        <p:spPr>
          <a:xfrm>
            <a:off x="6428232" y="4480560"/>
            <a:ext cx="5074920" cy="777240"/>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FAME attacks rubber. Joints, seals and gaskets need checking before the first 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 name="Rectangle 462"/>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463" name="TextBox 464"/>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OEM Confirmation and What Class Asks For</a:t>
            </a:r>
          </a:p>
        </p:txBody>
      </p:sp>
      <p:sp>
        <p:nvSpPr>
          <p:cNvPr id="465" name="Rectangle 466"/>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467" name="TextBox 468"/>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Get it in writing</a:t>
            </a:r>
          </a:p>
        </p:txBody>
      </p:sp>
      <p:sp>
        <p:nvSpPr>
          <p:cNvPr id="469" name="TextBox 470"/>
          <p:cNvSpPr txBox="1"/>
          <p:nvPr/>
        </p:nvSpPr>
        <p:spPr>
          <a:xfrm>
            <a:off x="502920" y="1783080"/>
            <a:ext cx="5440680" cy="155448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Consult the engine maker before the first biofuel stem and obtain written confirmation — a service letter, a biofuel specification, or a Letter of No Objection — stating which blends the engine accepts.</a:t>
            </a:r>
          </a:p>
          <a:p>
            <a:pPr algn="l">
              <a:lnSpc>
                <a:spcPct val="125000"/>
              </a:lnSpc>
              <a:spcAft>
                <a:spcPts val="0"/>
              </a:spcAft>
            </a:pPr>
            <a:r>
              <a:rPr sz="1200" b="1">
                <a:solidFill>
                  <a:srgbClr val="172A4A"/>
                </a:solidFill>
                <a:latin typeface="Calibri"/>
                <a:ea typeface="맑은 고딕"/>
                <a:cs typeface="Calibri"/>
              </a:rPr>
              <a:t>Some engines also require a different lubricating oil on biofuel. Ask.</a:t>
            </a:r>
          </a:p>
        </p:txBody>
      </p:sp>
      <p:sp>
        <p:nvSpPr>
          <p:cNvPr id="471" name="Rectangle 472"/>
          <p:cNvSpPr/>
          <p:nvPr/>
        </p:nvSpPr>
        <p:spPr>
          <a:xfrm>
            <a:off x="502920" y="3520440"/>
            <a:ext cx="5440680" cy="777240"/>
          </a:xfrm>
          <a:prstGeom prst="rect">
            <a:avLst/>
          </a:prstGeom>
          <a:solidFill>
            <a:srgbClr val="EFEFEF"/>
          </a:solidFill>
          <a:ln>
            <a:noFill/>
          </a:ln>
          <a:effectLst/>
        </p:spPr>
        <p:txBody>
          <a:bodyPr rtlCol="0" anchor="ctr"/>
          <a:lstStyle/>
          <a:p>
            <a:pPr algn="ctr"/>
            <a:endParaRPr/>
          </a:p>
        </p:txBody>
      </p:sp>
      <p:sp>
        <p:nvSpPr>
          <p:cNvPr id="473" name="TextBox 474"/>
          <p:cNvSpPr txBox="1"/>
          <p:nvPr/>
        </p:nvSpPr>
        <p:spPr>
          <a:xfrm>
            <a:off x="685800" y="3520440"/>
            <a:ext cx="5074920" cy="777240"/>
          </a:xfrm>
          <a:prstGeom prst="rect">
            <a:avLst/>
          </a:prstGeom>
          <a:noFill/>
        </p:spPr>
        <p:txBody>
          <a:bodyPr wrap="square" lIns="36576" tIns="0" rIns="36576" bIns="0" anchor="ctr"/>
          <a:lstStyle/>
          <a:p>
            <a:pPr algn="l">
              <a:lnSpc>
                <a:spcPct val="125000"/>
              </a:lnSpc>
              <a:spcAft>
                <a:spcPts val="0"/>
              </a:spcAft>
            </a:pPr>
            <a:r>
              <a:rPr sz="1250" b="1">
                <a:solidFill>
                  <a:srgbClr val="172A4A"/>
                </a:solidFill>
                <a:latin typeface="Calibri"/>
                <a:ea typeface="맑은 고딕"/>
                <a:cs typeface="Calibri"/>
              </a:rPr>
              <a:t>If the OEM will not confirm, Class will assess the installed arrangement and any proposed modification instead.</a:t>
            </a:r>
          </a:p>
        </p:txBody>
      </p:sp>
      <p:sp>
        <p:nvSpPr>
          <p:cNvPr id="475" name="Rectangle 476"/>
          <p:cNvSpPr/>
          <p:nvPr/>
        </p:nvSpPr>
        <p:spPr>
          <a:xfrm>
            <a:off x="502920" y="4526280"/>
            <a:ext cx="5440680" cy="329184"/>
          </a:xfrm>
          <a:prstGeom prst="rect">
            <a:avLst/>
          </a:prstGeom>
          <a:solidFill>
            <a:srgbClr val="EFEFEF"/>
          </a:solidFill>
          <a:ln>
            <a:noFill/>
          </a:ln>
          <a:effectLst/>
        </p:spPr>
        <p:txBody>
          <a:bodyPr rtlCol="0" anchor="ctr"/>
          <a:lstStyle/>
          <a:p>
            <a:pPr algn="ctr"/>
            <a:endParaRPr/>
          </a:p>
        </p:txBody>
      </p:sp>
      <p:sp>
        <p:nvSpPr>
          <p:cNvPr id="477" name="TextBox 478"/>
          <p:cNvSpPr txBox="1"/>
          <p:nvPr/>
        </p:nvSpPr>
        <p:spPr>
          <a:xfrm>
            <a:off x="612648" y="45262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And do not skip the crew</a:t>
            </a:r>
          </a:p>
        </p:txBody>
      </p:sp>
      <p:sp>
        <p:nvSpPr>
          <p:cNvPr id="479" name="TextBox 480"/>
          <p:cNvSpPr txBox="1"/>
          <p:nvPr/>
        </p:nvSpPr>
        <p:spPr>
          <a:xfrm>
            <a:off x="502920" y="4983480"/>
            <a:ext cx="5440680" cy="1005840"/>
          </a:xfrm>
          <a:prstGeom prst="rect">
            <a:avLst/>
          </a:prstGeom>
          <a:noFill/>
        </p:spPr>
        <p:txBody>
          <a:bodyPr wrap="square" lIns="36576" tIns="0" rIns="36576" bIns="0" anchor="t"/>
          <a:lstStyle/>
          <a:p>
            <a:pPr algn="l">
              <a:lnSpc>
                <a:spcPct val="125000"/>
              </a:lnSpc>
              <a:spcAft>
                <a:spcPts val="0"/>
              </a:spcAft>
            </a:pPr>
            <a:r>
              <a:rPr sz="1200" b="0">
                <a:solidFill>
                  <a:srgbClr val="1A1A1A"/>
                </a:solidFill>
                <a:latin typeface="Calibri"/>
                <a:ea typeface="맑은 고딕"/>
                <a:cs typeface="Calibri"/>
              </a:rPr>
              <a:t>Familiarisation and training are essential, and standard operating procedures usually need modifying before the first stem.</a:t>
            </a:r>
          </a:p>
        </p:txBody>
      </p:sp>
      <p:sp>
        <p:nvSpPr>
          <p:cNvPr id="481" name="Rectangle 482"/>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483" name="TextBox 484"/>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Typical Class submission pack</a:t>
            </a:r>
          </a:p>
        </p:txBody>
      </p:sp>
      <p:sp>
        <p:nvSpPr>
          <p:cNvPr id="485" name="Rectangle 486"/>
          <p:cNvSpPr/>
          <p:nvPr/>
        </p:nvSpPr>
        <p:spPr>
          <a:xfrm>
            <a:off x="6245352" y="1783080"/>
            <a:ext cx="566928" cy="502920"/>
          </a:xfrm>
          <a:prstGeom prst="rect">
            <a:avLst/>
          </a:prstGeom>
          <a:solidFill>
            <a:srgbClr val="FFFFFF"/>
          </a:solidFill>
          <a:ln w="9525">
            <a:solidFill>
              <a:srgbClr val="D0D4DA"/>
            </a:solidFill>
          </a:ln>
          <a:effectLst/>
        </p:spPr>
        <p:txBody>
          <a:bodyPr rtlCol="0" anchor="ctr"/>
          <a:lstStyle/>
          <a:p>
            <a:pPr algn="ctr"/>
            <a:endParaRPr/>
          </a:p>
        </p:txBody>
      </p:sp>
      <p:sp>
        <p:nvSpPr>
          <p:cNvPr id="487" name="TextBox 488"/>
          <p:cNvSpPr txBox="1"/>
          <p:nvPr/>
        </p:nvSpPr>
        <p:spPr>
          <a:xfrm>
            <a:off x="6318504" y="1783080"/>
            <a:ext cx="420624" cy="502920"/>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01</a:t>
            </a:r>
          </a:p>
        </p:txBody>
      </p:sp>
      <p:sp>
        <p:nvSpPr>
          <p:cNvPr id="489" name="Rectangle 490"/>
          <p:cNvSpPr/>
          <p:nvPr/>
        </p:nvSpPr>
        <p:spPr>
          <a:xfrm>
            <a:off x="6812280" y="1783080"/>
            <a:ext cx="4873752" cy="502920"/>
          </a:xfrm>
          <a:prstGeom prst="rect">
            <a:avLst/>
          </a:prstGeom>
          <a:solidFill>
            <a:srgbClr val="FFFFFF"/>
          </a:solidFill>
          <a:ln w="9525">
            <a:solidFill>
              <a:srgbClr val="D0D4DA"/>
            </a:solidFill>
          </a:ln>
          <a:effectLst/>
        </p:spPr>
        <p:txBody>
          <a:bodyPr rtlCol="0" anchor="ctr"/>
          <a:lstStyle/>
          <a:p>
            <a:pPr algn="ctr"/>
            <a:endParaRPr/>
          </a:p>
        </p:txBody>
      </p:sp>
      <p:sp>
        <p:nvSpPr>
          <p:cNvPr id="491" name="TextBox 492"/>
          <p:cNvSpPr txBox="1"/>
          <p:nvPr/>
        </p:nvSpPr>
        <p:spPr>
          <a:xfrm>
            <a:off x="6885432" y="1783080"/>
            <a:ext cx="4727448" cy="502920"/>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Ship particulars and the engines and machinery involved</a:t>
            </a:r>
          </a:p>
        </p:txBody>
      </p:sp>
      <p:sp>
        <p:nvSpPr>
          <p:cNvPr id="493" name="Rectangle 494"/>
          <p:cNvSpPr/>
          <p:nvPr/>
        </p:nvSpPr>
        <p:spPr>
          <a:xfrm>
            <a:off x="6245352" y="2286000"/>
            <a:ext cx="566928" cy="420624"/>
          </a:xfrm>
          <a:prstGeom prst="rect">
            <a:avLst/>
          </a:prstGeom>
          <a:solidFill>
            <a:srgbClr val="FFFFFF"/>
          </a:solidFill>
          <a:ln w="9525">
            <a:solidFill>
              <a:srgbClr val="D0D4DA"/>
            </a:solidFill>
          </a:ln>
          <a:effectLst/>
        </p:spPr>
        <p:txBody>
          <a:bodyPr rtlCol="0" anchor="ctr"/>
          <a:lstStyle/>
          <a:p>
            <a:pPr algn="ctr"/>
            <a:endParaRPr/>
          </a:p>
        </p:txBody>
      </p:sp>
      <p:sp>
        <p:nvSpPr>
          <p:cNvPr id="495" name="TextBox 496"/>
          <p:cNvSpPr txBox="1"/>
          <p:nvPr/>
        </p:nvSpPr>
        <p:spPr>
          <a:xfrm>
            <a:off x="6318504" y="2286000"/>
            <a:ext cx="420624" cy="420624"/>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02</a:t>
            </a:r>
          </a:p>
        </p:txBody>
      </p:sp>
      <p:sp>
        <p:nvSpPr>
          <p:cNvPr id="497" name="Rectangle 498"/>
          <p:cNvSpPr/>
          <p:nvPr/>
        </p:nvSpPr>
        <p:spPr>
          <a:xfrm>
            <a:off x="6812280" y="2286000"/>
            <a:ext cx="4873752" cy="420624"/>
          </a:xfrm>
          <a:prstGeom prst="rect">
            <a:avLst/>
          </a:prstGeom>
          <a:solidFill>
            <a:srgbClr val="FFFFFF"/>
          </a:solidFill>
          <a:ln w="9525">
            <a:solidFill>
              <a:srgbClr val="D0D4DA"/>
            </a:solidFill>
          </a:ln>
          <a:effectLst/>
        </p:spPr>
        <p:txBody>
          <a:bodyPr rtlCol="0" anchor="ctr"/>
          <a:lstStyle/>
          <a:p>
            <a:pPr algn="ctr"/>
            <a:endParaRPr/>
          </a:p>
        </p:txBody>
      </p:sp>
      <p:sp>
        <p:nvSpPr>
          <p:cNvPr id="499" name="TextBox 500"/>
          <p:cNvSpPr txBox="1"/>
          <p:nvPr/>
        </p:nvSpPr>
        <p:spPr>
          <a:xfrm>
            <a:off x="6885432" y="2286000"/>
            <a:ext cx="4727448" cy="42062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Biofuel specifications, MSDS and analyses</a:t>
            </a:r>
          </a:p>
        </p:txBody>
      </p:sp>
      <p:sp>
        <p:nvSpPr>
          <p:cNvPr id="501" name="Rectangle 502"/>
          <p:cNvSpPr/>
          <p:nvPr/>
        </p:nvSpPr>
        <p:spPr>
          <a:xfrm>
            <a:off x="6245352" y="2706624"/>
            <a:ext cx="566928" cy="502920"/>
          </a:xfrm>
          <a:prstGeom prst="rect">
            <a:avLst/>
          </a:prstGeom>
          <a:solidFill>
            <a:srgbClr val="FFFFFF"/>
          </a:solidFill>
          <a:ln w="9525">
            <a:solidFill>
              <a:srgbClr val="D0D4DA"/>
            </a:solidFill>
          </a:ln>
          <a:effectLst/>
        </p:spPr>
        <p:txBody>
          <a:bodyPr rtlCol="0" anchor="ctr"/>
          <a:lstStyle/>
          <a:p>
            <a:pPr algn="ctr"/>
            <a:endParaRPr/>
          </a:p>
        </p:txBody>
      </p:sp>
      <p:sp>
        <p:nvSpPr>
          <p:cNvPr id="503" name="TextBox 504"/>
          <p:cNvSpPr txBox="1"/>
          <p:nvPr/>
        </p:nvSpPr>
        <p:spPr>
          <a:xfrm>
            <a:off x="6318504" y="2706624"/>
            <a:ext cx="420624" cy="502920"/>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03</a:t>
            </a:r>
          </a:p>
        </p:txBody>
      </p:sp>
      <p:sp>
        <p:nvSpPr>
          <p:cNvPr id="505" name="Rectangle 506"/>
          <p:cNvSpPr/>
          <p:nvPr/>
        </p:nvSpPr>
        <p:spPr>
          <a:xfrm>
            <a:off x="6812280" y="2706624"/>
            <a:ext cx="4873752" cy="502920"/>
          </a:xfrm>
          <a:prstGeom prst="rect">
            <a:avLst/>
          </a:prstGeom>
          <a:solidFill>
            <a:srgbClr val="FFFFFF"/>
          </a:solidFill>
          <a:ln w="9525">
            <a:solidFill>
              <a:srgbClr val="D0D4DA"/>
            </a:solidFill>
          </a:ln>
          <a:effectLst/>
        </p:spPr>
        <p:txBody>
          <a:bodyPr rtlCol="0" anchor="ctr"/>
          <a:lstStyle/>
          <a:p>
            <a:pPr algn="ctr"/>
            <a:endParaRPr/>
          </a:p>
        </p:txBody>
      </p:sp>
      <p:sp>
        <p:nvSpPr>
          <p:cNvPr id="507" name="TextBox 508"/>
          <p:cNvSpPr txBox="1"/>
          <p:nvPr/>
        </p:nvSpPr>
        <p:spPr>
          <a:xfrm>
            <a:off x="6885432" y="2706624"/>
            <a:ext cx="4727448" cy="502920"/>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Proposed modifications to storage, fuel systems and equipment</a:t>
            </a:r>
          </a:p>
        </p:txBody>
      </p:sp>
      <p:sp>
        <p:nvSpPr>
          <p:cNvPr id="509" name="Rectangle 510"/>
          <p:cNvSpPr/>
          <p:nvPr/>
        </p:nvSpPr>
        <p:spPr>
          <a:xfrm>
            <a:off x="6245352" y="3209544"/>
            <a:ext cx="566928" cy="420624"/>
          </a:xfrm>
          <a:prstGeom prst="rect">
            <a:avLst/>
          </a:prstGeom>
          <a:solidFill>
            <a:srgbClr val="FFFFFF"/>
          </a:solidFill>
          <a:ln w="9525">
            <a:solidFill>
              <a:srgbClr val="D0D4DA"/>
            </a:solidFill>
          </a:ln>
          <a:effectLst/>
        </p:spPr>
        <p:txBody>
          <a:bodyPr rtlCol="0" anchor="ctr"/>
          <a:lstStyle/>
          <a:p>
            <a:pPr algn="ctr"/>
            <a:endParaRPr/>
          </a:p>
        </p:txBody>
      </p:sp>
      <p:sp>
        <p:nvSpPr>
          <p:cNvPr id="511" name="TextBox 512"/>
          <p:cNvSpPr txBox="1"/>
          <p:nvPr/>
        </p:nvSpPr>
        <p:spPr>
          <a:xfrm>
            <a:off x="6318504" y="3209544"/>
            <a:ext cx="420624" cy="420624"/>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04</a:t>
            </a:r>
          </a:p>
        </p:txBody>
      </p:sp>
      <p:sp>
        <p:nvSpPr>
          <p:cNvPr id="513" name="Rectangle 514"/>
          <p:cNvSpPr/>
          <p:nvPr/>
        </p:nvSpPr>
        <p:spPr>
          <a:xfrm>
            <a:off x="6812280" y="3209544"/>
            <a:ext cx="4873752" cy="420624"/>
          </a:xfrm>
          <a:prstGeom prst="rect">
            <a:avLst/>
          </a:prstGeom>
          <a:solidFill>
            <a:srgbClr val="FFFFFF"/>
          </a:solidFill>
          <a:ln w="9525">
            <a:solidFill>
              <a:srgbClr val="D0D4DA"/>
            </a:solidFill>
          </a:ln>
          <a:effectLst/>
        </p:spPr>
        <p:txBody>
          <a:bodyPr rtlCol="0" anchor="ctr"/>
          <a:lstStyle/>
          <a:p>
            <a:pPr algn="ctr"/>
            <a:endParaRPr/>
          </a:p>
        </p:txBody>
      </p:sp>
      <p:sp>
        <p:nvSpPr>
          <p:cNvPr id="515" name="TextBox 516"/>
          <p:cNvSpPr txBox="1"/>
          <p:nvPr/>
        </p:nvSpPr>
        <p:spPr>
          <a:xfrm>
            <a:off x="6885432" y="3209544"/>
            <a:ext cx="4727448" cy="42062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Fuel service tank arrangement</a:t>
            </a:r>
          </a:p>
        </p:txBody>
      </p:sp>
      <p:sp>
        <p:nvSpPr>
          <p:cNvPr id="517" name="Rectangle 518"/>
          <p:cNvSpPr/>
          <p:nvPr/>
        </p:nvSpPr>
        <p:spPr>
          <a:xfrm>
            <a:off x="6245352" y="3630168"/>
            <a:ext cx="566928" cy="420624"/>
          </a:xfrm>
          <a:prstGeom prst="rect">
            <a:avLst/>
          </a:prstGeom>
          <a:solidFill>
            <a:srgbClr val="FFFFFF"/>
          </a:solidFill>
          <a:ln w="9525">
            <a:solidFill>
              <a:srgbClr val="D0D4DA"/>
            </a:solidFill>
          </a:ln>
          <a:effectLst/>
        </p:spPr>
        <p:txBody>
          <a:bodyPr rtlCol="0" anchor="ctr"/>
          <a:lstStyle/>
          <a:p>
            <a:pPr algn="ctr"/>
            <a:endParaRPr/>
          </a:p>
        </p:txBody>
      </p:sp>
      <p:sp>
        <p:nvSpPr>
          <p:cNvPr id="519" name="TextBox 520"/>
          <p:cNvSpPr txBox="1"/>
          <p:nvPr/>
        </p:nvSpPr>
        <p:spPr>
          <a:xfrm>
            <a:off x="6318504" y="3630168"/>
            <a:ext cx="420624" cy="420624"/>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05</a:t>
            </a:r>
          </a:p>
        </p:txBody>
      </p:sp>
      <p:sp>
        <p:nvSpPr>
          <p:cNvPr id="521" name="Rectangle 522"/>
          <p:cNvSpPr/>
          <p:nvPr/>
        </p:nvSpPr>
        <p:spPr>
          <a:xfrm>
            <a:off x="6812280" y="3630168"/>
            <a:ext cx="4873752" cy="420624"/>
          </a:xfrm>
          <a:prstGeom prst="rect">
            <a:avLst/>
          </a:prstGeom>
          <a:solidFill>
            <a:srgbClr val="FFFFFF"/>
          </a:solidFill>
          <a:ln w="9525">
            <a:solidFill>
              <a:srgbClr val="D0D4DA"/>
            </a:solidFill>
          </a:ln>
          <a:effectLst/>
        </p:spPr>
        <p:txBody>
          <a:bodyPr rtlCol="0" anchor="ctr"/>
          <a:lstStyle/>
          <a:p>
            <a:pPr algn="ctr"/>
            <a:endParaRPr/>
          </a:p>
        </p:txBody>
      </p:sp>
      <p:sp>
        <p:nvSpPr>
          <p:cNvPr id="523" name="TextBox 524"/>
          <p:cNvSpPr txBox="1"/>
          <p:nvPr/>
        </p:nvSpPr>
        <p:spPr>
          <a:xfrm>
            <a:off x="6885432" y="3630168"/>
            <a:ext cx="4727448" cy="42062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Fuel system material and coating specifications</a:t>
            </a:r>
          </a:p>
        </p:txBody>
      </p:sp>
      <p:sp>
        <p:nvSpPr>
          <p:cNvPr id="525" name="Rectangle 526"/>
          <p:cNvSpPr/>
          <p:nvPr/>
        </p:nvSpPr>
        <p:spPr>
          <a:xfrm>
            <a:off x="6245352" y="4050792"/>
            <a:ext cx="566928" cy="420624"/>
          </a:xfrm>
          <a:prstGeom prst="rect">
            <a:avLst/>
          </a:prstGeom>
          <a:solidFill>
            <a:srgbClr val="FFFFFF"/>
          </a:solidFill>
          <a:ln w="9525">
            <a:solidFill>
              <a:srgbClr val="D0D4DA"/>
            </a:solidFill>
          </a:ln>
          <a:effectLst/>
        </p:spPr>
        <p:txBody>
          <a:bodyPr rtlCol="0" anchor="ctr"/>
          <a:lstStyle/>
          <a:p>
            <a:pPr algn="ctr"/>
            <a:endParaRPr/>
          </a:p>
        </p:txBody>
      </p:sp>
      <p:sp>
        <p:nvSpPr>
          <p:cNvPr id="527" name="TextBox 528"/>
          <p:cNvSpPr txBox="1"/>
          <p:nvPr/>
        </p:nvSpPr>
        <p:spPr>
          <a:xfrm>
            <a:off x="6318504" y="4050792"/>
            <a:ext cx="420624" cy="420624"/>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06</a:t>
            </a:r>
          </a:p>
        </p:txBody>
      </p:sp>
      <p:sp>
        <p:nvSpPr>
          <p:cNvPr id="529" name="Rectangle 530"/>
          <p:cNvSpPr/>
          <p:nvPr/>
        </p:nvSpPr>
        <p:spPr>
          <a:xfrm>
            <a:off x="6812280" y="4050792"/>
            <a:ext cx="4873752" cy="420624"/>
          </a:xfrm>
          <a:prstGeom prst="rect">
            <a:avLst/>
          </a:prstGeom>
          <a:solidFill>
            <a:srgbClr val="FFFFFF"/>
          </a:solidFill>
          <a:ln w="9525">
            <a:solidFill>
              <a:srgbClr val="D0D4DA"/>
            </a:solidFill>
          </a:ln>
          <a:effectLst/>
        </p:spPr>
        <p:txBody>
          <a:bodyPr rtlCol="0" anchor="ctr"/>
          <a:lstStyle/>
          <a:p>
            <a:pPr algn="ctr"/>
            <a:endParaRPr/>
          </a:p>
        </p:txBody>
      </p:sp>
      <p:sp>
        <p:nvSpPr>
          <p:cNvPr id="531" name="TextBox 532"/>
          <p:cNvSpPr txBox="1"/>
          <p:nvPr/>
        </p:nvSpPr>
        <p:spPr>
          <a:xfrm>
            <a:off x="6885432" y="4050792"/>
            <a:ext cx="4727448" cy="42062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OEM specifications, agreements and correspondence</a:t>
            </a:r>
          </a:p>
        </p:txBody>
      </p:sp>
      <p:sp>
        <p:nvSpPr>
          <p:cNvPr id="533" name="Rectangle 534"/>
          <p:cNvSpPr/>
          <p:nvPr/>
        </p:nvSpPr>
        <p:spPr>
          <a:xfrm>
            <a:off x="6245352" y="4471416"/>
            <a:ext cx="566928" cy="420624"/>
          </a:xfrm>
          <a:prstGeom prst="rect">
            <a:avLst/>
          </a:prstGeom>
          <a:solidFill>
            <a:srgbClr val="FFFFFF"/>
          </a:solidFill>
          <a:ln w="9525">
            <a:solidFill>
              <a:srgbClr val="D0D4DA"/>
            </a:solidFill>
          </a:ln>
          <a:effectLst/>
        </p:spPr>
        <p:txBody>
          <a:bodyPr rtlCol="0" anchor="ctr"/>
          <a:lstStyle/>
          <a:p>
            <a:pPr algn="ctr"/>
            <a:endParaRPr/>
          </a:p>
        </p:txBody>
      </p:sp>
      <p:sp>
        <p:nvSpPr>
          <p:cNvPr id="535" name="TextBox 536"/>
          <p:cNvSpPr txBox="1"/>
          <p:nvPr/>
        </p:nvSpPr>
        <p:spPr>
          <a:xfrm>
            <a:off x="6318504" y="4471416"/>
            <a:ext cx="420624" cy="420624"/>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07</a:t>
            </a:r>
          </a:p>
        </p:txBody>
      </p:sp>
      <p:sp>
        <p:nvSpPr>
          <p:cNvPr id="537" name="Rectangle 538"/>
          <p:cNvSpPr/>
          <p:nvPr/>
        </p:nvSpPr>
        <p:spPr>
          <a:xfrm>
            <a:off x="6812280" y="4471416"/>
            <a:ext cx="4873752" cy="420624"/>
          </a:xfrm>
          <a:prstGeom prst="rect">
            <a:avLst/>
          </a:prstGeom>
          <a:solidFill>
            <a:srgbClr val="FFFFFF"/>
          </a:solidFill>
          <a:ln w="9525">
            <a:solidFill>
              <a:srgbClr val="D0D4DA"/>
            </a:solidFill>
          </a:ln>
          <a:effectLst/>
        </p:spPr>
        <p:txBody>
          <a:bodyPr rtlCol="0" anchor="ctr"/>
          <a:lstStyle/>
          <a:p>
            <a:pPr algn="ctr"/>
            <a:endParaRPr/>
          </a:p>
        </p:txBody>
      </p:sp>
      <p:sp>
        <p:nvSpPr>
          <p:cNvPr id="539" name="TextBox 540"/>
          <p:cNvSpPr txBox="1"/>
          <p:nvPr/>
        </p:nvSpPr>
        <p:spPr>
          <a:xfrm>
            <a:off x="6885432" y="4471416"/>
            <a:ext cx="4727448" cy="42062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Ship implementation plan and associated assessments</a:t>
            </a:r>
          </a:p>
        </p:txBody>
      </p:sp>
      <p:sp>
        <p:nvSpPr>
          <p:cNvPr id="541" name="Rectangle 542"/>
          <p:cNvSpPr/>
          <p:nvPr/>
        </p:nvSpPr>
        <p:spPr>
          <a:xfrm>
            <a:off x="6245352" y="4892040"/>
            <a:ext cx="566928" cy="502920"/>
          </a:xfrm>
          <a:prstGeom prst="rect">
            <a:avLst/>
          </a:prstGeom>
          <a:solidFill>
            <a:srgbClr val="FFFFFF"/>
          </a:solidFill>
          <a:ln w="9525">
            <a:solidFill>
              <a:srgbClr val="D0D4DA"/>
            </a:solidFill>
          </a:ln>
          <a:effectLst/>
        </p:spPr>
        <p:txBody>
          <a:bodyPr rtlCol="0" anchor="ctr"/>
          <a:lstStyle/>
          <a:p>
            <a:pPr algn="ctr"/>
            <a:endParaRPr/>
          </a:p>
        </p:txBody>
      </p:sp>
      <p:sp>
        <p:nvSpPr>
          <p:cNvPr id="543" name="TextBox 544"/>
          <p:cNvSpPr txBox="1"/>
          <p:nvPr/>
        </p:nvSpPr>
        <p:spPr>
          <a:xfrm>
            <a:off x="6318504" y="4892040"/>
            <a:ext cx="420624" cy="502920"/>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08</a:t>
            </a:r>
          </a:p>
        </p:txBody>
      </p:sp>
      <p:sp>
        <p:nvSpPr>
          <p:cNvPr id="545" name="Rectangle 546"/>
          <p:cNvSpPr/>
          <p:nvPr/>
        </p:nvSpPr>
        <p:spPr>
          <a:xfrm>
            <a:off x="6812280" y="4892040"/>
            <a:ext cx="4873752" cy="502920"/>
          </a:xfrm>
          <a:prstGeom prst="rect">
            <a:avLst/>
          </a:prstGeom>
          <a:solidFill>
            <a:srgbClr val="FFFFFF"/>
          </a:solidFill>
          <a:ln w="9525">
            <a:solidFill>
              <a:srgbClr val="D0D4DA"/>
            </a:solidFill>
          </a:ln>
          <a:effectLst/>
        </p:spPr>
        <p:txBody>
          <a:bodyPr rtlCol="0" anchor="ctr"/>
          <a:lstStyle/>
          <a:p>
            <a:pPr algn="ctr"/>
            <a:endParaRPr/>
          </a:p>
        </p:txBody>
      </p:sp>
      <p:sp>
        <p:nvSpPr>
          <p:cNvPr id="547" name="TextBox 548"/>
          <p:cNvSpPr txBox="1"/>
          <p:nvPr/>
        </p:nvSpPr>
        <p:spPr>
          <a:xfrm>
            <a:off x="6885432" y="4892040"/>
            <a:ext cx="4727448" cy="502920"/>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MARPOL compliance details and any long-term testing plan</a:t>
            </a:r>
          </a:p>
        </p:txBody>
      </p:sp>
      <p:sp>
        <p:nvSpPr>
          <p:cNvPr id="549" name="TextBox 550"/>
          <p:cNvSpPr txBox="1"/>
          <p:nvPr/>
        </p:nvSpPr>
        <p:spPr>
          <a:xfrm>
            <a:off x="6245352" y="5394960"/>
            <a:ext cx="5440680" cy="411480"/>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Class can also handle the Flag Administration application as a recognised organisation.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 name="Rectangle 552"/>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553" name="TextBox 554"/>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Regulatory — What IMO and the EU Each Ask</a:t>
            </a:r>
          </a:p>
        </p:txBody>
      </p:sp>
      <p:sp>
        <p:nvSpPr>
          <p:cNvPr id="555" name="Rectangle 556"/>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557" name="TextBox 558"/>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IMO — DCS, CII and the conversion factor</a:t>
            </a:r>
          </a:p>
        </p:txBody>
      </p:sp>
      <p:sp>
        <p:nvSpPr>
          <p:cNvPr id="559" name="Rectangle 560"/>
          <p:cNvSpPr/>
          <p:nvPr/>
        </p:nvSpPr>
        <p:spPr>
          <a:xfrm>
            <a:off x="502920" y="1783080"/>
            <a:ext cx="2103120" cy="402336"/>
          </a:xfrm>
          <a:prstGeom prst="rect">
            <a:avLst/>
          </a:prstGeom>
          <a:solidFill>
            <a:srgbClr val="172A4A"/>
          </a:solidFill>
          <a:ln>
            <a:noFill/>
          </a:ln>
          <a:effectLst/>
        </p:spPr>
        <p:txBody>
          <a:bodyPr rtlCol="0" anchor="ctr"/>
          <a:lstStyle/>
          <a:p>
            <a:pPr algn="ctr"/>
            <a:endParaRPr/>
          </a:p>
        </p:txBody>
      </p:sp>
      <p:sp>
        <p:nvSpPr>
          <p:cNvPr id="561" name="TextBox 562"/>
          <p:cNvSpPr txBox="1"/>
          <p:nvPr/>
        </p:nvSpPr>
        <p:spPr>
          <a:xfrm>
            <a:off x="576072" y="1783080"/>
            <a:ext cx="1956816" cy="402336"/>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Requirement</a:t>
            </a:r>
          </a:p>
        </p:txBody>
      </p:sp>
      <p:sp>
        <p:nvSpPr>
          <p:cNvPr id="563" name="Rectangle 564"/>
          <p:cNvSpPr/>
          <p:nvPr/>
        </p:nvSpPr>
        <p:spPr>
          <a:xfrm>
            <a:off x="2606040" y="1783080"/>
            <a:ext cx="3337560" cy="402336"/>
          </a:xfrm>
          <a:prstGeom prst="rect">
            <a:avLst/>
          </a:prstGeom>
          <a:solidFill>
            <a:srgbClr val="172A4A"/>
          </a:solidFill>
          <a:ln>
            <a:noFill/>
          </a:ln>
          <a:effectLst/>
        </p:spPr>
        <p:txBody>
          <a:bodyPr rtlCol="0" anchor="ctr"/>
          <a:lstStyle/>
          <a:p>
            <a:pPr algn="ctr"/>
            <a:endParaRPr/>
          </a:p>
        </p:txBody>
      </p:sp>
      <p:sp>
        <p:nvSpPr>
          <p:cNvPr id="565" name="TextBox 566"/>
          <p:cNvSpPr txBox="1"/>
          <p:nvPr/>
        </p:nvSpPr>
        <p:spPr>
          <a:xfrm>
            <a:off x="2679192" y="1783080"/>
            <a:ext cx="3191256" cy="402336"/>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Threshold</a:t>
            </a:r>
          </a:p>
        </p:txBody>
      </p:sp>
      <p:sp>
        <p:nvSpPr>
          <p:cNvPr id="567" name="Rectangle 568"/>
          <p:cNvSpPr/>
          <p:nvPr/>
        </p:nvSpPr>
        <p:spPr>
          <a:xfrm>
            <a:off x="502920" y="2185416"/>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569" name="TextBox 570"/>
          <p:cNvSpPr txBox="1"/>
          <p:nvPr/>
        </p:nvSpPr>
        <p:spPr>
          <a:xfrm>
            <a:off x="576072" y="2185416"/>
            <a:ext cx="195681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WtW GHG reduction</a:t>
            </a:r>
          </a:p>
        </p:txBody>
      </p:sp>
      <p:sp>
        <p:nvSpPr>
          <p:cNvPr id="571" name="Rectangle 572"/>
          <p:cNvSpPr/>
          <p:nvPr/>
        </p:nvSpPr>
        <p:spPr>
          <a:xfrm>
            <a:off x="2606040" y="2185416"/>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573" name="TextBox 574"/>
          <p:cNvSpPr txBox="1"/>
          <p:nvPr/>
        </p:nvSpPr>
        <p:spPr>
          <a:xfrm>
            <a:off x="2679192" y="2185416"/>
            <a:ext cx="3191256" cy="402336"/>
          </a:xfrm>
          <a:prstGeom prst="rect">
            <a:avLst/>
          </a:prstGeom>
          <a:noFill/>
        </p:spPr>
        <p:txBody>
          <a:bodyPr wrap="square" lIns="36576" tIns="0" rIns="36576" bIns="0" anchor="ctr"/>
          <a:lstStyle/>
          <a:p>
            <a:pPr algn="l">
              <a:lnSpc>
                <a:spcPct val="110000"/>
              </a:lnSpc>
              <a:spcAft>
                <a:spcPts val="0"/>
              </a:spcAft>
            </a:pPr>
            <a:r>
              <a:rPr sz="1150" b="1">
                <a:solidFill>
                  <a:srgbClr val="1F6F3D"/>
                </a:solidFill>
                <a:latin typeface="Calibri"/>
                <a:ea typeface="맑은 고딕"/>
                <a:cs typeface="Calibri"/>
              </a:rPr>
              <a:t>at least 65% vs fossil MGO</a:t>
            </a:r>
          </a:p>
        </p:txBody>
      </p:sp>
      <p:sp>
        <p:nvSpPr>
          <p:cNvPr id="575" name="Rectangle 576"/>
          <p:cNvSpPr/>
          <p:nvPr/>
        </p:nvSpPr>
        <p:spPr>
          <a:xfrm>
            <a:off x="502920" y="2587752"/>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577" name="TextBox 578"/>
          <p:cNvSpPr txBox="1"/>
          <p:nvPr/>
        </p:nvSpPr>
        <p:spPr>
          <a:xfrm>
            <a:off x="576072" y="2587752"/>
            <a:ext cx="195681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Fossil MGO reference</a:t>
            </a:r>
          </a:p>
        </p:txBody>
      </p:sp>
      <p:sp>
        <p:nvSpPr>
          <p:cNvPr id="579" name="Rectangle 580"/>
          <p:cNvSpPr/>
          <p:nvPr/>
        </p:nvSpPr>
        <p:spPr>
          <a:xfrm>
            <a:off x="2606040" y="2587752"/>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581" name="TextBox 582"/>
          <p:cNvSpPr txBox="1"/>
          <p:nvPr/>
        </p:nvSpPr>
        <p:spPr>
          <a:xfrm>
            <a:off x="2679192" y="2587752"/>
            <a:ext cx="319125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94 gCO₂eq/MJ</a:t>
            </a:r>
          </a:p>
        </p:txBody>
      </p:sp>
      <p:sp>
        <p:nvSpPr>
          <p:cNvPr id="583" name="Rectangle 584"/>
          <p:cNvSpPr/>
          <p:nvPr/>
        </p:nvSpPr>
        <p:spPr>
          <a:xfrm>
            <a:off x="502920" y="2990088"/>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585" name="TextBox 586"/>
          <p:cNvSpPr txBox="1"/>
          <p:nvPr/>
        </p:nvSpPr>
        <p:spPr>
          <a:xfrm>
            <a:off x="576072" y="2990088"/>
            <a:ext cx="195681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So the biofuel must reach</a:t>
            </a:r>
          </a:p>
        </p:txBody>
      </p:sp>
      <p:sp>
        <p:nvSpPr>
          <p:cNvPr id="587" name="Rectangle 588"/>
          <p:cNvSpPr/>
          <p:nvPr/>
        </p:nvSpPr>
        <p:spPr>
          <a:xfrm>
            <a:off x="2606040" y="2990088"/>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589" name="TextBox 590"/>
          <p:cNvSpPr txBox="1"/>
          <p:nvPr/>
        </p:nvSpPr>
        <p:spPr>
          <a:xfrm>
            <a:off x="2679192" y="2990088"/>
            <a:ext cx="3191256" cy="402336"/>
          </a:xfrm>
          <a:prstGeom prst="rect">
            <a:avLst/>
          </a:prstGeom>
          <a:noFill/>
        </p:spPr>
        <p:txBody>
          <a:bodyPr wrap="square" lIns="36576" tIns="0" rIns="36576" bIns="0" anchor="ctr"/>
          <a:lstStyle/>
          <a:p>
            <a:pPr algn="l">
              <a:lnSpc>
                <a:spcPct val="110000"/>
              </a:lnSpc>
              <a:spcAft>
                <a:spcPts val="0"/>
              </a:spcAft>
            </a:pPr>
            <a:r>
              <a:rPr sz="1150" b="1">
                <a:solidFill>
                  <a:srgbClr val="1F6F3D"/>
                </a:solidFill>
                <a:latin typeface="Calibri"/>
                <a:ea typeface="맑은 고딕"/>
                <a:cs typeface="Calibri"/>
              </a:rPr>
              <a:t>33 gCO₂eq/MJ or below</a:t>
            </a:r>
          </a:p>
        </p:txBody>
      </p:sp>
      <p:sp>
        <p:nvSpPr>
          <p:cNvPr id="591" name="Rectangle 592"/>
          <p:cNvSpPr/>
          <p:nvPr/>
        </p:nvSpPr>
        <p:spPr>
          <a:xfrm>
            <a:off x="502920" y="3392424"/>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593" name="TextBox 594"/>
          <p:cNvSpPr txBox="1"/>
          <p:nvPr/>
        </p:nvSpPr>
        <p:spPr>
          <a:xfrm>
            <a:off x="576072" y="3392424"/>
            <a:ext cx="195681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Certification scheme</a:t>
            </a:r>
          </a:p>
        </p:txBody>
      </p:sp>
      <p:sp>
        <p:nvSpPr>
          <p:cNvPr id="595" name="Rectangle 596"/>
          <p:cNvSpPr/>
          <p:nvPr/>
        </p:nvSpPr>
        <p:spPr>
          <a:xfrm>
            <a:off x="2606040" y="3392424"/>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597" name="TextBox 598"/>
          <p:cNvSpPr txBox="1"/>
          <p:nvPr/>
        </p:nvSpPr>
        <p:spPr>
          <a:xfrm>
            <a:off x="2679192" y="3392424"/>
            <a:ext cx="319125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ISCC or RSB (CORSIA-approved)</a:t>
            </a:r>
          </a:p>
        </p:txBody>
      </p:sp>
      <p:sp>
        <p:nvSpPr>
          <p:cNvPr id="599" name="Rectangle 600"/>
          <p:cNvSpPr/>
          <p:nvPr/>
        </p:nvSpPr>
        <p:spPr>
          <a:xfrm>
            <a:off x="502920" y="3794760"/>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601" name="TextBox 602"/>
          <p:cNvSpPr txBox="1"/>
          <p:nvPr/>
        </p:nvSpPr>
        <p:spPr>
          <a:xfrm>
            <a:off x="576072" y="3794760"/>
            <a:ext cx="195681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Documents</a:t>
            </a:r>
          </a:p>
        </p:txBody>
      </p:sp>
      <p:sp>
        <p:nvSpPr>
          <p:cNvPr id="603" name="Rectangle 604"/>
          <p:cNvSpPr/>
          <p:nvPr/>
        </p:nvSpPr>
        <p:spPr>
          <a:xfrm>
            <a:off x="2606040" y="3794760"/>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605" name="TextBox 606"/>
          <p:cNvSpPr txBox="1"/>
          <p:nvPr/>
        </p:nvSpPr>
        <p:spPr>
          <a:xfrm>
            <a:off x="2679192" y="3794760"/>
            <a:ext cx="3191256" cy="402336"/>
          </a:xfrm>
          <a:prstGeom prst="rect">
            <a:avLst/>
          </a:prstGeom>
          <a:noFill/>
        </p:spPr>
        <p:txBody>
          <a:bodyPr wrap="square" lIns="36576" tIns="0" rIns="36576" bIns="0" anchor="ctr"/>
          <a:lstStyle/>
          <a:p>
            <a:pPr algn="l">
              <a:lnSpc>
                <a:spcPct val="110000"/>
              </a:lnSpc>
              <a:spcAft>
                <a:spcPts val="0"/>
              </a:spcAft>
            </a:pPr>
            <a:r>
              <a:rPr sz="1150" b="1">
                <a:solidFill>
                  <a:srgbClr val="C00000"/>
                </a:solidFill>
                <a:latin typeface="Calibri"/>
                <a:ea typeface="맑은 고딕"/>
                <a:cs typeface="Calibri"/>
              </a:rPr>
              <a:t>PoS issued with the BDN</a:t>
            </a:r>
          </a:p>
        </p:txBody>
      </p:sp>
      <p:sp>
        <p:nvSpPr>
          <p:cNvPr id="607" name="TextBox 608"/>
          <p:cNvSpPr txBox="1"/>
          <p:nvPr/>
        </p:nvSpPr>
        <p:spPr>
          <a:xfrm>
            <a:off x="502920" y="4251960"/>
            <a:ext cx="5440680" cy="1188720"/>
          </a:xfrm>
          <a:prstGeom prst="rect">
            <a:avLst/>
          </a:prstGeom>
          <a:noFill/>
        </p:spPr>
        <p:txBody>
          <a:bodyPr wrap="square" lIns="36576" tIns="0" rIns="36576" bIns="0" anchor="t"/>
          <a:lstStyle/>
          <a:p>
            <a:pPr algn="l">
              <a:lnSpc>
                <a:spcPct val="125000"/>
              </a:lnSpc>
              <a:spcAft>
                <a:spcPts val="0"/>
              </a:spcAft>
            </a:pPr>
            <a:r>
              <a:rPr sz="1200" b="0">
                <a:solidFill>
                  <a:srgbClr val="1A1A1A"/>
                </a:solidFill>
                <a:latin typeface="Calibri"/>
                <a:ea typeface="맑은 고딕"/>
                <a:cs typeface="Calibri"/>
              </a:rPr>
              <a:t>The conversion factor is the certified WtW GHG figure multiplied by the lower calorific value, and it can never be less than zero. A lower factor feeds through to a better CII rating.</a:t>
            </a:r>
          </a:p>
        </p:txBody>
      </p:sp>
      <p:sp>
        <p:nvSpPr>
          <p:cNvPr id="609" name="Rectangle 610"/>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611" name="TextBox 612"/>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EU — two regulations, two questions</a:t>
            </a:r>
          </a:p>
        </p:txBody>
      </p:sp>
      <p:sp>
        <p:nvSpPr>
          <p:cNvPr id="613" name="Rectangle 614"/>
          <p:cNvSpPr/>
          <p:nvPr/>
        </p:nvSpPr>
        <p:spPr>
          <a:xfrm>
            <a:off x="6245352" y="1783080"/>
            <a:ext cx="1737360" cy="402336"/>
          </a:xfrm>
          <a:prstGeom prst="rect">
            <a:avLst/>
          </a:prstGeom>
          <a:solidFill>
            <a:srgbClr val="172A4A"/>
          </a:solidFill>
          <a:ln>
            <a:noFill/>
          </a:ln>
          <a:effectLst/>
        </p:spPr>
        <p:txBody>
          <a:bodyPr rtlCol="0" anchor="ctr"/>
          <a:lstStyle/>
          <a:p>
            <a:pPr algn="ctr"/>
            <a:endParaRPr/>
          </a:p>
        </p:txBody>
      </p:sp>
      <p:sp>
        <p:nvSpPr>
          <p:cNvPr id="615" name="TextBox 616"/>
          <p:cNvSpPr txBox="1"/>
          <p:nvPr/>
        </p:nvSpPr>
        <p:spPr>
          <a:xfrm>
            <a:off x="6318504" y="1783080"/>
            <a:ext cx="1591056" cy="402336"/>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Regulation</a:t>
            </a:r>
          </a:p>
        </p:txBody>
      </p:sp>
      <p:sp>
        <p:nvSpPr>
          <p:cNvPr id="617" name="Rectangle 618"/>
          <p:cNvSpPr/>
          <p:nvPr/>
        </p:nvSpPr>
        <p:spPr>
          <a:xfrm>
            <a:off x="7982712" y="1783080"/>
            <a:ext cx="3703320" cy="402336"/>
          </a:xfrm>
          <a:prstGeom prst="rect">
            <a:avLst/>
          </a:prstGeom>
          <a:solidFill>
            <a:srgbClr val="172A4A"/>
          </a:solidFill>
          <a:ln>
            <a:noFill/>
          </a:ln>
          <a:effectLst/>
        </p:spPr>
        <p:txBody>
          <a:bodyPr rtlCol="0" anchor="ctr"/>
          <a:lstStyle/>
          <a:p>
            <a:pPr algn="ctr"/>
            <a:endParaRPr/>
          </a:p>
        </p:txBody>
      </p:sp>
      <p:sp>
        <p:nvSpPr>
          <p:cNvPr id="619" name="TextBox 620"/>
          <p:cNvSpPr txBox="1"/>
          <p:nvPr/>
        </p:nvSpPr>
        <p:spPr>
          <a:xfrm>
            <a:off x="8055864" y="1783080"/>
            <a:ext cx="3557016" cy="402336"/>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The question it asks</a:t>
            </a:r>
          </a:p>
        </p:txBody>
      </p:sp>
      <p:sp>
        <p:nvSpPr>
          <p:cNvPr id="621" name="Rectangle 622"/>
          <p:cNvSpPr/>
          <p:nvPr/>
        </p:nvSpPr>
        <p:spPr>
          <a:xfrm>
            <a:off x="6245352" y="2185416"/>
            <a:ext cx="1737360" cy="566928"/>
          </a:xfrm>
          <a:prstGeom prst="rect">
            <a:avLst/>
          </a:prstGeom>
          <a:solidFill>
            <a:srgbClr val="FFFFFF"/>
          </a:solidFill>
          <a:ln w="9525">
            <a:solidFill>
              <a:srgbClr val="D0D4DA"/>
            </a:solidFill>
          </a:ln>
          <a:effectLst/>
        </p:spPr>
        <p:txBody>
          <a:bodyPr rtlCol="0" anchor="ctr"/>
          <a:lstStyle/>
          <a:p>
            <a:pPr algn="ctr"/>
            <a:endParaRPr/>
          </a:p>
        </p:txBody>
      </p:sp>
      <p:sp>
        <p:nvSpPr>
          <p:cNvPr id="623" name="TextBox 624"/>
          <p:cNvSpPr txBox="1"/>
          <p:nvPr/>
        </p:nvSpPr>
        <p:spPr>
          <a:xfrm>
            <a:off x="6318504" y="2185416"/>
            <a:ext cx="1591056" cy="566928"/>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EU ETS</a:t>
            </a:r>
          </a:p>
        </p:txBody>
      </p:sp>
      <p:sp>
        <p:nvSpPr>
          <p:cNvPr id="625" name="Rectangle 626"/>
          <p:cNvSpPr/>
          <p:nvPr/>
        </p:nvSpPr>
        <p:spPr>
          <a:xfrm>
            <a:off x="7982712" y="2185416"/>
            <a:ext cx="3703320" cy="566928"/>
          </a:xfrm>
          <a:prstGeom prst="rect">
            <a:avLst/>
          </a:prstGeom>
          <a:solidFill>
            <a:srgbClr val="FFFFFF"/>
          </a:solidFill>
          <a:ln w="9525">
            <a:solidFill>
              <a:srgbClr val="D0D4DA"/>
            </a:solidFill>
          </a:ln>
          <a:effectLst/>
        </p:spPr>
        <p:txBody>
          <a:bodyPr rtlCol="0" anchor="ctr"/>
          <a:lstStyle/>
          <a:p>
            <a:pPr algn="ctr"/>
            <a:endParaRPr/>
          </a:p>
        </p:txBody>
      </p:sp>
      <p:sp>
        <p:nvSpPr>
          <p:cNvPr id="627" name="TextBox 628"/>
          <p:cNvSpPr txBox="1"/>
          <p:nvPr/>
        </p:nvSpPr>
        <p:spPr>
          <a:xfrm>
            <a:off x="8055864" y="2185416"/>
            <a:ext cx="3557016" cy="566928"/>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“How much did the ship actually emit?”  →  Tank-to-Wake</a:t>
            </a:r>
          </a:p>
        </p:txBody>
      </p:sp>
      <p:sp>
        <p:nvSpPr>
          <p:cNvPr id="629" name="Rectangle 630"/>
          <p:cNvSpPr/>
          <p:nvPr/>
        </p:nvSpPr>
        <p:spPr>
          <a:xfrm>
            <a:off x="6245352" y="2752344"/>
            <a:ext cx="1737360" cy="658368"/>
          </a:xfrm>
          <a:prstGeom prst="rect">
            <a:avLst/>
          </a:prstGeom>
          <a:solidFill>
            <a:srgbClr val="FFFFFF"/>
          </a:solidFill>
          <a:ln w="9525">
            <a:solidFill>
              <a:srgbClr val="D0D4DA"/>
            </a:solidFill>
          </a:ln>
          <a:effectLst/>
        </p:spPr>
        <p:txBody>
          <a:bodyPr rtlCol="0" anchor="ctr"/>
          <a:lstStyle/>
          <a:p>
            <a:pPr algn="ctr"/>
            <a:endParaRPr/>
          </a:p>
        </p:txBody>
      </p:sp>
      <p:sp>
        <p:nvSpPr>
          <p:cNvPr id="631" name="TextBox 632"/>
          <p:cNvSpPr txBox="1"/>
          <p:nvPr/>
        </p:nvSpPr>
        <p:spPr>
          <a:xfrm>
            <a:off x="6318504" y="2752344"/>
            <a:ext cx="1591056" cy="658368"/>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FuelEU Maritime</a:t>
            </a:r>
          </a:p>
        </p:txBody>
      </p:sp>
      <p:sp>
        <p:nvSpPr>
          <p:cNvPr id="633" name="Rectangle 634"/>
          <p:cNvSpPr/>
          <p:nvPr/>
        </p:nvSpPr>
        <p:spPr>
          <a:xfrm>
            <a:off x="7982712" y="2752344"/>
            <a:ext cx="3703320" cy="658368"/>
          </a:xfrm>
          <a:prstGeom prst="rect">
            <a:avLst/>
          </a:prstGeom>
          <a:solidFill>
            <a:srgbClr val="FFFFFF"/>
          </a:solidFill>
          <a:ln w="9525">
            <a:solidFill>
              <a:srgbClr val="D0D4DA"/>
            </a:solidFill>
          </a:ln>
          <a:effectLst/>
        </p:spPr>
        <p:txBody>
          <a:bodyPr rtlCol="0" anchor="ctr"/>
          <a:lstStyle/>
          <a:p>
            <a:pPr algn="ctr"/>
            <a:endParaRPr/>
          </a:p>
        </p:txBody>
      </p:sp>
      <p:sp>
        <p:nvSpPr>
          <p:cNvPr id="635" name="TextBox 636"/>
          <p:cNvSpPr txBox="1"/>
          <p:nvPr/>
        </p:nvSpPr>
        <p:spPr>
          <a:xfrm>
            <a:off x="8055864" y="2752344"/>
            <a:ext cx="3557016" cy="658368"/>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“What is the lifecycle GHG intensity of the energy used?”  →  Well-to-Wake</a:t>
            </a:r>
          </a:p>
        </p:txBody>
      </p:sp>
      <p:sp>
        <p:nvSpPr>
          <p:cNvPr id="637" name="TextBox 638"/>
          <p:cNvSpPr txBox="1"/>
          <p:nvPr/>
        </p:nvSpPr>
        <p:spPr>
          <a:xfrm>
            <a:off x="6245352" y="3429000"/>
            <a:ext cx="5440680" cy="1188720"/>
          </a:xfrm>
          <a:prstGeom prst="rect">
            <a:avLst/>
          </a:prstGeom>
          <a:noFill/>
        </p:spPr>
        <p:txBody>
          <a:bodyPr wrap="square" lIns="36576" tIns="0" rIns="36576" bIns="0" anchor="t"/>
          <a:lstStyle/>
          <a:p>
            <a:pPr algn="l">
              <a:lnSpc>
                <a:spcPct val="125000"/>
              </a:lnSpc>
              <a:spcAft>
                <a:spcPts val="0"/>
              </a:spcAft>
            </a:pPr>
            <a:r>
              <a:rPr sz="1200" b="0">
                <a:solidFill>
                  <a:srgbClr val="1A1A1A"/>
                </a:solidFill>
                <a:latin typeface="Calibri"/>
                <a:ea typeface="맑은 고딕"/>
                <a:cs typeface="Calibri"/>
              </a:rPr>
              <a:t>FuelEU is not a cap-and-trade scheme and not a tax. It sets GHG intensity limits and penalises ships that exceed them, to level the field between cheap fossil fuel and more expensive low-carbon alternatives.</a:t>
            </a:r>
          </a:p>
        </p:txBody>
      </p:sp>
      <p:sp>
        <p:nvSpPr>
          <p:cNvPr id="639" name="Rectangle 640"/>
          <p:cNvSpPr/>
          <p:nvPr/>
        </p:nvSpPr>
        <p:spPr>
          <a:xfrm>
            <a:off x="6245352" y="4754880"/>
            <a:ext cx="5440680" cy="960120"/>
          </a:xfrm>
          <a:prstGeom prst="rect">
            <a:avLst/>
          </a:prstGeom>
          <a:solidFill>
            <a:srgbClr val="EFEFEF"/>
          </a:solidFill>
          <a:ln>
            <a:noFill/>
          </a:ln>
          <a:effectLst/>
        </p:spPr>
        <p:txBody>
          <a:bodyPr rtlCol="0" anchor="ctr"/>
          <a:lstStyle/>
          <a:p>
            <a:pPr algn="ctr"/>
            <a:endParaRPr/>
          </a:p>
        </p:txBody>
      </p:sp>
      <p:sp>
        <p:nvSpPr>
          <p:cNvPr id="641" name="TextBox 642"/>
          <p:cNvSpPr txBox="1"/>
          <p:nvPr/>
        </p:nvSpPr>
        <p:spPr>
          <a:xfrm>
            <a:off x="6428232" y="4754880"/>
            <a:ext cx="5074920" cy="960120"/>
          </a:xfrm>
          <a:prstGeom prst="rect">
            <a:avLst/>
          </a:prstGeom>
          <a:noFill/>
        </p:spPr>
        <p:txBody>
          <a:bodyPr wrap="square" lIns="36576" tIns="0" rIns="36576" bIns="0" anchor="ctr"/>
          <a:lstStyle/>
          <a:p>
            <a:pPr algn="l">
              <a:lnSpc>
                <a:spcPct val="125000"/>
              </a:lnSpc>
              <a:spcAft>
                <a:spcPts val="0"/>
              </a:spcAft>
            </a:pPr>
            <a:r>
              <a:rPr sz="1250" b="1">
                <a:solidFill>
                  <a:srgbClr val="172A4A"/>
                </a:solidFill>
                <a:latin typeface="Calibri"/>
                <a:ea typeface="맑은 고딕"/>
                <a:cs typeface="Calibri"/>
              </a:rPr>
              <a:t>Not every biofuel qualifies. Miss the RED III 65% saving, or use a food or feed crop feedstock, and it counts as its fossil equivalent.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 name="Rectangle 644"/>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645" name="TextBox 646"/>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The 2027 Change to Watch — MEPC.1/Circ.905 Rev.1</a:t>
            </a:r>
          </a:p>
        </p:txBody>
      </p:sp>
      <p:sp>
        <p:nvSpPr>
          <p:cNvPr id="647" name="Rectangle 648"/>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649" name="TextBox 650"/>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What changes on 1 January 2027</a:t>
            </a:r>
          </a:p>
        </p:txBody>
      </p:sp>
      <p:sp>
        <p:nvSpPr>
          <p:cNvPr id="651" name="Rectangle 652"/>
          <p:cNvSpPr/>
          <p:nvPr/>
        </p:nvSpPr>
        <p:spPr>
          <a:xfrm>
            <a:off x="502920" y="1783080"/>
            <a:ext cx="1783080" cy="402336"/>
          </a:xfrm>
          <a:prstGeom prst="rect">
            <a:avLst/>
          </a:prstGeom>
          <a:solidFill>
            <a:srgbClr val="172A4A"/>
          </a:solidFill>
          <a:ln>
            <a:noFill/>
          </a:ln>
          <a:effectLst/>
        </p:spPr>
        <p:txBody>
          <a:bodyPr rtlCol="0" anchor="ctr"/>
          <a:lstStyle/>
          <a:p>
            <a:pPr algn="ctr"/>
            <a:endParaRPr/>
          </a:p>
        </p:txBody>
      </p:sp>
      <p:sp>
        <p:nvSpPr>
          <p:cNvPr id="653" name="TextBox 654"/>
          <p:cNvSpPr txBox="1"/>
          <p:nvPr/>
        </p:nvSpPr>
        <p:spPr>
          <a:xfrm>
            <a:off x="576072" y="1783080"/>
            <a:ext cx="163677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
            </a:r>
          </a:p>
        </p:txBody>
      </p:sp>
      <p:sp>
        <p:nvSpPr>
          <p:cNvPr id="655" name="Rectangle 656"/>
          <p:cNvSpPr/>
          <p:nvPr/>
        </p:nvSpPr>
        <p:spPr>
          <a:xfrm>
            <a:off x="2286000" y="1783080"/>
            <a:ext cx="3657600" cy="402336"/>
          </a:xfrm>
          <a:prstGeom prst="rect">
            <a:avLst/>
          </a:prstGeom>
          <a:solidFill>
            <a:srgbClr val="172A4A"/>
          </a:solidFill>
          <a:ln>
            <a:noFill/>
          </a:ln>
          <a:effectLst/>
        </p:spPr>
        <p:txBody>
          <a:bodyPr rtlCol="0" anchor="ctr"/>
          <a:lstStyle/>
          <a:p>
            <a:pPr algn="ctr"/>
            <a:endParaRPr/>
          </a:p>
        </p:txBody>
      </p:sp>
      <p:sp>
        <p:nvSpPr>
          <p:cNvPr id="657" name="TextBox 658"/>
          <p:cNvSpPr txBox="1"/>
          <p:nvPr/>
        </p:nvSpPr>
        <p:spPr>
          <a:xfrm>
            <a:off x="2359152" y="1783080"/>
            <a:ext cx="351129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Conversion factor for a blend</a:t>
            </a:r>
          </a:p>
        </p:txBody>
      </p:sp>
      <p:sp>
        <p:nvSpPr>
          <p:cNvPr id="659" name="Rectangle 660"/>
          <p:cNvSpPr/>
          <p:nvPr/>
        </p:nvSpPr>
        <p:spPr>
          <a:xfrm>
            <a:off x="502920" y="2185416"/>
            <a:ext cx="1783080" cy="502920"/>
          </a:xfrm>
          <a:prstGeom prst="rect">
            <a:avLst/>
          </a:prstGeom>
          <a:solidFill>
            <a:srgbClr val="FFFFFF"/>
          </a:solidFill>
          <a:ln w="9525">
            <a:solidFill>
              <a:srgbClr val="D0D4DA"/>
            </a:solidFill>
          </a:ln>
          <a:effectLst/>
        </p:spPr>
        <p:txBody>
          <a:bodyPr rtlCol="0" anchor="ctr"/>
          <a:lstStyle/>
          <a:p>
            <a:pPr algn="ctr"/>
            <a:endParaRPr/>
          </a:p>
        </p:txBody>
      </p:sp>
      <p:sp>
        <p:nvSpPr>
          <p:cNvPr id="661" name="TextBox 662"/>
          <p:cNvSpPr txBox="1"/>
          <p:nvPr/>
        </p:nvSpPr>
        <p:spPr>
          <a:xfrm>
            <a:off x="576072" y="2185416"/>
            <a:ext cx="1636776" cy="50292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Until 2026</a:t>
            </a:r>
          </a:p>
        </p:txBody>
      </p:sp>
      <p:sp>
        <p:nvSpPr>
          <p:cNvPr id="663" name="Rectangle 664"/>
          <p:cNvSpPr/>
          <p:nvPr/>
        </p:nvSpPr>
        <p:spPr>
          <a:xfrm>
            <a:off x="2286000" y="2185416"/>
            <a:ext cx="3657600" cy="502920"/>
          </a:xfrm>
          <a:prstGeom prst="rect">
            <a:avLst/>
          </a:prstGeom>
          <a:solidFill>
            <a:srgbClr val="FFFFFF"/>
          </a:solidFill>
          <a:ln w="9525">
            <a:solidFill>
              <a:srgbClr val="D0D4DA"/>
            </a:solidFill>
          </a:ln>
          <a:effectLst/>
        </p:spPr>
        <p:txBody>
          <a:bodyPr rtlCol="0" anchor="ctr"/>
          <a:lstStyle/>
          <a:p>
            <a:pPr algn="ctr"/>
            <a:endParaRPr/>
          </a:p>
        </p:txBody>
      </p:sp>
      <p:sp>
        <p:nvSpPr>
          <p:cNvPr id="665" name="TextBox 666"/>
          <p:cNvSpPr txBox="1"/>
          <p:nvPr/>
        </p:nvSpPr>
        <p:spPr>
          <a:xfrm>
            <a:off x="2359152" y="2185416"/>
            <a:ext cx="3511296" cy="5029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Energy-weighted average of the components</a:t>
            </a:r>
          </a:p>
        </p:txBody>
      </p:sp>
      <p:sp>
        <p:nvSpPr>
          <p:cNvPr id="667" name="Rectangle 668"/>
          <p:cNvSpPr/>
          <p:nvPr/>
        </p:nvSpPr>
        <p:spPr>
          <a:xfrm>
            <a:off x="502920" y="2688336"/>
            <a:ext cx="1783080" cy="502920"/>
          </a:xfrm>
          <a:prstGeom prst="rect">
            <a:avLst/>
          </a:prstGeom>
          <a:solidFill>
            <a:srgbClr val="FFFFFF"/>
          </a:solidFill>
          <a:ln w="9525">
            <a:solidFill>
              <a:srgbClr val="D0D4DA"/>
            </a:solidFill>
          </a:ln>
          <a:effectLst/>
        </p:spPr>
        <p:txBody>
          <a:bodyPr rtlCol="0" anchor="ctr"/>
          <a:lstStyle/>
          <a:p>
            <a:pPr algn="ctr"/>
            <a:endParaRPr/>
          </a:p>
        </p:txBody>
      </p:sp>
      <p:sp>
        <p:nvSpPr>
          <p:cNvPr id="669" name="TextBox 670"/>
          <p:cNvSpPr txBox="1"/>
          <p:nvPr/>
        </p:nvSpPr>
        <p:spPr>
          <a:xfrm>
            <a:off x="576072" y="2688336"/>
            <a:ext cx="1636776" cy="502920"/>
          </a:xfrm>
          <a:prstGeom prst="rect">
            <a:avLst/>
          </a:prstGeom>
          <a:noFill/>
        </p:spPr>
        <p:txBody>
          <a:bodyPr wrap="square" lIns="36576" tIns="0" rIns="36576" bIns="0" anchor="ctr"/>
          <a:lstStyle/>
          <a:p>
            <a:pPr algn="l">
              <a:lnSpc>
                <a:spcPct val="110000"/>
              </a:lnSpc>
              <a:spcAft>
                <a:spcPts val="0"/>
              </a:spcAft>
            </a:pPr>
            <a:r>
              <a:rPr sz="1200" b="1">
                <a:solidFill>
                  <a:srgbClr val="C00000"/>
                </a:solidFill>
                <a:latin typeface="Calibri"/>
                <a:ea typeface="맑은 고딕"/>
                <a:cs typeface="Calibri"/>
              </a:rPr>
              <a:t>From 2027</a:t>
            </a:r>
          </a:p>
        </p:txBody>
      </p:sp>
      <p:sp>
        <p:nvSpPr>
          <p:cNvPr id="671" name="Rectangle 672"/>
          <p:cNvSpPr/>
          <p:nvPr/>
        </p:nvSpPr>
        <p:spPr>
          <a:xfrm>
            <a:off x="2286000" y="2688336"/>
            <a:ext cx="3657600" cy="502920"/>
          </a:xfrm>
          <a:prstGeom prst="rect">
            <a:avLst/>
          </a:prstGeom>
          <a:solidFill>
            <a:srgbClr val="FFFFFF"/>
          </a:solidFill>
          <a:ln w="9525">
            <a:solidFill>
              <a:srgbClr val="D0D4DA"/>
            </a:solidFill>
          </a:ln>
          <a:effectLst/>
        </p:spPr>
        <p:txBody>
          <a:bodyPr rtlCol="0" anchor="ctr"/>
          <a:lstStyle/>
          <a:p>
            <a:pPr algn="ctr"/>
            <a:endParaRPr/>
          </a:p>
        </p:txBody>
      </p:sp>
      <p:sp>
        <p:nvSpPr>
          <p:cNvPr id="673" name="TextBox 674"/>
          <p:cNvSpPr txBox="1"/>
          <p:nvPr/>
        </p:nvSpPr>
        <p:spPr>
          <a:xfrm>
            <a:off x="2359152" y="2688336"/>
            <a:ext cx="3511296" cy="502920"/>
          </a:xfrm>
          <a:prstGeom prst="rect">
            <a:avLst/>
          </a:prstGeom>
          <a:noFill/>
        </p:spPr>
        <p:txBody>
          <a:bodyPr wrap="square" lIns="36576" tIns="0" rIns="36576" bIns="0" anchor="ctr"/>
          <a:lstStyle/>
          <a:p>
            <a:pPr algn="l">
              <a:lnSpc>
                <a:spcPct val="110000"/>
              </a:lnSpc>
              <a:spcAft>
                <a:spcPts val="0"/>
              </a:spcAft>
            </a:pPr>
            <a:r>
              <a:rPr sz="1200" b="1">
                <a:solidFill>
                  <a:srgbClr val="C00000"/>
                </a:solidFill>
                <a:latin typeface="Calibri"/>
                <a:ea typeface="맑은 고딕"/>
                <a:cs typeface="Calibri"/>
              </a:rPr>
              <a:t>Mass-weighted average of the components</a:t>
            </a:r>
          </a:p>
        </p:txBody>
      </p:sp>
      <p:sp>
        <p:nvSpPr>
          <p:cNvPr id="675" name="Rectangle 676"/>
          <p:cNvSpPr/>
          <p:nvPr/>
        </p:nvSpPr>
        <p:spPr>
          <a:xfrm>
            <a:off x="502920" y="3291840"/>
            <a:ext cx="5440680" cy="960120"/>
          </a:xfrm>
          <a:prstGeom prst="rect">
            <a:avLst/>
          </a:prstGeom>
          <a:solidFill>
            <a:srgbClr val="EFEFEF"/>
          </a:solidFill>
          <a:ln>
            <a:noFill/>
          </a:ln>
          <a:effectLst/>
        </p:spPr>
        <p:txBody>
          <a:bodyPr rtlCol="0" anchor="ctr"/>
          <a:lstStyle/>
          <a:p>
            <a:pPr algn="ctr"/>
            <a:endParaRPr/>
          </a:p>
        </p:txBody>
      </p:sp>
      <p:sp>
        <p:nvSpPr>
          <p:cNvPr id="677" name="TextBox 678"/>
          <p:cNvSpPr txBox="1"/>
          <p:nvPr/>
        </p:nvSpPr>
        <p:spPr>
          <a:xfrm>
            <a:off x="685800" y="3291840"/>
            <a:ext cx="5074920" cy="960120"/>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And if the biogenic component is not certified, the blend is treated as the equivalent fossil fuel type.</a:t>
            </a:r>
          </a:p>
        </p:txBody>
      </p:sp>
      <p:sp>
        <p:nvSpPr>
          <p:cNvPr id="679" name="TextBox 680"/>
          <p:cNvSpPr txBox="1"/>
          <p:nvPr/>
        </p:nvSpPr>
        <p:spPr>
          <a:xfrm>
            <a:off x="502920" y="4480560"/>
            <a:ext cx="5440680" cy="1280160"/>
          </a:xfrm>
          <a:prstGeom prst="rect">
            <a:avLst/>
          </a:prstGeom>
          <a:noFill/>
        </p:spPr>
        <p:txBody>
          <a:bodyPr wrap="square" lIns="36576" tIns="0" rIns="36576" bIns="0" anchor="t"/>
          <a:lstStyle/>
          <a:p>
            <a:pPr algn="l">
              <a:lnSpc>
                <a:spcPct val="125000"/>
              </a:lnSpc>
              <a:spcAft>
                <a:spcPts val="0"/>
              </a:spcAft>
            </a:pPr>
            <a:r>
              <a:rPr sz="1200" b="0">
                <a:solidFill>
                  <a:srgbClr val="1A1A1A"/>
                </a:solidFill>
                <a:latin typeface="Calibri"/>
                <a:ea typeface="맑은 고딕"/>
                <a:cs typeface="Calibri"/>
              </a:rPr>
              <a:t>The revised guidance was approved at MEPC 84 in April 2026 and applies from 1 January 2027, to line up with the start of the next DCS data collection period.</a:t>
            </a:r>
          </a:p>
        </p:txBody>
      </p:sp>
      <p:sp>
        <p:nvSpPr>
          <p:cNvPr id="681" name="Rectangle 682"/>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683" name="TextBox 684"/>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What it means in practice</a:t>
            </a:r>
          </a:p>
        </p:txBody>
      </p:sp>
      <p:sp>
        <p:nvSpPr>
          <p:cNvPr id="685" name="Rectangle 686"/>
          <p:cNvSpPr/>
          <p:nvPr/>
        </p:nvSpPr>
        <p:spPr>
          <a:xfrm>
            <a:off x="6245352" y="1783080"/>
            <a:ext cx="566928" cy="502920"/>
          </a:xfrm>
          <a:prstGeom prst="rect">
            <a:avLst/>
          </a:prstGeom>
          <a:solidFill>
            <a:srgbClr val="FFFFFF"/>
          </a:solidFill>
          <a:ln w="9525">
            <a:solidFill>
              <a:srgbClr val="D0D4DA"/>
            </a:solidFill>
          </a:ln>
          <a:effectLst/>
        </p:spPr>
        <p:txBody>
          <a:bodyPr rtlCol="0" anchor="ctr"/>
          <a:lstStyle/>
          <a:p>
            <a:pPr algn="ctr"/>
            <a:endParaRPr/>
          </a:p>
        </p:txBody>
      </p:sp>
      <p:sp>
        <p:nvSpPr>
          <p:cNvPr id="687" name="TextBox 688"/>
          <p:cNvSpPr txBox="1"/>
          <p:nvPr/>
        </p:nvSpPr>
        <p:spPr>
          <a:xfrm>
            <a:off x="6318504" y="1783080"/>
            <a:ext cx="420624" cy="50292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01</a:t>
            </a:r>
          </a:p>
        </p:txBody>
      </p:sp>
      <p:sp>
        <p:nvSpPr>
          <p:cNvPr id="689" name="Rectangle 690"/>
          <p:cNvSpPr/>
          <p:nvPr/>
        </p:nvSpPr>
        <p:spPr>
          <a:xfrm>
            <a:off x="6812280" y="1783080"/>
            <a:ext cx="4873752" cy="502920"/>
          </a:xfrm>
          <a:prstGeom prst="rect">
            <a:avLst/>
          </a:prstGeom>
          <a:solidFill>
            <a:srgbClr val="FFFFFF"/>
          </a:solidFill>
          <a:ln w="9525">
            <a:solidFill>
              <a:srgbClr val="D0D4DA"/>
            </a:solidFill>
          </a:ln>
          <a:effectLst/>
        </p:spPr>
        <p:txBody>
          <a:bodyPr rtlCol="0" anchor="ctr"/>
          <a:lstStyle/>
          <a:p>
            <a:pPr algn="ctr"/>
            <a:endParaRPr/>
          </a:p>
        </p:txBody>
      </p:sp>
      <p:sp>
        <p:nvSpPr>
          <p:cNvPr id="691" name="TextBox 692"/>
          <p:cNvSpPr txBox="1"/>
          <p:nvPr/>
        </p:nvSpPr>
        <p:spPr>
          <a:xfrm>
            <a:off x="6885432" y="1783080"/>
            <a:ext cx="4727448" cy="5029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Same fuel, different number — and it feeds straight into CII</a:t>
            </a:r>
          </a:p>
        </p:txBody>
      </p:sp>
      <p:sp>
        <p:nvSpPr>
          <p:cNvPr id="693" name="Rectangle 694"/>
          <p:cNvSpPr/>
          <p:nvPr/>
        </p:nvSpPr>
        <p:spPr>
          <a:xfrm>
            <a:off x="6245352" y="2286000"/>
            <a:ext cx="566928" cy="566928"/>
          </a:xfrm>
          <a:prstGeom prst="rect">
            <a:avLst/>
          </a:prstGeom>
          <a:solidFill>
            <a:srgbClr val="FFFFFF"/>
          </a:solidFill>
          <a:ln w="9525">
            <a:solidFill>
              <a:srgbClr val="D0D4DA"/>
            </a:solidFill>
          </a:ln>
          <a:effectLst/>
        </p:spPr>
        <p:txBody>
          <a:bodyPr rtlCol="0" anchor="ctr"/>
          <a:lstStyle/>
          <a:p>
            <a:pPr algn="ctr"/>
            <a:endParaRPr/>
          </a:p>
        </p:txBody>
      </p:sp>
      <p:sp>
        <p:nvSpPr>
          <p:cNvPr id="695" name="TextBox 696"/>
          <p:cNvSpPr txBox="1"/>
          <p:nvPr/>
        </p:nvSpPr>
        <p:spPr>
          <a:xfrm>
            <a:off x="6318504" y="2286000"/>
            <a:ext cx="420624" cy="566928"/>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02</a:t>
            </a:r>
          </a:p>
        </p:txBody>
      </p:sp>
      <p:sp>
        <p:nvSpPr>
          <p:cNvPr id="697" name="Rectangle 698"/>
          <p:cNvSpPr/>
          <p:nvPr/>
        </p:nvSpPr>
        <p:spPr>
          <a:xfrm>
            <a:off x="6812280" y="2286000"/>
            <a:ext cx="4873752" cy="566928"/>
          </a:xfrm>
          <a:prstGeom prst="rect">
            <a:avLst/>
          </a:prstGeom>
          <a:solidFill>
            <a:srgbClr val="FFFFFF"/>
          </a:solidFill>
          <a:ln w="9525">
            <a:solidFill>
              <a:srgbClr val="D0D4DA"/>
            </a:solidFill>
          </a:ln>
          <a:effectLst/>
        </p:spPr>
        <p:txBody>
          <a:bodyPr rtlCol="0" anchor="ctr"/>
          <a:lstStyle/>
          <a:p>
            <a:pPr algn="ctr"/>
            <a:endParaRPr/>
          </a:p>
        </p:txBody>
      </p:sp>
      <p:sp>
        <p:nvSpPr>
          <p:cNvPr id="699" name="TextBox 700"/>
          <p:cNvSpPr txBox="1"/>
          <p:nvPr/>
        </p:nvSpPr>
        <p:spPr>
          <a:xfrm>
            <a:off x="6885432" y="2286000"/>
            <a:ext cx="4727448" cy="566928"/>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SEEMP Part II and Part III need updating, and DCS reporting with them</a:t>
            </a:r>
          </a:p>
        </p:txBody>
      </p:sp>
      <p:sp>
        <p:nvSpPr>
          <p:cNvPr id="701" name="Rectangle 702"/>
          <p:cNvSpPr/>
          <p:nvPr/>
        </p:nvSpPr>
        <p:spPr>
          <a:xfrm>
            <a:off x="6245352" y="2852928"/>
            <a:ext cx="566928" cy="566928"/>
          </a:xfrm>
          <a:prstGeom prst="rect">
            <a:avLst/>
          </a:prstGeom>
          <a:solidFill>
            <a:srgbClr val="FFFFFF"/>
          </a:solidFill>
          <a:ln w="9525">
            <a:solidFill>
              <a:srgbClr val="D0D4DA"/>
            </a:solidFill>
          </a:ln>
          <a:effectLst/>
        </p:spPr>
        <p:txBody>
          <a:bodyPr rtlCol="0" anchor="ctr"/>
          <a:lstStyle/>
          <a:p>
            <a:pPr algn="ctr"/>
            <a:endParaRPr/>
          </a:p>
        </p:txBody>
      </p:sp>
      <p:sp>
        <p:nvSpPr>
          <p:cNvPr id="703" name="TextBox 704"/>
          <p:cNvSpPr txBox="1"/>
          <p:nvPr/>
        </p:nvSpPr>
        <p:spPr>
          <a:xfrm>
            <a:off x="6318504" y="2852928"/>
            <a:ext cx="420624" cy="566928"/>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03</a:t>
            </a:r>
          </a:p>
        </p:txBody>
      </p:sp>
      <p:sp>
        <p:nvSpPr>
          <p:cNvPr id="705" name="Rectangle 706"/>
          <p:cNvSpPr/>
          <p:nvPr/>
        </p:nvSpPr>
        <p:spPr>
          <a:xfrm>
            <a:off x="6812280" y="2852928"/>
            <a:ext cx="4873752" cy="566928"/>
          </a:xfrm>
          <a:prstGeom prst="rect">
            <a:avLst/>
          </a:prstGeom>
          <a:solidFill>
            <a:srgbClr val="FFFFFF"/>
          </a:solidFill>
          <a:ln w="9525">
            <a:solidFill>
              <a:srgbClr val="D0D4DA"/>
            </a:solidFill>
          </a:ln>
          <a:effectLst/>
        </p:spPr>
        <p:txBody>
          <a:bodyPr rtlCol="0" anchor="ctr"/>
          <a:lstStyle/>
          <a:p>
            <a:pPr algn="ctr"/>
            <a:endParaRPr/>
          </a:p>
        </p:txBody>
      </p:sp>
      <p:sp>
        <p:nvSpPr>
          <p:cNvPr id="707" name="TextBox 708"/>
          <p:cNvSpPr txBox="1"/>
          <p:nvPr/>
        </p:nvSpPr>
        <p:spPr>
          <a:xfrm>
            <a:off x="6885432" y="2852928"/>
            <a:ext cx="4727448" cy="566928"/>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An uncertified stem earns no credit at all, however green the feedstock</a:t>
            </a:r>
          </a:p>
        </p:txBody>
      </p:sp>
      <p:sp>
        <p:nvSpPr>
          <p:cNvPr id="709" name="Rectangle 710"/>
          <p:cNvSpPr/>
          <p:nvPr/>
        </p:nvSpPr>
        <p:spPr>
          <a:xfrm>
            <a:off x="6245352" y="3419856"/>
            <a:ext cx="566928" cy="502920"/>
          </a:xfrm>
          <a:prstGeom prst="rect">
            <a:avLst/>
          </a:prstGeom>
          <a:solidFill>
            <a:srgbClr val="FFFFFF"/>
          </a:solidFill>
          <a:ln w="9525">
            <a:solidFill>
              <a:srgbClr val="D0D4DA"/>
            </a:solidFill>
          </a:ln>
          <a:effectLst/>
        </p:spPr>
        <p:txBody>
          <a:bodyPr rtlCol="0" anchor="ctr"/>
          <a:lstStyle/>
          <a:p>
            <a:pPr algn="ctr"/>
            <a:endParaRPr/>
          </a:p>
        </p:txBody>
      </p:sp>
      <p:sp>
        <p:nvSpPr>
          <p:cNvPr id="711" name="TextBox 712"/>
          <p:cNvSpPr txBox="1"/>
          <p:nvPr/>
        </p:nvSpPr>
        <p:spPr>
          <a:xfrm>
            <a:off x="6318504" y="3419856"/>
            <a:ext cx="420624" cy="50292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04</a:t>
            </a:r>
          </a:p>
        </p:txBody>
      </p:sp>
      <p:sp>
        <p:nvSpPr>
          <p:cNvPr id="713" name="Rectangle 714"/>
          <p:cNvSpPr/>
          <p:nvPr/>
        </p:nvSpPr>
        <p:spPr>
          <a:xfrm>
            <a:off x="6812280" y="3419856"/>
            <a:ext cx="4873752" cy="502920"/>
          </a:xfrm>
          <a:prstGeom prst="rect">
            <a:avLst/>
          </a:prstGeom>
          <a:solidFill>
            <a:srgbClr val="FFFFFF"/>
          </a:solidFill>
          <a:ln w="9525">
            <a:solidFill>
              <a:srgbClr val="D0D4DA"/>
            </a:solidFill>
          </a:ln>
          <a:effectLst/>
        </p:spPr>
        <p:txBody>
          <a:bodyPr rtlCol="0" anchor="ctr"/>
          <a:lstStyle/>
          <a:p>
            <a:pPr algn="ctr"/>
            <a:endParaRPr/>
          </a:p>
        </p:txBody>
      </p:sp>
      <p:sp>
        <p:nvSpPr>
          <p:cNvPr id="715" name="TextBox 716"/>
          <p:cNvSpPr txBox="1"/>
          <p:nvPr/>
        </p:nvSpPr>
        <p:spPr>
          <a:xfrm>
            <a:off x="6885432" y="3419856"/>
            <a:ext cx="4727448" cy="5029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So the PoS has to be chased at purchase, not at reporting time</a:t>
            </a:r>
          </a:p>
        </p:txBody>
      </p:sp>
      <p:sp>
        <p:nvSpPr>
          <p:cNvPr id="717" name="Rectangle 718"/>
          <p:cNvSpPr/>
          <p:nvPr/>
        </p:nvSpPr>
        <p:spPr>
          <a:xfrm>
            <a:off x="6245352" y="4160520"/>
            <a:ext cx="5440680" cy="960120"/>
          </a:xfrm>
          <a:prstGeom prst="rect">
            <a:avLst/>
          </a:prstGeom>
          <a:solidFill>
            <a:srgbClr val="EFEFEF"/>
          </a:solidFill>
          <a:ln>
            <a:noFill/>
          </a:ln>
          <a:effectLst/>
        </p:spPr>
        <p:txBody>
          <a:bodyPr rtlCol="0" anchor="ctr"/>
          <a:lstStyle/>
          <a:p>
            <a:pPr algn="ctr"/>
            <a:endParaRPr/>
          </a:p>
        </p:txBody>
      </p:sp>
      <p:sp>
        <p:nvSpPr>
          <p:cNvPr id="719" name="TextBox 720"/>
          <p:cNvSpPr txBox="1"/>
          <p:nvPr/>
        </p:nvSpPr>
        <p:spPr>
          <a:xfrm>
            <a:off x="6428232" y="4160520"/>
            <a:ext cx="5074920" cy="960120"/>
          </a:xfrm>
          <a:prstGeom prst="rect">
            <a:avLst/>
          </a:prstGeom>
          <a:noFill/>
        </p:spPr>
        <p:txBody>
          <a:bodyPr wrap="square" lIns="36576" tIns="0" rIns="36576" bIns="0" anchor="ctr"/>
          <a:lstStyle/>
          <a:p>
            <a:pPr algn="l">
              <a:lnSpc>
                <a:spcPct val="125000"/>
              </a:lnSpc>
              <a:spcAft>
                <a:spcPts val="0"/>
              </a:spcAft>
            </a:pPr>
            <a:r>
              <a:rPr sz="1400" b="1">
                <a:solidFill>
                  <a:srgbClr val="172A4A"/>
                </a:solidFill>
                <a:latin typeface="Calibri"/>
                <a:ea typeface="맑은 고딕"/>
                <a:cs typeface="Calibri"/>
              </a:rPr>
              <a:t>Buying biofuel is not the compliance event. Certification and the PoS are.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 name="Rectangle 722"/>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723" name="TextBox 724"/>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Quality and Testing — What to Look For</a:t>
            </a:r>
          </a:p>
        </p:txBody>
      </p:sp>
      <p:sp>
        <p:nvSpPr>
          <p:cNvPr id="725" name="Rectangle 726"/>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727" name="TextBox 728"/>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The main risk chain</a:t>
            </a:r>
          </a:p>
        </p:txBody>
      </p:sp>
      <p:sp>
        <p:nvSpPr>
          <p:cNvPr id="729" name="Rectangle 730"/>
          <p:cNvSpPr/>
          <p:nvPr/>
        </p:nvSpPr>
        <p:spPr>
          <a:xfrm>
            <a:off x="502920" y="1783080"/>
            <a:ext cx="5440680" cy="384048"/>
          </a:xfrm>
          <a:prstGeom prst="rect">
            <a:avLst/>
          </a:prstGeom>
          <a:solidFill>
            <a:srgbClr val="FFFFFF"/>
          </a:solidFill>
          <a:ln w="9525">
            <a:solidFill>
              <a:srgbClr val="D0D4DA"/>
            </a:solidFill>
          </a:ln>
          <a:effectLst/>
        </p:spPr>
        <p:txBody>
          <a:bodyPr rtlCol="0" anchor="ctr"/>
          <a:lstStyle/>
          <a:p>
            <a:pPr algn="ctr"/>
            <a:endParaRPr/>
          </a:p>
        </p:txBody>
      </p:sp>
      <p:sp>
        <p:nvSpPr>
          <p:cNvPr id="731" name="TextBox 732"/>
          <p:cNvSpPr txBox="1"/>
          <p:nvPr/>
        </p:nvSpPr>
        <p:spPr>
          <a:xfrm>
            <a:off x="576072" y="1783080"/>
            <a:ext cx="5294376" cy="384048"/>
          </a:xfrm>
          <a:prstGeom prst="rect">
            <a:avLst/>
          </a:prstGeom>
          <a:noFill/>
        </p:spPr>
        <p:txBody>
          <a:bodyPr wrap="square" lIns="36576" tIns="0" rIns="36576" bIns="0" anchor="ctr"/>
          <a:lstStyle/>
          <a:p>
            <a:pPr algn="ctr">
              <a:lnSpc>
                <a:spcPct val="110000"/>
              </a:lnSpc>
              <a:spcAft>
                <a:spcPts val="0"/>
              </a:spcAft>
            </a:pPr>
            <a:r>
              <a:rPr sz="1200" b="1">
                <a:solidFill>
                  <a:srgbClr val="1A1A1A"/>
                </a:solidFill>
                <a:latin typeface="Calibri"/>
                <a:ea typeface="맑은 고딕"/>
                <a:cs typeface="Calibri"/>
              </a:rPr>
              <a:t>Oxidation</a:t>
            </a:r>
          </a:p>
        </p:txBody>
      </p:sp>
      <p:sp>
        <p:nvSpPr>
          <p:cNvPr id="733" name="TextBox 734"/>
          <p:cNvSpPr txBox="1"/>
          <p:nvPr/>
        </p:nvSpPr>
        <p:spPr>
          <a:xfrm>
            <a:off x="502920" y="2167128"/>
            <a:ext cx="5440680" cy="182880"/>
          </a:xfrm>
          <a:prstGeom prst="rect">
            <a:avLst/>
          </a:prstGeom>
          <a:noFill/>
        </p:spPr>
        <p:txBody>
          <a:bodyPr wrap="square" lIns="36576" tIns="0" rIns="36576" bIns="0" anchor="ctr"/>
          <a:lstStyle/>
          <a:p>
            <a:pPr algn="ctr">
              <a:lnSpc>
                <a:spcPct val="100000"/>
              </a:lnSpc>
              <a:spcAft>
                <a:spcPts val="0"/>
              </a:spcAft>
            </a:pPr>
            <a:r>
              <a:rPr sz="1000" b="0">
                <a:solidFill>
                  <a:srgbClr val="595959"/>
                </a:solidFill>
                <a:latin typeface="Calibri"/>
                <a:ea typeface="맑은 고딕"/>
                <a:cs typeface="Calibri"/>
              </a:rPr>
              <a:t>↓</a:t>
            </a:r>
          </a:p>
        </p:txBody>
      </p:sp>
      <p:sp>
        <p:nvSpPr>
          <p:cNvPr id="735" name="Rectangle 736"/>
          <p:cNvSpPr/>
          <p:nvPr/>
        </p:nvSpPr>
        <p:spPr>
          <a:xfrm>
            <a:off x="502920" y="2350008"/>
            <a:ext cx="5440680" cy="384048"/>
          </a:xfrm>
          <a:prstGeom prst="rect">
            <a:avLst/>
          </a:prstGeom>
          <a:solidFill>
            <a:srgbClr val="FFFFFF"/>
          </a:solidFill>
          <a:ln w="9525">
            <a:solidFill>
              <a:srgbClr val="D0D4DA"/>
            </a:solidFill>
          </a:ln>
          <a:effectLst/>
        </p:spPr>
        <p:txBody>
          <a:bodyPr rtlCol="0" anchor="ctr"/>
          <a:lstStyle/>
          <a:p>
            <a:pPr algn="ctr"/>
            <a:endParaRPr/>
          </a:p>
        </p:txBody>
      </p:sp>
      <p:sp>
        <p:nvSpPr>
          <p:cNvPr id="737" name="TextBox 738"/>
          <p:cNvSpPr txBox="1"/>
          <p:nvPr/>
        </p:nvSpPr>
        <p:spPr>
          <a:xfrm>
            <a:off x="576072" y="2350008"/>
            <a:ext cx="5294376" cy="384048"/>
          </a:xfrm>
          <a:prstGeom prst="rect">
            <a:avLst/>
          </a:prstGeom>
          <a:noFill/>
        </p:spPr>
        <p:txBody>
          <a:bodyPr wrap="square" lIns="36576" tIns="0" rIns="36576" bIns="0" anchor="ctr"/>
          <a:lstStyle/>
          <a:p>
            <a:pPr algn="ctr">
              <a:lnSpc>
                <a:spcPct val="110000"/>
              </a:lnSpc>
              <a:spcAft>
                <a:spcPts val="0"/>
              </a:spcAft>
            </a:pPr>
            <a:r>
              <a:rPr sz="1200" b="1">
                <a:solidFill>
                  <a:srgbClr val="1A1A1A"/>
                </a:solidFill>
                <a:latin typeface="Calibri"/>
                <a:ea typeface="맑은 고딕"/>
                <a:cs typeface="Calibri"/>
              </a:rPr>
              <a:t>Degradation  /  acid formation</a:t>
            </a:r>
          </a:p>
        </p:txBody>
      </p:sp>
      <p:sp>
        <p:nvSpPr>
          <p:cNvPr id="739" name="TextBox 740"/>
          <p:cNvSpPr txBox="1"/>
          <p:nvPr/>
        </p:nvSpPr>
        <p:spPr>
          <a:xfrm>
            <a:off x="502920" y="2734056"/>
            <a:ext cx="5440680" cy="182880"/>
          </a:xfrm>
          <a:prstGeom prst="rect">
            <a:avLst/>
          </a:prstGeom>
          <a:noFill/>
        </p:spPr>
        <p:txBody>
          <a:bodyPr wrap="square" lIns="36576" tIns="0" rIns="36576" bIns="0" anchor="ctr"/>
          <a:lstStyle/>
          <a:p>
            <a:pPr algn="ctr">
              <a:lnSpc>
                <a:spcPct val="100000"/>
              </a:lnSpc>
              <a:spcAft>
                <a:spcPts val="0"/>
              </a:spcAft>
            </a:pPr>
            <a:r>
              <a:rPr sz="1000" b="0">
                <a:solidFill>
                  <a:srgbClr val="595959"/>
                </a:solidFill>
                <a:latin typeface="Calibri"/>
                <a:ea typeface="맑은 고딕"/>
                <a:cs typeface="Calibri"/>
              </a:rPr>
              <a:t>↓</a:t>
            </a:r>
          </a:p>
        </p:txBody>
      </p:sp>
      <p:sp>
        <p:nvSpPr>
          <p:cNvPr id="741" name="Rectangle 742"/>
          <p:cNvSpPr/>
          <p:nvPr/>
        </p:nvSpPr>
        <p:spPr>
          <a:xfrm>
            <a:off x="502920" y="2916936"/>
            <a:ext cx="5440680" cy="384048"/>
          </a:xfrm>
          <a:prstGeom prst="rect">
            <a:avLst/>
          </a:prstGeom>
          <a:solidFill>
            <a:srgbClr val="FFFFFF"/>
          </a:solidFill>
          <a:ln w="9525">
            <a:solidFill>
              <a:srgbClr val="D0D4DA"/>
            </a:solidFill>
          </a:ln>
          <a:effectLst/>
        </p:spPr>
        <p:txBody>
          <a:bodyPr rtlCol="0" anchor="ctr"/>
          <a:lstStyle/>
          <a:p>
            <a:pPr algn="ctr"/>
            <a:endParaRPr/>
          </a:p>
        </p:txBody>
      </p:sp>
      <p:sp>
        <p:nvSpPr>
          <p:cNvPr id="743" name="TextBox 744"/>
          <p:cNvSpPr txBox="1"/>
          <p:nvPr/>
        </p:nvSpPr>
        <p:spPr>
          <a:xfrm>
            <a:off x="576072" y="2916936"/>
            <a:ext cx="5294376" cy="384048"/>
          </a:xfrm>
          <a:prstGeom prst="rect">
            <a:avLst/>
          </a:prstGeom>
          <a:noFill/>
        </p:spPr>
        <p:txBody>
          <a:bodyPr wrap="square" lIns="36576" tIns="0" rIns="36576" bIns="0" anchor="ctr"/>
          <a:lstStyle/>
          <a:p>
            <a:pPr algn="ctr">
              <a:lnSpc>
                <a:spcPct val="110000"/>
              </a:lnSpc>
              <a:spcAft>
                <a:spcPts val="0"/>
              </a:spcAft>
            </a:pPr>
            <a:r>
              <a:rPr sz="1200" b="1">
                <a:solidFill>
                  <a:srgbClr val="1A1A1A"/>
                </a:solidFill>
                <a:latin typeface="Calibri"/>
                <a:ea typeface="맑은 고딕"/>
                <a:cs typeface="Calibri"/>
              </a:rPr>
              <a:t>Sludge  /  sediment</a:t>
            </a:r>
          </a:p>
        </p:txBody>
      </p:sp>
      <p:sp>
        <p:nvSpPr>
          <p:cNvPr id="745" name="TextBox 746"/>
          <p:cNvSpPr txBox="1"/>
          <p:nvPr/>
        </p:nvSpPr>
        <p:spPr>
          <a:xfrm>
            <a:off x="502920" y="3300984"/>
            <a:ext cx="5440680" cy="182880"/>
          </a:xfrm>
          <a:prstGeom prst="rect">
            <a:avLst/>
          </a:prstGeom>
          <a:noFill/>
        </p:spPr>
        <p:txBody>
          <a:bodyPr wrap="square" lIns="36576" tIns="0" rIns="36576" bIns="0" anchor="ctr"/>
          <a:lstStyle/>
          <a:p>
            <a:pPr algn="ctr">
              <a:lnSpc>
                <a:spcPct val="100000"/>
              </a:lnSpc>
              <a:spcAft>
                <a:spcPts val="0"/>
              </a:spcAft>
            </a:pPr>
            <a:r>
              <a:rPr sz="1000" b="0">
                <a:solidFill>
                  <a:srgbClr val="595959"/>
                </a:solidFill>
                <a:latin typeface="Calibri"/>
                <a:ea typeface="맑은 고딕"/>
                <a:cs typeface="Calibri"/>
              </a:rPr>
              <a:t>↓</a:t>
            </a:r>
          </a:p>
        </p:txBody>
      </p:sp>
      <p:sp>
        <p:nvSpPr>
          <p:cNvPr id="747" name="Rectangle 748"/>
          <p:cNvSpPr/>
          <p:nvPr/>
        </p:nvSpPr>
        <p:spPr>
          <a:xfrm>
            <a:off x="502920" y="3483864"/>
            <a:ext cx="5440680" cy="384048"/>
          </a:xfrm>
          <a:prstGeom prst="rect">
            <a:avLst/>
          </a:prstGeom>
          <a:solidFill>
            <a:srgbClr val="172A4A"/>
          </a:solidFill>
          <a:ln>
            <a:noFill/>
          </a:ln>
          <a:effectLst/>
        </p:spPr>
        <p:txBody>
          <a:bodyPr rtlCol="0" anchor="ctr"/>
          <a:lstStyle/>
          <a:p>
            <a:pPr algn="ctr"/>
            <a:endParaRPr/>
          </a:p>
        </p:txBody>
      </p:sp>
      <p:sp>
        <p:nvSpPr>
          <p:cNvPr id="749" name="TextBox 750"/>
          <p:cNvSpPr txBox="1"/>
          <p:nvPr/>
        </p:nvSpPr>
        <p:spPr>
          <a:xfrm>
            <a:off x="576072" y="3483864"/>
            <a:ext cx="5294376" cy="384048"/>
          </a:xfrm>
          <a:prstGeom prst="rect">
            <a:avLst/>
          </a:prstGeom>
          <a:noFill/>
        </p:spPr>
        <p:txBody>
          <a:bodyPr wrap="square" lIns="36576" tIns="0" rIns="36576" bIns="0" anchor="ctr"/>
          <a:lstStyle/>
          <a:p>
            <a:pPr algn="ctr">
              <a:lnSpc>
                <a:spcPct val="110000"/>
              </a:lnSpc>
              <a:spcAft>
                <a:spcPts val="0"/>
              </a:spcAft>
            </a:pPr>
            <a:r>
              <a:rPr sz="1200" b="1">
                <a:solidFill>
                  <a:srgbClr val="FFFFFF"/>
                </a:solidFill>
                <a:latin typeface="Calibri"/>
                <a:ea typeface="맑은 고딕"/>
                <a:cs typeface="Calibri"/>
              </a:rPr>
              <a:t>Filter &amp; purifier blockage</a:t>
            </a:r>
          </a:p>
        </p:txBody>
      </p:sp>
      <p:sp>
        <p:nvSpPr>
          <p:cNvPr id="751" name="Rectangle 752"/>
          <p:cNvSpPr/>
          <p:nvPr/>
        </p:nvSpPr>
        <p:spPr>
          <a:xfrm>
            <a:off x="502920" y="4160520"/>
            <a:ext cx="5440680" cy="329184"/>
          </a:xfrm>
          <a:prstGeom prst="rect">
            <a:avLst/>
          </a:prstGeom>
          <a:solidFill>
            <a:srgbClr val="EFEFEF"/>
          </a:solidFill>
          <a:ln>
            <a:noFill/>
          </a:ln>
          <a:effectLst/>
        </p:spPr>
        <p:txBody>
          <a:bodyPr rtlCol="0" anchor="ctr"/>
          <a:lstStyle/>
          <a:p>
            <a:pPr algn="ctr"/>
            <a:endParaRPr/>
          </a:p>
        </p:txBody>
      </p:sp>
      <p:sp>
        <p:nvSpPr>
          <p:cNvPr id="753" name="TextBox 754"/>
          <p:cNvSpPr txBox="1"/>
          <p:nvPr/>
        </p:nvSpPr>
        <p:spPr>
          <a:xfrm>
            <a:off x="612648" y="416052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Three side paths into the same place</a:t>
            </a:r>
          </a:p>
        </p:txBody>
      </p:sp>
      <p:sp>
        <p:nvSpPr>
          <p:cNvPr id="755" name="Rectangle 756"/>
          <p:cNvSpPr/>
          <p:nvPr/>
        </p:nvSpPr>
        <p:spPr>
          <a:xfrm>
            <a:off x="502920" y="4617720"/>
            <a:ext cx="2468880" cy="402336"/>
          </a:xfrm>
          <a:prstGeom prst="rect">
            <a:avLst/>
          </a:prstGeom>
          <a:solidFill>
            <a:srgbClr val="FFFFFF"/>
          </a:solidFill>
          <a:ln w="9525">
            <a:solidFill>
              <a:srgbClr val="D0D4DA"/>
            </a:solidFill>
          </a:ln>
          <a:effectLst/>
        </p:spPr>
        <p:txBody>
          <a:bodyPr rtlCol="0" anchor="ctr"/>
          <a:lstStyle/>
          <a:p>
            <a:pPr algn="ctr"/>
            <a:endParaRPr/>
          </a:p>
        </p:txBody>
      </p:sp>
      <p:sp>
        <p:nvSpPr>
          <p:cNvPr id="757" name="TextBox 758"/>
          <p:cNvSpPr txBox="1"/>
          <p:nvPr/>
        </p:nvSpPr>
        <p:spPr>
          <a:xfrm>
            <a:off x="576072" y="4617720"/>
            <a:ext cx="232257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Water</a:t>
            </a:r>
          </a:p>
        </p:txBody>
      </p:sp>
      <p:sp>
        <p:nvSpPr>
          <p:cNvPr id="759" name="Rectangle 760"/>
          <p:cNvSpPr/>
          <p:nvPr/>
        </p:nvSpPr>
        <p:spPr>
          <a:xfrm>
            <a:off x="2971800" y="4617720"/>
            <a:ext cx="2971800" cy="402336"/>
          </a:xfrm>
          <a:prstGeom prst="rect">
            <a:avLst/>
          </a:prstGeom>
          <a:solidFill>
            <a:srgbClr val="FFFFFF"/>
          </a:solidFill>
          <a:ln w="9525">
            <a:solidFill>
              <a:srgbClr val="D0D4DA"/>
            </a:solidFill>
          </a:ln>
          <a:effectLst/>
        </p:spPr>
        <p:txBody>
          <a:bodyPr rtlCol="0" anchor="ctr"/>
          <a:lstStyle/>
          <a:p>
            <a:pPr algn="ctr"/>
            <a:endParaRPr/>
          </a:p>
        </p:txBody>
      </p:sp>
      <p:sp>
        <p:nvSpPr>
          <p:cNvPr id="761" name="TextBox 762"/>
          <p:cNvSpPr txBox="1"/>
          <p:nvPr/>
        </p:nvSpPr>
        <p:spPr>
          <a:xfrm>
            <a:off x="3044952" y="4617720"/>
            <a:ext cx="282549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  microbial growth  →  sludge</a:t>
            </a:r>
          </a:p>
        </p:txBody>
      </p:sp>
      <p:sp>
        <p:nvSpPr>
          <p:cNvPr id="763" name="Rectangle 764"/>
          <p:cNvSpPr/>
          <p:nvPr/>
        </p:nvSpPr>
        <p:spPr>
          <a:xfrm>
            <a:off x="502920" y="5020056"/>
            <a:ext cx="2468880" cy="402336"/>
          </a:xfrm>
          <a:prstGeom prst="rect">
            <a:avLst/>
          </a:prstGeom>
          <a:solidFill>
            <a:srgbClr val="FFFFFF"/>
          </a:solidFill>
          <a:ln w="9525">
            <a:solidFill>
              <a:srgbClr val="D0D4DA"/>
            </a:solidFill>
          </a:ln>
          <a:effectLst/>
        </p:spPr>
        <p:txBody>
          <a:bodyPr rtlCol="0" anchor="ctr"/>
          <a:lstStyle/>
          <a:p>
            <a:pPr algn="ctr"/>
            <a:endParaRPr/>
          </a:p>
        </p:txBody>
      </p:sp>
      <p:sp>
        <p:nvSpPr>
          <p:cNvPr id="765" name="TextBox 766"/>
          <p:cNvSpPr txBox="1"/>
          <p:nvPr/>
        </p:nvSpPr>
        <p:spPr>
          <a:xfrm>
            <a:off x="576072" y="5020056"/>
            <a:ext cx="232257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Low temperature</a:t>
            </a:r>
          </a:p>
        </p:txBody>
      </p:sp>
      <p:sp>
        <p:nvSpPr>
          <p:cNvPr id="767" name="Rectangle 768"/>
          <p:cNvSpPr/>
          <p:nvPr/>
        </p:nvSpPr>
        <p:spPr>
          <a:xfrm>
            <a:off x="2971800" y="5020056"/>
            <a:ext cx="2971800" cy="402336"/>
          </a:xfrm>
          <a:prstGeom prst="rect">
            <a:avLst/>
          </a:prstGeom>
          <a:solidFill>
            <a:srgbClr val="FFFFFF"/>
          </a:solidFill>
          <a:ln w="9525">
            <a:solidFill>
              <a:srgbClr val="D0D4DA"/>
            </a:solidFill>
          </a:ln>
          <a:effectLst/>
        </p:spPr>
        <p:txBody>
          <a:bodyPr rtlCol="0" anchor="ctr"/>
          <a:lstStyle/>
          <a:p>
            <a:pPr algn="ctr"/>
            <a:endParaRPr/>
          </a:p>
        </p:txBody>
      </p:sp>
      <p:sp>
        <p:nvSpPr>
          <p:cNvPr id="769" name="TextBox 770"/>
          <p:cNvSpPr txBox="1"/>
          <p:nvPr/>
        </p:nvSpPr>
        <p:spPr>
          <a:xfrm>
            <a:off x="3044952" y="5020056"/>
            <a:ext cx="282549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  wax  →  gelling</a:t>
            </a:r>
          </a:p>
        </p:txBody>
      </p:sp>
      <p:sp>
        <p:nvSpPr>
          <p:cNvPr id="771" name="Rectangle 772"/>
          <p:cNvSpPr/>
          <p:nvPr/>
        </p:nvSpPr>
        <p:spPr>
          <a:xfrm>
            <a:off x="502920" y="5422392"/>
            <a:ext cx="2468880" cy="402336"/>
          </a:xfrm>
          <a:prstGeom prst="rect">
            <a:avLst/>
          </a:prstGeom>
          <a:solidFill>
            <a:srgbClr val="FFFFFF"/>
          </a:solidFill>
          <a:ln w="9525">
            <a:solidFill>
              <a:srgbClr val="D0D4DA"/>
            </a:solidFill>
          </a:ln>
          <a:effectLst/>
        </p:spPr>
        <p:txBody>
          <a:bodyPr rtlCol="0" anchor="ctr"/>
          <a:lstStyle/>
          <a:p>
            <a:pPr algn="ctr"/>
            <a:endParaRPr/>
          </a:p>
        </p:txBody>
      </p:sp>
      <p:sp>
        <p:nvSpPr>
          <p:cNvPr id="773" name="TextBox 774"/>
          <p:cNvSpPr txBox="1"/>
          <p:nvPr/>
        </p:nvSpPr>
        <p:spPr>
          <a:xfrm>
            <a:off x="576072" y="5422392"/>
            <a:ext cx="232257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FAME solvent property</a:t>
            </a:r>
          </a:p>
        </p:txBody>
      </p:sp>
      <p:sp>
        <p:nvSpPr>
          <p:cNvPr id="775" name="Rectangle 776"/>
          <p:cNvSpPr/>
          <p:nvPr/>
        </p:nvSpPr>
        <p:spPr>
          <a:xfrm>
            <a:off x="2971800" y="5422392"/>
            <a:ext cx="2971800" cy="402336"/>
          </a:xfrm>
          <a:prstGeom prst="rect">
            <a:avLst/>
          </a:prstGeom>
          <a:solidFill>
            <a:srgbClr val="FFFFFF"/>
          </a:solidFill>
          <a:ln w="9525">
            <a:solidFill>
              <a:srgbClr val="D0D4DA"/>
            </a:solidFill>
          </a:ln>
          <a:effectLst/>
        </p:spPr>
        <p:txBody>
          <a:bodyPr rtlCol="0" anchor="ctr"/>
          <a:lstStyle/>
          <a:p>
            <a:pPr algn="ctr"/>
            <a:endParaRPr/>
          </a:p>
        </p:txBody>
      </p:sp>
      <p:sp>
        <p:nvSpPr>
          <p:cNvPr id="777" name="TextBox 778"/>
          <p:cNvSpPr txBox="1"/>
          <p:nvPr/>
        </p:nvSpPr>
        <p:spPr>
          <a:xfrm>
            <a:off x="3044952" y="5422392"/>
            <a:ext cx="282549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  material compatibility</a:t>
            </a:r>
          </a:p>
        </p:txBody>
      </p:sp>
      <p:sp>
        <p:nvSpPr>
          <p:cNvPr id="779" name="Rectangle 780"/>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781" name="TextBox 782"/>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Which standards to test against</a:t>
            </a:r>
          </a:p>
        </p:txBody>
      </p:sp>
      <p:sp>
        <p:nvSpPr>
          <p:cNvPr id="783" name="Rectangle 784"/>
          <p:cNvSpPr/>
          <p:nvPr/>
        </p:nvSpPr>
        <p:spPr>
          <a:xfrm>
            <a:off x="6245352" y="1783080"/>
            <a:ext cx="1920240" cy="402336"/>
          </a:xfrm>
          <a:prstGeom prst="rect">
            <a:avLst/>
          </a:prstGeom>
          <a:solidFill>
            <a:srgbClr val="172A4A"/>
          </a:solidFill>
          <a:ln>
            <a:noFill/>
          </a:ln>
          <a:effectLst/>
        </p:spPr>
        <p:txBody>
          <a:bodyPr rtlCol="0" anchor="ctr"/>
          <a:lstStyle/>
          <a:p>
            <a:pPr algn="ctr"/>
            <a:endParaRPr/>
          </a:p>
        </p:txBody>
      </p:sp>
      <p:sp>
        <p:nvSpPr>
          <p:cNvPr id="785" name="TextBox 786"/>
          <p:cNvSpPr txBox="1"/>
          <p:nvPr/>
        </p:nvSpPr>
        <p:spPr>
          <a:xfrm>
            <a:off x="6318504" y="1783080"/>
            <a:ext cx="1773936" cy="402336"/>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Standard</a:t>
            </a:r>
          </a:p>
        </p:txBody>
      </p:sp>
      <p:sp>
        <p:nvSpPr>
          <p:cNvPr id="787" name="Rectangle 788"/>
          <p:cNvSpPr/>
          <p:nvPr/>
        </p:nvSpPr>
        <p:spPr>
          <a:xfrm>
            <a:off x="8165592" y="1783080"/>
            <a:ext cx="3520440" cy="402336"/>
          </a:xfrm>
          <a:prstGeom prst="rect">
            <a:avLst/>
          </a:prstGeom>
          <a:solidFill>
            <a:srgbClr val="172A4A"/>
          </a:solidFill>
          <a:ln>
            <a:noFill/>
          </a:ln>
          <a:effectLst/>
        </p:spPr>
        <p:txBody>
          <a:bodyPr rtlCol="0" anchor="ctr"/>
          <a:lstStyle/>
          <a:p>
            <a:pPr algn="ctr"/>
            <a:endParaRPr/>
          </a:p>
        </p:txBody>
      </p:sp>
      <p:sp>
        <p:nvSpPr>
          <p:cNvPr id="789" name="TextBox 790"/>
          <p:cNvSpPr txBox="1"/>
          <p:nvPr/>
        </p:nvSpPr>
        <p:spPr>
          <a:xfrm>
            <a:off x="8238744" y="1783080"/>
            <a:ext cx="3374136" cy="402336"/>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Role</a:t>
            </a:r>
          </a:p>
        </p:txBody>
      </p:sp>
      <p:sp>
        <p:nvSpPr>
          <p:cNvPr id="791" name="Rectangle 792"/>
          <p:cNvSpPr/>
          <p:nvPr/>
        </p:nvSpPr>
        <p:spPr>
          <a:xfrm>
            <a:off x="6245352" y="2185416"/>
            <a:ext cx="1920240" cy="438912"/>
          </a:xfrm>
          <a:prstGeom prst="rect">
            <a:avLst/>
          </a:prstGeom>
          <a:solidFill>
            <a:srgbClr val="FFFFFF"/>
          </a:solidFill>
          <a:ln w="9525">
            <a:solidFill>
              <a:srgbClr val="D0D4DA"/>
            </a:solidFill>
          </a:ln>
          <a:effectLst/>
        </p:spPr>
        <p:txBody>
          <a:bodyPr rtlCol="0" anchor="ctr"/>
          <a:lstStyle/>
          <a:p>
            <a:pPr algn="ctr"/>
            <a:endParaRPr/>
          </a:p>
        </p:txBody>
      </p:sp>
      <p:sp>
        <p:nvSpPr>
          <p:cNvPr id="793" name="TextBox 794"/>
          <p:cNvSpPr txBox="1"/>
          <p:nvPr/>
        </p:nvSpPr>
        <p:spPr>
          <a:xfrm>
            <a:off x="6318504" y="2185416"/>
            <a:ext cx="1773936" cy="438912"/>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ISO 8217:2024</a:t>
            </a:r>
          </a:p>
        </p:txBody>
      </p:sp>
      <p:sp>
        <p:nvSpPr>
          <p:cNvPr id="795" name="Rectangle 796"/>
          <p:cNvSpPr/>
          <p:nvPr/>
        </p:nvSpPr>
        <p:spPr>
          <a:xfrm>
            <a:off x="8165592" y="2185416"/>
            <a:ext cx="3520440" cy="438912"/>
          </a:xfrm>
          <a:prstGeom prst="rect">
            <a:avLst/>
          </a:prstGeom>
          <a:solidFill>
            <a:srgbClr val="FFFFFF"/>
          </a:solidFill>
          <a:ln w="9525">
            <a:solidFill>
              <a:srgbClr val="D0D4DA"/>
            </a:solidFill>
          </a:ln>
          <a:effectLst/>
        </p:spPr>
        <p:txBody>
          <a:bodyPr rtlCol="0" anchor="ctr"/>
          <a:lstStyle/>
          <a:p>
            <a:pPr algn="ctr"/>
            <a:endParaRPr/>
          </a:p>
        </p:txBody>
      </p:sp>
      <p:sp>
        <p:nvSpPr>
          <p:cNvPr id="797" name="TextBox 798"/>
          <p:cNvSpPr txBox="1"/>
          <p:nvPr/>
        </p:nvSpPr>
        <p:spPr>
          <a:xfrm>
            <a:off x="8238744" y="2185416"/>
            <a:ext cx="3374136" cy="438912"/>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The base specification for marine fuels</a:t>
            </a:r>
          </a:p>
        </p:txBody>
      </p:sp>
      <p:sp>
        <p:nvSpPr>
          <p:cNvPr id="799" name="Rectangle 800"/>
          <p:cNvSpPr/>
          <p:nvPr/>
        </p:nvSpPr>
        <p:spPr>
          <a:xfrm>
            <a:off x="6245352" y="2624328"/>
            <a:ext cx="1920240" cy="438912"/>
          </a:xfrm>
          <a:prstGeom prst="rect">
            <a:avLst/>
          </a:prstGeom>
          <a:solidFill>
            <a:srgbClr val="FFFFFF"/>
          </a:solidFill>
          <a:ln w="9525">
            <a:solidFill>
              <a:srgbClr val="D0D4DA"/>
            </a:solidFill>
          </a:ln>
          <a:effectLst/>
        </p:spPr>
        <p:txBody>
          <a:bodyPr rtlCol="0" anchor="ctr"/>
          <a:lstStyle/>
          <a:p>
            <a:pPr algn="ctr"/>
            <a:endParaRPr/>
          </a:p>
        </p:txBody>
      </p:sp>
      <p:sp>
        <p:nvSpPr>
          <p:cNvPr id="801" name="TextBox 802"/>
          <p:cNvSpPr txBox="1"/>
          <p:nvPr/>
        </p:nvSpPr>
        <p:spPr>
          <a:xfrm>
            <a:off x="6318504" y="2624328"/>
            <a:ext cx="1773936" cy="438912"/>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TR 140:2025</a:t>
            </a:r>
          </a:p>
        </p:txBody>
      </p:sp>
      <p:sp>
        <p:nvSpPr>
          <p:cNvPr id="803" name="Rectangle 804"/>
          <p:cNvSpPr/>
          <p:nvPr/>
        </p:nvSpPr>
        <p:spPr>
          <a:xfrm>
            <a:off x="8165592" y="2624328"/>
            <a:ext cx="3520440" cy="438912"/>
          </a:xfrm>
          <a:prstGeom prst="rect">
            <a:avLst/>
          </a:prstGeom>
          <a:solidFill>
            <a:srgbClr val="FFFFFF"/>
          </a:solidFill>
          <a:ln w="9525">
            <a:solidFill>
              <a:srgbClr val="D0D4DA"/>
            </a:solidFill>
          </a:ln>
          <a:effectLst/>
        </p:spPr>
        <p:txBody>
          <a:bodyPr rtlCol="0" anchor="ctr"/>
          <a:lstStyle/>
          <a:p>
            <a:pPr algn="ctr"/>
            <a:endParaRPr/>
          </a:p>
        </p:txBody>
      </p:sp>
      <p:sp>
        <p:nvSpPr>
          <p:cNvPr id="805" name="TextBox 806"/>
          <p:cNvSpPr txBox="1"/>
          <p:nvPr/>
        </p:nvSpPr>
        <p:spPr>
          <a:xfrm>
            <a:off x="8238744" y="2624328"/>
            <a:ext cx="3374136" cy="438912"/>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Additional parameters for marine biofuel blends</a:t>
            </a:r>
          </a:p>
        </p:txBody>
      </p:sp>
      <p:sp>
        <p:nvSpPr>
          <p:cNvPr id="807" name="Rectangle 808"/>
          <p:cNvSpPr/>
          <p:nvPr/>
        </p:nvSpPr>
        <p:spPr>
          <a:xfrm>
            <a:off x="6245352" y="3063240"/>
            <a:ext cx="1920240" cy="566928"/>
          </a:xfrm>
          <a:prstGeom prst="rect">
            <a:avLst/>
          </a:prstGeom>
          <a:solidFill>
            <a:srgbClr val="FFFFFF"/>
          </a:solidFill>
          <a:ln w="9525">
            <a:solidFill>
              <a:srgbClr val="D0D4DA"/>
            </a:solidFill>
          </a:ln>
          <a:effectLst/>
        </p:spPr>
        <p:txBody>
          <a:bodyPr rtlCol="0" anchor="ctr"/>
          <a:lstStyle/>
          <a:p>
            <a:pPr algn="ctr"/>
            <a:endParaRPr/>
          </a:p>
        </p:txBody>
      </p:sp>
      <p:sp>
        <p:nvSpPr>
          <p:cNvPr id="809" name="TextBox 810"/>
          <p:cNvSpPr txBox="1"/>
          <p:nvPr/>
        </p:nvSpPr>
        <p:spPr>
          <a:xfrm>
            <a:off x="6318504" y="3063240"/>
            <a:ext cx="1773936" cy="566928"/>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EN 14214 / ASTM D6751</a:t>
            </a:r>
          </a:p>
        </p:txBody>
      </p:sp>
      <p:sp>
        <p:nvSpPr>
          <p:cNvPr id="811" name="Rectangle 812"/>
          <p:cNvSpPr/>
          <p:nvPr/>
        </p:nvSpPr>
        <p:spPr>
          <a:xfrm>
            <a:off x="8165592" y="3063240"/>
            <a:ext cx="3520440" cy="566928"/>
          </a:xfrm>
          <a:prstGeom prst="rect">
            <a:avLst/>
          </a:prstGeom>
          <a:solidFill>
            <a:srgbClr val="FFFFFF"/>
          </a:solidFill>
          <a:ln w="9525">
            <a:solidFill>
              <a:srgbClr val="D0D4DA"/>
            </a:solidFill>
          </a:ln>
          <a:effectLst/>
        </p:spPr>
        <p:txBody>
          <a:bodyPr rtlCol="0" anchor="ctr"/>
          <a:lstStyle/>
          <a:p>
            <a:pPr algn="ctr"/>
            <a:endParaRPr/>
          </a:p>
        </p:txBody>
      </p:sp>
      <p:sp>
        <p:nvSpPr>
          <p:cNvPr id="813" name="TextBox 814"/>
          <p:cNvSpPr txBox="1"/>
          <p:nvPr/>
        </p:nvSpPr>
        <p:spPr>
          <a:xfrm>
            <a:off x="8238744" y="3063240"/>
            <a:ext cx="3374136" cy="566928"/>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The FAME component (sulphur, cloud point and CFPP aside)</a:t>
            </a:r>
          </a:p>
        </p:txBody>
      </p:sp>
      <p:sp>
        <p:nvSpPr>
          <p:cNvPr id="815" name="Rectangle 816"/>
          <p:cNvSpPr/>
          <p:nvPr/>
        </p:nvSpPr>
        <p:spPr>
          <a:xfrm>
            <a:off x="6245352" y="3749040"/>
            <a:ext cx="5440680" cy="329184"/>
          </a:xfrm>
          <a:prstGeom prst="rect">
            <a:avLst/>
          </a:prstGeom>
          <a:solidFill>
            <a:srgbClr val="EFEFEF"/>
          </a:solidFill>
          <a:ln>
            <a:noFill/>
          </a:ln>
          <a:effectLst/>
        </p:spPr>
        <p:txBody>
          <a:bodyPr rtlCol="0" anchor="ctr"/>
          <a:lstStyle/>
          <a:p>
            <a:pPr algn="ctr"/>
            <a:endParaRPr/>
          </a:p>
        </p:txBody>
      </p:sp>
      <p:sp>
        <p:nvSpPr>
          <p:cNvPr id="817" name="TextBox 818"/>
          <p:cNvSpPr txBox="1"/>
          <p:nvPr/>
        </p:nvSpPr>
        <p:spPr>
          <a:xfrm>
            <a:off x="6355080" y="374904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And one test worth adding</a:t>
            </a:r>
          </a:p>
        </p:txBody>
      </p:sp>
      <p:sp>
        <p:nvSpPr>
          <p:cNvPr id="819" name="TextBox 820"/>
          <p:cNvSpPr txBox="1"/>
          <p:nvPr/>
        </p:nvSpPr>
        <p:spPr>
          <a:xfrm>
            <a:off x="6245352" y="4206240"/>
            <a:ext cx="5440680" cy="146304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Iodine value measures unsaturation — the double bonds in the fatty acid chains. More unsaturation means faster oxidation, more polymerisation into gums and sediments, and poorer storage stability.</a:t>
            </a:r>
          </a:p>
          <a:p>
            <a:pPr algn="l">
              <a:lnSpc>
                <a:spcPct val="125000"/>
              </a:lnSpc>
              <a:spcAft>
                <a:spcPts val="0"/>
              </a:spcAft>
            </a:pPr>
            <a:r>
              <a:rPr sz="1200" b="1">
                <a:solidFill>
                  <a:srgbClr val="172A4A"/>
                </a:solidFill>
                <a:latin typeface="Calibri"/>
                <a:ea typeface="맑은 고딕"/>
                <a:cs typeface="Calibri"/>
              </a:rPr>
              <a:t>It is the cheapest early warning available on a bio blend.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 name="Rectangle 822"/>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823" name="TextBox 824"/>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Commercial — The Premium and the PoS</a:t>
            </a:r>
          </a:p>
        </p:txBody>
      </p:sp>
      <p:sp>
        <p:nvSpPr>
          <p:cNvPr id="825" name="Rectangle 826"/>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827" name="TextBox 828"/>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Pricing through 2024–25</a:t>
            </a:r>
          </a:p>
        </p:txBody>
      </p:sp>
      <p:sp>
        <p:nvSpPr>
          <p:cNvPr id="829" name="Rectangle 830"/>
          <p:cNvSpPr/>
          <p:nvPr/>
        </p:nvSpPr>
        <p:spPr>
          <a:xfrm>
            <a:off x="502920" y="1783080"/>
            <a:ext cx="2880360" cy="402336"/>
          </a:xfrm>
          <a:prstGeom prst="rect">
            <a:avLst/>
          </a:prstGeom>
          <a:solidFill>
            <a:srgbClr val="172A4A"/>
          </a:solidFill>
          <a:ln>
            <a:noFill/>
          </a:ln>
          <a:effectLst/>
        </p:spPr>
        <p:txBody>
          <a:bodyPr rtlCol="0" anchor="ctr"/>
          <a:lstStyle/>
          <a:p>
            <a:pPr algn="ctr"/>
            <a:endParaRPr/>
          </a:p>
        </p:txBody>
      </p:sp>
      <p:sp>
        <p:nvSpPr>
          <p:cNvPr id="831" name="TextBox 832"/>
          <p:cNvSpPr txBox="1"/>
          <p:nvPr/>
        </p:nvSpPr>
        <p:spPr>
          <a:xfrm>
            <a:off x="576072" y="1783080"/>
            <a:ext cx="2734056" cy="402336"/>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Measure</a:t>
            </a:r>
          </a:p>
        </p:txBody>
      </p:sp>
      <p:sp>
        <p:nvSpPr>
          <p:cNvPr id="833" name="Rectangle 834"/>
          <p:cNvSpPr/>
          <p:nvPr/>
        </p:nvSpPr>
        <p:spPr>
          <a:xfrm>
            <a:off x="3383280" y="1783080"/>
            <a:ext cx="2560320" cy="402336"/>
          </a:xfrm>
          <a:prstGeom prst="rect">
            <a:avLst/>
          </a:prstGeom>
          <a:solidFill>
            <a:srgbClr val="172A4A"/>
          </a:solidFill>
          <a:ln>
            <a:noFill/>
          </a:ln>
          <a:effectLst/>
        </p:spPr>
        <p:txBody>
          <a:bodyPr rtlCol="0" anchor="ctr"/>
          <a:lstStyle/>
          <a:p>
            <a:pPr algn="ctr"/>
            <a:endParaRPr/>
          </a:p>
        </p:txBody>
      </p:sp>
      <p:sp>
        <p:nvSpPr>
          <p:cNvPr id="835" name="TextBox 836"/>
          <p:cNvSpPr txBox="1"/>
          <p:nvPr/>
        </p:nvSpPr>
        <p:spPr>
          <a:xfrm>
            <a:off x="3456432" y="1783080"/>
            <a:ext cx="2414016" cy="402336"/>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Level</a:t>
            </a:r>
          </a:p>
        </p:txBody>
      </p:sp>
      <p:sp>
        <p:nvSpPr>
          <p:cNvPr id="837" name="Rectangle 838"/>
          <p:cNvSpPr/>
          <p:nvPr/>
        </p:nvSpPr>
        <p:spPr>
          <a:xfrm>
            <a:off x="502920" y="2185416"/>
            <a:ext cx="2880360" cy="512064"/>
          </a:xfrm>
          <a:prstGeom prst="rect">
            <a:avLst/>
          </a:prstGeom>
          <a:solidFill>
            <a:srgbClr val="FFFFFF"/>
          </a:solidFill>
          <a:ln w="9525">
            <a:solidFill>
              <a:srgbClr val="D0D4DA"/>
            </a:solidFill>
          </a:ln>
          <a:effectLst/>
        </p:spPr>
        <p:txBody>
          <a:bodyPr rtlCol="0" anchor="ctr"/>
          <a:lstStyle/>
          <a:p>
            <a:pPr algn="ctr"/>
            <a:endParaRPr/>
          </a:p>
        </p:txBody>
      </p:sp>
      <p:sp>
        <p:nvSpPr>
          <p:cNvPr id="839" name="TextBox 840"/>
          <p:cNvSpPr txBox="1"/>
          <p:nvPr/>
        </p:nvSpPr>
        <p:spPr>
          <a:xfrm>
            <a:off x="576072" y="2185416"/>
            <a:ext cx="2734056" cy="51206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B24 / B30 premium over cargo prices</a:t>
            </a:r>
          </a:p>
        </p:txBody>
      </p:sp>
      <p:sp>
        <p:nvSpPr>
          <p:cNvPr id="841" name="Rectangle 842"/>
          <p:cNvSpPr/>
          <p:nvPr/>
        </p:nvSpPr>
        <p:spPr>
          <a:xfrm>
            <a:off x="3383280" y="2185416"/>
            <a:ext cx="2560320" cy="512064"/>
          </a:xfrm>
          <a:prstGeom prst="rect">
            <a:avLst/>
          </a:prstGeom>
          <a:solidFill>
            <a:srgbClr val="FFFFFF"/>
          </a:solidFill>
          <a:ln w="9525">
            <a:solidFill>
              <a:srgbClr val="D0D4DA"/>
            </a:solidFill>
          </a:ln>
          <a:effectLst/>
        </p:spPr>
        <p:txBody>
          <a:bodyPr rtlCol="0" anchor="ctr"/>
          <a:lstStyle/>
          <a:p>
            <a:pPr algn="ctr"/>
            <a:endParaRPr/>
          </a:p>
        </p:txBody>
      </p:sp>
      <p:sp>
        <p:nvSpPr>
          <p:cNvPr id="843" name="TextBox 844"/>
          <p:cNvSpPr txBox="1"/>
          <p:nvPr/>
        </p:nvSpPr>
        <p:spPr>
          <a:xfrm>
            <a:off x="3456432" y="2185416"/>
            <a:ext cx="2414016" cy="512064"/>
          </a:xfrm>
          <a:prstGeom prst="rect">
            <a:avLst/>
          </a:prstGeom>
          <a:noFill/>
        </p:spPr>
        <p:txBody>
          <a:bodyPr wrap="square" lIns="36576" tIns="0" rIns="36576" bIns="0" anchor="ctr"/>
          <a:lstStyle/>
          <a:p>
            <a:pPr algn="l">
              <a:lnSpc>
                <a:spcPct val="110000"/>
              </a:lnSpc>
              <a:spcAft>
                <a:spcPts val="0"/>
              </a:spcAft>
            </a:pPr>
            <a:r>
              <a:rPr sz="1150" b="1">
                <a:solidFill>
                  <a:srgbClr val="1F6F3D"/>
                </a:solidFill>
                <a:latin typeface="Calibri"/>
                <a:ea typeface="맑은 고딕"/>
                <a:cs typeface="Calibri"/>
              </a:rPr>
              <a:t>low to mid USD 200/t</a:t>
            </a:r>
          </a:p>
        </p:txBody>
      </p:sp>
      <p:sp>
        <p:nvSpPr>
          <p:cNvPr id="845" name="Rectangle 846"/>
          <p:cNvSpPr/>
          <p:nvPr/>
        </p:nvSpPr>
        <p:spPr>
          <a:xfrm>
            <a:off x="502920" y="2697480"/>
            <a:ext cx="2880360" cy="402336"/>
          </a:xfrm>
          <a:prstGeom prst="rect">
            <a:avLst/>
          </a:prstGeom>
          <a:solidFill>
            <a:srgbClr val="FFFFFF"/>
          </a:solidFill>
          <a:ln w="9525">
            <a:solidFill>
              <a:srgbClr val="D0D4DA"/>
            </a:solidFill>
          </a:ln>
          <a:effectLst/>
        </p:spPr>
        <p:txBody>
          <a:bodyPr rtlCol="0" anchor="ctr"/>
          <a:lstStyle/>
          <a:p>
            <a:pPr algn="ctr"/>
            <a:endParaRPr/>
          </a:p>
        </p:txBody>
      </p:sp>
      <p:sp>
        <p:nvSpPr>
          <p:cNvPr id="847" name="TextBox 848"/>
          <p:cNvSpPr txBox="1"/>
          <p:nvPr/>
        </p:nvSpPr>
        <p:spPr>
          <a:xfrm>
            <a:off x="576072" y="2697480"/>
            <a:ext cx="273405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Where it held firmest</a:t>
            </a:r>
          </a:p>
        </p:txBody>
      </p:sp>
      <p:sp>
        <p:nvSpPr>
          <p:cNvPr id="849" name="Rectangle 850"/>
          <p:cNvSpPr/>
          <p:nvPr/>
        </p:nvSpPr>
        <p:spPr>
          <a:xfrm>
            <a:off x="3383280" y="2697480"/>
            <a:ext cx="2560320" cy="402336"/>
          </a:xfrm>
          <a:prstGeom prst="rect">
            <a:avLst/>
          </a:prstGeom>
          <a:solidFill>
            <a:srgbClr val="FFFFFF"/>
          </a:solidFill>
          <a:ln w="9525">
            <a:solidFill>
              <a:srgbClr val="D0D4DA"/>
            </a:solidFill>
          </a:ln>
          <a:effectLst/>
        </p:spPr>
        <p:txBody>
          <a:bodyPr rtlCol="0" anchor="ctr"/>
          <a:lstStyle/>
          <a:p>
            <a:pPr algn="ctr"/>
            <a:endParaRPr/>
          </a:p>
        </p:txBody>
      </p:sp>
      <p:sp>
        <p:nvSpPr>
          <p:cNvPr id="851" name="TextBox 852"/>
          <p:cNvSpPr txBox="1"/>
          <p:nvPr/>
        </p:nvSpPr>
        <p:spPr>
          <a:xfrm>
            <a:off x="3456432" y="2697480"/>
            <a:ext cx="241401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Singapore</a:t>
            </a:r>
          </a:p>
        </p:txBody>
      </p:sp>
      <p:sp>
        <p:nvSpPr>
          <p:cNvPr id="853" name="Rectangle 854"/>
          <p:cNvSpPr/>
          <p:nvPr/>
        </p:nvSpPr>
        <p:spPr>
          <a:xfrm>
            <a:off x="502920" y="3099816"/>
            <a:ext cx="2880360" cy="512064"/>
          </a:xfrm>
          <a:prstGeom prst="rect">
            <a:avLst/>
          </a:prstGeom>
          <a:solidFill>
            <a:srgbClr val="FFFFFF"/>
          </a:solidFill>
          <a:ln w="9525">
            <a:solidFill>
              <a:srgbClr val="D0D4DA"/>
            </a:solidFill>
          </a:ln>
          <a:effectLst/>
        </p:spPr>
        <p:txBody>
          <a:bodyPr rtlCol="0" anchor="ctr"/>
          <a:lstStyle/>
          <a:p>
            <a:pPr algn="ctr"/>
            <a:endParaRPr/>
          </a:p>
        </p:txBody>
      </p:sp>
      <p:sp>
        <p:nvSpPr>
          <p:cNvPr id="855" name="TextBox 856"/>
          <p:cNvSpPr txBox="1"/>
          <p:nvPr/>
        </p:nvSpPr>
        <p:spPr>
          <a:xfrm>
            <a:off x="576072" y="3099816"/>
            <a:ext cx="2734056" cy="51206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What blend prices track</a:t>
            </a:r>
          </a:p>
        </p:txBody>
      </p:sp>
      <p:sp>
        <p:nvSpPr>
          <p:cNvPr id="857" name="Rectangle 858"/>
          <p:cNvSpPr/>
          <p:nvPr/>
        </p:nvSpPr>
        <p:spPr>
          <a:xfrm>
            <a:off x="3383280" y="3099816"/>
            <a:ext cx="2560320" cy="512064"/>
          </a:xfrm>
          <a:prstGeom prst="rect">
            <a:avLst/>
          </a:prstGeom>
          <a:solidFill>
            <a:srgbClr val="FFFFFF"/>
          </a:solidFill>
          <a:ln w="9525">
            <a:solidFill>
              <a:srgbClr val="D0D4DA"/>
            </a:solidFill>
          </a:ln>
          <a:effectLst/>
        </p:spPr>
        <p:txBody>
          <a:bodyPr rtlCol="0" anchor="ctr"/>
          <a:lstStyle/>
          <a:p>
            <a:pPr algn="ctr"/>
            <a:endParaRPr/>
          </a:p>
        </p:txBody>
      </p:sp>
      <p:sp>
        <p:nvSpPr>
          <p:cNvPr id="859" name="TextBox 860"/>
          <p:cNvSpPr txBox="1"/>
          <p:nvPr/>
        </p:nvSpPr>
        <p:spPr>
          <a:xfrm>
            <a:off x="3456432" y="3099816"/>
            <a:ext cx="2414016" cy="51206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Crude and VLSFO, not bio fundamentals</a:t>
            </a:r>
          </a:p>
        </p:txBody>
      </p:sp>
      <p:sp>
        <p:nvSpPr>
          <p:cNvPr id="861" name="TextBox 862"/>
          <p:cNvSpPr txBox="1"/>
          <p:nvPr/>
        </p:nvSpPr>
        <p:spPr>
          <a:xfrm>
            <a:off x="502920" y="3703320"/>
            <a:ext cx="5440680" cy="146304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The premium held because the buyers were owners with EU compliance exposure. Purchasing was driven by regulatory need rather than arbitrage, so suppliers kept delivered premiums even when bunker demand softened.</a:t>
            </a:r>
          </a:p>
          <a:p>
            <a:pPr algn="l">
              <a:lnSpc>
                <a:spcPct val="125000"/>
              </a:lnSpc>
              <a:spcAft>
                <a:spcPts val="0"/>
              </a:spcAft>
            </a:pPr>
            <a:r>
              <a:rPr sz="1200" b="1">
                <a:solidFill>
                  <a:srgbClr val="172A4A"/>
                </a:solidFill>
                <a:latin typeface="Calibri"/>
                <a:ea typeface="맑은 고딕"/>
                <a:cs typeface="Calibri"/>
              </a:rPr>
              <a:t>Corrections showed up as narrower premiums, not as falling prices.</a:t>
            </a:r>
          </a:p>
        </p:txBody>
      </p:sp>
      <p:sp>
        <p:nvSpPr>
          <p:cNvPr id="863" name="Rectangle 864"/>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865" name="TextBox 866"/>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The PoS does not arrive with the BDN</a:t>
            </a:r>
          </a:p>
        </p:txBody>
      </p:sp>
      <p:sp>
        <p:nvSpPr>
          <p:cNvPr id="867" name="Rectangle 868"/>
          <p:cNvSpPr/>
          <p:nvPr/>
        </p:nvSpPr>
        <p:spPr>
          <a:xfrm>
            <a:off x="6245352" y="1783080"/>
            <a:ext cx="2651760" cy="402336"/>
          </a:xfrm>
          <a:prstGeom prst="rect">
            <a:avLst/>
          </a:prstGeom>
          <a:solidFill>
            <a:srgbClr val="172A4A"/>
          </a:solidFill>
          <a:ln>
            <a:noFill/>
          </a:ln>
          <a:effectLst/>
        </p:spPr>
        <p:txBody>
          <a:bodyPr rtlCol="0" anchor="ctr"/>
          <a:lstStyle/>
          <a:p>
            <a:pPr algn="ctr"/>
            <a:endParaRPr/>
          </a:p>
        </p:txBody>
      </p:sp>
      <p:sp>
        <p:nvSpPr>
          <p:cNvPr id="869" name="TextBox 870"/>
          <p:cNvSpPr txBox="1"/>
          <p:nvPr/>
        </p:nvSpPr>
        <p:spPr>
          <a:xfrm>
            <a:off x="6318504" y="1783080"/>
            <a:ext cx="2505456" cy="402336"/>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Point</a:t>
            </a:r>
          </a:p>
        </p:txBody>
      </p:sp>
      <p:sp>
        <p:nvSpPr>
          <p:cNvPr id="871" name="Rectangle 872"/>
          <p:cNvSpPr/>
          <p:nvPr/>
        </p:nvSpPr>
        <p:spPr>
          <a:xfrm>
            <a:off x="8897112" y="1783080"/>
            <a:ext cx="2788920" cy="402336"/>
          </a:xfrm>
          <a:prstGeom prst="rect">
            <a:avLst/>
          </a:prstGeom>
          <a:solidFill>
            <a:srgbClr val="172A4A"/>
          </a:solidFill>
          <a:ln>
            <a:noFill/>
          </a:ln>
          <a:effectLst/>
        </p:spPr>
        <p:txBody>
          <a:bodyPr rtlCol="0" anchor="ctr"/>
          <a:lstStyle/>
          <a:p>
            <a:pPr algn="ctr"/>
            <a:endParaRPr/>
          </a:p>
        </p:txBody>
      </p:sp>
      <p:sp>
        <p:nvSpPr>
          <p:cNvPr id="873" name="TextBox 874"/>
          <p:cNvSpPr txBox="1"/>
          <p:nvPr/>
        </p:nvSpPr>
        <p:spPr>
          <a:xfrm>
            <a:off x="8970264" y="1783080"/>
            <a:ext cx="2642616" cy="402336"/>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What to expect</a:t>
            </a:r>
          </a:p>
        </p:txBody>
      </p:sp>
      <p:sp>
        <p:nvSpPr>
          <p:cNvPr id="875" name="Rectangle 876"/>
          <p:cNvSpPr/>
          <p:nvPr/>
        </p:nvSpPr>
        <p:spPr>
          <a:xfrm>
            <a:off x="6245352" y="2185416"/>
            <a:ext cx="2651760" cy="438912"/>
          </a:xfrm>
          <a:prstGeom prst="rect">
            <a:avLst/>
          </a:prstGeom>
          <a:solidFill>
            <a:srgbClr val="FFFFFF"/>
          </a:solidFill>
          <a:ln w="9525">
            <a:solidFill>
              <a:srgbClr val="D0D4DA"/>
            </a:solidFill>
          </a:ln>
          <a:effectLst/>
        </p:spPr>
        <p:txBody>
          <a:bodyPr rtlCol="0" anchor="ctr"/>
          <a:lstStyle/>
          <a:p>
            <a:pPr algn="ctr"/>
            <a:endParaRPr/>
          </a:p>
        </p:txBody>
      </p:sp>
      <p:sp>
        <p:nvSpPr>
          <p:cNvPr id="877" name="TextBox 878"/>
          <p:cNvSpPr txBox="1"/>
          <p:nvPr/>
        </p:nvSpPr>
        <p:spPr>
          <a:xfrm>
            <a:off x="6318504" y="2185416"/>
            <a:ext cx="2505456" cy="438912"/>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Issued on delivery?</a:t>
            </a:r>
          </a:p>
        </p:txBody>
      </p:sp>
      <p:sp>
        <p:nvSpPr>
          <p:cNvPr id="879" name="Rectangle 880"/>
          <p:cNvSpPr/>
          <p:nvPr/>
        </p:nvSpPr>
        <p:spPr>
          <a:xfrm>
            <a:off x="8897112" y="2185416"/>
            <a:ext cx="2788920" cy="438912"/>
          </a:xfrm>
          <a:prstGeom prst="rect">
            <a:avLst/>
          </a:prstGeom>
          <a:solidFill>
            <a:srgbClr val="FFFFFF"/>
          </a:solidFill>
          <a:ln w="9525">
            <a:solidFill>
              <a:srgbClr val="D0D4DA"/>
            </a:solidFill>
          </a:ln>
          <a:effectLst/>
        </p:spPr>
        <p:txBody>
          <a:bodyPr rtlCol="0" anchor="ctr"/>
          <a:lstStyle/>
          <a:p>
            <a:pPr algn="ctr"/>
            <a:endParaRPr/>
          </a:p>
        </p:txBody>
      </p:sp>
      <p:sp>
        <p:nvSpPr>
          <p:cNvPr id="881" name="TextBox 882"/>
          <p:cNvSpPr txBox="1"/>
          <p:nvPr/>
        </p:nvSpPr>
        <p:spPr>
          <a:xfrm>
            <a:off x="8970264" y="2185416"/>
            <a:ext cx="2642616" cy="438912"/>
          </a:xfrm>
          <a:prstGeom prst="rect">
            <a:avLst/>
          </a:prstGeom>
          <a:noFill/>
        </p:spPr>
        <p:txBody>
          <a:bodyPr wrap="square" lIns="36576" tIns="0" rIns="36576" bIns="0" anchor="ctr"/>
          <a:lstStyle/>
          <a:p>
            <a:pPr algn="l">
              <a:lnSpc>
                <a:spcPct val="110000"/>
              </a:lnSpc>
              <a:spcAft>
                <a:spcPts val="0"/>
              </a:spcAft>
            </a:pPr>
            <a:r>
              <a:rPr sz="1150" b="1">
                <a:solidFill>
                  <a:srgbClr val="C00000"/>
                </a:solidFill>
                <a:latin typeface="Calibri"/>
                <a:ea typeface="맑은 고딕"/>
                <a:cs typeface="Calibri"/>
              </a:rPr>
              <a:t>No — the BDN is, the PoS is not</a:t>
            </a:r>
          </a:p>
        </p:txBody>
      </p:sp>
      <p:sp>
        <p:nvSpPr>
          <p:cNvPr id="883" name="Rectangle 884"/>
          <p:cNvSpPr/>
          <p:nvPr/>
        </p:nvSpPr>
        <p:spPr>
          <a:xfrm>
            <a:off x="6245352" y="2624328"/>
            <a:ext cx="2651760" cy="438912"/>
          </a:xfrm>
          <a:prstGeom prst="rect">
            <a:avLst/>
          </a:prstGeom>
          <a:solidFill>
            <a:srgbClr val="FFFFFF"/>
          </a:solidFill>
          <a:ln w="9525">
            <a:solidFill>
              <a:srgbClr val="D0D4DA"/>
            </a:solidFill>
          </a:ln>
          <a:effectLst/>
        </p:spPr>
        <p:txBody>
          <a:bodyPr rtlCol="0" anchor="ctr"/>
          <a:lstStyle/>
          <a:p>
            <a:pPr algn="ctr"/>
            <a:endParaRPr/>
          </a:p>
        </p:txBody>
      </p:sp>
      <p:sp>
        <p:nvSpPr>
          <p:cNvPr id="885" name="TextBox 886"/>
          <p:cNvSpPr txBox="1"/>
          <p:nvPr/>
        </p:nvSpPr>
        <p:spPr>
          <a:xfrm>
            <a:off x="6318504" y="2624328"/>
            <a:ext cx="2505456" cy="438912"/>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Typical lead time</a:t>
            </a:r>
          </a:p>
        </p:txBody>
      </p:sp>
      <p:sp>
        <p:nvSpPr>
          <p:cNvPr id="887" name="Rectangle 888"/>
          <p:cNvSpPr/>
          <p:nvPr/>
        </p:nvSpPr>
        <p:spPr>
          <a:xfrm>
            <a:off x="8897112" y="2624328"/>
            <a:ext cx="2788920" cy="438912"/>
          </a:xfrm>
          <a:prstGeom prst="rect">
            <a:avLst/>
          </a:prstGeom>
          <a:solidFill>
            <a:srgbClr val="FFFFFF"/>
          </a:solidFill>
          <a:ln w="9525">
            <a:solidFill>
              <a:srgbClr val="D0D4DA"/>
            </a:solidFill>
          </a:ln>
          <a:effectLst/>
        </p:spPr>
        <p:txBody>
          <a:bodyPr rtlCol="0" anchor="ctr"/>
          <a:lstStyle/>
          <a:p>
            <a:pPr algn="ctr"/>
            <a:endParaRPr/>
          </a:p>
        </p:txBody>
      </p:sp>
      <p:sp>
        <p:nvSpPr>
          <p:cNvPr id="889" name="TextBox 890"/>
          <p:cNvSpPr txBox="1"/>
          <p:nvPr/>
        </p:nvSpPr>
        <p:spPr>
          <a:xfrm>
            <a:off x="8970264" y="2624328"/>
            <a:ext cx="2642616" cy="438912"/>
          </a:xfrm>
          <a:prstGeom prst="rect">
            <a:avLst/>
          </a:prstGeom>
          <a:noFill/>
        </p:spPr>
        <p:txBody>
          <a:bodyPr wrap="square" lIns="36576" tIns="0" rIns="36576" bIns="0" anchor="ctr"/>
          <a:lstStyle/>
          <a:p>
            <a:pPr algn="l">
              <a:lnSpc>
                <a:spcPct val="110000"/>
              </a:lnSpc>
              <a:spcAft>
                <a:spcPts val="0"/>
              </a:spcAft>
            </a:pPr>
            <a:r>
              <a:rPr sz="1150" b="1">
                <a:solidFill>
                  <a:srgbClr val="C00000"/>
                </a:solidFill>
                <a:latin typeface="Calibri"/>
                <a:ea typeface="맑은 고딕"/>
                <a:cs typeface="Calibri"/>
              </a:rPr>
              <a:t>about 30 days for a new batch</a:t>
            </a:r>
          </a:p>
        </p:txBody>
      </p:sp>
      <p:sp>
        <p:nvSpPr>
          <p:cNvPr id="891" name="Rectangle 892"/>
          <p:cNvSpPr/>
          <p:nvPr/>
        </p:nvSpPr>
        <p:spPr>
          <a:xfrm>
            <a:off x="6245352" y="3063240"/>
            <a:ext cx="2651760" cy="438912"/>
          </a:xfrm>
          <a:prstGeom prst="rect">
            <a:avLst/>
          </a:prstGeom>
          <a:solidFill>
            <a:srgbClr val="FFFFFF"/>
          </a:solidFill>
          <a:ln w="9525">
            <a:solidFill>
              <a:srgbClr val="D0D4DA"/>
            </a:solidFill>
          </a:ln>
          <a:effectLst/>
        </p:spPr>
        <p:txBody>
          <a:bodyPr rtlCol="0" anchor="ctr"/>
          <a:lstStyle/>
          <a:p>
            <a:pPr algn="ctr"/>
            <a:endParaRPr/>
          </a:p>
        </p:txBody>
      </p:sp>
      <p:sp>
        <p:nvSpPr>
          <p:cNvPr id="893" name="TextBox 894"/>
          <p:cNvSpPr txBox="1"/>
          <p:nvPr/>
        </p:nvSpPr>
        <p:spPr>
          <a:xfrm>
            <a:off x="6318504" y="3063240"/>
            <a:ext cx="2505456" cy="438912"/>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Repeat lifts</a:t>
            </a:r>
          </a:p>
        </p:txBody>
      </p:sp>
      <p:sp>
        <p:nvSpPr>
          <p:cNvPr id="895" name="Rectangle 896"/>
          <p:cNvSpPr/>
          <p:nvPr/>
        </p:nvSpPr>
        <p:spPr>
          <a:xfrm>
            <a:off x="8897112" y="3063240"/>
            <a:ext cx="2788920" cy="438912"/>
          </a:xfrm>
          <a:prstGeom prst="rect">
            <a:avLst/>
          </a:prstGeom>
          <a:solidFill>
            <a:srgbClr val="FFFFFF"/>
          </a:solidFill>
          <a:ln w="9525">
            <a:solidFill>
              <a:srgbClr val="D0D4DA"/>
            </a:solidFill>
          </a:ln>
          <a:effectLst/>
        </p:spPr>
        <p:txBody>
          <a:bodyPr rtlCol="0" anchor="ctr"/>
          <a:lstStyle/>
          <a:p>
            <a:pPr algn="ctr"/>
            <a:endParaRPr/>
          </a:p>
        </p:txBody>
      </p:sp>
      <p:sp>
        <p:nvSpPr>
          <p:cNvPr id="897" name="TextBox 898"/>
          <p:cNvSpPr txBox="1"/>
          <p:nvPr/>
        </p:nvSpPr>
        <p:spPr>
          <a:xfrm>
            <a:off x="8970264" y="3063240"/>
            <a:ext cx="2642616" cy="438912"/>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Faster, from the same feedstock batch</a:t>
            </a:r>
          </a:p>
        </p:txBody>
      </p:sp>
      <p:sp>
        <p:nvSpPr>
          <p:cNvPr id="899" name="Rectangle 900"/>
          <p:cNvSpPr/>
          <p:nvPr/>
        </p:nvSpPr>
        <p:spPr>
          <a:xfrm>
            <a:off x="6245352" y="3502152"/>
            <a:ext cx="2651760" cy="402336"/>
          </a:xfrm>
          <a:prstGeom prst="rect">
            <a:avLst/>
          </a:prstGeom>
          <a:solidFill>
            <a:srgbClr val="FFFFFF"/>
          </a:solidFill>
          <a:ln w="9525">
            <a:solidFill>
              <a:srgbClr val="D0D4DA"/>
            </a:solidFill>
          </a:ln>
          <a:effectLst/>
        </p:spPr>
        <p:txBody>
          <a:bodyPr rtlCol="0" anchor="ctr"/>
          <a:lstStyle/>
          <a:p>
            <a:pPr algn="ctr"/>
            <a:endParaRPr/>
          </a:p>
        </p:txBody>
      </p:sp>
      <p:sp>
        <p:nvSpPr>
          <p:cNvPr id="901" name="TextBox 902"/>
          <p:cNvSpPr txBox="1"/>
          <p:nvPr/>
        </p:nvSpPr>
        <p:spPr>
          <a:xfrm>
            <a:off x="6318504" y="3502152"/>
            <a:ext cx="250545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One delivery</a:t>
            </a:r>
          </a:p>
        </p:txBody>
      </p:sp>
      <p:sp>
        <p:nvSpPr>
          <p:cNvPr id="903" name="Rectangle 904"/>
          <p:cNvSpPr/>
          <p:nvPr/>
        </p:nvSpPr>
        <p:spPr>
          <a:xfrm>
            <a:off x="8897112" y="3502152"/>
            <a:ext cx="2788920" cy="402336"/>
          </a:xfrm>
          <a:prstGeom prst="rect">
            <a:avLst/>
          </a:prstGeom>
          <a:solidFill>
            <a:srgbClr val="FFFFFF"/>
          </a:solidFill>
          <a:ln w="9525">
            <a:solidFill>
              <a:srgbClr val="D0D4DA"/>
            </a:solidFill>
          </a:ln>
          <a:effectLst/>
        </p:spPr>
        <p:txBody>
          <a:bodyPr rtlCol="0" anchor="ctr"/>
          <a:lstStyle/>
          <a:p>
            <a:pPr algn="ctr"/>
            <a:endParaRPr/>
          </a:p>
        </p:txBody>
      </p:sp>
      <p:sp>
        <p:nvSpPr>
          <p:cNvPr id="905" name="TextBox 906"/>
          <p:cNvSpPr txBox="1"/>
          <p:nvPr/>
        </p:nvSpPr>
        <p:spPr>
          <a:xfrm>
            <a:off x="8970264" y="3502152"/>
            <a:ext cx="264261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Can carry more than one PoS</a:t>
            </a:r>
          </a:p>
        </p:txBody>
      </p:sp>
      <p:sp>
        <p:nvSpPr>
          <p:cNvPr id="907" name="TextBox 908"/>
          <p:cNvSpPr txBox="1"/>
          <p:nvPr/>
        </p:nvSpPr>
        <p:spPr>
          <a:xfrm>
            <a:off x="6245352" y="3931920"/>
            <a:ext cx="5440680" cy="1280160"/>
          </a:xfrm>
          <a:prstGeom prst="rect">
            <a:avLst/>
          </a:prstGeom>
          <a:noFill/>
        </p:spPr>
        <p:txBody>
          <a:bodyPr wrap="square" lIns="36576" tIns="0" rIns="36576" bIns="0" anchor="t"/>
          <a:lstStyle/>
          <a:p>
            <a:pPr algn="l">
              <a:lnSpc>
                <a:spcPct val="125000"/>
              </a:lnSpc>
              <a:spcAft>
                <a:spcPts val="0"/>
              </a:spcAft>
            </a:pPr>
            <a:r>
              <a:rPr sz="1200" b="0">
                <a:solidFill>
                  <a:srgbClr val="1A1A1A"/>
                </a:solidFill>
                <a:latin typeface="Calibri"/>
                <a:ea typeface="맑은 고딕"/>
                <a:cs typeface="Calibri"/>
              </a:rPr>
              <a:t>The supplier has to calculate the quantity allocation across the chain, and internal compliance checks, approval steps and any traders in between all add time. Quantity is normally allocated against the BDN figure.</a:t>
            </a:r>
          </a:p>
        </p:txBody>
      </p:sp>
      <p:sp>
        <p:nvSpPr>
          <p:cNvPr id="909" name="Rectangle 910"/>
          <p:cNvSpPr/>
          <p:nvPr/>
        </p:nvSpPr>
        <p:spPr>
          <a:xfrm>
            <a:off x="6245352" y="5349240"/>
            <a:ext cx="5440680" cy="566928"/>
          </a:xfrm>
          <a:prstGeom prst="rect">
            <a:avLst/>
          </a:prstGeom>
          <a:solidFill>
            <a:srgbClr val="EFEFEF"/>
          </a:solidFill>
          <a:ln>
            <a:noFill/>
          </a:ln>
          <a:effectLst/>
        </p:spPr>
        <p:txBody>
          <a:bodyPr rtlCol="0" anchor="ctr"/>
          <a:lstStyle/>
          <a:p>
            <a:pPr algn="ctr"/>
            <a:endParaRPr/>
          </a:p>
        </p:txBody>
      </p:sp>
      <p:sp>
        <p:nvSpPr>
          <p:cNvPr id="911" name="TextBox 912"/>
          <p:cNvSpPr txBox="1"/>
          <p:nvPr/>
        </p:nvSpPr>
        <p:spPr>
          <a:xfrm>
            <a:off x="6428232" y="5349240"/>
            <a:ext cx="5074920" cy="566928"/>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Set this expectation before the first stem.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 name="Rectangle 914"/>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915" name="TextBox 916"/>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One Chain — Technical, Regulatory, Commercial</a:t>
            </a:r>
          </a:p>
        </p:txBody>
      </p:sp>
      <p:sp>
        <p:nvSpPr>
          <p:cNvPr id="917" name="Rectangle 918"/>
          <p:cNvSpPr/>
          <p:nvPr/>
        </p:nvSpPr>
        <p:spPr>
          <a:xfrm>
            <a:off x="502920" y="1325880"/>
            <a:ext cx="3721608" cy="457200"/>
          </a:xfrm>
          <a:prstGeom prst="rect">
            <a:avLst/>
          </a:prstGeom>
          <a:solidFill>
            <a:srgbClr val="172A4A"/>
          </a:solidFill>
          <a:ln>
            <a:noFill/>
          </a:ln>
          <a:effectLst/>
        </p:spPr>
        <p:txBody>
          <a:bodyPr rtlCol="0" anchor="ctr"/>
          <a:lstStyle/>
          <a:p>
            <a:pPr algn="ctr"/>
            <a:endParaRPr/>
          </a:p>
        </p:txBody>
      </p:sp>
      <p:sp>
        <p:nvSpPr>
          <p:cNvPr id="919" name="TextBox 920"/>
          <p:cNvSpPr txBox="1"/>
          <p:nvPr/>
        </p:nvSpPr>
        <p:spPr>
          <a:xfrm>
            <a:off x="576072" y="1325880"/>
            <a:ext cx="3575304" cy="457200"/>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TECHNICAL</a:t>
            </a:r>
          </a:p>
        </p:txBody>
      </p:sp>
      <p:sp>
        <p:nvSpPr>
          <p:cNvPr id="921" name="Rectangle 922"/>
          <p:cNvSpPr/>
          <p:nvPr/>
        </p:nvSpPr>
        <p:spPr>
          <a:xfrm>
            <a:off x="4224528" y="1325880"/>
            <a:ext cx="3730752" cy="457200"/>
          </a:xfrm>
          <a:prstGeom prst="rect">
            <a:avLst/>
          </a:prstGeom>
          <a:solidFill>
            <a:srgbClr val="172A4A"/>
          </a:solidFill>
          <a:ln>
            <a:noFill/>
          </a:ln>
          <a:effectLst/>
        </p:spPr>
        <p:txBody>
          <a:bodyPr rtlCol="0" anchor="ctr"/>
          <a:lstStyle/>
          <a:p>
            <a:pPr algn="ctr"/>
            <a:endParaRPr/>
          </a:p>
        </p:txBody>
      </p:sp>
      <p:sp>
        <p:nvSpPr>
          <p:cNvPr id="923" name="TextBox 924"/>
          <p:cNvSpPr txBox="1"/>
          <p:nvPr/>
        </p:nvSpPr>
        <p:spPr>
          <a:xfrm>
            <a:off x="4297680" y="1325880"/>
            <a:ext cx="3584448" cy="457200"/>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REGULATORY</a:t>
            </a:r>
          </a:p>
        </p:txBody>
      </p:sp>
      <p:sp>
        <p:nvSpPr>
          <p:cNvPr id="925" name="Rectangle 926"/>
          <p:cNvSpPr/>
          <p:nvPr/>
        </p:nvSpPr>
        <p:spPr>
          <a:xfrm>
            <a:off x="7955280" y="1325880"/>
            <a:ext cx="3730752" cy="457200"/>
          </a:xfrm>
          <a:prstGeom prst="rect">
            <a:avLst/>
          </a:prstGeom>
          <a:solidFill>
            <a:srgbClr val="172A4A"/>
          </a:solidFill>
          <a:ln>
            <a:noFill/>
          </a:ln>
          <a:effectLst/>
        </p:spPr>
        <p:txBody>
          <a:bodyPr rtlCol="0" anchor="ctr"/>
          <a:lstStyle/>
          <a:p>
            <a:pPr algn="ctr"/>
            <a:endParaRPr/>
          </a:p>
        </p:txBody>
      </p:sp>
      <p:sp>
        <p:nvSpPr>
          <p:cNvPr id="927" name="TextBox 928"/>
          <p:cNvSpPr txBox="1"/>
          <p:nvPr/>
        </p:nvSpPr>
        <p:spPr>
          <a:xfrm>
            <a:off x="8028432" y="1325880"/>
            <a:ext cx="3584448" cy="457200"/>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COMMERCIAL</a:t>
            </a:r>
          </a:p>
        </p:txBody>
      </p:sp>
      <p:sp>
        <p:nvSpPr>
          <p:cNvPr id="929" name="Rectangle 930"/>
          <p:cNvSpPr/>
          <p:nvPr/>
        </p:nvSpPr>
        <p:spPr>
          <a:xfrm>
            <a:off x="502920" y="1783080"/>
            <a:ext cx="3721608" cy="1188720"/>
          </a:xfrm>
          <a:prstGeom prst="rect">
            <a:avLst/>
          </a:prstGeom>
          <a:solidFill>
            <a:srgbClr val="FFFFFF"/>
          </a:solidFill>
          <a:ln w="9525">
            <a:solidFill>
              <a:srgbClr val="D0D4DA"/>
            </a:solidFill>
          </a:ln>
          <a:effectLst/>
        </p:spPr>
        <p:txBody>
          <a:bodyPr rtlCol="0" anchor="ctr"/>
          <a:lstStyle/>
          <a:p>
            <a:pPr algn="ctr"/>
            <a:endParaRPr/>
          </a:p>
        </p:txBody>
      </p:sp>
      <p:sp>
        <p:nvSpPr>
          <p:cNvPr id="931" name="TextBox 932"/>
          <p:cNvSpPr txBox="1"/>
          <p:nvPr/>
        </p:nvSpPr>
        <p:spPr>
          <a:xfrm>
            <a:off x="576072" y="1783080"/>
            <a:ext cx="3575304" cy="11887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Manage water, oxidation, microbial growth, cold flow and the solvent effect — and the machinery stays protected.</a:t>
            </a:r>
          </a:p>
        </p:txBody>
      </p:sp>
      <p:sp>
        <p:nvSpPr>
          <p:cNvPr id="933" name="Rectangle 934"/>
          <p:cNvSpPr/>
          <p:nvPr/>
        </p:nvSpPr>
        <p:spPr>
          <a:xfrm>
            <a:off x="4224528" y="1783080"/>
            <a:ext cx="3730752" cy="1188720"/>
          </a:xfrm>
          <a:prstGeom prst="rect">
            <a:avLst/>
          </a:prstGeom>
          <a:solidFill>
            <a:srgbClr val="FFFFFF"/>
          </a:solidFill>
          <a:ln w="9525">
            <a:solidFill>
              <a:srgbClr val="D0D4DA"/>
            </a:solidFill>
          </a:ln>
          <a:effectLst/>
        </p:spPr>
        <p:txBody>
          <a:bodyPr rtlCol="0" anchor="ctr"/>
          <a:lstStyle/>
          <a:p>
            <a:pPr algn="ctr"/>
            <a:endParaRPr/>
          </a:p>
        </p:txBody>
      </p:sp>
      <p:sp>
        <p:nvSpPr>
          <p:cNvPr id="935" name="TextBox 936"/>
          <p:cNvSpPr txBox="1"/>
          <p:nvPr/>
        </p:nvSpPr>
        <p:spPr>
          <a:xfrm>
            <a:off x="4297680" y="1783080"/>
            <a:ext cx="3584448" cy="11887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Certify the fuel and secure the PoS — and the fuel converts into a recognised GHG benefit under IMO and the EU.</a:t>
            </a:r>
          </a:p>
        </p:txBody>
      </p:sp>
      <p:sp>
        <p:nvSpPr>
          <p:cNvPr id="937" name="Rectangle 938"/>
          <p:cNvSpPr/>
          <p:nvPr/>
        </p:nvSpPr>
        <p:spPr>
          <a:xfrm>
            <a:off x="7955280" y="1783080"/>
            <a:ext cx="3730752" cy="1188720"/>
          </a:xfrm>
          <a:prstGeom prst="rect">
            <a:avLst/>
          </a:prstGeom>
          <a:solidFill>
            <a:srgbClr val="FFFFFF"/>
          </a:solidFill>
          <a:ln w="9525">
            <a:solidFill>
              <a:srgbClr val="D0D4DA"/>
            </a:solidFill>
          </a:ln>
          <a:effectLst/>
        </p:spPr>
        <p:txBody>
          <a:bodyPr rtlCol="0" anchor="ctr"/>
          <a:lstStyle/>
          <a:p>
            <a:pPr algn="ctr"/>
            <a:endParaRPr/>
          </a:p>
        </p:txBody>
      </p:sp>
      <p:sp>
        <p:nvSpPr>
          <p:cNvPr id="939" name="TextBox 940"/>
          <p:cNvSpPr txBox="1"/>
          <p:nvPr/>
        </p:nvSpPr>
        <p:spPr>
          <a:xfrm>
            <a:off x="8028432" y="1783080"/>
            <a:ext cx="3584448" cy="11887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That benefit is what the premium is actually buying — compliance value, not just energy content.</a:t>
            </a:r>
          </a:p>
        </p:txBody>
      </p:sp>
      <p:sp>
        <p:nvSpPr>
          <p:cNvPr id="941" name="Rectangle 942"/>
          <p:cNvSpPr/>
          <p:nvPr/>
        </p:nvSpPr>
        <p:spPr>
          <a:xfrm>
            <a:off x="502920" y="3154680"/>
            <a:ext cx="3721608" cy="502920"/>
          </a:xfrm>
          <a:prstGeom prst="rect">
            <a:avLst/>
          </a:prstGeom>
          <a:solidFill>
            <a:srgbClr val="FFFFFF"/>
          </a:solidFill>
          <a:ln w="9525">
            <a:solidFill>
              <a:srgbClr val="D0D4DA"/>
            </a:solidFill>
          </a:ln>
          <a:effectLst/>
        </p:spPr>
        <p:txBody>
          <a:bodyPr rtlCol="0" anchor="ctr"/>
          <a:lstStyle/>
          <a:p>
            <a:pPr algn="ctr"/>
            <a:endParaRPr/>
          </a:p>
        </p:txBody>
      </p:sp>
      <p:sp>
        <p:nvSpPr>
          <p:cNvPr id="943" name="TextBox 944"/>
          <p:cNvSpPr txBox="1"/>
          <p:nvPr/>
        </p:nvSpPr>
        <p:spPr>
          <a:xfrm>
            <a:off x="576072" y="3154680"/>
            <a:ext cx="3575304" cy="502920"/>
          </a:xfrm>
          <a:prstGeom prst="rect">
            <a:avLst/>
          </a:prstGeom>
          <a:noFill/>
        </p:spPr>
        <p:txBody>
          <a:bodyPr wrap="square" lIns="36576" tIns="0" rIns="36576" bIns="0" anchor="ctr"/>
          <a:lstStyle/>
          <a:p>
            <a:pPr algn="l">
              <a:lnSpc>
                <a:spcPct val="110000"/>
              </a:lnSpc>
              <a:spcAft>
                <a:spcPts val="0"/>
              </a:spcAft>
            </a:pPr>
            <a:r>
              <a:rPr sz="1250" b="1">
                <a:solidFill>
                  <a:srgbClr val="172A4A"/>
                </a:solidFill>
                <a:latin typeface="Calibri"/>
                <a:ea typeface="맑은 고딕"/>
                <a:cs typeface="Calibri"/>
              </a:rPr>
              <a:t>Protects the ship</a:t>
            </a:r>
          </a:p>
        </p:txBody>
      </p:sp>
      <p:sp>
        <p:nvSpPr>
          <p:cNvPr id="945" name="Rectangle 946"/>
          <p:cNvSpPr/>
          <p:nvPr/>
        </p:nvSpPr>
        <p:spPr>
          <a:xfrm>
            <a:off x="4224528" y="3154680"/>
            <a:ext cx="3730752" cy="502920"/>
          </a:xfrm>
          <a:prstGeom prst="rect">
            <a:avLst/>
          </a:prstGeom>
          <a:solidFill>
            <a:srgbClr val="FFFFFF"/>
          </a:solidFill>
          <a:ln w="9525">
            <a:solidFill>
              <a:srgbClr val="D0D4DA"/>
            </a:solidFill>
          </a:ln>
          <a:effectLst/>
        </p:spPr>
        <p:txBody>
          <a:bodyPr rtlCol="0" anchor="ctr"/>
          <a:lstStyle/>
          <a:p>
            <a:pPr algn="ctr"/>
            <a:endParaRPr/>
          </a:p>
        </p:txBody>
      </p:sp>
      <p:sp>
        <p:nvSpPr>
          <p:cNvPr id="947" name="TextBox 948"/>
          <p:cNvSpPr txBox="1"/>
          <p:nvPr/>
        </p:nvSpPr>
        <p:spPr>
          <a:xfrm>
            <a:off x="4297680" y="3154680"/>
            <a:ext cx="3584448" cy="502920"/>
          </a:xfrm>
          <a:prstGeom prst="rect">
            <a:avLst/>
          </a:prstGeom>
          <a:noFill/>
        </p:spPr>
        <p:txBody>
          <a:bodyPr wrap="square" lIns="36576" tIns="0" rIns="36576" bIns="0" anchor="ctr"/>
          <a:lstStyle/>
          <a:p>
            <a:pPr algn="l">
              <a:lnSpc>
                <a:spcPct val="110000"/>
              </a:lnSpc>
              <a:spcAft>
                <a:spcPts val="0"/>
              </a:spcAft>
            </a:pPr>
            <a:r>
              <a:rPr sz="1250" b="1">
                <a:solidFill>
                  <a:srgbClr val="172A4A"/>
                </a:solidFill>
                <a:latin typeface="Calibri"/>
                <a:ea typeface="맑은 고딕"/>
                <a:cs typeface="Calibri"/>
              </a:rPr>
              <a:t>Earns the credit</a:t>
            </a:r>
          </a:p>
        </p:txBody>
      </p:sp>
      <p:sp>
        <p:nvSpPr>
          <p:cNvPr id="949" name="Rectangle 950"/>
          <p:cNvSpPr/>
          <p:nvPr/>
        </p:nvSpPr>
        <p:spPr>
          <a:xfrm>
            <a:off x="7955280" y="3154680"/>
            <a:ext cx="3730752" cy="502920"/>
          </a:xfrm>
          <a:prstGeom prst="rect">
            <a:avLst/>
          </a:prstGeom>
          <a:solidFill>
            <a:srgbClr val="FFFFFF"/>
          </a:solidFill>
          <a:ln w="9525">
            <a:solidFill>
              <a:srgbClr val="D0D4DA"/>
            </a:solidFill>
          </a:ln>
          <a:effectLst/>
        </p:spPr>
        <p:txBody>
          <a:bodyPr rtlCol="0" anchor="ctr"/>
          <a:lstStyle/>
          <a:p>
            <a:pPr algn="ctr"/>
            <a:endParaRPr/>
          </a:p>
        </p:txBody>
      </p:sp>
      <p:sp>
        <p:nvSpPr>
          <p:cNvPr id="951" name="TextBox 952"/>
          <p:cNvSpPr txBox="1"/>
          <p:nvPr/>
        </p:nvSpPr>
        <p:spPr>
          <a:xfrm>
            <a:off x="8028432" y="3154680"/>
            <a:ext cx="3584448" cy="502920"/>
          </a:xfrm>
          <a:prstGeom prst="rect">
            <a:avLst/>
          </a:prstGeom>
          <a:noFill/>
        </p:spPr>
        <p:txBody>
          <a:bodyPr wrap="square" lIns="36576" tIns="0" rIns="36576" bIns="0" anchor="ctr"/>
          <a:lstStyle/>
          <a:p>
            <a:pPr algn="l">
              <a:lnSpc>
                <a:spcPct val="110000"/>
              </a:lnSpc>
              <a:spcAft>
                <a:spcPts val="0"/>
              </a:spcAft>
            </a:pPr>
            <a:r>
              <a:rPr sz="1250" b="1">
                <a:solidFill>
                  <a:srgbClr val="172A4A"/>
                </a:solidFill>
                <a:latin typeface="Calibri"/>
                <a:ea typeface="맑은 고딕"/>
                <a:cs typeface="Calibri"/>
              </a:rPr>
              <a:t>Justifies the price</a:t>
            </a:r>
          </a:p>
        </p:txBody>
      </p:sp>
      <p:sp>
        <p:nvSpPr>
          <p:cNvPr id="953" name="Rectangle 954"/>
          <p:cNvSpPr/>
          <p:nvPr/>
        </p:nvSpPr>
        <p:spPr>
          <a:xfrm>
            <a:off x="502920" y="4023360"/>
            <a:ext cx="11183112" cy="960120"/>
          </a:xfrm>
          <a:prstGeom prst="rect">
            <a:avLst/>
          </a:prstGeom>
          <a:solidFill>
            <a:srgbClr val="EFEFEF"/>
          </a:solidFill>
          <a:ln>
            <a:noFill/>
          </a:ln>
          <a:effectLst/>
        </p:spPr>
        <p:txBody>
          <a:bodyPr rtlCol="0" anchor="ctr"/>
          <a:lstStyle/>
          <a:p>
            <a:pPr algn="ctr"/>
            <a:endParaRPr/>
          </a:p>
        </p:txBody>
      </p:sp>
      <p:sp>
        <p:nvSpPr>
          <p:cNvPr id="955" name="TextBox 956"/>
          <p:cNvSpPr txBox="1"/>
          <p:nvPr/>
        </p:nvSpPr>
        <p:spPr>
          <a:xfrm>
            <a:off x="685800" y="4023360"/>
            <a:ext cx="10817352" cy="960120"/>
          </a:xfrm>
          <a:prstGeom prst="rect">
            <a:avLst/>
          </a:prstGeom>
          <a:noFill/>
        </p:spPr>
        <p:txBody>
          <a:bodyPr wrap="square" lIns="36576" tIns="0" rIns="36576" bIns="0" anchor="ctr"/>
          <a:lstStyle/>
          <a:p>
            <a:pPr algn="l">
              <a:lnSpc>
                <a:spcPct val="125000"/>
              </a:lnSpc>
              <a:spcAft>
                <a:spcPts val="0"/>
              </a:spcAft>
            </a:pPr>
            <a:r>
              <a:rPr sz="1400" b="1">
                <a:solidFill>
                  <a:srgbClr val="172A4A"/>
                </a:solidFill>
                <a:latin typeface="Calibri"/>
                <a:ea typeface="맑은 고딕"/>
                <a:cs typeface="Calibri"/>
              </a:rPr>
              <a:t>Break any one link and the customer pays a USD 200 premium for a fuel that earns no compliance credit — and still has a filter problem.</a:t>
            </a:r>
          </a:p>
        </p:txBody>
      </p:sp>
      <p:sp>
        <p:nvSpPr>
          <p:cNvPr id="957" name="TextBox 958"/>
          <p:cNvSpPr txBox="1"/>
          <p:nvPr/>
        </p:nvSpPr>
        <p:spPr>
          <a:xfrm>
            <a:off x="502920" y="5257800"/>
            <a:ext cx="11183112" cy="548640"/>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Source: Singapore Shipping Association, FAQ on Bunkering of Biofuels for Ocean-Going Vessels in the Port of Singapore, August 2026 (3rd edition). Referenced standards: ISO 8217:2024, TR 140:2025, MEPC.1/Circ.905 and Rev.1.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pPr>
      <a:bodyPr wrap="square" lIns="0" tIns="0" rIns="0" bIns="0" rtlCol="0" anchor="ctr"/>
      <a:lstStyle>
        <a:defPPr algn="l">
          <a:lnSpc>
            <a:spcPct val="160000"/>
          </a:lnSpc>
          <a:defRPr sz="2800" b="1" dirty="0">
            <a:solidFill>
              <a:schemeClr val="bg1"/>
            </a:solidFill>
            <a:latin typeface="Roboto"/>
            <a:ea typeface="Roboto"/>
            <a:cs typeface="Roboto"/>
            <a:sym typeface="Roboto"/>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2c0d03a-4a30-4ecd-86b9-2064bc46f2a0}" enabled="1" method="Standard" siteId="{5d0227ad-3bcc-4106-8cf3-16e735f3b4c4}" removed="0"/>
</clbl:labelList>
</file>

<file path=docProps/app.xml><?xml version="1.0" encoding="utf-8"?>
<Properties xmlns="http://schemas.openxmlformats.org/officeDocument/2006/extended-properties" xmlns:vt="http://schemas.openxmlformats.org/officeDocument/2006/docPropsVTypes">
  <TotalTime>285</TotalTime>
  <Words>2656</Words>
  <Application>Microsoft Office PowerPoint</Application>
  <PresentationFormat>와이드스크린</PresentationFormat>
  <Paragraphs>248</Paragraphs>
  <Slides>12</Slides>
  <Notes>11</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12</vt:i4>
      </vt:variant>
    </vt:vector>
  </HeadingPairs>
  <TitlesOfParts>
    <vt:vector size="19" baseType="lpstr">
      <vt:lpstr>Aptos</vt:lpstr>
      <vt:lpstr>Arial</vt:lpstr>
      <vt:lpstr>Calibri</vt:lpstr>
      <vt:lpstr>Oswald</vt:lpstr>
      <vt:lpstr>Roboto</vt:lpstr>
      <vt:lpstr>Office Theme</vt:lpstr>
      <vt:lpstr>1_Office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Jeong, Peter</cp:lastModifiedBy>
  <cp:revision>4</cp:revision>
  <dcterms:created xsi:type="dcterms:W3CDTF">2013-01-27T09:14:16Z</dcterms:created>
  <dcterms:modified xsi:type="dcterms:W3CDTF">2026-08-20T07:47:13Z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Classified as Internal - This content is proprietary information intended for employees and partners only.</vt:lpwstr>
  </property>
</Properties>
</file>