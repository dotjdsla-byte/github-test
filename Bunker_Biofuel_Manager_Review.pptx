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15"/>
  </p:notesMasterIdLst>
  <p:sldIdLst>
    <p:sldId id="256" r:id="rIdS1"/>
    <p:sldId id="257" r:id="rIdS2"/>
    <p:sldId id="258" r:id="rIdS3"/>
    <p:sldId id="259" r:id="rIdS4"/>
    <p:sldId id="260" r:id="rIdS5"/>
    <p:sldId id="261" r:id="rIdS6"/>
    <p:sldId id="262" r:id="rIdS7"/>
    <p:sldId id="263" r:id="rIdS8"/>
    <p:sldId id="264" r:id="rIdS9"/>
    <p:sldId id="265" r:id="rIdS10"/>
    <p:sldId id="266" r:id="rIdS11"/>
    <p:sldId id="267" r:id="rIdS12"/>
    <p:sldId id="268" r:id="rIdS13"/>
    <p:sldId id="269" r:id="rIdS14"/>
    <p:sldId id="270" r:id="rIdS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343" autoAdjust="0"/>
  </p:normalViewPr>
  <p:slideViewPr>
    <p:cSldViewPr snapToGrid="0" snapToObjects="1">
      <p:cViewPr varScale="1">
        <p:scale>
          <a:sx n="67" d="100"/>
          <a:sy n="67" d="100"/>
        </p:scale>
        <p:origin x="558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rIdS1" Type="http://schemas.openxmlformats.org/officeDocument/2006/relationships/slide" Target="slides/slide1.xml"/><Relationship Id="rIdS2" Type="http://schemas.openxmlformats.org/officeDocument/2006/relationships/slide" Target="slides/slide2.xml"/><Relationship Id="rIdS3" Type="http://schemas.openxmlformats.org/officeDocument/2006/relationships/slide" Target="slides/slide3.xml"/><Relationship Id="rIdS4" Type="http://schemas.openxmlformats.org/officeDocument/2006/relationships/slide" Target="slides/slide4.xml"/><Relationship Id="rIdS5" Type="http://schemas.openxmlformats.org/officeDocument/2006/relationships/slide" Target="slides/slide5.xml"/><Relationship Id="rIdS6" Type="http://schemas.openxmlformats.org/officeDocument/2006/relationships/slide" Target="slides/slide6.xml"/><Relationship Id="rIdS7" Type="http://schemas.openxmlformats.org/officeDocument/2006/relationships/slide" Target="slides/slide7.xml"/><Relationship Id="rIdS8" Type="http://schemas.openxmlformats.org/officeDocument/2006/relationships/slide" Target="slides/slide8.xml"/><Relationship Id="rIdS9" Type="http://schemas.openxmlformats.org/officeDocument/2006/relationships/slide" Target="slides/slide9.xml"/><Relationship Id="rIdS10" Type="http://schemas.openxmlformats.org/officeDocument/2006/relationships/slide" Target="slides/slide10.xml"/><Relationship Id="rIdS11" Type="http://schemas.openxmlformats.org/officeDocument/2006/relationships/slide" Target="slides/slide11.xml"/><Relationship Id="rIdS12" Type="http://schemas.openxmlformats.org/officeDocument/2006/relationships/slide" Target="slides/slide12.xml"/><Relationship Id="rIdS13" Type="http://schemas.openxmlformats.org/officeDocument/2006/relationships/slide" Target="slides/slide13.xml"/><Relationship Id="rIdS14" Type="http://schemas.openxmlformats.org/officeDocument/2006/relationships/slide" Target="slides/slide14.xml"/><Relationship Id="rIdS15" Type="http://schemas.openxmlformats.org/officeDocument/2006/relationships/slide" Target="slides/slide1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ong, Peter" userId="84dba6ce-dc99-4d1d-b73d-a1e33699aa70" providerId="ADAL" clId="{BE2B2E2D-DACA-45F7-A15F-EEBD169E5821}"/>
    <pc:docChg chg="addSld">
      <pc:chgData name="Jeong, Peter" userId="84dba6ce-dc99-4d1d-b73d-a1e33699aa70" providerId="ADAL" clId="{BE2B2E2D-DACA-45F7-A15F-EEBD169E5821}" dt="2026-08-20T07:47:04.534" v="0" actId="680"/>
      <pc:docMkLst>
        <pc:docMk/>
      </pc:docMkLst>
      <pc:sldChg chg="new">
        <pc:chgData name="Jeong, Peter" userId="84dba6ce-dc99-4d1d-b73d-a1e33699aa70" providerId="ADAL" clId="{BE2B2E2D-DACA-45F7-A15F-EEBD169E5821}" dt="2026-08-20T07:47:04.534" v="0" actId="680"/>
        <pc:sldMkLst>
          <pc:docMk/>
          <pc:sldMk cId="2831487298" sldId="27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705698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528961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E5D85A-D5CA-3CDB-2D2C-737E2B81245C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63500" y="6642100"/>
            <a:ext cx="569277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Classified as Internal - This content is proprietary information intended for employees and partners only.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DF49DF0-6E37-F7B0-2AA4-A1FA68754445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84667" y="6570134"/>
            <a:ext cx="7590367" cy="205121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333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Classified as Internal - This content is proprietary information intended for employees and partners only.</a:t>
            </a:r>
          </a:p>
        </p:txBody>
      </p:sp>
    </p:spTree>
    <p:extLst>
      <p:ext uri="{BB962C8B-B14F-4D97-AF65-F5344CB8AC3E}">
        <p14:creationId xmlns:p14="http://schemas.microsoft.com/office/powerpoint/2010/main" val="40385174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lvl1pPr algn="ctr" defTabSz="1219170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89" indent="-457189" algn="l" defTabSz="1219170" rtl="0" eaLnBrk="1" latinLnBrk="0" hangingPunct="1">
        <a:spcBef>
          <a:spcPct val="20000"/>
        </a:spcBef>
        <a:buFont typeface="Arial" pitchFamily="34" charset="0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75" indent="-380990" algn="l" defTabSz="1219170" rtl="0" eaLnBrk="1" latinLnBrk="0" hangingPunct="1">
        <a:spcBef>
          <a:spcPct val="20000"/>
        </a:spcBef>
        <a:buFont typeface="Arial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spcBef>
          <a:spcPct val="20000"/>
        </a:spcBef>
        <a:buFont typeface="Arial" pitchFamily="34" charset="0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spcBef>
          <a:spcPct val="20000"/>
        </a:spcBef>
        <a:buFont typeface="Arial" pitchFamily="34" charset="0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lobe_only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888175" y="0"/>
            <a:ext cx="5303520" cy="6858000"/>
          </a:xfrm>
          <a:prstGeom prst="rect">
            <a:avLst/>
          </a:prstGeom>
        </p:spPr>
      </p:pic>
      <p:pic>
        <p:nvPicPr>
          <p:cNvPr id="3" name="Image 1" descr="wil_logo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48640" y="457200"/>
            <a:ext cx="1554480" cy="438912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66928" y="896112"/>
            <a:ext cx="86868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5400" b="1" i="0" u="none" strike="noStrike" kern="0" cap="none" spc="0" normalizeH="0" baseline="0" noProof="0" dirty="0">
                <a:ln>
                  <a:noFill/>
                </a:ln>
                <a:solidFill>
                  <a:srgbClr val="4472C4">
                    <a:lumMod val="75000"/>
                  </a:srgbClr>
                </a:solidFill>
                <a:effectLst/>
                <a:uLnTx/>
                <a:uFillTx/>
                <a:latin typeface="Oswald"/>
                <a:ea typeface="Oswald"/>
                <a:cs typeface="Oswald"/>
                <a:sym typeface="Oswald"/>
              </a:rPr>
              <a:t>AGENDA</a:t>
            </a:r>
            <a:endParaRPr kumimoji="0" lang="en-US" sz="5400" b="0" i="0" u="none" strike="noStrike" kern="0" cap="none" spc="0" normalizeH="0" baseline="0" noProof="0" dirty="0">
              <a:ln>
                <a:noFill/>
              </a:ln>
              <a:solidFill>
                <a:srgbClr val="4472C4">
                  <a:lumMod val="75000"/>
                </a:srgbClr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99;p14">
            <a:extLst>
              <a:ext uri="{FF2B5EF4-FFF2-40B4-BE49-F238E27FC236}">
                <a16:creationId xmlns:a16="http://schemas.microsoft.com/office/drawing/2014/main" id="{A8359433-9952-6A10-0453-926E743CAAF4}"/>
              </a:ext>
            </a:extLst>
          </p:cNvPr>
          <p:cNvSpPr/>
          <p:nvPr/>
        </p:nvSpPr>
        <p:spPr>
          <a:xfrm flipV="1">
            <a:off x="566928" y="2793559"/>
            <a:ext cx="6321247" cy="4571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Agenda 1"/>
          <p:cNvSpPr txBox="1"/>
          <p:nvPr/>
        </p:nvSpPr>
        <p:spPr>
          <a:xfrm>
            <a:off x="548641" y="3193691"/>
            <a:ext cx="6241774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/>
          <a:lstStyle/>
          <a:p>
            <a:pPr lvl="0" defTabSz="914400">
              <a:lnSpc>
                <a:spcPct val="160000"/>
              </a:lnSpc>
            </a:pPr>
            <a:r>
              <a:rPr lang="en-US" sz="1800" b="1" kern="0" dirty="0">
                <a:solidFill>
                  <a:srgbClr val="ED7D31"/>
                </a:solidFill>
                <a:latin typeface="Roboto"/>
                <a:ea typeface="맑은 고딕"/>
                <a:cs typeface="Roboto"/>
                <a:sym typeface="Roboto"/>
              </a:rPr>
              <a:t>01  2026년 벙커 클레임 동향 (Gard)</a:t>
            </a:r>
          </a:p>
        </p:txBody>
      </p:sp>
      <p:sp>
        <p:nvSpPr>
          <p:cNvPr id="21" name="Agenda 2"/>
          <p:cNvSpPr txBox="1"/>
          <p:nvPr/>
        </p:nvSpPr>
        <p:spPr>
          <a:xfrm>
            <a:off x="548641" y="3823615"/>
            <a:ext cx="6241774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/>
          <a:lstStyle/>
          <a:p>
            <a:pPr lvl="0" defTabSz="914400">
              <a:lnSpc>
                <a:spcPct val="160000"/>
              </a:lnSpc>
            </a:pPr>
            <a:r>
              <a:rPr lang="en-US" sz="1800" b="1" kern="0" dirty="0">
                <a:solidFill>
                  <a:srgbClr val="ED7D31"/>
                </a:solidFill>
                <a:latin typeface="Roboto"/>
                <a:ea typeface="맑은 고딕"/>
                <a:cs typeface="Roboto"/>
                <a:sym typeface="Roboto"/>
              </a:rPr>
              <a:t>02  스펙 너머의 리스크 — ISO 8217과 Clause 5</a:t>
            </a:r>
          </a:p>
        </p:txBody>
      </p:sp>
      <p:sp>
        <p:nvSpPr>
          <p:cNvPr id="22" name="Agenda 3"/>
          <p:cNvSpPr txBox="1"/>
          <p:nvPr/>
        </p:nvSpPr>
        <p:spPr>
          <a:xfrm>
            <a:off x="548641" y="4453539"/>
            <a:ext cx="6241774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/>
          <a:lstStyle/>
          <a:p>
            <a:pPr lvl="0" defTabSz="914400">
              <a:lnSpc>
                <a:spcPct val="160000"/>
              </a:lnSpc>
            </a:pPr>
            <a:r>
              <a:rPr lang="en-US" sz="1800" b="1" kern="0" dirty="0">
                <a:solidFill>
                  <a:srgbClr val="ED7D31"/>
                </a:solidFill>
                <a:latin typeface="Roboto"/>
                <a:ea typeface="맑은 고딕"/>
                <a:cs typeface="Roboto"/>
                <a:sym typeface="Roboto"/>
              </a:rPr>
              <a:t>03  바이오연료 전환 (SSA FAQ 2026)</a:t>
            </a:r>
          </a:p>
        </p:txBody>
      </p:sp>
      <p:sp>
        <p:nvSpPr>
          <p:cNvPr id="23" name="Agenda 4"/>
          <p:cNvSpPr txBox="1"/>
          <p:nvPr/>
        </p:nvSpPr>
        <p:spPr>
          <a:xfrm>
            <a:off x="548641" y="5083463"/>
            <a:ext cx="6241774" cy="492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/>
          <a:lstStyle/>
          <a:p>
            <a:pPr lvl="0" defTabSz="914400">
              <a:lnSpc>
                <a:spcPct val="160000"/>
              </a:lnSpc>
            </a:pPr>
            <a:r>
              <a:rPr lang="en-US" sz="1800" b="1" kern="0" dirty="0">
                <a:solidFill>
                  <a:srgbClr val="ED7D31"/>
                </a:solidFill>
                <a:latin typeface="Roboto"/>
                <a:ea typeface="맑은 고딕"/>
                <a:cs typeface="Roboto"/>
                <a:sym typeface="Roboto"/>
              </a:rPr>
              <a:t>04  공통 시사점과 액션 플랜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ectangle 10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4"/>
          <p:cNvSpPr txBox="1"/>
          <p:nvPr/>
        </p:nvSpPr>
        <p:spPr>
          <a:xfrm>
            <a:off x="502920" y="146304"/>
            <a:ext cx="11155680" cy="74980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Executive Summary — 두 리포트가 말하는 것</a:t>
            </a:r>
          </a:p>
        </p:txBody>
      </p:sp>
      <p:sp>
        <p:nvSpPr>
          <p:cNvPr id="105" name="Rectangle 106"/>
          <p:cNvSpPr/>
          <p:nvPr/>
        </p:nvSpPr>
        <p:spPr>
          <a:xfrm>
            <a:off x="502920" y="1234440"/>
            <a:ext cx="2761488" cy="1005840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8"/>
          <p:cNvSpPr txBox="1"/>
          <p:nvPr/>
        </p:nvSpPr>
        <p:spPr>
          <a:xfrm>
            <a:off x="594360" y="1234440"/>
            <a:ext cx="2578608" cy="100584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+50%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C9D2E0"/>
                </a:solidFill>
                <a:latin typeface="Calibri"/>
                <a:ea typeface="맑은 고딕"/>
                <a:cs typeface="Calibri"/>
              </a:rPr>
              <a:t>벙커 클레임 증가 (약 70건)</a:t>
            </a:r>
          </a:p>
        </p:txBody>
      </p:sp>
      <p:sp>
        <p:nvSpPr>
          <p:cNvPr id="109" name="Rectangle 110"/>
          <p:cNvSpPr/>
          <p:nvPr/>
        </p:nvSpPr>
        <p:spPr>
          <a:xfrm>
            <a:off x="3310128" y="1234440"/>
            <a:ext cx="2761488" cy="1005840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2"/>
          <p:cNvSpPr txBox="1"/>
          <p:nvPr/>
        </p:nvSpPr>
        <p:spPr>
          <a:xfrm>
            <a:off x="3401568" y="1234440"/>
            <a:ext cx="2578608" cy="100584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85%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C9D2E0"/>
                </a:solidFill>
                <a:latin typeface="Calibri"/>
                <a:ea typeface="맑은 고딕"/>
                <a:cs typeface="Calibri"/>
              </a:rPr>
              <a:t>VLSFO가 차지하는 비중</a:t>
            </a:r>
          </a:p>
        </p:txBody>
      </p:sp>
      <p:sp>
        <p:nvSpPr>
          <p:cNvPr id="113" name="Rectangle 114"/>
          <p:cNvSpPr/>
          <p:nvPr/>
        </p:nvSpPr>
        <p:spPr>
          <a:xfrm>
            <a:off x="6117336" y="1234440"/>
            <a:ext cx="2761488" cy="1005840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6"/>
          <p:cNvSpPr txBox="1"/>
          <p:nvPr/>
        </p:nvSpPr>
        <p:spPr>
          <a:xfrm>
            <a:off x="6208776" y="1234440"/>
            <a:ext cx="2578608" cy="100584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40%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C9D2E0"/>
                </a:solidFill>
                <a:latin typeface="Calibri"/>
                <a:ea typeface="맑은 고딕"/>
                <a:cs typeface="Calibri"/>
              </a:rPr>
              <a:t>Table 2 온스펙인데도 문제 발생</a:t>
            </a:r>
          </a:p>
        </p:txBody>
      </p:sp>
      <p:sp>
        <p:nvSpPr>
          <p:cNvPr id="117" name="Rectangle 118"/>
          <p:cNvSpPr/>
          <p:nvPr/>
        </p:nvSpPr>
        <p:spPr>
          <a:xfrm>
            <a:off x="8924544" y="1234440"/>
            <a:ext cx="2761488" cy="1005840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20"/>
          <p:cNvSpPr txBox="1"/>
          <p:nvPr/>
        </p:nvSpPr>
        <p:spPr>
          <a:xfrm>
            <a:off x="9015984" y="1234440"/>
            <a:ext cx="2578608" cy="100584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+53%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C9D2E0"/>
                </a:solidFill>
                <a:latin typeface="Calibri"/>
                <a:ea typeface="맑은 고딕"/>
                <a:cs typeface="Calibri"/>
              </a:rPr>
              <a:t>싱가포르 바이오 블렌드 판매 증가</a:t>
            </a:r>
          </a:p>
        </p:txBody>
      </p:sp>
      <p:sp>
        <p:nvSpPr>
          <p:cNvPr id="121" name="Rectangle 122"/>
          <p:cNvSpPr/>
          <p:nvPr/>
        </p:nvSpPr>
        <p:spPr>
          <a:xfrm>
            <a:off x="502920" y="2487168"/>
            <a:ext cx="5440680" cy="329184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4"/>
          <p:cNvSpPr txBox="1"/>
          <p:nvPr/>
        </p:nvSpPr>
        <p:spPr>
          <a:xfrm>
            <a:off x="612648" y="2487168"/>
            <a:ext cx="5221224" cy="32918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33333"/>
                </a:solidFill>
                <a:latin typeface="Calibri"/>
                <a:ea typeface="맑은 고딕"/>
                <a:cs typeface="Calibri"/>
              </a:rPr>
              <a:t>무엇이 달라졌나</a:t>
            </a:r>
          </a:p>
        </p:txBody>
      </p:sp>
      <p:sp>
        <p:nvSpPr>
          <p:cNvPr id="125" name="TextBox 126"/>
          <p:cNvSpPr txBox="1"/>
          <p:nvPr/>
        </p:nvSpPr>
        <p:spPr>
          <a:xfrm>
            <a:off x="502920" y="2944368"/>
            <a:ext cx="5440680" cy="2011680"/>
          </a:xfrm>
          <a:prstGeom prst="rect">
            <a:avLst/>
          </a:prstGeom>
          <a:noFill/>
        </p:spPr>
        <p:txBody>
          <a:bodyPr wrap="square" lIns="36576" tIns="0" rIns="36576" bIns="0" anchor="t"/>
          <a:lstStyle/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중동 분쟁(2월 말) 이후 정제사가 원유 구성을 바꾸고 감산하면서 총침전물(TSP)과 캣파인 오프스펙이 전 세계적으로 늘었습니다.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원료비 상승으로 cutter stock 사용이 늘면서 블렌딩 구성도 복잡해졌고, VPS는 같은 기간 11개 지역에 20건의 alert를 발령했습니다.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동시에 FuelEU Maritime 시행으로 바이오 블렌드 수요가 급증 — 새로운 연료가 새로운 리스크를 함께 가져오고 있습니다.</a:t>
            </a:r>
          </a:p>
        </p:txBody>
      </p:sp>
      <p:sp>
        <p:nvSpPr>
          <p:cNvPr id="127" name="Rectangle 128"/>
          <p:cNvSpPr/>
          <p:nvPr/>
        </p:nvSpPr>
        <p:spPr>
          <a:xfrm>
            <a:off x="6245352" y="2487168"/>
            <a:ext cx="5440680" cy="329184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30"/>
          <p:cNvSpPr txBox="1"/>
          <p:nvPr/>
        </p:nvSpPr>
        <p:spPr>
          <a:xfrm>
            <a:off x="6355080" y="2487168"/>
            <a:ext cx="5221224" cy="32918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33333"/>
                </a:solidFill>
                <a:latin typeface="Calibri"/>
                <a:ea typeface="맑은 고딕"/>
                <a:cs typeface="Calibri"/>
              </a:rPr>
              <a:t>오늘 결정해야 할 것</a:t>
            </a:r>
          </a:p>
        </p:txBody>
      </p:sp>
      <p:sp>
        <p:nvSpPr>
          <p:cNvPr id="131" name="Rectangle 132"/>
          <p:cNvSpPr/>
          <p:nvPr/>
        </p:nvSpPr>
        <p:spPr>
          <a:xfrm>
            <a:off x="6245352" y="2944368"/>
            <a:ext cx="100584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4"/>
          <p:cNvSpPr txBox="1"/>
          <p:nvPr/>
        </p:nvSpPr>
        <p:spPr>
          <a:xfrm>
            <a:off x="6318504" y="2944368"/>
            <a:ext cx="859536" cy="64008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72A4A"/>
                </a:solidFill>
                <a:latin typeface="Calibri"/>
                <a:ea typeface="맑은 고딕"/>
                <a:cs typeface="Calibri"/>
              </a:rPr>
              <a:t>01</a:t>
            </a:r>
          </a:p>
        </p:txBody>
      </p:sp>
      <p:sp>
        <p:nvSpPr>
          <p:cNvPr id="135" name="Rectangle 136"/>
          <p:cNvSpPr/>
          <p:nvPr/>
        </p:nvSpPr>
        <p:spPr>
          <a:xfrm>
            <a:off x="7251192" y="2944368"/>
            <a:ext cx="443484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8"/>
          <p:cNvSpPr txBox="1"/>
          <p:nvPr/>
        </p:nvSpPr>
        <p:spPr>
          <a:xfrm>
            <a:off x="7324344" y="2944368"/>
            <a:ext cx="4288536" cy="64008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non-FAME(CNSL 등) 수용 정책 — 금지 / 조건부 허용 / 건별 승인</a:t>
            </a:r>
          </a:p>
        </p:txBody>
      </p:sp>
      <p:sp>
        <p:nvSpPr>
          <p:cNvPr id="139" name="Rectangle 140"/>
          <p:cNvSpPr/>
          <p:nvPr/>
        </p:nvSpPr>
        <p:spPr>
          <a:xfrm>
            <a:off x="6245352" y="3584448"/>
            <a:ext cx="100584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2"/>
          <p:cNvSpPr txBox="1"/>
          <p:nvPr/>
        </p:nvSpPr>
        <p:spPr>
          <a:xfrm>
            <a:off x="6318504" y="3584448"/>
            <a:ext cx="859536" cy="64008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72A4A"/>
                </a:solidFill>
                <a:latin typeface="Calibri"/>
                <a:ea typeface="맑은 고딕"/>
                <a:cs typeface="Calibri"/>
              </a:rPr>
              <a:t>02</a:t>
            </a:r>
          </a:p>
        </p:txBody>
      </p:sp>
      <p:sp>
        <p:nvSpPr>
          <p:cNvPr id="143" name="Rectangle 144"/>
          <p:cNvSpPr/>
          <p:nvPr/>
        </p:nvSpPr>
        <p:spPr>
          <a:xfrm>
            <a:off x="7251192" y="3584448"/>
            <a:ext cx="443484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46"/>
          <p:cNvSpPr txBox="1"/>
          <p:nvPr/>
        </p:nvSpPr>
        <p:spPr>
          <a:xfrm>
            <a:off x="7324344" y="3584448"/>
            <a:ext cx="4288536" cy="64008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계약 조항 개정 착수 — binding sample과 공동시험 프로토콜</a:t>
            </a:r>
          </a:p>
        </p:txBody>
      </p:sp>
      <p:sp>
        <p:nvSpPr>
          <p:cNvPr id="147" name="Rectangle 148"/>
          <p:cNvSpPr/>
          <p:nvPr/>
        </p:nvSpPr>
        <p:spPr>
          <a:xfrm>
            <a:off x="6245352" y="4224528"/>
            <a:ext cx="100584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50"/>
          <p:cNvSpPr txBox="1"/>
          <p:nvPr/>
        </p:nvSpPr>
        <p:spPr>
          <a:xfrm>
            <a:off x="6318504" y="4224528"/>
            <a:ext cx="859536" cy="64008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72A4A"/>
                </a:solidFill>
                <a:latin typeface="Calibri"/>
                <a:ea typeface="맑은 고딕"/>
                <a:cs typeface="Calibri"/>
              </a:rPr>
              <a:t>03</a:t>
            </a:r>
          </a:p>
        </p:txBody>
      </p:sp>
      <p:sp>
        <p:nvSpPr>
          <p:cNvPr id="151" name="Rectangle 152"/>
          <p:cNvSpPr/>
          <p:nvPr/>
        </p:nvSpPr>
        <p:spPr>
          <a:xfrm>
            <a:off x="7251192" y="4224528"/>
            <a:ext cx="4434840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TextBox 154"/>
          <p:cNvSpPr txBox="1"/>
          <p:nvPr/>
        </p:nvSpPr>
        <p:spPr>
          <a:xfrm>
            <a:off x="7324344" y="4224528"/>
            <a:ext cx="4288536" cy="64008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2027-01-01 Circ.905 Rev.1 대응 오너십 — CII에 직결</a:t>
            </a:r>
          </a:p>
        </p:txBody>
      </p:sp>
      <p:sp>
        <p:nvSpPr>
          <p:cNvPr id="155" name="Rectangle 156"/>
          <p:cNvSpPr/>
          <p:nvPr/>
        </p:nvSpPr>
        <p:spPr>
          <a:xfrm>
            <a:off x="6245352" y="5074920"/>
            <a:ext cx="5440680" cy="777240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TextBox 158"/>
          <p:cNvSpPr txBox="1"/>
          <p:nvPr/>
        </p:nvSpPr>
        <p:spPr>
          <a:xfrm>
            <a:off x="6428232" y="5074920"/>
            <a:ext cx="5074920" cy="77724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172A4A"/>
                </a:solidFill>
                <a:latin typeface="Calibri"/>
                <a:ea typeface="맑은 고딕"/>
                <a:cs typeface="Calibri"/>
              </a:rPr>
              <a:t>규격은 최저 기준일 뿐 — 리스크는 스펙 밖에서 발생하고 있습니다.</a:t>
            </a:r>
          </a:p>
        </p:txBody>
      </p:sp>
      <p:sp>
        <p:nvSpPr>
          <p:cNvPr id="159" name="Rectangle 160"/>
          <p:cNvSpPr/>
          <p:nvPr/>
        </p:nvSpPr>
        <p:spPr>
          <a:xfrm>
            <a:off x="502920" y="5074920"/>
            <a:ext cx="5440680" cy="777240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2"/>
          <p:cNvSpPr txBox="1"/>
          <p:nvPr/>
        </p:nvSpPr>
        <p:spPr>
          <a:xfrm>
            <a:off x="685800" y="5074920"/>
            <a:ext cx="5074920" cy="77724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172A4A"/>
                </a:solidFill>
                <a:latin typeface="Calibri"/>
                <a:ea typeface="맑은 고딕"/>
                <a:cs typeface="Calibri"/>
              </a:rPr>
              <a:t>온스펙 연료의 40%가 문제를 일으켰습니다.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Rectangle 164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6"/>
          <p:cNvSpPr txBox="1"/>
          <p:nvPr/>
        </p:nvSpPr>
        <p:spPr>
          <a:xfrm>
            <a:off x="502920" y="146304"/>
            <a:ext cx="11155680" cy="74980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2026년 1–5월 벙커 클레임 — 건수도, 복잡성도 늘었다</a:t>
            </a:r>
          </a:p>
        </p:txBody>
      </p:sp>
      <p:sp>
        <p:nvSpPr>
          <p:cNvPr id="167" name="Rectangle 168"/>
          <p:cNvSpPr/>
          <p:nvPr/>
        </p:nvSpPr>
        <p:spPr>
          <a:xfrm>
            <a:off x="502920" y="1325880"/>
            <a:ext cx="5440680" cy="329184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TextBox 170"/>
          <p:cNvSpPr txBox="1"/>
          <p:nvPr/>
        </p:nvSpPr>
        <p:spPr>
          <a:xfrm>
            <a:off x="612648" y="1325880"/>
            <a:ext cx="5221224" cy="32918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33333"/>
                </a:solidFill>
                <a:latin typeface="Calibri"/>
                <a:ea typeface="맑은 고딕"/>
                <a:cs typeface="Calibri"/>
              </a:rPr>
              <a:t>Gard 접수 현황 (2026년 1–5월)</a:t>
            </a:r>
          </a:p>
        </p:txBody>
      </p:sp>
      <p:sp>
        <p:nvSpPr>
          <p:cNvPr id="171" name="Rectangle 172"/>
          <p:cNvSpPr/>
          <p:nvPr/>
        </p:nvSpPr>
        <p:spPr>
          <a:xfrm>
            <a:off x="502920" y="1783080"/>
            <a:ext cx="3017520" cy="457200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TextBox 174"/>
          <p:cNvSpPr txBox="1"/>
          <p:nvPr/>
        </p:nvSpPr>
        <p:spPr>
          <a:xfrm>
            <a:off x="576072" y="1783080"/>
            <a:ext cx="2871216" cy="45720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구분</a:t>
            </a:r>
          </a:p>
        </p:txBody>
      </p:sp>
      <p:sp>
        <p:nvSpPr>
          <p:cNvPr id="175" name="Rectangle 176"/>
          <p:cNvSpPr/>
          <p:nvPr/>
        </p:nvSpPr>
        <p:spPr>
          <a:xfrm>
            <a:off x="3520440" y="1783080"/>
            <a:ext cx="2423160" cy="457200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TextBox 178"/>
          <p:cNvSpPr txBox="1"/>
          <p:nvPr/>
        </p:nvSpPr>
        <p:spPr>
          <a:xfrm>
            <a:off x="3593592" y="1783080"/>
            <a:ext cx="2276856" cy="45720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수치</a:t>
            </a:r>
          </a:p>
        </p:txBody>
      </p:sp>
      <p:sp>
        <p:nvSpPr>
          <p:cNvPr id="179" name="Rectangle 180"/>
          <p:cNvSpPr/>
          <p:nvPr/>
        </p:nvSpPr>
        <p:spPr>
          <a:xfrm>
            <a:off x="502920" y="2240280"/>
            <a:ext cx="30175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TextBox 182"/>
          <p:cNvSpPr txBox="1"/>
          <p:nvPr/>
        </p:nvSpPr>
        <p:spPr>
          <a:xfrm>
            <a:off x="576072" y="2240280"/>
            <a:ext cx="2871216" cy="40233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전체 벙커 관련 클레임</a:t>
            </a:r>
          </a:p>
        </p:txBody>
      </p:sp>
      <p:sp>
        <p:nvSpPr>
          <p:cNvPr id="183" name="Rectangle 184"/>
          <p:cNvSpPr/>
          <p:nvPr/>
        </p:nvSpPr>
        <p:spPr>
          <a:xfrm>
            <a:off x="3520440" y="2240280"/>
            <a:ext cx="242316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TextBox 186"/>
          <p:cNvSpPr txBox="1"/>
          <p:nvPr/>
        </p:nvSpPr>
        <p:spPr>
          <a:xfrm>
            <a:off x="3593592" y="2240280"/>
            <a:ext cx="2276856" cy="40233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6F3D"/>
                </a:solidFill>
                <a:latin typeface="Calibri"/>
                <a:ea typeface="맑은 고딕"/>
                <a:cs typeface="Calibri"/>
              </a:rPr>
              <a:t>약 70건 (전년 동기 +50%)</a:t>
            </a:r>
          </a:p>
        </p:txBody>
      </p:sp>
      <p:sp>
        <p:nvSpPr>
          <p:cNvPr id="187" name="Rectangle 188"/>
          <p:cNvSpPr/>
          <p:nvPr/>
        </p:nvSpPr>
        <p:spPr>
          <a:xfrm>
            <a:off x="502920" y="2642616"/>
            <a:ext cx="30175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TextBox 190"/>
          <p:cNvSpPr txBox="1"/>
          <p:nvPr/>
        </p:nvSpPr>
        <p:spPr>
          <a:xfrm>
            <a:off x="576072" y="2642616"/>
            <a:ext cx="2871216" cy="40233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VLSFO 비중</a:t>
            </a:r>
          </a:p>
        </p:txBody>
      </p:sp>
      <p:sp>
        <p:nvSpPr>
          <p:cNvPr id="191" name="Rectangle 192"/>
          <p:cNvSpPr/>
          <p:nvPr/>
        </p:nvSpPr>
        <p:spPr>
          <a:xfrm>
            <a:off x="3520440" y="2642616"/>
            <a:ext cx="242316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TextBox 194"/>
          <p:cNvSpPr txBox="1"/>
          <p:nvPr/>
        </p:nvSpPr>
        <p:spPr>
          <a:xfrm>
            <a:off x="3593592" y="2642616"/>
            <a:ext cx="2276856" cy="40233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85% 이상</a:t>
            </a:r>
          </a:p>
        </p:txBody>
      </p:sp>
      <p:sp>
        <p:nvSpPr>
          <p:cNvPr id="195" name="Rectangle 196"/>
          <p:cNvSpPr/>
          <p:nvPr/>
        </p:nvSpPr>
        <p:spPr>
          <a:xfrm>
            <a:off x="502920" y="3044952"/>
            <a:ext cx="30175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7" name="TextBox 198"/>
          <p:cNvSpPr txBox="1"/>
          <p:nvPr/>
        </p:nvSpPr>
        <p:spPr>
          <a:xfrm>
            <a:off x="576072" y="3044952"/>
            <a:ext cx="2871216" cy="40233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황분 규제 위반</a:t>
            </a:r>
          </a:p>
        </p:txBody>
      </p:sp>
      <p:sp>
        <p:nvSpPr>
          <p:cNvPr id="199" name="Rectangle 200"/>
          <p:cNvSpPr/>
          <p:nvPr/>
        </p:nvSpPr>
        <p:spPr>
          <a:xfrm>
            <a:off x="3520440" y="3044952"/>
            <a:ext cx="242316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1" name="TextBox 202"/>
          <p:cNvSpPr txBox="1"/>
          <p:nvPr/>
        </p:nvSpPr>
        <p:spPr>
          <a:xfrm>
            <a:off x="3593592" y="3044952"/>
            <a:ext cx="2276856" cy="40233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12.86%</a:t>
            </a:r>
          </a:p>
        </p:txBody>
      </p:sp>
      <p:sp>
        <p:nvSpPr>
          <p:cNvPr id="203" name="Rectangle 204"/>
          <p:cNvSpPr/>
          <p:nvPr/>
        </p:nvSpPr>
        <p:spPr>
          <a:xfrm>
            <a:off x="502920" y="3447288"/>
            <a:ext cx="30175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5" name="TextBox 206"/>
          <p:cNvSpPr txBox="1"/>
          <p:nvPr/>
        </p:nvSpPr>
        <p:spPr>
          <a:xfrm>
            <a:off x="576072" y="3447288"/>
            <a:ext cx="2871216" cy="40233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인화점 위반</a:t>
            </a:r>
          </a:p>
        </p:txBody>
      </p:sp>
      <p:sp>
        <p:nvSpPr>
          <p:cNvPr id="207" name="Rectangle 208"/>
          <p:cNvSpPr/>
          <p:nvPr/>
        </p:nvSpPr>
        <p:spPr>
          <a:xfrm>
            <a:off x="3520440" y="3447288"/>
            <a:ext cx="242316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TextBox 210"/>
          <p:cNvSpPr txBox="1"/>
          <p:nvPr/>
        </p:nvSpPr>
        <p:spPr>
          <a:xfrm>
            <a:off x="3593592" y="3447288"/>
            <a:ext cx="2276856" cy="40233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4.11%</a:t>
            </a:r>
          </a:p>
        </p:txBody>
      </p:sp>
      <p:sp>
        <p:nvSpPr>
          <p:cNvPr id="211" name="Rectangle 212"/>
          <p:cNvSpPr/>
          <p:nvPr/>
        </p:nvSpPr>
        <p:spPr>
          <a:xfrm>
            <a:off x="502920" y="3849624"/>
            <a:ext cx="30175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3" name="TextBox 214"/>
          <p:cNvSpPr txBox="1"/>
          <p:nvPr/>
        </p:nvSpPr>
        <p:spPr>
          <a:xfrm>
            <a:off x="576072" y="3849624"/>
            <a:ext cx="2871216" cy="40233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수량(MFM) 분쟁</a:t>
            </a:r>
          </a:p>
        </p:txBody>
      </p:sp>
      <p:sp>
        <p:nvSpPr>
          <p:cNvPr id="215" name="Rectangle 216"/>
          <p:cNvSpPr/>
          <p:nvPr/>
        </p:nvSpPr>
        <p:spPr>
          <a:xfrm>
            <a:off x="3520440" y="3849624"/>
            <a:ext cx="242316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7" name="TextBox 218"/>
          <p:cNvSpPr txBox="1"/>
          <p:nvPr/>
        </p:nvSpPr>
        <p:spPr>
          <a:xfrm>
            <a:off x="3593592" y="3849624"/>
            <a:ext cx="2276856" cy="40233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3%</a:t>
            </a:r>
          </a:p>
        </p:txBody>
      </p:sp>
      <p:sp>
        <p:nvSpPr>
          <p:cNvPr id="219" name="TextBox 220"/>
          <p:cNvSpPr txBox="1"/>
          <p:nvPr/>
        </p:nvSpPr>
        <p:spPr>
          <a:xfrm>
            <a:off x="502920" y="4434840"/>
            <a:ext cx="5440680" cy="548640"/>
          </a:xfrm>
          <a:prstGeom prst="rect">
            <a:avLst/>
          </a:prstGeom>
          <a:noFill/>
        </p:spPr>
        <p:txBody>
          <a:bodyPr wrap="square" lIns="36576" tIns="0" rIns="36576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595959"/>
                </a:solidFill>
                <a:latin typeface="Calibri"/>
                <a:ea typeface="맑은 고딕"/>
                <a:cs typeface="Calibri"/>
              </a:rPr>
              <a:t>올해 Gard가 다룬 중대 사고 중 불량 연료가 원인으로 의심된 건은 없었으나, 항행불능 상태에 빠진 선박은 다수 발생했습니다.</a:t>
            </a:r>
          </a:p>
        </p:txBody>
      </p:sp>
      <p:sp>
        <p:nvSpPr>
          <p:cNvPr id="221" name="Rectangle 222"/>
          <p:cNvSpPr/>
          <p:nvPr/>
        </p:nvSpPr>
        <p:spPr>
          <a:xfrm>
            <a:off x="502920" y="5074920"/>
            <a:ext cx="5440680" cy="640080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3" name="TextBox 224"/>
          <p:cNvSpPr txBox="1"/>
          <p:nvPr/>
        </p:nvSpPr>
        <p:spPr>
          <a:xfrm>
            <a:off x="685800" y="5074920"/>
            <a:ext cx="5074920" cy="64008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1">
                <a:solidFill>
                  <a:srgbClr val="172A4A"/>
                </a:solidFill>
                <a:latin typeface="Calibri"/>
                <a:ea typeface="맑은 고딕"/>
                <a:cs typeface="Calibri"/>
              </a:rPr>
              <a:t>1–2월보다 3–5월이 높습니다 — 중동 분쟁 시점과 일치.</a:t>
            </a:r>
          </a:p>
        </p:txBody>
      </p:sp>
      <p:sp>
        <p:nvSpPr>
          <p:cNvPr id="225" name="Rectangle 226"/>
          <p:cNvSpPr/>
          <p:nvPr/>
        </p:nvSpPr>
        <p:spPr>
          <a:xfrm>
            <a:off x="6245352" y="1325880"/>
            <a:ext cx="5440680" cy="329184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7" name="TextBox 228"/>
          <p:cNvSpPr txBox="1"/>
          <p:nvPr/>
        </p:nvSpPr>
        <p:spPr>
          <a:xfrm>
            <a:off x="6355080" y="1325880"/>
            <a:ext cx="5221224" cy="32918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33333"/>
                </a:solidFill>
                <a:latin typeface="Calibri"/>
                <a:ea typeface="맑은 고딕"/>
                <a:cs typeface="Calibri"/>
              </a:rPr>
              <a:t>VPS 오프스펙률 — 연료별 / 항만별</a:t>
            </a:r>
          </a:p>
        </p:txBody>
      </p:sp>
      <p:sp>
        <p:nvSpPr>
          <p:cNvPr id="229" name="Rectangle 230"/>
          <p:cNvSpPr/>
          <p:nvPr/>
        </p:nvSpPr>
        <p:spPr>
          <a:xfrm>
            <a:off x="6245352" y="1783080"/>
            <a:ext cx="2011680" cy="457200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1" name="TextBox 232"/>
          <p:cNvSpPr txBox="1"/>
          <p:nvPr/>
        </p:nvSpPr>
        <p:spPr>
          <a:xfrm>
            <a:off x="6318504" y="1783080"/>
            <a:ext cx="1865376" cy="45720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연료</a:t>
            </a:r>
          </a:p>
        </p:txBody>
      </p:sp>
      <p:sp>
        <p:nvSpPr>
          <p:cNvPr id="233" name="Rectangle 234"/>
          <p:cNvSpPr/>
          <p:nvPr/>
        </p:nvSpPr>
        <p:spPr>
          <a:xfrm>
            <a:off x="8257032" y="1783080"/>
            <a:ext cx="1417320" cy="457200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5" name="TextBox 236"/>
          <p:cNvSpPr txBox="1"/>
          <p:nvPr/>
        </p:nvSpPr>
        <p:spPr>
          <a:xfrm>
            <a:off x="8330184" y="1783080"/>
            <a:ext cx="1271016" cy="45720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오프스펙률</a:t>
            </a:r>
          </a:p>
        </p:txBody>
      </p:sp>
      <p:sp>
        <p:nvSpPr>
          <p:cNvPr id="237" name="Rectangle 238"/>
          <p:cNvSpPr/>
          <p:nvPr/>
        </p:nvSpPr>
        <p:spPr>
          <a:xfrm>
            <a:off x="9674352" y="1783080"/>
            <a:ext cx="2011680" cy="457200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9" name="TextBox 240"/>
          <p:cNvSpPr txBox="1"/>
          <p:nvPr/>
        </p:nvSpPr>
        <p:spPr>
          <a:xfrm>
            <a:off x="9747504" y="1783080"/>
            <a:ext cx="1865376" cy="45720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참고</a:t>
            </a:r>
          </a:p>
        </p:txBody>
      </p:sp>
      <p:sp>
        <p:nvSpPr>
          <p:cNvPr id="241" name="Rectangle 242"/>
          <p:cNvSpPr/>
          <p:nvPr/>
        </p:nvSpPr>
        <p:spPr>
          <a:xfrm>
            <a:off x="6245352" y="2240280"/>
            <a:ext cx="201168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3" name="TextBox 244"/>
          <p:cNvSpPr txBox="1"/>
          <p:nvPr/>
        </p:nvSpPr>
        <p:spPr>
          <a:xfrm>
            <a:off x="6318504" y="2240280"/>
            <a:ext cx="1865376" cy="40233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ULSFO</a:t>
            </a:r>
          </a:p>
        </p:txBody>
      </p:sp>
      <p:sp>
        <p:nvSpPr>
          <p:cNvPr id="245" name="Rectangle 246"/>
          <p:cNvSpPr/>
          <p:nvPr/>
        </p:nvSpPr>
        <p:spPr>
          <a:xfrm>
            <a:off x="8257032" y="2240280"/>
            <a:ext cx="14173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7" name="TextBox 248"/>
          <p:cNvSpPr txBox="1"/>
          <p:nvPr/>
        </p:nvSpPr>
        <p:spPr>
          <a:xfrm>
            <a:off x="8330184" y="2240280"/>
            <a:ext cx="1271016" cy="40233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C00000"/>
                </a:solidFill>
                <a:latin typeface="Calibri"/>
                <a:ea typeface="맑은 고딕"/>
                <a:cs typeface="Calibri"/>
              </a:rPr>
              <a:t>28.8%</a:t>
            </a:r>
          </a:p>
        </p:txBody>
      </p:sp>
      <p:sp>
        <p:nvSpPr>
          <p:cNvPr id="249" name="Rectangle 250"/>
          <p:cNvSpPr/>
          <p:nvPr/>
        </p:nvSpPr>
        <p:spPr>
          <a:xfrm>
            <a:off x="9674352" y="2240280"/>
            <a:ext cx="201168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1" name="TextBox 252"/>
          <p:cNvSpPr txBox="1"/>
          <p:nvPr/>
        </p:nvSpPr>
        <p:spPr>
          <a:xfrm>
            <a:off x="9747504" y="2240280"/>
            <a:ext cx="1865376" cy="40233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압도적 1위</a:t>
            </a:r>
          </a:p>
        </p:txBody>
      </p:sp>
      <p:sp>
        <p:nvSpPr>
          <p:cNvPr id="253" name="Rectangle 254"/>
          <p:cNvSpPr/>
          <p:nvPr/>
        </p:nvSpPr>
        <p:spPr>
          <a:xfrm>
            <a:off x="6245352" y="2642616"/>
            <a:ext cx="201168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5" name="TextBox 256"/>
          <p:cNvSpPr txBox="1"/>
          <p:nvPr/>
        </p:nvSpPr>
        <p:spPr>
          <a:xfrm>
            <a:off x="6318504" y="2642616"/>
            <a:ext cx="1865376" cy="40233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증류유</a:t>
            </a:r>
          </a:p>
        </p:txBody>
      </p:sp>
      <p:sp>
        <p:nvSpPr>
          <p:cNvPr id="257" name="Rectangle 258"/>
          <p:cNvSpPr/>
          <p:nvPr/>
        </p:nvSpPr>
        <p:spPr>
          <a:xfrm>
            <a:off x="8257032" y="2642616"/>
            <a:ext cx="14173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9" name="TextBox 260"/>
          <p:cNvSpPr txBox="1"/>
          <p:nvPr/>
        </p:nvSpPr>
        <p:spPr>
          <a:xfrm>
            <a:off x="8330184" y="2642616"/>
            <a:ext cx="1271016" cy="40233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8.8%</a:t>
            </a:r>
          </a:p>
        </p:txBody>
      </p:sp>
      <p:sp>
        <p:nvSpPr>
          <p:cNvPr id="261" name="Rectangle 262"/>
          <p:cNvSpPr/>
          <p:nvPr/>
        </p:nvSpPr>
        <p:spPr>
          <a:xfrm>
            <a:off x="9674352" y="2642616"/>
            <a:ext cx="201168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3" name="TextBox 264"/>
          <p:cNvSpPr txBox="1"/>
          <p:nvPr/>
        </p:nvSpPr>
        <p:spPr>
          <a:xfrm>
            <a:off x="9747504" y="2642616"/>
            <a:ext cx="1865376" cy="40233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글로벌 평균</a:t>
            </a:r>
          </a:p>
        </p:txBody>
      </p:sp>
      <p:sp>
        <p:nvSpPr>
          <p:cNvPr id="265" name="Rectangle 266"/>
          <p:cNvSpPr/>
          <p:nvPr/>
        </p:nvSpPr>
        <p:spPr>
          <a:xfrm>
            <a:off x="6245352" y="3044952"/>
            <a:ext cx="201168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7" name="TextBox 268"/>
          <p:cNvSpPr txBox="1"/>
          <p:nvPr/>
        </p:nvSpPr>
        <p:spPr>
          <a:xfrm>
            <a:off x="6318504" y="3044952"/>
            <a:ext cx="1865376" cy="40233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VLSFO</a:t>
            </a:r>
          </a:p>
        </p:txBody>
      </p:sp>
      <p:sp>
        <p:nvSpPr>
          <p:cNvPr id="269" name="Rectangle 270"/>
          <p:cNvSpPr/>
          <p:nvPr/>
        </p:nvSpPr>
        <p:spPr>
          <a:xfrm>
            <a:off x="8257032" y="3044952"/>
            <a:ext cx="14173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1" name="TextBox 272"/>
          <p:cNvSpPr txBox="1"/>
          <p:nvPr/>
        </p:nvSpPr>
        <p:spPr>
          <a:xfrm>
            <a:off x="8330184" y="3044952"/>
            <a:ext cx="1271016" cy="40233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8.7%</a:t>
            </a:r>
          </a:p>
        </p:txBody>
      </p:sp>
      <p:sp>
        <p:nvSpPr>
          <p:cNvPr id="273" name="Rectangle 274"/>
          <p:cNvSpPr/>
          <p:nvPr/>
        </p:nvSpPr>
        <p:spPr>
          <a:xfrm>
            <a:off x="9674352" y="3044952"/>
            <a:ext cx="201168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5" name="TextBox 276"/>
          <p:cNvSpPr txBox="1"/>
          <p:nvPr/>
        </p:nvSpPr>
        <p:spPr>
          <a:xfrm>
            <a:off x="9747504" y="3044952"/>
            <a:ext cx="1865376" cy="40233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클레임의 85%</a:t>
            </a:r>
          </a:p>
        </p:txBody>
      </p:sp>
      <p:sp>
        <p:nvSpPr>
          <p:cNvPr id="277" name="Rectangle 278"/>
          <p:cNvSpPr/>
          <p:nvPr/>
        </p:nvSpPr>
        <p:spPr>
          <a:xfrm>
            <a:off x="6245352" y="3447288"/>
            <a:ext cx="201168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9" name="TextBox 280"/>
          <p:cNvSpPr txBox="1"/>
          <p:nvPr/>
        </p:nvSpPr>
        <p:spPr>
          <a:xfrm>
            <a:off x="6318504" y="3447288"/>
            <a:ext cx="1865376" cy="40233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HSFO</a:t>
            </a:r>
          </a:p>
        </p:txBody>
      </p:sp>
      <p:sp>
        <p:nvSpPr>
          <p:cNvPr id="281" name="Rectangle 282"/>
          <p:cNvSpPr/>
          <p:nvPr/>
        </p:nvSpPr>
        <p:spPr>
          <a:xfrm>
            <a:off x="8257032" y="3447288"/>
            <a:ext cx="14173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3" name="TextBox 284"/>
          <p:cNvSpPr txBox="1"/>
          <p:nvPr/>
        </p:nvSpPr>
        <p:spPr>
          <a:xfrm>
            <a:off x="8330184" y="3447288"/>
            <a:ext cx="1271016" cy="40233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8.5%</a:t>
            </a:r>
          </a:p>
        </p:txBody>
      </p:sp>
      <p:sp>
        <p:nvSpPr>
          <p:cNvPr id="285" name="Rectangle 286"/>
          <p:cNvSpPr/>
          <p:nvPr/>
        </p:nvSpPr>
        <p:spPr>
          <a:xfrm>
            <a:off x="9674352" y="3447288"/>
            <a:ext cx="201168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7" name="TextBox 288"/>
          <p:cNvSpPr txBox="1"/>
          <p:nvPr/>
        </p:nvSpPr>
        <p:spPr>
          <a:xfrm>
            <a:off x="9747504" y="3447288"/>
            <a:ext cx="1865376" cy="40233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스크러버선</a:t>
            </a:r>
          </a:p>
        </p:txBody>
      </p:sp>
      <p:sp>
        <p:nvSpPr>
          <p:cNvPr id="289" name="Rectangle 290"/>
          <p:cNvSpPr/>
          <p:nvPr/>
        </p:nvSpPr>
        <p:spPr>
          <a:xfrm>
            <a:off x="6245352" y="3849624"/>
            <a:ext cx="201168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1" name="TextBox 292"/>
          <p:cNvSpPr txBox="1"/>
          <p:nvPr/>
        </p:nvSpPr>
        <p:spPr>
          <a:xfrm>
            <a:off x="6318504" y="3849624"/>
            <a:ext cx="1865376" cy="40233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바이오연료</a:t>
            </a:r>
          </a:p>
        </p:txBody>
      </p:sp>
      <p:sp>
        <p:nvSpPr>
          <p:cNvPr id="293" name="Rectangle 294"/>
          <p:cNvSpPr/>
          <p:nvPr/>
        </p:nvSpPr>
        <p:spPr>
          <a:xfrm>
            <a:off x="8257032" y="3849624"/>
            <a:ext cx="14173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5" name="TextBox 296"/>
          <p:cNvSpPr txBox="1"/>
          <p:nvPr/>
        </p:nvSpPr>
        <p:spPr>
          <a:xfrm>
            <a:off x="8330184" y="3849624"/>
            <a:ext cx="1271016" cy="40233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6F3D"/>
                </a:solidFill>
                <a:latin typeface="Calibri"/>
                <a:ea typeface="맑은 고딕"/>
                <a:cs typeface="Calibri"/>
              </a:rPr>
              <a:t>0.4%</a:t>
            </a:r>
          </a:p>
        </p:txBody>
      </p:sp>
      <p:sp>
        <p:nvSpPr>
          <p:cNvPr id="297" name="Rectangle 298"/>
          <p:cNvSpPr/>
          <p:nvPr/>
        </p:nvSpPr>
        <p:spPr>
          <a:xfrm>
            <a:off x="9674352" y="3849624"/>
            <a:ext cx="201168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9" name="TextBox 300"/>
          <p:cNvSpPr txBox="1"/>
          <p:nvPr/>
        </p:nvSpPr>
        <p:spPr>
          <a:xfrm>
            <a:off x="9747504" y="3849624"/>
            <a:ext cx="1865376" cy="40233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의외의 최저치</a:t>
            </a:r>
          </a:p>
        </p:txBody>
      </p:sp>
      <p:sp>
        <p:nvSpPr>
          <p:cNvPr id="301" name="TextBox 302"/>
          <p:cNvSpPr txBox="1"/>
          <p:nvPr/>
        </p:nvSpPr>
        <p:spPr>
          <a:xfrm>
            <a:off x="6245352" y="4590288"/>
            <a:ext cx="5440680" cy="1188720"/>
          </a:xfrm>
          <a:prstGeom prst="rect">
            <a:avLst/>
          </a:prstGeom>
          <a:noFill/>
        </p:spPr>
        <p:txBody>
          <a:bodyPr wrap="square" lIns="36576" tIns="0" rIns="36576" bIns="0" anchor="t"/>
          <a:lstStyle/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항만별로는 Rotterdam 29.0%, Antwerp 25.6%인 반면 Singapore는 7.3%로 글로벌 평균(8.8%)을 밑돌았습니다.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C00000"/>
                </a:solidFill>
                <a:latin typeface="Calibri"/>
                <a:ea typeface="맑은 고딕"/>
                <a:cs typeface="Calibri"/>
              </a:rPr>
              <a:t>단, 클레임 “건수”는 물동량을 반영할 뿐 리스크율이 아닙니다.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Rectangle 304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5" name="TextBox 306"/>
          <p:cNvSpPr txBox="1"/>
          <p:nvPr/>
        </p:nvSpPr>
        <p:spPr>
          <a:xfrm>
            <a:off x="502920" y="146304"/>
            <a:ext cx="11155680" cy="74980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누가 비용을 물고, 어디서 막히는가</a:t>
            </a:r>
          </a:p>
        </p:txBody>
      </p:sp>
      <p:sp>
        <p:nvSpPr>
          <p:cNvPr id="307" name="Rectangle 308"/>
          <p:cNvSpPr/>
          <p:nvPr/>
        </p:nvSpPr>
        <p:spPr>
          <a:xfrm>
            <a:off x="502920" y="1325880"/>
            <a:ext cx="5440680" cy="329184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09" name="TextBox 310"/>
          <p:cNvSpPr txBox="1"/>
          <p:nvPr/>
        </p:nvSpPr>
        <p:spPr>
          <a:xfrm>
            <a:off x="612648" y="1325880"/>
            <a:ext cx="5221224" cy="32918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33333"/>
                </a:solidFill>
                <a:latin typeface="Calibri"/>
                <a:ea typeface="맑은 고딕"/>
                <a:cs typeface="Calibri"/>
              </a:rPr>
              <a:t>보험 커버별 분포</a:t>
            </a:r>
          </a:p>
        </p:txBody>
      </p:sp>
      <p:sp>
        <p:nvSpPr>
          <p:cNvPr id="311" name="Rectangle 312"/>
          <p:cNvSpPr/>
          <p:nvPr/>
        </p:nvSpPr>
        <p:spPr>
          <a:xfrm>
            <a:off x="502920" y="1783080"/>
            <a:ext cx="2606040" cy="457200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3" name="TextBox 314"/>
          <p:cNvSpPr txBox="1"/>
          <p:nvPr/>
        </p:nvSpPr>
        <p:spPr>
          <a:xfrm>
            <a:off x="576072" y="1783080"/>
            <a:ext cx="2459736" cy="45720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커버</a:t>
            </a:r>
          </a:p>
        </p:txBody>
      </p:sp>
      <p:sp>
        <p:nvSpPr>
          <p:cNvPr id="315" name="Rectangle 316"/>
          <p:cNvSpPr/>
          <p:nvPr/>
        </p:nvSpPr>
        <p:spPr>
          <a:xfrm>
            <a:off x="3108960" y="1783080"/>
            <a:ext cx="1051560" cy="457200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7" name="TextBox 318"/>
          <p:cNvSpPr txBox="1"/>
          <p:nvPr/>
        </p:nvSpPr>
        <p:spPr>
          <a:xfrm>
            <a:off x="3182112" y="1783080"/>
            <a:ext cx="905256" cy="45720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비중</a:t>
            </a:r>
          </a:p>
        </p:txBody>
      </p:sp>
      <p:sp>
        <p:nvSpPr>
          <p:cNvPr id="319" name="Rectangle 320"/>
          <p:cNvSpPr/>
          <p:nvPr/>
        </p:nvSpPr>
        <p:spPr>
          <a:xfrm>
            <a:off x="4160520" y="1783080"/>
            <a:ext cx="1783080" cy="457200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1" name="TextBox 322"/>
          <p:cNvSpPr txBox="1"/>
          <p:nvPr/>
        </p:nvSpPr>
        <p:spPr>
          <a:xfrm>
            <a:off x="4233672" y="1783080"/>
            <a:ext cx="1636776" cy="45720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전형적 상황</a:t>
            </a:r>
          </a:p>
        </p:txBody>
      </p:sp>
      <p:sp>
        <p:nvSpPr>
          <p:cNvPr id="323" name="Rectangle 324"/>
          <p:cNvSpPr/>
          <p:nvPr/>
        </p:nvSpPr>
        <p:spPr>
          <a:xfrm>
            <a:off x="502920" y="2240280"/>
            <a:ext cx="260604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5" name="TextBox 326"/>
          <p:cNvSpPr txBox="1"/>
          <p:nvPr/>
        </p:nvSpPr>
        <p:spPr>
          <a:xfrm>
            <a:off x="576072" y="2240280"/>
            <a:ext cx="2459736" cy="42062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Owners' Defence</a:t>
            </a:r>
          </a:p>
        </p:txBody>
      </p:sp>
      <p:sp>
        <p:nvSpPr>
          <p:cNvPr id="327" name="Rectangle 328"/>
          <p:cNvSpPr/>
          <p:nvPr/>
        </p:nvSpPr>
        <p:spPr>
          <a:xfrm>
            <a:off x="3108960" y="2240280"/>
            <a:ext cx="10515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9" name="TextBox 330"/>
          <p:cNvSpPr txBox="1"/>
          <p:nvPr/>
        </p:nvSpPr>
        <p:spPr>
          <a:xfrm>
            <a:off x="3182112" y="2240280"/>
            <a:ext cx="905256" cy="42062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6F3D"/>
                </a:solidFill>
                <a:latin typeface="Calibri"/>
                <a:ea typeface="맑은 고딕"/>
                <a:cs typeface="Calibri"/>
              </a:rPr>
              <a:t>50%+</a:t>
            </a:r>
          </a:p>
        </p:txBody>
      </p:sp>
      <p:sp>
        <p:nvSpPr>
          <p:cNvPr id="331" name="Rectangle 332"/>
          <p:cNvSpPr/>
          <p:nvPr/>
        </p:nvSpPr>
        <p:spPr>
          <a:xfrm>
            <a:off x="4160520" y="2240280"/>
            <a:ext cx="17830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33" name="TextBox 334"/>
          <p:cNvSpPr txBox="1"/>
          <p:nvPr/>
        </p:nvSpPr>
        <p:spPr>
          <a:xfrm>
            <a:off x="4233672" y="2240280"/>
            <a:ext cx="1636776" cy="42062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선주–용선자 분쟁</a:t>
            </a:r>
          </a:p>
        </p:txBody>
      </p:sp>
      <p:sp>
        <p:nvSpPr>
          <p:cNvPr id="335" name="Rectangle 336"/>
          <p:cNvSpPr/>
          <p:nvPr/>
        </p:nvSpPr>
        <p:spPr>
          <a:xfrm>
            <a:off x="502920" y="2660904"/>
            <a:ext cx="260604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37" name="TextBox 338"/>
          <p:cNvSpPr txBox="1"/>
          <p:nvPr/>
        </p:nvSpPr>
        <p:spPr>
          <a:xfrm>
            <a:off x="576072" y="2660904"/>
            <a:ext cx="2459736" cy="42062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Charterers' P&amp;I</a:t>
            </a:r>
          </a:p>
        </p:txBody>
      </p:sp>
      <p:sp>
        <p:nvSpPr>
          <p:cNvPr id="339" name="Rectangle 340"/>
          <p:cNvSpPr/>
          <p:nvPr/>
        </p:nvSpPr>
        <p:spPr>
          <a:xfrm>
            <a:off x="3108960" y="2660904"/>
            <a:ext cx="10515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1" name="TextBox 342"/>
          <p:cNvSpPr txBox="1"/>
          <p:nvPr/>
        </p:nvSpPr>
        <p:spPr>
          <a:xfrm>
            <a:off x="3182112" y="2660904"/>
            <a:ext cx="905256" cy="42062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40%</a:t>
            </a:r>
          </a:p>
        </p:txBody>
      </p:sp>
      <p:sp>
        <p:nvSpPr>
          <p:cNvPr id="343" name="Rectangle 344"/>
          <p:cNvSpPr/>
          <p:nvPr/>
        </p:nvSpPr>
        <p:spPr>
          <a:xfrm>
            <a:off x="4160520" y="2660904"/>
            <a:ext cx="17830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5" name="TextBox 346"/>
          <p:cNvSpPr txBox="1"/>
          <p:nvPr/>
        </p:nvSpPr>
        <p:spPr>
          <a:xfrm>
            <a:off x="4233672" y="2660904"/>
            <a:ext cx="1636776" cy="42062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용선자의 공급 책임</a:t>
            </a:r>
          </a:p>
        </p:txBody>
      </p:sp>
      <p:sp>
        <p:nvSpPr>
          <p:cNvPr id="347" name="Rectangle 348"/>
          <p:cNvSpPr/>
          <p:nvPr/>
        </p:nvSpPr>
        <p:spPr>
          <a:xfrm>
            <a:off x="502920" y="3081528"/>
            <a:ext cx="260604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49" name="TextBox 350"/>
          <p:cNvSpPr txBox="1"/>
          <p:nvPr/>
        </p:nvSpPr>
        <p:spPr>
          <a:xfrm>
            <a:off x="576072" y="3081528"/>
            <a:ext cx="2459736" cy="42062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Hull &amp; Machinery</a:t>
            </a:r>
          </a:p>
        </p:txBody>
      </p:sp>
      <p:sp>
        <p:nvSpPr>
          <p:cNvPr id="351" name="Rectangle 352"/>
          <p:cNvSpPr/>
          <p:nvPr/>
        </p:nvSpPr>
        <p:spPr>
          <a:xfrm>
            <a:off x="3108960" y="3081528"/>
            <a:ext cx="10515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3" name="TextBox 354"/>
          <p:cNvSpPr txBox="1"/>
          <p:nvPr/>
        </p:nvSpPr>
        <p:spPr>
          <a:xfrm>
            <a:off x="3182112" y="3081528"/>
            <a:ext cx="905256" cy="42062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6%</a:t>
            </a:r>
          </a:p>
        </p:txBody>
      </p:sp>
      <p:sp>
        <p:nvSpPr>
          <p:cNvPr id="355" name="Rectangle 356"/>
          <p:cNvSpPr/>
          <p:nvPr/>
        </p:nvSpPr>
        <p:spPr>
          <a:xfrm>
            <a:off x="4160520" y="3081528"/>
            <a:ext cx="178308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7" name="TextBox 358"/>
          <p:cNvSpPr txBox="1"/>
          <p:nvPr/>
        </p:nvSpPr>
        <p:spPr>
          <a:xfrm>
            <a:off x="4233672" y="3081528"/>
            <a:ext cx="1636776" cy="42062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기관 손상으로 확대</a:t>
            </a:r>
          </a:p>
        </p:txBody>
      </p:sp>
      <p:sp>
        <p:nvSpPr>
          <p:cNvPr id="359" name="TextBox 360"/>
          <p:cNvSpPr txBox="1"/>
          <p:nvPr/>
        </p:nvSpPr>
        <p:spPr>
          <a:xfrm>
            <a:off x="502920" y="3657600"/>
            <a:ext cx="5440680" cy="1234440"/>
          </a:xfrm>
          <a:prstGeom prst="rect">
            <a:avLst/>
          </a:prstGeom>
          <a:noFill/>
        </p:spPr>
        <p:txBody>
          <a:bodyPr wrap="square" lIns="36576" tIns="0" rIns="36576" bIns="0" anchor="t"/>
          <a:lstStyle/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정기용선에서는 용선자가 벙커를 수배·결제하기 때문에 분쟁은 대부분 선주–용선자 사이에서 먼저 터집니다.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다수의 선주가 분석 결과를 받자마자 짧은 시효 때문에 즉시 통지한 점은 긍정적입니다.</a:t>
            </a:r>
          </a:p>
        </p:txBody>
      </p:sp>
      <p:sp>
        <p:nvSpPr>
          <p:cNvPr id="361" name="Rectangle 362"/>
          <p:cNvSpPr/>
          <p:nvPr/>
        </p:nvSpPr>
        <p:spPr>
          <a:xfrm>
            <a:off x="6245352" y="1325880"/>
            <a:ext cx="5440680" cy="329184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3" name="TextBox 364"/>
          <p:cNvSpPr txBox="1"/>
          <p:nvPr/>
        </p:nvSpPr>
        <p:spPr>
          <a:xfrm>
            <a:off x="6355080" y="1325880"/>
            <a:ext cx="5221224" cy="32918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33333"/>
                </a:solidFill>
                <a:latin typeface="Calibri"/>
                <a:ea typeface="맑은 고딕"/>
                <a:cs typeface="Calibri"/>
              </a:rPr>
              <a:t>계약 체인이 어긋나는 지점</a:t>
            </a:r>
          </a:p>
        </p:txBody>
      </p:sp>
      <p:sp>
        <p:nvSpPr>
          <p:cNvPr id="365" name="Rectangle 366"/>
          <p:cNvSpPr/>
          <p:nvPr/>
        </p:nvSpPr>
        <p:spPr>
          <a:xfrm>
            <a:off x="6245352" y="1783080"/>
            <a:ext cx="1920240" cy="457200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7" name="TextBox 368"/>
          <p:cNvSpPr txBox="1"/>
          <p:nvPr/>
        </p:nvSpPr>
        <p:spPr>
          <a:xfrm>
            <a:off x="6318504" y="1783080"/>
            <a:ext cx="1773936" cy="45720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구조</a:t>
            </a:r>
          </a:p>
        </p:txBody>
      </p:sp>
      <p:sp>
        <p:nvSpPr>
          <p:cNvPr id="369" name="Rectangle 370"/>
          <p:cNvSpPr/>
          <p:nvPr/>
        </p:nvSpPr>
        <p:spPr>
          <a:xfrm>
            <a:off x="8165592" y="1783080"/>
            <a:ext cx="3520440" cy="457200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1" name="TextBox 372"/>
          <p:cNvSpPr txBox="1"/>
          <p:nvPr/>
        </p:nvSpPr>
        <p:spPr>
          <a:xfrm>
            <a:off x="8238744" y="1783080"/>
            <a:ext cx="3374136" cy="45720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리스크</a:t>
            </a:r>
          </a:p>
        </p:txBody>
      </p:sp>
      <p:sp>
        <p:nvSpPr>
          <p:cNvPr id="373" name="Rectangle 374"/>
          <p:cNvSpPr/>
          <p:nvPr/>
        </p:nvSpPr>
        <p:spPr>
          <a:xfrm>
            <a:off x="6245352" y="2240280"/>
            <a:ext cx="192024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5" name="TextBox 376"/>
          <p:cNvSpPr txBox="1"/>
          <p:nvPr/>
        </p:nvSpPr>
        <p:spPr>
          <a:xfrm>
            <a:off x="6318504" y="2240280"/>
            <a:ext cx="1773936" cy="530352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용선계약 (선주–용선자)</a:t>
            </a:r>
          </a:p>
        </p:txBody>
      </p:sp>
      <p:sp>
        <p:nvSpPr>
          <p:cNvPr id="377" name="Rectangle 378"/>
          <p:cNvSpPr/>
          <p:nvPr/>
        </p:nvSpPr>
        <p:spPr>
          <a:xfrm>
            <a:off x="8165592" y="2240280"/>
            <a:ext cx="352044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9" name="TextBox 380"/>
          <p:cNvSpPr txBox="1"/>
          <p:nvPr/>
        </p:nvSpPr>
        <p:spPr>
          <a:xfrm>
            <a:off x="8238744" y="2240280"/>
            <a:ext cx="3374136" cy="530352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매니폴드 샘플을 binding으로 삼음</a:t>
            </a:r>
          </a:p>
        </p:txBody>
      </p:sp>
      <p:sp>
        <p:nvSpPr>
          <p:cNvPr id="381" name="Rectangle 382"/>
          <p:cNvSpPr/>
          <p:nvPr/>
        </p:nvSpPr>
        <p:spPr>
          <a:xfrm>
            <a:off x="6245352" y="2770632"/>
            <a:ext cx="192024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3" name="TextBox 384"/>
          <p:cNvSpPr txBox="1"/>
          <p:nvPr/>
        </p:nvSpPr>
        <p:spPr>
          <a:xfrm>
            <a:off x="6318504" y="2770632"/>
            <a:ext cx="1773936" cy="530352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공급계약 (용선자–공급자)</a:t>
            </a:r>
          </a:p>
        </p:txBody>
      </p:sp>
      <p:sp>
        <p:nvSpPr>
          <p:cNvPr id="385" name="Rectangle 386"/>
          <p:cNvSpPr/>
          <p:nvPr/>
        </p:nvSpPr>
        <p:spPr>
          <a:xfrm>
            <a:off x="8165592" y="2770632"/>
            <a:ext cx="352044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7" name="TextBox 388"/>
          <p:cNvSpPr txBox="1"/>
          <p:nvPr/>
        </p:nvSpPr>
        <p:spPr>
          <a:xfrm>
            <a:off x="8238744" y="2770632"/>
            <a:ext cx="3374136" cy="530352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C00000"/>
                </a:solidFill>
                <a:latin typeface="Calibri"/>
                <a:ea typeface="맑은 고딕"/>
                <a:cs typeface="Calibri"/>
              </a:rPr>
              <a:t>바지/공급자 리테인 샘플을 final로 규정</a:t>
            </a:r>
          </a:p>
        </p:txBody>
      </p:sp>
      <p:sp>
        <p:nvSpPr>
          <p:cNvPr id="389" name="Rectangle 390"/>
          <p:cNvSpPr/>
          <p:nvPr/>
        </p:nvSpPr>
        <p:spPr>
          <a:xfrm>
            <a:off x="6245352" y="3300984"/>
            <a:ext cx="192024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1" name="TextBox 392"/>
          <p:cNvSpPr txBox="1"/>
          <p:nvPr/>
        </p:nvSpPr>
        <p:spPr>
          <a:xfrm>
            <a:off x="6318504" y="3300984"/>
            <a:ext cx="1773936" cy="530352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직접 구매 (라이너·대형선주)</a:t>
            </a:r>
          </a:p>
        </p:txBody>
      </p:sp>
      <p:sp>
        <p:nvSpPr>
          <p:cNvPr id="393" name="Rectangle 394"/>
          <p:cNvSpPr/>
          <p:nvPr/>
        </p:nvSpPr>
        <p:spPr>
          <a:xfrm>
            <a:off x="8165592" y="3300984"/>
            <a:ext cx="3520440" cy="530352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5" name="TextBox 396"/>
          <p:cNvSpPr txBox="1"/>
          <p:nvPr/>
        </p:nvSpPr>
        <p:spPr>
          <a:xfrm>
            <a:off x="8238744" y="3300984"/>
            <a:ext cx="3374136" cy="530352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미스매치는 없으나 공급자 약관 리스크를 직접 부담</a:t>
            </a:r>
          </a:p>
        </p:txBody>
      </p:sp>
      <p:sp>
        <p:nvSpPr>
          <p:cNvPr id="397" name="Rectangle 398"/>
          <p:cNvSpPr/>
          <p:nvPr/>
        </p:nvSpPr>
        <p:spPr>
          <a:xfrm>
            <a:off x="6245352" y="3977640"/>
            <a:ext cx="5440680" cy="777240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9" name="TextBox 400"/>
          <p:cNvSpPr txBox="1"/>
          <p:nvPr/>
        </p:nvSpPr>
        <p:spPr>
          <a:xfrm>
            <a:off x="6428232" y="3977640"/>
            <a:ext cx="5074920" cy="77724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1">
                <a:solidFill>
                  <a:srgbClr val="172A4A"/>
                </a:solidFill>
                <a:latin typeface="Calibri"/>
                <a:ea typeface="맑은 고딕"/>
                <a:cs typeface="Calibri"/>
              </a:rPr>
              <a:t>두 계약이 서로 정렬되지 않아 용선자가 교차점에서 가장 큰 노출을 집니다.</a:t>
            </a:r>
          </a:p>
        </p:txBody>
      </p:sp>
      <p:sp>
        <p:nvSpPr>
          <p:cNvPr id="401" name="TextBox 402"/>
          <p:cNvSpPr txBox="1"/>
          <p:nvPr/>
        </p:nvSpPr>
        <p:spPr>
          <a:xfrm>
            <a:off x="6245352" y="4892040"/>
            <a:ext cx="5440680" cy="457200"/>
          </a:xfrm>
          <a:prstGeom prst="rect">
            <a:avLst/>
          </a:prstGeom>
          <a:noFill/>
        </p:spPr>
        <p:txBody>
          <a:bodyPr wrap="square" lIns="36576" tIns="0" rIns="36576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595959"/>
                </a:solidFill>
                <a:latin typeface="Calibri"/>
                <a:ea typeface="맑은 고딕"/>
                <a:cs typeface="Calibri"/>
              </a:rPr>
              <a:t>→ 구매 단계에서 샘플·시험 조항을 맞추는 것이 사후 회수보다 저렴합니다.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Rectangle 404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5" name="TextBox 406"/>
          <p:cNvSpPr txBox="1"/>
          <p:nvPr/>
        </p:nvSpPr>
        <p:spPr>
          <a:xfrm>
            <a:off x="502920" y="146304"/>
            <a:ext cx="11155680" cy="74980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ISO 8217의 한계와 Clause 5</a:t>
            </a:r>
          </a:p>
        </p:txBody>
      </p:sp>
      <p:sp>
        <p:nvSpPr>
          <p:cNvPr id="407" name="Rectangle 408"/>
          <p:cNvSpPr/>
          <p:nvPr/>
        </p:nvSpPr>
        <p:spPr>
          <a:xfrm>
            <a:off x="502920" y="1325880"/>
            <a:ext cx="5440680" cy="329184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9" name="TextBox 410"/>
          <p:cNvSpPr txBox="1"/>
          <p:nvPr/>
        </p:nvSpPr>
        <p:spPr>
          <a:xfrm>
            <a:off x="612648" y="1325880"/>
            <a:ext cx="5221224" cy="32918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33333"/>
                </a:solidFill>
                <a:latin typeface="Calibri"/>
                <a:ea typeface="맑은 고딕"/>
                <a:cs typeface="Calibri"/>
              </a:rPr>
              <a:t>클레임은 두 가지로 갈립니다</a:t>
            </a:r>
          </a:p>
        </p:txBody>
      </p:sp>
      <p:sp>
        <p:nvSpPr>
          <p:cNvPr id="411" name="Rectangle 412"/>
          <p:cNvSpPr/>
          <p:nvPr/>
        </p:nvSpPr>
        <p:spPr>
          <a:xfrm>
            <a:off x="502920" y="1783080"/>
            <a:ext cx="1234440" cy="402336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3" name="TextBox 414"/>
          <p:cNvSpPr txBox="1"/>
          <p:nvPr/>
        </p:nvSpPr>
        <p:spPr>
          <a:xfrm>
            <a:off x="576072" y="1783080"/>
            <a:ext cx="1088136" cy="40233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비중</a:t>
            </a:r>
          </a:p>
        </p:txBody>
      </p:sp>
      <p:sp>
        <p:nvSpPr>
          <p:cNvPr id="415" name="Rectangle 416"/>
          <p:cNvSpPr/>
          <p:nvPr/>
        </p:nvSpPr>
        <p:spPr>
          <a:xfrm>
            <a:off x="1737360" y="1783080"/>
            <a:ext cx="4206240" cy="402336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7" name="TextBox 418"/>
          <p:cNvSpPr txBox="1"/>
          <p:nvPr/>
        </p:nvSpPr>
        <p:spPr>
          <a:xfrm>
            <a:off x="1810512" y="1783080"/>
            <a:ext cx="4059936" cy="40233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유형</a:t>
            </a:r>
          </a:p>
        </p:txBody>
      </p:sp>
      <p:sp>
        <p:nvSpPr>
          <p:cNvPr id="419" name="Rectangle 420"/>
          <p:cNvSpPr/>
          <p:nvPr/>
        </p:nvSpPr>
        <p:spPr>
          <a:xfrm>
            <a:off x="502920" y="2185416"/>
            <a:ext cx="12344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1" name="TextBox 422"/>
          <p:cNvSpPr txBox="1"/>
          <p:nvPr/>
        </p:nvSpPr>
        <p:spPr>
          <a:xfrm>
            <a:off x="576072" y="2185416"/>
            <a:ext cx="1088136" cy="86868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72A4A"/>
                </a:solidFill>
                <a:latin typeface="Calibri"/>
                <a:ea typeface="맑은 고딕"/>
                <a:cs typeface="Calibri"/>
              </a:rPr>
              <a:t>60%</a:t>
            </a:r>
          </a:p>
        </p:txBody>
      </p:sp>
      <p:sp>
        <p:nvSpPr>
          <p:cNvPr id="423" name="Rectangle 424"/>
          <p:cNvSpPr/>
          <p:nvPr/>
        </p:nvSpPr>
        <p:spPr>
          <a:xfrm>
            <a:off x="1737360" y="2185416"/>
            <a:ext cx="420624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5" name="TextBox 426"/>
          <p:cNvSpPr txBox="1"/>
          <p:nvPr/>
        </p:nvSpPr>
        <p:spPr>
          <a:xfrm>
            <a:off x="1810512" y="2185416"/>
            <a:ext cx="4059936" cy="86868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Table 2 파라미터 자체가 오프스펙 (TSP, 캣파인 등) — 이 중 상당수는 다른 유해 물질도 함께 의심됨</a:t>
            </a:r>
          </a:p>
        </p:txBody>
      </p:sp>
      <p:sp>
        <p:nvSpPr>
          <p:cNvPr id="427" name="Rectangle 428"/>
          <p:cNvSpPr/>
          <p:nvPr/>
        </p:nvSpPr>
        <p:spPr>
          <a:xfrm>
            <a:off x="502920" y="3054096"/>
            <a:ext cx="12344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9" name="TextBox 430"/>
          <p:cNvSpPr txBox="1"/>
          <p:nvPr/>
        </p:nvSpPr>
        <p:spPr>
          <a:xfrm>
            <a:off x="576072" y="3054096"/>
            <a:ext cx="1088136" cy="65836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72A4A"/>
                </a:solidFill>
                <a:latin typeface="Calibri"/>
                <a:ea typeface="맑은 고딕"/>
                <a:cs typeface="Calibri"/>
              </a:rPr>
              <a:t>40%</a:t>
            </a:r>
          </a:p>
        </p:txBody>
      </p:sp>
      <p:sp>
        <p:nvSpPr>
          <p:cNvPr id="431" name="Rectangle 432"/>
          <p:cNvSpPr/>
          <p:nvPr/>
        </p:nvSpPr>
        <p:spPr>
          <a:xfrm>
            <a:off x="1737360" y="3054096"/>
            <a:ext cx="42062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3" name="TextBox 434"/>
          <p:cNvSpPr txBox="1"/>
          <p:nvPr/>
        </p:nvSpPr>
        <p:spPr>
          <a:xfrm>
            <a:off x="1810512" y="3054096"/>
            <a:ext cx="4059936" cy="65836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Table 2는 전부 통과했으나 다른 문제 물질이 주장된 사례</a:t>
            </a:r>
          </a:p>
        </p:txBody>
      </p:sp>
      <p:sp>
        <p:nvSpPr>
          <p:cNvPr id="435" name="Rectangle 436"/>
          <p:cNvSpPr/>
          <p:nvPr/>
        </p:nvSpPr>
        <p:spPr>
          <a:xfrm>
            <a:off x="502920" y="3840480"/>
            <a:ext cx="5440680" cy="329184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7" name="TextBox 438"/>
          <p:cNvSpPr txBox="1"/>
          <p:nvPr/>
        </p:nvSpPr>
        <p:spPr>
          <a:xfrm>
            <a:off x="612648" y="3840480"/>
            <a:ext cx="5221224" cy="32918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33333"/>
                </a:solidFill>
                <a:latin typeface="Calibri"/>
                <a:ea typeface="맑은 고딕"/>
                <a:cs typeface="Calibri"/>
              </a:rPr>
              <a:t>계약이 참조하는 ISO 버전</a:t>
            </a:r>
          </a:p>
        </p:txBody>
      </p:sp>
      <p:sp>
        <p:nvSpPr>
          <p:cNvPr id="439" name="TextBox 440"/>
          <p:cNvSpPr txBox="1"/>
          <p:nvPr/>
        </p:nvSpPr>
        <p:spPr>
          <a:xfrm>
            <a:off x="502920" y="4297680"/>
            <a:ext cx="5440680" cy="1463040"/>
          </a:xfrm>
          <a:prstGeom prst="rect">
            <a:avLst/>
          </a:prstGeom>
          <a:noFill/>
        </p:spPr>
        <p:txBody>
          <a:bodyPr wrap="square" lIns="36576" tIns="0" rIns="36576" bIns="0" anchor="t"/>
          <a:lstStyle/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2017년판이 절반 이상으로 가장 많지만, ISO 8217:2005 같은 구버전을 그대로 쓰는 계약도 적지 않습니다.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C00000"/>
                </a:solidFill>
                <a:latin typeface="Calibri"/>
                <a:ea typeface="맑은 고딕"/>
                <a:cs typeface="Calibri"/>
              </a:rPr>
              <a:t>이번 최악의 손해 사례가 바로 2005년판 기준 계약이었습니다.</a:t>
            </a:r>
          </a:p>
        </p:txBody>
      </p:sp>
      <p:sp>
        <p:nvSpPr>
          <p:cNvPr id="441" name="Rectangle 442"/>
          <p:cNvSpPr/>
          <p:nvPr/>
        </p:nvSpPr>
        <p:spPr>
          <a:xfrm>
            <a:off x="6245352" y="1325880"/>
            <a:ext cx="5440680" cy="329184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3" name="TextBox 444"/>
          <p:cNvSpPr txBox="1"/>
          <p:nvPr/>
        </p:nvSpPr>
        <p:spPr>
          <a:xfrm>
            <a:off x="6355080" y="1325880"/>
            <a:ext cx="5221224" cy="32918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33333"/>
                </a:solidFill>
                <a:latin typeface="Calibri"/>
                <a:ea typeface="맑은 고딕"/>
                <a:cs typeface="Calibri"/>
              </a:rPr>
              <a:t>Clause 5 — 입증해야 하는 것</a:t>
            </a:r>
          </a:p>
        </p:txBody>
      </p:sp>
      <p:sp>
        <p:nvSpPr>
          <p:cNvPr id="445" name="Rectangle 446"/>
          <p:cNvSpPr/>
          <p:nvPr/>
        </p:nvSpPr>
        <p:spPr>
          <a:xfrm>
            <a:off x="6245352" y="1783080"/>
            <a:ext cx="56692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7" name="TextBox 448"/>
          <p:cNvSpPr txBox="1"/>
          <p:nvPr/>
        </p:nvSpPr>
        <p:spPr>
          <a:xfrm>
            <a:off x="6318504" y="1783080"/>
            <a:ext cx="420624" cy="621792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72A4A"/>
                </a:solidFill>
                <a:latin typeface="Calibri"/>
                <a:ea typeface="맑은 고딕"/>
                <a:cs typeface="Calibri"/>
              </a:rPr>
              <a:t>1</a:t>
            </a:r>
          </a:p>
        </p:txBody>
      </p:sp>
      <p:sp>
        <p:nvSpPr>
          <p:cNvPr id="449" name="Rectangle 450"/>
          <p:cNvSpPr/>
          <p:nvPr/>
        </p:nvSpPr>
        <p:spPr>
          <a:xfrm>
            <a:off x="6812280" y="1783080"/>
            <a:ext cx="4873752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1" name="TextBox 452"/>
          <p:cNvSpPr txBox="1"/>
          <p:nvPr/>
        </p:nvSpPr>
        <p:spPr>
          <a:xfrm>
            <a:off x="6885432" y="1783080"/>
            <a:ext cx="4727448" cy="621792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유해 물질의 존재를 밝힐 것 — 표준 시험으로는 부족, GCMS 등 탐색적 분석 필요</a:t>
            </a:r>
          </a:p>
        </p:txBody>
      </p:sp>
      <p:sp>
        <p:nvSpPr>
          <p:cNvPr id="453" name="Rectangle 454"/>
          <p:cNvSpPr/>
          <p:nvPr/>
        </p:nvSpPr>
        <p:spPr>
          <a:xfrm>
            <a:off x="6245352" y="2404872"/>
            <a:ext cx="566928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5" name="TextBox 456"/>
          <p:cNvSpPr txBox="1"/>
          <p:nvPr/>
        </p:nvSpPr>
        <p:spPr>
          <a:xfrm>
            <a:off x="6318504" y="2404872"/>
            <a:ext cx="420624" cy="50292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72A4A"/>
                </a:solidFill>
                <a:latin typeface="Calibri"/>
                <a:ea typeface="맑은 고딕"/>
                <a:cs typeface="Calibri"/>
              </a:rPr>
              <a:t>2</a:t>
            </a:r>
          </a:p>
        </p:txBody>
      </p:sp>
      <p:sp>
        <p:nvSpPr>
          <p:cNvPr id="457" name="Rectangle 458"/>
          <p:cNvSpPr/>
          <p:nvPr/>
        </p:nvSpPr>
        <p:spPr>
          <a:xfrm>
            <a:off x="6812280" y="2404872"/>
            <a:ext cx="4873752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9" name="TextBox 460"/>
          <p:cNvSpPr txBox="1"/>
          <p:nvPr/>
        </p:nvSpPr>
        <p:spPr>
          <a:xfrm>
            <a:off x="6885432" y="2404872"/>
            <a:ext cx="4727448" cy="50292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그 물질이 기관·안전에 실제로 악영향을 줬음을 보일 것</a:t>
            </a:r>
          </a:p>
        </p:txBody>
      </p:sp>
      <p:sp>
        <p:nvSpPr>
          <p:cNvPr id="461" name="Rectangle 462"/>
          <p:cNvSpPr/>
          <p:nvPr/>
        </p:nvSpPr>
        <p:spPr>
          <a:xfrm>
            <a:off x="6245352" y="2907792"/>
            <a:ext cx="566928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3" name="TextBox 464"/>
          <p:cNvSpPr txBox="1"/>
          <p:nvPr/>
        </p:nvSpPr>
        <p:spPr>
          <a:xfrm>
            <a:off x="6318504" y="2907792"/>
            <a:ext cx="420624" cy="50292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72A4A"/>
                </a:solidFill>
                <a:latin typeface="Calibri"/>
                <a:ea typeface="맑은 고딕"/>
                <a:cs typeface="Calibri"/>
              </a:rPr>
              <a:t>3</a:t>
            </a:r>
          </a:p>
        </p:txBody>
      </p:sp>
      <p:sp>
        <p:nvSpPr>
          <p:cNvPr id="465" name="Rectangle 466"/>
          <p:cNvSpPr/>
          <p:nvPr/>
        </p:nvSpPr>
        <p:spPr>
          <a:xfrm>
            <a:off x="6812280" y="2907792"/>
            <a:ext cx="4873752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7" name="TextBox 468"/>
          <p:cNvSpPr txBox="1"/>
          <p:nvPr/>
        </p:nvSpPr>
        <p:spPr>
          <a:xfrm>
            <a:off x="6885432" y="2907792"/>
            <a:ext cx="4727448" cy="50292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즉, 단순한 검출이 아니라 “인과관계”가 핵심</a:t>
            </a:r>
          </a:p>
        </p:txBody>
      </p:sp>
      <p:sp>
        <p:nvSpPr>
          <p:cNvPr id="469" name="TextBox 470"/>
          <p:cNvSpPr txBox="1"/>
          <p:nvPr/>
        </p:nvSpPr>
        <p:spPr>
          <a:xfrm>
            <a:off x="6245352" y="3474720"/>
            <a:ext cx="5440680" cy="1463040"/>
          </a:xfrm>
          <a:prstGeom prst="rect">
            <a:avLst/>
          </a:prstGeom>
          <a:noFill/>
        </p:spPr>
        <p:txBody>
          <a:bodyPr wrap="square" lIns="36576" tIns="0" rIns="36576" bIns="0" anchor="t"/>
          <a:lstStyle/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ISO 8217:2024 Annex B는 화학종과 운항 문제 사이에 사실적 인과관계가 입증되면 해당 연료는 규격을 충족하지 못한 것으로 본다고 명시합니다.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시험 소모·연료 처리를 통한 실물 증명도 가능하지만 운항 리스크가 따르며 철저한 기록이 전제입니다.</a:t>
            </a:r>
          </a:p>
        </p:txBody>
      </p:sp>
      <p:sp>
        <p:nvSpPr>
          <p:cNvPr id="471" name="Rectangle 472"/>
          <p:cNvSpPr/>
          <p:nvPr/>
        </p:nvSpPr>
        <p:spPr>
          <a:xfrm>
            <a:off x="6245352" y="5029200"/>
            <a:ext cx="5440680" cy="640080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3" name="TextBox 474"/>
          <p:cNvSpPr txBox="1"/>
          <p:nvPr/>
        </p:nvSpPr>
        <p:spPr>
          <a:xfrm>
            <a:off x="6428232" y="5029200"/>
            <a:ext cx="5074920" cy="64008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1">
                <a:solidFill>
                  <a:srgbClr val="172A4A"/>
                </a:solidFill>
                <a:latin typeface="Calibri"/>
                <a:ea typeface="맑은 고딕"/>
                <a:cs typeface="Calibri"/>
              </a:rPr>
              <a:t>Table 2 합격은 출발점일 뿐, 적합성의 증명이 아닙니다.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Rectangle 476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7" name="TextBox 478"/>
          <p:cNvSpPr txBox="1"/>
          <p:nvPr/>
        </p:nvSpPr>
        <p:spPr>
          <a:xfrm>
            <a:off x="502920" y="146304"/>
            <a:ext cx="11155680" cy="74980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실제로 무슨 일이 났나 — 사례 3건</a:t>
            </a:r>
          </a:p>
        </p:txBody>
      </p:sp>
      <p:sp>
        <p:nvSpPr>
          <p:cNvPr id="479" name="Rectangle 480"/>
          <p:cNvSpPr/>
          <p:nvPr/>
        </p:nvSpPr>
        <p:spPr>
          <a:xfrm>
            <a:off x="502920" y="1325880"/>
            <a:ext cx="5440680" cy="329184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1" name="TextBox 482"/>
          <p:cNvSpPr txBox="1"/>
          <p:nvPr/>
        </p:nvSpPr>
        <p:spPr>
          <a:xfrm>
            <a:off x="612648" y="1325880"/>
            <a:ext cx="5221224" cy="32918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33333"/>
                </a:solidFill>
                <a:latin typeface="Calibri"/>
                <a:ea typeface="맑은 고딕"/>
                <a:cs typeface="Calibri"/>
              </a:rPr>
              <a:t>Case 1 — Antwerp VLSFO (ISO 8217:2005)</a:t>
            </a:r>
          </a:p>
        </p:txBody>
      </p:sp>
      <p:sp>
        <p:nvSpPr>
          <p:cNvPr id="483" name="TextBox 484"/>
          <p:cNvSpPr txBox="1"/>
          <p:nvPr/>
        </p:nvSpPr>
        <p:spPr>
          <a:xfrm>
            <a:off x="502920" y="1783080"/>
            <a:ext cx="5440680" cy="1188720"/>
          </a:xfrm>
          <a:prstGeom prst="rect">
            <a:avLst/>
          </a:prstGeom>
          <a:noFill/>
        </p:spPr>
        <p:txBody>
          <a:bodyPr wrap="square" lIns="36576" tIns="0" rIns="36576" bIns="0" anchor="t"/>
          <a:lstStyle/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유기산 6,000ppm 초과. 주기관 전손으로 3일간 표류 후 4일간 예인. 공동해손 선언·화물 환적·탱크 세정으로 4주 수리, 약 USD 0.5M 소요.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C00000"/>
                </a:solidFill>
                <a:latin typeface="Calibri"/>
                <a:ea typeface="맑은 고딕"/>
                <a:cs typeface="Calibri"/>
              </a:rPr>
              <a:t>Table 2는 모두 통과한 연료였습니다.</a:t>
            </a:r>
          </a:p>
        </p:txBody>
      </p:sp>
      <p:sp>
        <p:nvSpPr>
          <p:cNvPr id="485" name="Rectangle 486"/>
          <p:cNvSpPr/>
          <p:nvPr/>
        </p:nvSpPr>
        <p:spPr>
          <a:xfrm>
            <a:off x="502920" y="3063240"/>
            <a:ext cx="5440680" cy="329184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7" name="TextBox 488"/>
          <p:cNvSpPr txBox="1"/>
          <p:nvPr/>
        </p:nvSpPr>
        <p:spPr>
          <a:xfrm>
            <a:off x="612648" y="3063240"/>
            <a:ext cx="5221224" cy="32918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33333"/>
                </a:solidFill>
                <a:latin typeface="Calibri"/>
                <a:ea typeface="맑은 고딕"/>
                <a:cs typeface="Calibri"/>
              </a:rPr>
              <a:t>Case 2 — Singapore VLSFO</a:t>
            </a:r>
          </a:p>
        </p:txBody>
      </p:sp>
      <p:sp>
        <p:nvSpPr>
          <p:cNvPr id="489" name="TextBox 490"/>
          <p:cNvSpPr txBox="1"/>
          <p:nvPr/>
        </p:nvSpPr>
        <p:spPr>
          <a:xfrm>
            <a:off x="502920" y="3520440"/>
            <a:ext cx="5440680" cy="1188720"/>
          </a:xfrm>
          <a:prstGeom prst="rect">
            <a:avLst/>
          </a:prstGeom>
          <a:noFill/>
        </p:spPr>
        <p:txBody>
          <a:bodyPr wrap="square" lIns="36576" tIns="0" rIns="36576" bIns="0" anchor="t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cardol·resorcinol이 22,000ppm 이상 검출. 자동역세척 필터의 청소 능력을 넘어서는 속도로 막혀 주기관 연료 압력이 급감, 결국 디벙커링을 결정했습니다.</a:t>
            </a:r>
          </a:p>
        </p:txBody>
      </p:sp>
      <p:sp>
        <p:nvSpPr>
          <p:cNvPr id="491" name="Rectangle 492"/>
          <p:cNvSpPr/>
          <p:nvPr/>
        </p:nvSpPr>
        <p:spPr>
          <a:xfrm>
            <a:off x="6245352" y="1325880"/>
            <a:ext cx="5440680" cy="329184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3" name="TextBox 494"/>
          <p:cNvSpPr txBox="1"/>
          <p:nvPr/>
        </p:nvSpPr>
        <p:spPr>
          <a:xfrm>
            <a:off x="6355080" y="1325880"/>
            <a:ext cx="5221224" cy="32918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33333"/>
                </a:solidFill>
                <a:latin typeface="Calibri"/>
                <a:ea typeface="맑은 고딕"/>
                <a:cs typeface="Calibri"/>
              </a:rPr>
              <a:t>Case 3 — ULSFO + B30 (CNSL) ★ 두 문서의 접점</a:t>
            </a:r>
          </a:p>
        </p:txBody>
      </p:sp>
      <p:sp>
        <p:nvSpPr>
          <p:cNvPr id="495" name="TextBox 496"/>
          <p:cNvSpPr txBox="1"/>
          <p:nvPr/>
        </p:nvSpPr>
        <p:spPr>
          <a:xfrm>
            <a:off x="6245352" y="1783080"/>
            <a:ext cx="5440680" cy="1188720"/>
          </a:xfrm>
          <a:prstGeom prst="rect">
            <a:avLst/>
          </a:prstGeom>
          <a:noFill/>
        </p:spPr>
        <p:txBody>
          <a:bodyPr wrap="square" lIns="36576" tIns="0" rIns="36576" bIns="0" anchor="t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해당 탱크로 전환한 지 약 2일 뒤, 도선사 승선을 앞둔 표류 중 추진 상실. 검정인 예비 조사 결과 연료 분사기와 펌프 손상이 불량 연료, 특히 CNSL 오염에 기인한 것으로 확인됐습니다.</a:t>
            </a:r>
          </a:p>
        </p:txBody>
      </p:sp>
      <p:sp>
        <p:nvSpPr>
          <p:cNvPr id="497" name="Rectangle 498"/>
          <p:cNvSpPr/>
          <p:nvPr/>
        </p:nvSpPr>
        <p:spPr>
          <a:xfrm>
            <a:off x="6245352" y="3063240"/>
            <a:ext cx="5440680" cy="329184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9" name="TextBox 500"/>
          <p:cNvSpPr txBox="1"/>
          <p:nvPr/>
        </p:nvSpPr>
        <p:spPr>
          <a:xfrm>
            <a:off x="6355080" y="3063240"/>
            <a:ext cx="5221224" cy="32918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33333"/>
                </a:solidFill>
                <a:latin typeface="Calibri"/>
                <a:ea typeface="맑은 고딕"/>
                <a:cs typeface="Calibri"/>
              </a:rPr>
              <a:t>공통적으로 나타난 증상</a:t>
            </a:r>
          </a:p>
        </p:txBody>
      </p:sp>
      <p:sp>
        <p:nvSpPr>
          <p:cNvPr id="501" name="Rectangle 502"/>
          <p:cNvSpPr/>
          <p:nvPr/>
        </p:nvSpPr>
        <p:spPr>
          <a:xfrm>
            <a:off x="6245352" y="3520440"/>
            <a:ext cx="2103120" cy="420624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3" name="TextBox 504"/>
          <p:cNvSpPr txBox="1"/>
          <p:nvPr/>
        </p:nvSpPr>
        <p:spPr>
          <a:xfrm>
            <a:off x="6318504" y="3520440"/>
            <a:ext cx="1956816" cy="42062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증상</a:t>
            </a:r>
          </a:p>
        </p:txBody>
      </p:sp>
      <p:sp>
        <p:nvSpPr>
          <p:cNvPr id="505" name="Rectangle 506"/>
          <p:cNvSpPr/>
          <p:nvPr/>
        </p:nvSpPr>
        <p:spPr>
          <a:xfrm>
            <a:off x="8348472" y="3520440"/>
            <a:ext cx="3337560" cy="420624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7" name="TextBox 508"/>
          <p:cNvSpPr txBox="1"/>
          <p:nvPr/>
        </p:nvSpPr>
        <p:spPr>
          <a:xfrm>
            <a:off x="8421624" y="3520440"/>
            <a:ext cx="3191256" cy="42062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부위</a:t>
            </a:r>
          </a:p>
        </p:txBody>
      </p:sp>
      <p:sp>
        <p:nvSpPr>
          <p:cNvPr id="509" name="Rectangle 510"/>
          <p:cNvSpPr/>
          <p:nvPr/>
        </p:nvSpPr>
        <p:spPr>
          <a:xfrm>
            <a:off x="6245352" y="3941064"/>
            <a:ext cx="2103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1" name="TextBox 512"/>
          <p:cNvSpPr txBox="1"/>
          <p:nvPr/>
        </p:nvSpPr>
        <p:spPr>
          <a:xfrm>
            <a:off x="6318504" y="3941064"/>
            <a:ext cx="1956816" cy="42062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필터·청정기 급속 막힘</a:t>
            </a:r>
          </a:p>
        </p:txBody>
      </p:sp>
      <p:sp>
        <p:nvSpPr>
          <p:cNvPr id="513" name="Rectangle 514"/>
          <p:cNvSpPr/>
          <p:nvPr/>
        </p:nvSpPr>
        <p:spPr>
          <a:xfrm>
            <a:off x="8348472" y="3941064"/>
            <a:ext cx="33375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5" name="TextBox 516"/>
          <p:cNvSpPr txBox="1"/>
          <p:nvPr/>
        </p:nvSpPr>
        <p:spPr>
          <a:xfrm>
            <a:off x="8421624" y="3941064"/>
            <a:ext cx="3191256" cy="42062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자동역세척 필터, 퍼리파이어</a:t>
            </a:r>
          </a:p>
        </p:txBody>
      </p:sp>
      <p:sp>
        <p:nvSpPr>
          <p:cNvPr id="517" name="Rectangle 518"/>
          <p:cNvSpPr/>
          <p:nvPr/>
        </p:nvSpPr>
        <p:spPr>
          <a:xfrm>
            <a:off x="6245352" y="4361688"/>
            <a:ext cx="2103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9" name="TextBox 520"/>
          <p:cNvSpPr txBox="1"/>
          <p:nvPr/>
        </p:nvSpPr>
        <p:spPr>
          <a:xfrm>
            <a:off x="6318504" y="4361688"/>
            <a:ext cx="1956816" cy="42062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끈적한 슬러지·탄화물 생성</a:t>
            </a:r>
          </a:p>
        </p:txBody>
      </p:sp>
      <p:sp>
        <p:nvSpPr>
          <p:cNvPr id="521" name="Rectangle 522"/>
          <p:cNvSpPr/>
          <p:nvPr/>
        </p:nvSpPr>
        <p:spPr>
          <a:xfrm>
            <a:off x="8348472" y="4361688"/>
            <a:ext cx="33375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23" name="TextBox 524"/>
          <p:cNvSpPr txBox="1"/>
          <p:nvPr/>
        </p:nvSpPr>
        <p:spPr>
          <a:xfrm>
            <a:off x="8421624" y="4361688"/>
            <a:ext cx="3191256" cy="42062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인젝터 팁, 분사 제어유닛</a:t>
            </a:r>
          </a:p>
        </p:txBody>
      </p:sp>
      <p:sp>
        <p:nvSpPr>
          <p:cNvPr id="525" name="Rectangle 526"/>
          <p:cNvSpPr/>
          <p:nvPr/>
        </p:nvSpPr>
        <p:spPr>
          <a:xfrm>
            <a:off x="6245352" y="4782312"/>
            <a:ext cx="21031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27" name="TextBox 528"/>
          <p:cNvSpPr txBox="1"/>
          <p:nvPr/>
        </p:nvSpPr>
        <p:spPr>
          <a:xfrm>
            <a:off x="6318504" y="4782312"/>
            <a:ext cx="1956816" cy="42062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마모·스크래치·과열</a:t>
            </a:r>
          </a:p>
        </p:txBody>
      </p:sp>
      <p:sp>
        <p:nvSpPr>
          <p:cNvPr id="529" name="Rectangle 530"/>
          <p:cNvSpPr/>
          <p:nvPr/>
        </p:nvSpPr>
        <p:spPr>
          <a:xfrm>
            <a:off x="8348472" y="4782312"/>
            <a:ext cx="33375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1" name="TextBox 532"/>
          <p:cNvSpPr txBox="1"/>
          <p:nvPr/>
        </p:nvSpPr>
        <p:spPr>
          <a:xfrm>
            <a:off x="8421624" y="4782312"/>
            <a:ext cx="3191256" cy="42062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플런저, 피스톤링, 라이너</a:t>
            </a:r>
          </a:p>
        </p:txBody>
      </p:sp>
      <p:sp>
        <p:nvSpPr>
          <p:cNvPr id="533" name="Rectangle 534"/>
          <p:cNvSpPr/>
          <p:nvPr/>
        </p:nvSpPr>
        <p:spPr>
          <a:xfrm>
            <a:off x="502920" y="4983480"/>
            <a:ext cx="5440680" cy="777240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5" name="TextBox 536"/>
          <p:cNvSpPr txBox="1"/>
          <p:nvPr/>
        </p:nvSpPr>
        <p:spPr>
          <a:xfrm>
            <a:off x="685800" y="4983480"/>
            <a:ext cx="5074920" cy="77724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172A4A"/>
                </a:solidFill>
                <a:latin typeface="Calibri"/>
                <a:ea typeface="맑은 고딕"/>
                <a:cs typeface="Calibri"/>
              </a:rPr>
              <a:t>세 사례 모두 표준 시험만으로는 사전에 걸러내지 못했습니다.</a:t>
            </a:r>
          </a:p>
        </p:txBody>
      </p:sp>
      <p:sp>
        <p:nvSpPr>
          <p:cNvPr id="537" name="TextBox 538"/>
          <p:cNvSpPr txBox="1"/>
          <p:nvPr/>
        </p:nvSpPr>
        <p:spPr>
          <a:xfrm>
            <a:off x="6245352" y="5394960"/>
            <a:ext cx="5440680" cy="411480"/>
          </a:xfrm>
          <a:prstGeom prst="rect">
            <a:avLst/>
          </a:prstGeom>
          <a:noFill/>
        </p:spPr>
        <p:txBody>
          <a:bodyPr wrap="square" lIns="36576" tIns="0" rIns="36576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595959"/>
                </a:solidFill>
                <a:latin typeface="Calibri"/>
                <a:ea typeface="맑은 고딕"/>
                <a:cs typeface="Calibri"/>
              </a:rPr>
              <a:t>→ 증상이 나타나면 이미 손상이 진행 중입니다 — 조기 신호 감시가 핵심.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Rectangle 540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41" name="TextBox 542"/>
          <p:cNvSpPr txBox="1"/>
          <p:nvPr/>
        </p:nvSpPr>
        <p:spPr>
          <a:xfrm>
            <a:off x="502920" y="146304"/>
            <a:ext cx="11155680" cy="74980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규제 위반은 곧바로 운항 정지로 이어집니다</a:t>
            </a:r>
          </a:p>
        </p:txBody>
      </p:sp>
      <p:sp>
        <p:nvSpPr>
          <p:cNvPr id="543" name="Rectangle 544"/>
          <p:cNvSpPr/>
          <p:nvPr/>
        </p:nvSpPr>
        <p:spPr>
          <a:xfrm>
            <a:off x="502920" y="1325880"/>
            <a:ext cx="5440680" cy="329184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45" name="TextBox 546"/>
          <p:cNvSpPr txBox="1"/>
          <p:nvPr/>
        </p:nvSpPr>
        <p:spPr>
          <a:xfrm>
            <a:off x="612648" y="1325880"/>
            <a:ext cx="5221224" cy="32918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33333"/>
                </a:solidFill>
                <a:latin typeface="Calibri"/>
                <a:ea typeface="맑은 고딕"/>
                <a:cs typeface="Calibri"/>
              </a:rPr>
              <a:t>황분 — 전체 클레임의 12.86%</a:t>
            </a:r>
          </a:p>
        </p:txBody>
      </p:sp>
      <p:sp>
        <p:nvSpPr>
          <p:cNvPr id="547" name="TextBox 548"/>
          <p:cNvSpPr txBox="1"/>
          <p:nvPr/>
        </p:nvSpPr>
        <p:spPr>
          <a:xfrm>
            <a:off x="502920" y="1783080"/>
            <a:ext cx="5440680" cy="1371600"/>
          </a:xfrm>
          <a:prstGeom prst="rect">
            <a:avLst/>
          </a:prstGeom>
          <a:noFill/>
        </p:spPr>
        <p:txBody>
          <a:bodyPr wrap="square" lIns="36576" tIns="0" rIns="36576" bIns="0" anchor="t"/>
          <a:lstStyle/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대부분 VLSFO가 0.5% 한도를 초과했고, 심한 경우 2.7%까지 나왔습니다. MARPOL 위반은 억류·벌금과 강제 디벙커링으로 이어집니다.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C00000"/>
                </a:solidFill>
                <a:latin typeface="Calibri"/>
                <a:ea typeface="맑은 고딕"/>
                <a:cs typeface="Calibri"/>
              </a:rPr>
              <a:t>중국 MSA 사례에서는 이미 재인도가 끝난 뒤 적발되어 비용 부담 주체가 문제가 됐습니다.</a:t>
            </a:r>
          </a:p>
        </p:txBody>
      </p:sp>
      <p:sp>
        <p:nvSpPr>
          <p:cNvPr id="549" name="Rectangle 550"/>
          <p:cNvSpPr/>
          <p:nvPr/>
        </p:nvSpPr>
        <p:spPr>
          <a:xfrm>
            <a:off x="502920" y="3291840"/>
            <a:ext cx="5440680" cy="329184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51" name="TextBox 552"/>
          <p:cNvSpPr txBox="1"/>
          <p:nvPr/>
        </p:nvSpPr>
        <p:spPr>
          <a:xfrm>
            <a:off x="612648" y="3291840"/>
            <a:ext cx="5221224" cy="32918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33333"/>
                </a:solidFill>
                <a:latin typeface="Calibri"/>
                <a:ea typeface="맑은 고딕"/>
                <a:cs typeface="Calibri"/>
              </a:rPr>
              <a:t>인화점 — 전체의 4.11%</a:t>
            </a:r>
          </a:p>
        </p:txBody>
      </p:sp>
      <p:sp>
        <p:nvSpPr>
          <p:cNvPr id="553" name="TextBox 554"/>
          <p:cNvSpPr txBox="1"/>
          <p:nvPr/>
        </p:nvSpPr>
        <p:spPr>
          <a:xfrm>
            <a:off x="502920" y="3749040"/>
            <a:ext cx="5440680" cy="1097280"/>
          </a:xfrm>
          <a:prstGeom prst="rect">
            <a:avLst/>
          </a:prstGeom>
          <a:noFill/>
        </p:spPr>
        <p:txBody>
          <a:bodyPr wrap="square" lIns="36576" tIns="0" rIns="36576" bIns="0" anchor="t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SOLAS II-2 Reg.4에 따라 선내 사용 연료는 60°C 이상이어야 하며, 미달 시 전량 디벙커링이 불가피합니다.</a:t>
            </a:r>
          </a:p>
        </p:txBody>
      </p:sp>
      <p:sp>
        <p:nvSpPr>
          <p:cNvPr id="555" name="Rectangle 556"/>
          <p:cNvSpPr/>
          <p:nvPr/>
        </p:nvSpPr>
        <p:spPr>
          <a:xfrm>
            <a:off x="502920" y="4983480"/>
            <a:ext cx="5440680" cy="777240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57" name="TextBox 558"/>
          <p:cNvSpPr txBox="1"/>
          <p:nvPr/>
        </p:nvSpPr>
        <p:spPr>
          <a:xfrm>
            <a:off x="685800" y="4983480"/>
            <a:ext cx="5074920" cy="77724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172A4A"/>
                </a:solidFill>
                <a:latin typeface="Calibri"/>
                <a:ea typeface="맑은 고딕"/>
                <a:cs typeface="Calibri"/>
              </a:rPr>
              <a:t>2026년 1월 SOLAS 개정 — BDN에 인화점 실측치 또는 70°C 이상 여부를 명기해야 합니다.</a:t>
            </a:r>
          </a:p>
        </p:txBody>
      </p:sp>
      <p:sp>
        <p:nvSpPr>
          <p:cNvPr id="559" name="Rectangle 560"/>
          <p:cNvSpPr/>
          <p:nvPr/>
        </p:nvSpPr>
        <p:spPr>
          <a:xfrm>
            <a:off x="6245352" y="1325880"/>
            <a:ext cx="5440680" cy="329184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1" name="TextBox 562"/>
          <p:cNvSpPr txBox="1"/>
          <p:nvPr/>
        </p:nvSpPr>
        <p:spPr>
          <a:xfrm>
            <a:off x="6355080" y="1325880"/>
            <a:ext cx="5221224" cy="32918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33333"/>
                </a:solidFill>
                <a:latin typeface="Calibri"/>
                <a:ea typeface="맑은 고딕"/>
                <a:cs typeface="Calibri"/>
              </a:rPr>
              <a:t>수량 분쟁 — ARA의 MFM 의무화</a:t>
            </a:r>
          </a:p>
        </p:txBody>
      </p:sp>
      <p:sp>
        <p:nvSpPr>
          <p:cNvPr id="563" name="Rectangle 564"/>
          <p:cNvSpPr/>
          <p:nvPr/>
        </p:nvSpPr>
        <p:spPr>
          <a:xfrm>
            <a:off x="6245352" y="1783080"/>
            <a:ext cx="2331720" cy="420624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5" name="TextBox 566"/>
          <p:cNvSpPr txBox="1"/>
          <p:nvPr/>
        </p:nvSpPr>
        <p:spPr>
          <a:xfrm>
            <a:off x="6318504" y="1783080"/>
            <a:ext cx="2185416" cy="42062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쟁점</a:t>
            </a:r>
          </a:p>
        </p:txBody>
      </p:sp>
      <p:sp>
        <p:nvSpPr>
          <p:cNvPr id="567" name="Rectangle 568"/>
          <p:cNvSpPr/>
          <p:nvPr/>
        </p:nvSpPr>
        <p:spPr>
          <a:xfrm>
            <a:off x="8577072" y="1783080"/>
            <a:ext cx="3108960" cy="420624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9" name="TextBox 570"/>
          <p:cNvSpPr txBox="1"/>
          <p:nvPr/>
        </p:nvSpPr>
        <p:spPr>
          <a:xfrm>
            <a:off x="8650224" y="1783080"/>
            <a:ext cx="2962656" cy="42062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실제 사례</a:t>
            </a:r>
          </a:p>
        </p:txBody>
      </p:sp>
      <p:sp>
        <p:nvSpPr>
          <p:cNvPr id="571" name="Rectangle 572"/>
          <p:cNvSpPr/>
          <p:nvPr/>
        </p:nvSpPr>
        <p:spPr>
          <a:xfrm>
            <a:off x="6245352" y="2203704"/>
            <a:ext cx="23317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73" name="TextBox 574"/>
          <p:cNvSpPr txBox="1"/>
          <p:nvPr/>
        </p:nvSpPr>
        <p:spPr>
          <a:xfrm>
            <a:off x="6318504" y="2203704"/>
            <a:ext cx="2185416" cy="42062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수치 불일치</a:t>
            </a:r>
          </a:p>
        </p:txBody>
      </p:sp>
      <p:sp>
        <p:nvSpPr>
          <p:cNvPr id="575" name="Rectangle 576"/>
          <p:cNvSpPr/>
          <p:nvPr/>
        </p:nvSpPr>
        <p:spPr>
          <a:xfrm>
            <a:off x="8577072" y="2203704"/>
            <a:ext cx="3108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77" name="TextBox 578"/>
          <p:cNvSpPr txBox="1"/>
          <p:nvPr/>
        </p:nvSpPr>
        <p:spPr>
          <a:xfrm>
            <a:off x="8650224" y="2203704"/>
            <a:ext cx="2962656" cy="42062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BDN 대비 약 60톤 부족 수령</a:t>
            </a:r>
          </a:p>
        </p:txBody>
      </p:sp>
      <p:sp>
        <p:nvSpPr>
          <p:cNvPr id="579" name="Rectangle 580"/>
          <p:cNvSpPr/>
          <p:nvPr/>
        </p:nvSpPr>
        <p:spPr>
          <a:xfrm>
            <a:off x="6245352" y="2624328"/>
            <a:ext cx="23317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81" name="TextBox 582"/>
          <p:cNvSpPr txBox="1"/>
          <p:nvPr/>
        </p:nvSpPr>
        <p:spPr>
          <a:xfrm>
            <a:off x="6318504" y="2624328"/>
            <a:ext cx="2185416" cy="42062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검증 기회 박탈</a:t>
            </a:r>
          </a:p>
        </p:txBody>
      </p:sp>
      <p:sp>
        <p:nvSpPr>
          <p:cNvPr id="583" name="Rectangle 584"/>
          <p:cNvSpPr/>
          <p:nvPr/>
        </p:nvSpPr>
        <p:spPr>
          <a:xfrm>
            <a:off x="8577072" y="2624328"/>
            <a:ext cx="3108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85" name="TextBox 586"/>
          <p:cNvSpPr txBox="1"/>
          <p:nvPr/>
        </p:nvSpPr>
        <p:spPr>
          <a:xfrm>
            <a:off x="8650224" y="2624328"/>
            <a:ext cx="2962656" cy="42062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C00000"/>
                </a:solidFill>
                <a:latin typeface="Calibri"/>
                <a:ea typeface="맑은 고딕"/>
                <a:cs typeface="Calibri"/>
              </a:rPr>
              <a:t>바지 수동 검척(sounding) 거부됨</a:t>
            </a:r>
          </a:p>
        </p:txBody>
      </p:sp>
      <p:sp>
        <p:nvSpPr>
          <p:cNvPr id="587" name="Rectangle 588"/>
          <p:cNvSpPr/>
          <p:nvPr/>
        </p:nvSpPr>
        <p:spPr>
          <a:xfrm>
            <a:off x="6245352" y="3044952"/>
            <a:ext cx="23317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89" name="TextBox 590"/>
          <p:cNvSpPr txBox="1"/>
          <p:nvPr/>
        </p:nvSpPr>
        <p:spPr>
          <a:xfrm>
            <a:off x="6318504" y="3044952"/>
            <a:ext cx="2185416" cy="42062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교정 상태</a:t>
            </a:r>
          </a:p>
        </p:txBody>
      </p:sp>
      <p:sp>
        <p:nvSpPr>
          <p:cNvPr id="591" name="Rectangle 592"/>
          <p:cNvSpPr/>
          <p:nvPr/>
        </p:nvSpPr>
        <p:spPr>
          <a:xfrm>
            <a:off x="8577072" y="3044952"/>
            <a:ext cx="3108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93" name="TextBox 594"/>
          <p:cNvSpPr txBox="1"/>
          <p:nvPr/>
        </p:nvSpPr>
        <p:spPr>
          <a:xfrm>
            <a:off x="8650224" y="3044952"/>
            <a:ext cx="2962656" cy="42062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MFM 교정증이 16개월 경과</a:t>
            </a:r>
          </a:p>
        </p:txBody>
      </p:sp>
      <p:sp>
        <p:nvSpPr>
          <p:cNvPr id="595" name="TextBox 596"/>
          <p:cNvSpPr txBox="1"/>
          <p:nvPr/>
        </p:nvSpPr>
        <p:spPr>
          <a:xfrm>
            <a:off x="6245352" y="3566160"/>
            <a:ext cx="5440680" cy="1463040"/>
          </a:xfrm>
          <a:prstGeom prst="rect">
            <a:avLst/>
          </a:prstGeom>
          <a:noFill/>
        </p:spPr>
        <p:txBody>
          <a:bodyPr wrap="square" lIns="36576" tIns="0" rIns="36576" bIns="0" anchor="t"/>
          <a:lstStyle/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당국은 상업적 분쟁에 개입하지 않음을 명확히 했습니다. 그들의 역할은 MFM의 편차가 유의미한지와 시스템이 올바르게 운영됐는지에만 한정됩니다.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나머지 분쟁 해결은 전적으로 당사자의 몫입니다 — 선상 검증 절차가 그만큼 중요해졌습니다.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Rectangle 598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99" name="TextBox 600"/>
          <p:cNvSpPr txBox="1"/>
          <p:nvPr/>
        </p:nvSpPr>
        <p:spPr>
          <a:xfrm>
            <a:off x="502920" y="146304"/>
            <a:ext cx="11155680" cy="74980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증거와 계약 — 이기는 조건</a:t>
            </a:r>
          </a:p>
        </p:txBody>
      </p:sp>
      <p:sp>
        <p:nvSpPr>
          <p:cNvPr id="601" name="Rectangle 602"/>
          <p:cNvSpPr/>
          <p:nvPr/>
        </p:nvSpPr>
        <p:spPr>
          <a:xfrm>
            <a:off x="502920" y="1325880"/>
            <a:ext cx="5440680" cy="329184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3" name="TextBox 604"/>
          <p:cNvSpPr txBox="1"/>
          <p:nvPr/>
        </p:nvSpPr>
        <p:spPr>
          <a:xfrm>
            <a:off x="612648" y="1325880"/>
            <a:ext cx="5221224" cy="32918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33333"/>
                </a:solidFill>
                <a:latin typeface="Calibri"/>
                <a:ea typeface="맑은 고딕"/>
                <a:cs typeface="Calibri"/>
              </a:rPr>
              <a:t>샘플을 둘러싼 쟁점</a:t>
            </a:r>
          </a:p>
        </p:txBody>
      </p:sp>
      <p:sp>
        <p:nvSpPr>
          <p:cNvPr id="605" name="TextBox 606"/>
          <p:cNvSpPr txBox="1"/>
          <p:nvPr/>
        </p:nvSpPr>
        <p:spPr>
          <a:xfrm>
            <a:off x="502920" y="1783080"/>
            <a:ext cx="5440680" cy="1828800"/>
          </a:xfrm>
          <a:prstGeom prst="rect">
            <a:avLst/>
          </a:prstGeom>
          <a:noFill/>
        </p:spPr>
        <p:txBody>
          <a:bodyPr wrap="square" lIns="36576" tIns="0" rIns="36576" bIns="0" anchor="t"/>
          <a:lstStyle/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어느 샘플이 binding인가가 가장 큰 다툼입니다. 용선계약은 매니폴드 샘플을, 공급자 약관은 바지 리테인 샘플을 최종으로 규정하는 경우가 많습니다.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한 사례에서는 공급자 샘플의 봉인 링이 빠지고 천공된 상태였고, 선박 샘플은 캣파인 200mg/kg·나트륨 500mg/kg을 넘은 반면 공급자 샘플은 온스펙이었습니다.</a:t>
            </a:r>
          </a:p>
        </p:txBody>
      </p:sp>
      <p:sp>
        <p:nvSpPr>
          <p:cNvPr id="607" name="Rectangle 608"/>
          <p:cNvSpPr/>
          <p:nvPr/>
        </p:nvSpPr>
        <p:spPr>
          <a:xfrm>
            <a:off x="502920" y="3794760"/>
            <a:ext cx="5440680" cy="777240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9" name="TextBox 610"/>
          <p:cNvSpPr txBox="1"/>
          <p:nvPr/>
        </p:nvSpPr>
        <p:spPr>
          <a:xfrm>
            <a:off x="685800" y="3794760"/>
            <a:ext cx="5074920" cy="77724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172A4A"/>
                </a:solidFill>
                <a:latin typeface="Calibri"/>
                <a:ea typeface="맑은 고딕"/>
                <a:cs typeface="Calibri"/>
              </a:rPr>
              <a:t>단일 파라미터만 시험하자는 제안은 거절하고 전체 fingerprinting을 요구하십시오.</a:t>
            </a:r>
          </a:p>
        </p:txBody>
      </p:sp>
      <p:sp>
        <p:nvSpPr>
          <p:cNvPr id="611" name="Rectangle 612"/>
          <p:cNvSpPr/>
          <p:nvPr/>
        </p:nvSpPr>
        <p:spPr>
          <a:xfrm>
            <a:off x="502920" y="4800600"/>
            <a:ext cx="5440680" cy="329184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13" name="TextBox 614"/>
          <p:cNvSpPr txBox="1"/>
          <p:nvPr/>
        </p:nvSpPr>
        <p:spPr>
          <a:xfrm>
            <a:off x="612648" y="4800600"/>
            <a:ext cx="5221224" cy="32918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33333"/>
                </a:solidFill>
                <a:latin typeface="Calibri"/>
                <a:ea typeface="맑은 고딕"/>
                <a:cs typeface="Calibri"/>
              </a:rPr>
              <a:t>왜 full fingerprinting인가</a:t>
            </a:r>
          </a:p>
        </p:txBody>
      </p:sp>
      <p:sp>
        <p:nvSpPr>
          <p:cNvPr id="615" name="TextBox 616"/>
          <p:cNvSpPr txBox="1"/>
          <p:nvPr/>
        </p:nvSpPr>
        <p:spPr>
          <a:xfrm>
            <a:off x="502920" y="5257800"/>
            <a:ext cx="5440680" cy="1005840"/>
          </a:xfrm>
          <a:prstGeom prst="rect">
            <a:avLst/>
          </a:prstGeom>
          <a:noFill/>
        </p:spPr>
        <p:txBody>
          <a:bodyPr wrap="square" lIns="36576" tIns="0" rIns="36576" bIns="0" anchor="t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연료의 전체 화학 프로파일을 확보해야 샘플 간 비교가 가능해지고, 샘플의 진정성·대표성 다툼을 줄일 수 있습니다.</a:t>
            </a:r>
          </a:p>
        </p:txBody>
      </p:sp>
      <p:sp>
        <p:nvSpPr>
          <p:cNvPr id="617" name="Rectangle 618"/>
          <p:cNvSpPr/>
          <p:nvPr/>
        </p:nvSpPr>
        <p:spPr>
          <a:xfrm>
            <a:off x="6245352" y="1325880"/>
            <a:ext cx="5440680" cy="329184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19" name="TextBox 620"/>
          <p:cNvSpPr txBox="1"/>
          <p:nvPr/>
        </p:nvSpPr>
        <p:spPr>
          <a:xfrm>
            <a:off x="6355080" y="1325880"/>
            <a:ext cx="5221224" cy="32918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33333"/>
                </a:solidFill>
                <a:latin typeface="Calibri"/>
                <a:ea typeface="맑은 고딕"/>
                <a:cs typeface="Calibri"/>
              </a:rPr>
              <a:t>사전에 합의해두어야 할 것</a:t>
            </a:r>
          </a:p>
        </p:txBody>
      </p:sp>
      <p:sp>
        <p:nvSpPr>
          <p:cNvPr id="621" name="Rectangle 622"/>
          <p:cNvSpPr/>
          <p:nvPr/>
        </p:nvSpPr>
        <p:spPr>
          <a:xfrm>
            <a:off x="6245352" y="1783080"/>
            <a:ext cx="566928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23" name="TextBox 624"/>
          <p:cNvSpPr txBox="1"/>
          <p:nvPr/>
        </p:nvSpPr>
        <p:spPr>
          <a:xfrm>
            <a:off x="6318504" y="1783080"/>
            <a:ext cx="420624" cy="50292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72A4A"/>
                </a:solidFill>
                <a:latin typeface="Calibri"/>
                <a:ea typeface="맑은 고딕"/>
                <a:cs typeface="Calibri"/>
              </a:rPr>
              <a:t>01</a:t>
            </a:r>
          </a:p>
        </p:txBody>
      </p:sp>
      <p:sp>
        <p:nvSpPr>
          <p:cNvPr id="625" name="Rectangle 626"/>
          <p:cNvSpPr/>
          <p:nvPr/>
        </p:nvSpPr>
        <p:spPr>
          <a:xfrm>
            <a:off x="6812280" y="1783080"/>
            <a:ext cx="4873752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27" name="TextBox 628"/>
          <p:cNvSpPr txBox="1"/>
          <p:nvPr/>
        </p:nvSpPr>
        <p:spPr>
          <a:xfrm>
            <a:off x="6885432" y="1783080"/>
            <a:ext cx="4727448" cy="50292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Binding sample을 어느 것으로 할 것인가 (매니폴드 권장)</a:t>
            </a:r>
          </a:p>
        </p:txBody>
      </p:sp>
      <p:sp>
        <p:nvSpPr>
          <p:cNvPr id="629" name="Rectangle 630"/>
          <p:cNvSpPr/>
          <p:nvPr/>
        </p:nvSpPr>
        <p:spPr>
          <a:xfrm>
            <a:off x="6245352" y="2286000"/>
            <a:ext cx="566928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31" name="TextBox 632"/>
          <p:cNvSpPr txBox="1"/>
          <p:nvPr/>
        </p:nvSpPr>
        <p:spPr>
          <a:xfrm>
            <a:off x="6318504" y="2286000"/>
            <a:ext cx="420624" cy="50292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72A4A"/>
                </a:solidFill>
                <a:latin typeface="Calibri"/>
                <a:ea typeface="맑은 고딕"/>
                <a:cs typeface="Calibri"/>
              </a:rPr>
              <a:t>02</a:t>
            </a:r>
          </a:p>
        </p:txBody>
      </p:sp>
      <p:sp>
        <p:nvSpPr>
          <p:cNvPr id="633" name="Rectangle 634"/>
          <p:cNvSpPr/>
          <p:nvPr/>
        </p:nvSpPr>
        <p:spPr>
          <a:xfrm>
            <a:off x="6812280" y="2286000"/>
            <a:ext cx="4873752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35" name="TextBox 636"/>
          <p:cNvSpPr txBox="1"/>
          <p:nvPr/>
        </p:nvSpPr>
        <p:spPr>
          <a:xfrm>
            <a:off x="6885432" y="2286000"/>
            <a:ext cx="4727448" cy="50292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Chain of custody — 봉인·보관·이송 기록 절차</a:t>
            </a:r>
          </a:p>
        </p:txBody>
      </p:sp>
      <p:sp>
        <p:nvSpPr>
          <p:cNvPr id="637" name="Rectangle 638"/>
          <p:cNvSpPr/>
          <p:nvPr/>
        </p:nvSpPr>
        <p:spPr>
          <a:xfrm>
            <a:off x="6245352" y="2788920"/>
            <a:ext cx="566928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39" name="TextBox 640"/>
          <p:cNvSpPr txBox="1"/>
          <p:nvPr/>
        </p:nvSpPr>
        <p:spPr>
          <a:xfrm>
            <a:off x="6318504" y="2788920"/>
            <a:ext cx="420624" cy="50292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72A4A"/>
                </a:solidFill>
                <a:latin typeface="Calibri"/>
                <a:ea typeface="맑은 고딕"/>
                <a:cs typeface="Calibri"/>
              </a:rPr>
              <a:t>03</a:t>
            </a:r>
          </a:p>
        </p:txBody>
      </p:sp>
      <p:sp>
        <p:nvSpPr>
          <p:cNvPr id="641" name="Rectangle 642"/>
          <p:cNvSpPr/>
          <p:nvPr/>
        </p:nvSpPr>
        <p:spPr>
          <a:xfrm>
            <a:off x="6812280" y="2788920"/>
            <a:ext cx="4873752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43" name="TextBox 644"/>
          <p:cNvSpPr txBox="1"/>
          <p:nvPr/>
        </p:nvSpPr>
        <p:spPr>
          <a:xfrm>
            <a:off x="6885432" y="2788920"/>
            <a:ext cx="4727448" cy="50292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공동시험 프로토콜 — 연구소, 입회 방법, 시험법</a:t>
            </a:r>
          </a:p>
        </p:txBody>
      </p:sp>
      <p:sp>
        <p:nvSpPr>
          <p:cNvPr id="645" name="Rectangle 646"/>
          <p:cNvSpPr/>
          <p:nvPr/>
        </p:nvSpPr>
        <p:spPr>
          <a:xfrm>
            <a:off x="6245352" y="3291840"/>
            <a:ext cx="566928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47" name="TextBox 648"/>
          <p:cNvSpPr txBox="1"/>
          <p:nvPr/>
        </p:nvSpPr>
        <p:spPr>
          <a:xfrm>
            <a:off x="6318504" y="3291840"/>
            <a:ext cx="420624" cy="50292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72A4A"/>
                </a:solidFill>
                <a:latin typeface="Calibri"/>
                <a:ea typeface="맑은 고딕"/>
                <a:cs typeface="Calibri"/>
              </a:rPr>
              <a:t>04</a:t>
            </a:r>
          </a:p>
        </p:txBody>
      </p:sp>
      <p:sp>
        <p:nvSpPr>
          <p:cNvPr id="649" name="Rectangle 650"/>
          <p:cNvSpPr/>
          <p:nvPr/>
        </p:nvSpPr>
        <p:spPr>
          <a:xfrm>
            <a:off x="6812280" y="3291840"/>
            <a:ext cx="4873752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51" name="TextBox 652"/>
          <p:cNvSpPr txBox="1"/>
          <p:nvPr/>
        </p:nvSpPr>
        <p:spPr>
          <a:xfrm>
            <a:off x="6885432" y="3291840"/>
            <a:ext cx="4727448" cy="50292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표준 시험 외 분석(GCMS) 비용 부담 주체</a:t>
            </a:r>
          </a:p>
        </p:txBody>
      </p:sp>
      <p:sp>
        <p:nvSpPr>
          <p:cNvPr id="653" name="Rectangle 654"/>
          <p:cNvSpPr/>
          <p:nvPr/>
        </p:nvSpPr>
        <p:spPr>
          <a:xfrm>
            <a:off x="6245352" y="3794760"/>
            <a:ext cx="566928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55" name="TextBox 656"/>
          <p:cNvSpPr txBox="1"/>
          <p:nvPr/>
        </p:nvSpPr>
        <p:spPr>
          <a:xfrm>
            <a:off x="6318504" y="3794760"/>
            <a:ext cx="420624" cy="50292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72A4A"/>
                </a:solidFill>
                <a:latin typeface="Calibri"/>
                <a:ea typeface="맑은 고딕"/>
                <a:cs typeface="Calibri"/>
              </a:rPr>
              <a:t>05</a:t>
            </a:r>
          </a:p>
        </p:txBody>
      </p:sp>
      <p:sp>
        <p:nvSpPr>
          <p:cNvPr id="657" name="Rectangle 658"/>
          <p:cNvSpPr/>
          <p:nvPr/>
        </p:nvSpPr>
        <p:spPr>
          <a:xfrm>
            <a:off x="6812280" y="3794760"/>
            <a:ext cx="4873752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59" name="TextBox 660"/>
          <p:cNvSpPr txBox="1"/>
          <p:nvPr/>
        </p:nvSpPr>
        <p:spPr>
          <a:xfrm>
            <a:off x="6885432" y="3794760"/>
            <a:ext cx="4727448" cy="50292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ISO 4259 시험 허용오차의 적용 방식</a:t>
            </a:r>
          </a:p>
        </p:txBody>
      </p:sp>
      <p:sp>
        <p:nvSpPr>
          <p:cNvPr id="661" name="TextBox 662"/>
          <p:cNvSpPr txBox="1"/>
          <p:nvPr/>
        </p:nvSpPr>
        <p:spPr>
          <a:xfrm>
            <a:off x="6245352" y="4480560"/>
            <a:ext cx="5440680" cy="365760"/>
          </a:xfrm>
          <a:prstGeom prst="rect">
            <a:avLst/>
          </a:prstGeom>
          <a:noFill/>
        </p:spPr>
        <p:txBody>
          <a:bodyPr wrap="square" lIns="36576" tIns="0" rIns="36576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595959"/>
                </a:solidFill>
                <a:latin typeface="Calibri"/>
                <a:ea typeface="맑은 고딕"/>
                <a:cs typeface="Calibri"/>
              </a:rPr>
              <a:t>사전 합의가 없으면 증거 다툼이 본안 다툼을 압도합니다.</a:t>
            </a:r>
          </a:p>
        </p:txBody>
      </p:sp>
      <p:sp>
        <p:nvSpPr>
          <p:cNvPr id="663" name="Rectangle 664"/>
          <p:cNvSpPr/>
          <p:nvPr/>
        </p:nvSpPr>
        <p:spPr>
          <a:xfrm>
            <a:off x="6245352" y="4937760"/>
            <a:ext cx="5440680" cy="777240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65" name="TextBox 666"/>
          <p:cNvSpPr txBox="1"/>
          <p:nvPr/>
        </p:nvSpPr>
        <p:spPr>
          <a:xfrm>
            <a:off x="6428232" y="4937760"/>
            <a:ext cx="5074920" cy="77724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595959"/>
                </a:solidFill>
                <a:latin typeface="Calibri"/>
                <a:ea typeface="맑은 고딕"/>
                <a:cs typeface="Calibri"/>
              </a:rPr>
              <a:t>3D 프린팅 봉인 복제 의혹도 제기되었으나 Gard 취급 사건에서 입증된 바는 없습니다.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Rectangle 668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69" name="TextBox 670"/>
          <p:cNvSpPr txBox="1"/>
          <p:nvPr/>
        </p:nvSpPr>
        <p:spPr>
          <a:xfrm>
            <a:off x="502920" y="146304"/>
            <a:ext cx="11155680" cy="74980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바이오연료 시장 — 왜 지금인가</a:t>
            </a:r>
          </a:p>
        </p:txBody>
      </p:sp>
      <p:sp>
        <p:nvSpPr>
          <p:cNvPr id="671" name="Rectangle 672"/>
          <p:cNvSpPr/>
          <p:nvPr/>
        </p:nvSpPr>
        <p:spPr>
          <a:xfrm>
            <a:off x="502920" y="1325880"/>
            <a:ext cx="5440680" cy="329184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73" name="TextBox 674"/>
          <p:cNvSpPr txBox="1"/>
          <p:nvPr/>
        </p:nvSpPr>
        <p:spPr>
          <a:xfrm>
            <a:off x="612648" y="1325880"/>
            <a:ext cx="5221224" cy="32918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33333"/>
                </a:solidFill>
                <a:latin typeface="Calibri"/>
                <a:ea typeface="맑은 고딕"/>
                <a:cs typeface="Calibri"/>
              </a:rPr>
              <a:t>숫자로 본 시장</a:t>
            </a:r>
          </a:p>
        </p:txBody>
      </p:sp>
      <p:sp>
        <p:nvSpPr>
          <p:cNvPr id="675" name="Rectangle 676"/>
          <p:cNvSpPr/>
          <p:nvPr/>
        </p:nvSpPr>
        <p:spPr>
          <a:xfrm>
            <a:off x="502920" y="1783080"/>
            <a:ext cx="3017520" cy="402336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77" name="TextBox 678"/>
          <p:cNvSpPr txBox="1"/>
          <p:nvPr/>
        </p:nvSpPr>
        <p:spPr>
          <a:xfrm>
            <a:off x="576072" y="1783080"/>
            <a:ext cx="2871216" cy="40233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지표</a:t>
            </a:r>
          </a:p>
        </p:txBody>
      </p:sp>
      <p:sp>
        <p:nvSpPr>
          <p:cNvPr id="679" name="Rectangle 680"/>
          <p:cNvSpPr/>
          <p:nvPr/>
        </p:nvSpPr>
        <p:spPr>
          <a:xfrm>
            <a:off x="3520440" y="1783080"/>
            <a:ext cx="2423160" cy="402336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81" name="TextBox 682"/>
          <p:cNvSpPr txBox="1"/>
          <p:nvPr/>
        </p:nvSpPr>
        <p:spPr>
          <a:xfrm>
            <a:off x="3593592" y="1783080"/>
            <a:ext cx="2276856" cy="40233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값</a:t>
            </a:r>
          </a:p>
        </p:txBody>
      </p:sp>
      <p:sp>
        <p:nvSpPr>
          <p:cNvPr id="683" name="Rectangle 684"/>
          <p:cNvSpPr/>
          <p:nvPr/>
        </p:nvSpPr>
        <p:spPr>
          <a:xfrm>
            <a:off x="502920" y="2185416"/>
            <a:ext cx="301752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85" name="TextBox 686"/>
          <p:cNvSpPr txBox="1"/>
          <p:nvPr/>
        </p:nvSpPr>
        <p:spPr>
          <a:xfrm>
            <a:off x="576072" y="2185416"/>
            <a:ext cx="2871216" cy="51206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싱가포르 바이오 블렌드 판매 (2025)</a:t>
            </a:r>
          </a:p>
        </p:txBody>
      </p:sp>
      <p:sp>
        <p:nvSpPr>
          <p:cNvPr id="687" name="Rectangle 688"/>
          <p:cNvSpPr/>
          <p:nvPr/>
        </p:nvSpPr>
        <p:spPr>
          <a:xfrm>
            <a:off x="3520440" y="2185416"/>
            <a:ext cx="24231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89" name="TextBox 690"/>
          <p:cNvSpPr txBox="1"/>
          <p:nvPr/>
        </p:nvSpPr>
        <p:spPr>
          <a:xfrm>
            <a:off x="3593592" y="2185416"/>
            <a:ext cx="2276856" cy="51206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6F3D"/>
                </a:solidFill>
                <a:latin typeface="Calibri"/>
                <a:ea typeface="맑은 고딕"/>
                <a:cs typeface="Calibri"/>
              </a:rPr>
              <a:t>약 1.3백만 톤 (+53%)</a:t>
            </a:r>
          </a:p>
        </p:txBody>
      </p:sp>
      <p:sp>
        <p:nvSpPr>
          <p:cNvPr id="691" name="Rectangle 692"/>
          <p:cNvSpPr/>
          <p:nvPr/>
        </p:nvSpPr>
        <p:spPr>
          <a:xfrm>
            <a:off x="502920" y="2697480"/>
            <a:ext cx="30175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93" name="TextBox 694"/>
          <p:cNvSpPr txBox="1"/>
          <p:nvPr/>
        </p:nvSpPr>
        <p:spPr>
          <a:xfrm>
            <a:off x="576072" y="2697480"/>
            <a:ext cx="2871216" cy="40233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로테르담 (2025)</a:t>
            </a:r>
          </a:p>
        </p:txBody>
      </p:sp>
      <p:sp>
        <p:nvSpPr>
          <p:cNvPr id="695" name="Rectangle 696"/>
          <p:cNvSpPr/>
          <p:nvPr/>
        </p:nvSpPr>
        <p:spPr>
          <a:xfrm>
            <a:off x="3520440" y="2697480"/>
            <a:ext cx="242316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97" name="TextBox 698"/>
          <p:cNvSpPr txBox="1"/>
          <p:nvPr/>
        </p:nvSpPr>
        <p:spPr>
          <a:xfrm>
            <a:off x="3593592" y="2697480"/>
            <a:ext cx="2276856" cy="40233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약 63.5만 톤</a:t>
            </a:r>
          </a:p>
        </p:txBody>
      </p:sp>
      <p:sp>
        <p:nvSpPr>
          <p:cNvPr id="699" name="Rectangle 700"/>
          <p:cNvSpPr/>
          <p:nvPr/>
        </p:nvSpPr>
        <p:spPr>
          <a:xfrm>
            <a:off x="502920" y="3099816"/>
            <a:ext cx="30175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01" name="TextBox 702"/>
          <p:cNvSpPr txBox="1"/>
          <p:nvPr/>
        </p:nvSpPr>
        <p:spPr>
          <a:xfrm>
            <a:off x="576072" y="3099816"/>
            <a:ext cx="2871216" cy="40233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글로벌 UCO 공급량</a:t>
            </a:r>
          </a:p>
        </p:txBody>
      </p:sp>
      <p:sp>
        <p:nvSpPr>
          <p:cNvPr id="703" name="Rectangle 704"/>
          <p:cNvSpPr/>
          <p:nvPr/>
        </p:nvSpPr>
        <p:spPr>
          <a:xfrm>
            <a:off x="3520440" y="3099816"/>
            <a:ext cx="242316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05" name="TextBox 706"/>
          <p:cNvSpPr txBox="1"/>
          <p:nvPr/>
        </p:nvSpPr>
        <p:spPr>
          <a:xfrm>
            <a:off x="3593592" y="3099816"/>
            <a:ext cx="2276856" cy="40233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1,100–1,200만 톤</a:t>
            </a:r>
          </a:p>
        </p:txBody>
      </p:sp>
      <p:sp>
        <p:nvSpPr>
          <p:cNvPr id="707" name="Rectangle 708"/>
          <p:cNvSpPr/>
          <p:nvPr/>
        </p:nvSpPr>
        <p:spPr>
          <a:xfrm>
            <a:off x="502920" y="3502152"/>
            <a:ext cx="30175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09" name="TextBox 710"/>
          <p:cNvSpPr txBox="1"/>
          <p:nvPr/>
        </p:nvSpPr>
        <p:spPr>
          <a:xfrm>
            <a:off x="576072" y="3502152"/>
            <a:ext cx="2871216" cy="40233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그중 마린 바이오디젤용</a:t>
            </a:r>
          </a:p>
        </p:txBody>
      </p:sp>
      <p:sp>
        <p:nvSpPr>
          <p:cNvPr id="711" name="Rectangle 712"/>
          <p:cNvSpPr/>
          <p:nvPr/>
        </p:nvSpPr>
        <p:spPr>
          <a:xfrm>
            <a:off x="3520440" y="3502152"/>
            <a:ext cx="242316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13" name="TextBox 714"/>
          <p:cNvSpPr txBox="1"/>
          <p:nvPr/>
        </p:nvSpPr>
        <p:spPr>
          <a:xfrm>
            <a:off x="3593592" y="3502152"/>
            <a:ext cx="2276856" cy="40233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C00000"/>
                </a:solidFill>
                <a:latin typeface="Calibri"/>
                <a:ea typeface="맑은 고딕"/>
                <a:cs typeface="Calibri"/>
              </a:rPr>
              <a:t>약 37만 톤에 불과</a:t>
            </a:r>
          </a:p>
        </p:txBody>
      </p:sp>
      <p:sp>
        <p:nvSpPr>
          <p:cNvPr id="715" name="Rectangle 716"/>
          <p:cNvSpPr/>
          <p:nvPr/>
        </p:nvSpPr>
        <p:spPr>
          <a:xfrm>
            <a:off x="502920" y="3904488"/>
            <a:ext cx="30175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17" name="TextBox 718"/>
          <p:cNvSpPr txBox="1"/>
          <p:nvPr/>
        </p:nvSpPr>
        <p:spPr>
          <a:xfrm>
            <a:off x="576072" y="3904488"/>
            <a:ext cx="2871216" cy="40233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VLSFO 대비 프리미엄</a:t>
            </a:r>
          </a:p>
        </p:txBody>
      </p:sp>
      <p:sp>
        <p:nvSpPr>
          <p:cNvPr id="719" name="Rectangle 720"/>
          <p:cNvSpPr/>
          <p:nvPr/>
        </p:nvSpPr>
        <p:spPr>
          <a:xfrm>
            <a:off x="3520440" y="3904488"/>
            <a:ext cx="242316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21" name="TextBox 722"/>
          <p:cNvSpPr txBox="1"/>
          <p:nvPr/>
        </p:nvSpPr>
        <p:spPr>
          <a:xfrm>
            <a:off x="3593592" y="3904488"/>
            <a:ext cx="2276856" cy="40233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약 $200/t 대 구조적 유지</a:t>
            </a:r>
          </a:p>
        </p:txBody>
      </p:sp>
      <p:sp>
        <p:nvSpPr>
          <p:cNvPr id="723" name="TextBox 724"/>
          <p:cNvSpPr txBox="1"/>
          <p:nvPr/>
        </p:nvSpPr>
        <p:spPr>
          <a:xfrm>
            <a:off x="502920" y="4480560"/>
            <a:ext cx="5440680" cy="548640"/>
          </a:xfrm>
          <a:prstGeom prst="rect">
            <a:avLst/>
          </a:prstGeom>
          <a:noFill/>
        </p:spPr>
        <p:txBody>
          <a:bodyPr wrap="square" lIns="36576" tIns="0" rIns="36576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595959"/>
                </a:solidFill>
                <a:latin typeface="Calibri"/>
                <a:ea typeface="맑은 고딕"/>
                <a:cs typeface="Calibri"/>
              </a:rPr>
              <a:t>※ SSA 문서 내 서문은 1.36백만 톤, FAQ 31은 1.33백만 톤으로 표기 — 본 장은 “약 1.3백만 톤”으로 통일했습니다.</a:t>
            </a:r>
          </a:p>
        </p:txBody>
      </p:sp>
      <p:sp>
        <p:nvSpPr>
          <p:cNvPr id="725" name="Rectangle 726"/>
          <p:cNvSpPr/>
          <p:nvPr/>
        </p:nvSpPr>
        <p:spPr>
          <a:xfrm>
            <a:off x="6245352" y="1325880"/>
            <a:ext cx="5440680" cy="329184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27" name="TextBox 728"/>
          <p:cNvSpPr txBox="1"/>
          <p:nvPr/>
        </p:nvSpPr>
        <p:spPr>
          <a:xfrm>
            <a:off x="6355080" y="1325880"/>
            <a:ext cx="5221224" cy="32918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33333"/>
                </a:solidFill>
                <a:latin typeface="Calibri"/>
                <a:ea typeface="맑은 고딕"/>
                <a:cs typeface="Calibri"/>
              </a:rPr>
              <a:t>수요를 끌고 가는 것은 IMO가 아니라 EU</a:t>
            </a:r>
          </a:p>
        </p:txBody>
      </p:sp>
      <p:sp>
        <p:nvSpPr>
          <p:cNvPr id="729" name="TextBox 730"/>
          <p:cNvSpPr txBox="1"/>
          <p:nvPr/>
        </p:nvSpPr>
        <p:spPr>
          <a:xfrm>
            <a:off x="6245352" y="1783080"/>
            <a:ext cx="5440680" cy="2011680"/>
          </a:xfrm>
          <a:prstGeom prst="rect">
            <a:avLst/>
          </a:prstGeom>
          <a:noFill/>
        </p:spPr>
        <p:txBody>
          <a:bodyPr wrap="square" lIns="36576" tIns="0" rIns="36576" bIns="0" anchor="t"/>
          <a:lstStyle/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FuelEU Maritime가 2025년 1월 발효하면서 벙커 구매가 가격 최적화에서 컴플라이언스 조달로 이동했습니다.</a:t>
            </a:r>
          </a:p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반면 IMO의 넷제로 프레임워크(NZF)는 2025년 10월 연기되어 단기 수요에 미치는 영향이 제한적입니다.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항공 SAF와 같은 원료를 놓고 경쟁하면서 인증 UCOME 확보 경쟁과 가격 변동성이 커졌습니다.</a:t>
            </a:r>
          </a:p>
        </p:txBody>
      </p:sp>
      <p:sp>
        <p:nvSpPr>
          <p:cNvPr id="731" name="Rectangle 732"/>
          <p:cNvSpPr/>
          <p:nvPr/>
        </p:nvSpPr>
        <p:spPr>
          <a:xfrm>
            <a:off x="6245352" y="3977640"/>
            <a:ext cx="5440680" cy="777240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33" name="TextBox 734"/>
          <p:cNvSpPr txBox="1"/>
          <p:nvPr/>
        </p:nvSpPr>
        <p:spPr>
          <a:xfrm>
            <a:off x="6428232" y="3977640"/>
            <a:ext cx="5074920" cy="77724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1">
                <a:solidFill>
                  <a:srgbClr val="172A4A"/>
                </a:solidFill>
                <a:latin typeface="Calibri"/>
                <a:ea typeface="맑은 고딕"/>
                <a:cs typeface="Calibri"/>
              </a:rPr>
              <a:t>APAC이 2025년 최대 바이오 벙커링 지역으로 로테르담을 추월했습니다.</a:t>
            </a:r>
          </a:p>
        </p:txBody>
      </p:sp>
      <p:sp>
        <p:nvSpPr>
          <p:cNvPr id="735" name="TextBox 736"/>
          <p:cNvSpPr txBox="1"/>
          <p:nvPr/>
        </p:nvSpPr>
        <p:spPr>
          <a:xfrm>
            <a:off x="6245352" y="4892040"/>
            <a:ext cx="5440680" cy="457200"/>
          </a:xfrm>
          <a:prstGeom prst="rect">
            <a:avLst/>
          </a:prstGeom>
          <a:noFill/>
        </p:spPr>
        <p:txBody>
          <a:bodyPr wrap="square" lIns="36576" tIns="0" rIns="36576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595959"/>
                </a:solidFill>
                <a:latin typeface="Calibri"/>
                <a:ea typeface="맑은 고딕"/>
                <a:cs typeface="Calibri"/>
              </a:rPr>
              <a:t>Zhoushan은 2026년 3월 13일 중국 본토 최초로 현지 블렌딩을 시작했습니다.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Rectangle 738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39" name="TextBox 740"/>
          <p:cNvSpPr txBox="1"/>
          <p:nvPr/>
        </p:nvSpPr>
        <p:spPr>
          <a:xfrm>
            <a:off x="502920" y="146304"/>
            <a:ext cx="11155680" cy="74980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바이오연료의 기술·운항 리스크</a:t>
            </a:r>
          </a:p>
        </p:txBody>
      </p:sp>
      <p:sp>
        <p:nvSpPr>
          <p:cNvPr id="741" name="Rectangle 742"/>
          <p:cNvSpPr/>
          <p:nvPr/>
        </p:nvSpPr>
        <p:spPr>
          <a:xfrm>
            <a:off x="502920" y="1325880"/>
            <a:ext cx="5440680" cy="329184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43" name="TextBox 744"/>
          <p:cNvSpPr txBox="1"/>
          <p:nvPr/>
        </p:nvSpPr>
        <p:spPr>
          <a:xfrm>
            <a:off x="612648" y="1325880"/>
            <a:ext cx="5221224" cy="32918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33333"/>
                </a:solidFill>
                <a:latin typeface="Calibri"/>
                <a:ea typeface="맑은 고딕"/>
                <a:cs typeface="Calibri"/>
              </a:rPr>
              <a:t>주의해야 할 9가지</a:t>
            </a:r>
          </a:p>
        </p:txBody>
      </p:sp>
      <p:sp>
        <p:nvSpPr>
          <p:cNvPr id="745" name="Rectangle 746"/>
          <p:cNvSpPr/>
          <p:nvPr/>
        </p:nvSpPr>
        <p:spPr>
          <a:xfrm>
            <a:off x="502920" y="1783080"/>
            <a:ext cx="1554480" cy="384048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47" name="TextBox 748"/>
          <p:cNvSpPr txBox="1"/>
          <p:nvPr/>
        </p:nvSpPr>
        <p:spPr>
          <a:xfrm>
            <a:off x="576072" y="1783080"/>
            <a:ext cx="1408176" cy="38404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항목</a:t>
            </a:r>
          </a:p>
        </p:txBody>
      </p:sp>
      <p:sp>
        <p:nvSpPr>
          <p:cNvPr id="749" name="Rectangle 750"/>
          <p:cNvSpPr/>
          <p:nvPr/>
        </p:nvSpPr>
        <p:spPr>
          <a:xfrm>
            <a:off x="2057400" y="1783080"/>
            <a:ext cx="3886200" cy="384048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51" name="TextBox 752"/>
          <p:cNvSpPr txBox="1"/>
          <p:nvPr/>
        </p:nvSpPr>
        <p:spPr>
          <a:xfrm>
            <a:off x="2130552" y="1783080"/>
            <a:ext cx="3739896" cy="38404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내용</a:t>
            </a:r>
          </a:p>
        </p:txBody>
      </p:sp>
      <p:sp>
        <p:nvSpPr>
          <p:cNvPr id="753" name="Rectangle 754"/>
          <p:cNvSpPr/>
          <p:nvPr/>
        </p:nvSpPr>
        <p:spPr>
          <a:xfrm>
            <a:off x="502920" y="2167128"/>
            <a:ext cx="15544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55" name="TextBox 756"/>
          <p:cNvSpPr txBox="1"/>
          <p:nvPr/>
        </p:nvSpPr>
        <p:spPr>
          <a:xfrm>
            <a:off x="576072" y="2167128"/>
            <a:ext cx="1408176" cy="38404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저장 열화</a:t>
            </a:r>
          </a:p>
        </p:txBody>
      </p:sp>
      <p:sp>
        <p:nvSpPr>
          <p:cNvPr id="757" name="Rectangle 758"/>
          <p:cNvSpPr/>
          <p:nvPr/>
        </p:nvSpPr>
        <p:spPr>
          <a:xfrm>
            <a:off x="2057400" y="2167128"/>
            <a:ext cx="38862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59" name="TextBox 760"/>
          <p:cNvSpPr txBox="1"/>
          <p:nvPr/>
        </p:nvSpPr>
        <p:spPr>
          <a:xfrm>
            <a:off x="2130552" y="2167128"/>
            <a:ext cx="3739896" cy="38404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기한 내 사용하지 않으면 슬러지 생성</a:t>
            </a:r>
          </a:p>
        </p:txBody>
      </p:sp>
      <p:sp>
        <p:nvSpPr>
          <p:cNvPr id="761" name="Rectangle 762"/>
          <p:cNvSpPr/>
          <p:nvPr/>
        </p:nvSpPr>
        <p:spPr>
          <a:xfrm>
            <a:off x="502920" y="2551176"/>
            <a:ext cx="15544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63" name="TextBox 764"/>
          <p:cNvSpPr txBox="1"/>
          <p:nvPr/>
        </p:nvSpPr>
        <p:spPr>
          <a:xfrm>
            <a:off x="576072" y="2551176"/>
            <a:ext cx="1408176" cy="38404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저온 왁싱</a:t>
            </a:r>
          </a:p>
        </p:txBody>
      </p:sp>
      <p:sp>
        <p:nvSpPr>
          <p:cNvPr id="765" name="Rectangle 766"/>
          <p:cNvSpPr/>
          <p:nvPr/>
        </p:nvSpPr>
        <p:spPr>
          <a:xfrm>
            <a:off x="2057400" y="2551176"/>
            <a:ext cx="38862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67" name="TextBox 768"/>
          <p:cNvSpPr txBox="1"/>
          <p:nvPr/>
        </p:nvSpPr>
        <p:spPr>
          <a:xfrm>
            <a:off x="2130552" y="2551176"/>
            <a:ext cx="3739896" cy="38404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한랭지 항해 시 탱크 내 왁스 생성 — 가열 용량 확인</a:t>
            </a:r>
          </a:p>
        </p:txBody>
      </p:sp>
      <p:sp>
        <p:nvSpPr>
          <p:cNvPr id="769" name="Rectangle 770"/>
          <p:cNvSpPr/>
          <p:nvPr/>
        </p:nvSpPr>
        <p:spPr>
          <a:xfrm>
            <a:off x="502920" y="2935224"/>
            <a:ext cx="15544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71" name="TextBox 772"/>
          <p:cNvSpPr txBox="1"/>
          <p:nvPr/>
        </p:nvSpPr>
        <p:spPr>
          <a:xfrm>
            <a:off x="576072" y="2935224"/>
            <a:ext cx="1408176" cy="38404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미생물 증식</a:t>
            </a:r>
          </a:p>
        </p:txBody>
      </p:sp>
      <p:sp>
        <p:nvSpPr>
          <p:cNvPr id="773" name="Rectangle 774"/>
          <p:cNvSpPr/>
          <p:nvPr/>
        </p:nvSpPr>
        <p:spPr>
          <a:xfrm>
            <a:off x="2057400" y="2935224"/>
            <a:ext cx="38862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75" name="TextBox 776"/>
          <p:cNvSpPr txBox="1"/>
          <p:nvPr/>
        </p:nvSpPr>
        <p:spPr>
          <a:xfrm>
            <a:off x="2130552" y="2935224"/>
            <a:ext cx="3739896" cy="38404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수분·고산소로 바이오필름 형성</a:t>
            </a:r>
          </a:p>
        </p:txBody>
      </p:sp>
      <p:sp>
        <p:nvSpPr>
          <p:cNvPr id="777" name="Rectangle 778"/>
          <p:cNvSpPr/>
          <p:nvPr/>
        </p:nvSpPr>
        <p:spPr>
          <a:xfrm>
            <a:off x="502920" y="3319272"/>
            <a:ext cx="15544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79" name="TextBox 780"/>
          <p:cNvSpPr txBox="1"/>
          <p:nvPr/>
        </p:nvSpPr>
        <p:spPr>
          <a:xfrm>
            <a:off x="576072" y="3319272"/>
            <a:ext cx="1408176" cy="38404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호환성</a:t>
            </a:r>
          </a:p>
        </p:txBody>
      </p:sp>
      <p:sp>
        <p:nvSpPr>
          <p:cNvPr id="781" name="Rectangle 782"/>
          <p:cNvSpPr/>
          <p:nvPr/>
        </p:nvSpPr>
        <p:spPr>
          <a:xfrm>
            <a:off x="2057400" y="3319272"/>
            <a:ext cx="38862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83" name="TextBox 784"/>
          <p:cNvSpPr txBox="1"/>
          <p:nvPr/>
        </p:nvSpPr>
        <p:spPr>
          <a:xfrm>
            <a:off x="2130552" y="3319272"/>
            <a:ext cx="3739896" cy="38404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다른 연료와 혼합 시 불안정 — 탱크 세정 권장</a:t>
            </a:r>
          </a:p>
        </p:txBody>
      </p:sp>
      <p:sp>
        <p:nvSpPr>
          <p:cNvPr id="785" name="Rectangle 786"/>
          <p:cNvSpPr/>
          <p:nvPr/>
        </p:nvSpPr>
        <p:spPr>
          <a:xfrm>
            <a:off x="502920" y="3703320"/>
            <a:ext cx="15544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87" name="TextBox 788"/>
          <p:cNvSpPr txBox="1"/>
          <p:nvPr/>
        </p:nvSpPr>
        <p:spPr>
          <a:xfrm>
            <a:off x="576072" y="3703320"/>
            <a:ext cx="1408176" cy="38404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부식</a:t>
            </a:r>
          </a:p>
        </p:txBody>
      </p:sp>
      <p:sp>
        <p:nvSpPr>
          <p:cNvPr id="789" name="Rectangle 790"/>
          <p:cNvSpPr/>
          <p:nvPr/>
        </p:nvSpPr>
        <p:spPr>
          <a:xfrm>
            <a:off x="2057400" y="3703320"/>
            <a:ext cx="38862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91" name="TextBox 792"/>
          <p:cNvSpPr txBox="1"/>
          <p:nvPr/>
        </p:nvSpPr>
        <p:spPr>
          <a:xfrm>
            <a:off x="2130552" y="3703320"/>
            <a:ext cx="3739896" cy="38404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자동산화가 부식성을 증폭</a:t>
            </a:r>
          </a:p>
        </p:txBody>
      </p:sp>
      <p:sp>
        <p:nvSpPr>
          <p:cNvPr id="793" name="Rectangle 794"/>
          <p:cNvSpPr/>
          <p:nvPr/>
        </p:nvSpPr>
        <p:spPr>
          <a:xfrm>
            <a:off x="502920" y="4087368"/>
            <a:ext cx="15544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95" name="TextBox 796"/>
          <p:cNvSpPr txBox="1"/>
          <p:nvPr/>
        </p:nvSpPr>
        <p:spPr>
          <a:xfrm>
            <a:off x="576072" y="4087368"/>
            <a:ext cx="1408176" cy="38404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씰·개스킷 열화</a:t>
            </a:r>
          </a:p>
        </p:txBody>
      </p:sp>
      <p:sp>
        <p:nvSpPr>
          <p:cNvPr id="797" name="Rectangle 798"/>
          <p:cNvSpPr/>
          <p:nvPr/>
        </p:nvSpPr>
        <p:spPr>
          <a:xfrm>
            <a:off x="2057400" y="4087368"/>
            <a:ext cx="38862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99" name="TextBox 800"/>
          <p:cNvSpPr txBox="1"/>
          <p:nvPr/>
        </p:nvSpPr>
        <p:spPr>
          <a:xfrm>
            <a:off x="2130552" y="4087368"/>
            <a:ext cx="3739896" cy="38404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고무 재질 손상 — 연료계통 재질 검증 필요</a:t>
            </a:r>
          </a:p>
        </p:txBody>
      </p:sp>
      <p:sp>
        <p:nvSpPr>
          <p:cNvPr id="801" name="Rectangle 802"/>
          <p:cNvSpPr/>
          <p:nvPr/>
        </p:nvSpPr>
        <p:spPr>
          <a:xfrm>
            <a:off x="502920" y="4471416"/>
            <a:ext cx="15544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03" name="TextBox 804"/>
          <p:cNvSpPr txBox="1"/>
          <p:nvPr/>
        </p:nvSpPr>
        <p:spPr>
          <a:xfrm>
            <a:off x="576072" y="4471416"/>
            <a:ext cx="1408176" cy="38404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윤활유</a:t>
            </a:r>
          </a:p>
        </p:txBody>
      </p:sp>
      <p:sp>
        <p:nvSpPr>
          <p:cNvPr id="805" name="Rectangle 806"/>
          <p:cNvSpPr/>
          <p:nvPr/>
        </p:nvSpPr>
        <p:spPr>
          <a:xfrm>
            <a:off x="2057400" y="4471416"/>
            <a:ext cx="38862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07" name="TextBox 808"/>
          <p:cNvSpPr txBox="1"/>
          <p:nvPr/>
        </p:nvSpPr>
        <p:spPr>
          <a:xfrm>
            <a:off x="2130552" y="4471416"/>
            <a:ext cx="3739896" cy="38404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엔진에 따라 다른 윤활유가 필요할 수 있음</a:t>
            </a:r>
          </a:p>
        </p:txBody>
      </p:sp>
      <p:sp>
        <p:nvSpPr>
          <p:cNvPr id="809" name="Rectangle 810"/>
          <p:cNvSpPr/>
          <p:nvPr/>
        </p:nvSpPr>
        <p:spPr>
          <a:xfrm>
            <a:off x="502920" y="4855464"/>
            <a:ext cx="15544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11" name="TextBox 812"/>
          <p:cNvSpPr txBox="1"/>
          <p:nvPr/>
        </p:nvSpPr>
        <p:spPr>
          <a:xfrm>
            <a:off x="576072" y="4855464"/>
            <a:ext cx="1408176" cy="38404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용제성 필터 막힘</a:t>
            </a:r>
          </a:p>
        </p:txBody>
      </p:sp>
      <p:sp>
        <p:nvSpPr>
          <p:cNvPr id="813" name="Rectangle 814"/>
          <p:cNvSpPr/>
          <p:nvPr/>
        </p:nvSpPr>
        <p:spPr>
          <a:xfrm>
            <a:off x="2057400" y="4855464"/>
            <a:ext cx="38862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15" name="TextBox 816"/>
          <p:cNvSpPr txBox="1"/>
          <p:nvPr/>
        </p:nvSpPr>
        <p:spPr>
          <a:xfrm>
            <a:off x="2130552" y="4855464"/>
            <a:ext cx="3739896" cy="38404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기존 탱크 퇴적물을 들어내 필터를 막음</a:t>
            </a:r>
          </a:p>
        </p:txBody>
      </p:sp>
      <p:sp>
        <p:nvSpPr>
          <p:cNvPr id="817" name="Rectangle 818"/>
          <p:cNvSpPr/>
          <p:nvPr/>
        </p:nvSpPr>
        <p:spPr>
          <a:xfrm>
            <a:off x="502920" y="5239512"/>
            <a:ext cx="155448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19" name="TextBox 820"/>
          <p:cNvSpPr txBox="1"/>
          <p:nvPr/>
        </p:nvSpPr>
        <p:spPr>
          <a:xfrm>
            <a:off x="576072" y="5239512"/>
            <a:ext cx="1408176" cy="38404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발열량·점도</a:t>
            </a:r>
          </a:p>
        </p:txBody>
      </p:sp>
      <p:sp>
        <p:nvSpPr>
          <p:cNvPr id="821" name="Rectangle 822"/>
          <p:cNvSpPr/>
          <p:nvPr/>
        </p:nvSpPr>
        <p:spPr>
          <a:xfrm>
            <a:off x="2057400" y="5239512"/>
            <a:ext cx="38862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23" name="TextBox 824"/>
          <p:cNvSpPr txBox="1"/>
          <p:nvPr/>
        </p:nvSpPr>
        <p:spPr>
          <a:xfrm>
            <a:off x="2130552" y="5239512"/>
            <a:ext cx="3739896" cy="38404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동일 항해에 더 많은 연료 — 펌프 용량 한계</a:t>
            </a:r>
          </a:p>
        </p:txBody>
      </p:sp>
      <p:sp>
        <p:nvSpPr>
          <p:cNvPr id="825" name="Rectangle 826"/>
          <p:cNvSpPr/>
          <p:nvPr/>
        </p:nvSpPr>
        <p:spPr>
          <a:xfrm>
            <a:off x="6245352" y="1325880"/>
            <a:ext cx="5440680" cy="329184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27" name="TextBox 828"/>
          <p:cNvSpPr txBox="1"/>
          <p:nvPr/>
        </p:nvSpPr>
        <p:spPr>
          <a:xfrm>
            <a:off x="6355080" y="1325880"/>
            <a:ext cx="5221224" cy="32918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33333"/>
                </a:solidFill>
                <a:latin typeface="Calibri"/>
                <a:ea typeface="맑은 고딕"/>
                <a:cs typeface="Calibri"/>
              </a:rPr>
              <a:t>저장 관리 — 모니터링 4대 지표</a:t>
            </a:r>
          </a:p>
        </p:txBody>
      </p:sp>
      <p:sp>
        <p:nvSpPr>
          <p:cNvPr id="829" name="Rectangle 830"/>
          <p:cNvSpPr/>
          <p:nvPr/>
        </p:nvSpPr>
        <p:spPr>
          <a:xfrm>
            <a:off x="6245352" y="1783080"/>
            <a:ext cx="2103120" cy="402336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31" name="TextBox 832"/>
          <p:cNvSpPr txBox="1"/>
          <p:nvPr/>
        </p:nvSpPr>
        <p:spPr>
          <a:xfrm>
            <a:off x="6318504" y="1783080"/>
            <a:ext cx="1956816" cy="40233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지표</a:t>
            </a:r>
          </a:p>
        </p:txBody>
      </p:sp>
      <p:sp>
        <p:nvSpPr>
          <p:cNvPr id="833" name="Rectangle 834"/>
          <p:cNvSpPr/>
          <p:nvPr/>
        </p:nvSpPr>
        <p:spPr>
          <a:xfrm>
            <a:off x="8348472" y="1783080"/>
            <a:ext cx="3337560" cy="402336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35" name="TextBox 836"/>
          <p:cNvSpPr txBox="1"/>
          <p:nvPr/>
        </p:nvSpPr>
        <p:spPr>
          <a:xfrm>
            <a:off x="8421624" y="1783080"/>
            <a:ext cx="3191256" cy="40233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의미</a:t>
            </a:r>
          </a:p>
        </p:txBody>
      </p:sp>
      <p:sp>
        <p:nvSpPr>
          <p:cNvPr id="837" name="Rectangle 838"/>
          <p:cNvSpPr/>
          <p:nvPr/>
        </p:nvSpPr>
        <p:spPr>
          <a:xfrm>
            <a:off x="6245352" y="2185416"/>
            <a:ext cx="21031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39" name="TextBox 840"/>
          <p:cNvSpPr txBox="1"/>
          <p:nvPr/>
        </p:nvSpPr>
        <p:spPr>
          <a:xfrm>
            <a:off x="6318504" y="2185416"/>
            <a:ext cx="1956816" cy="40233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산화안정성</a:t>
            </a:r>
          </a:p>
        </p:txBody>
      </p:sp>
      <p:sp>
        <p:nvSpPr>
          <p:cNvPr id="841" name="Rectangle 842"/>
          <p:cNvSpPr/>
          <p:nvPr/>
        </p:nvSpPr>
        <p:spPr>
          <a:xfrm>
            <a:off x="8348472" y="2185416"/>
            <a:ext cx="333756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43" name="TextBox 844"/>
          <p:cNvSpPr txBox="1"/>
          <p:nvPr/>
        </p:nvSpPr>
        <p:spPr>
          <a:xfrm>
            <a:off x="8421624" y="2185416"/>
            <a:ext cx="3191256" cy="40233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열화 여부의 가장 직접적인 지표</a:t>
            </a:r>
          </a:p>
        </p:txBody>
      </p:sp>
      <p:sp>
        <p:nvSpPr>
          <p:cNvPr id="845" name="Rectangle 846"/>
          <p:cNvSpPr/>
          <p:nvPr/>
        </p:nvSpPr>
        <p:spPr>
          <a:xfrm>
            <a:off x="6245352" y="2587752"/>
            <a:ext cx="21031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47" name="TextBox 848"/>
          <p:cNvSpPr txBox="1"/>
          <p:nvPr/>
        </p:nvSpPr>
        <p:spPr>
          <a:xfrm>
            <a:off x="6318504" y="2587752"/>
            <a:ext cx="1956816" cy="40233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FAME 함량</a:t>
            </a:r>
          </a:p>
        </p:txBody>
      </p:sp>
      <p:sp>
        <p:nvSpPr>
          <p:cNvPr id="849" name="Rectangle 850"/>
          <p:cNvSpPr/>
          <p:nvPr/>
        </p:nvSpPr>
        <p:spPr>
          <a:xfrm>
            <a:off x="8348472" y="2587752"/>
            <a:ext cx="333756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51" name="TextBox 852"/>
          <p:cNvSpPr txBox="1"/>
          <p:nvPr/>
        </p:nvSpPr>
        <p:spPr>
          <a:xfrm>
            <a:off x="8421624" y="2587752"/>
            <a:ext cx="3191256" cy="40233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에스테르 분해·희석 시 감소</a:t>
            </a:r>
          </a:p>
        </p:txBody>
      </p:sp>
      <p:sp>
        <p:nvSpPr>
          <p:cNvPr id="853" name="Rectangle 854"/>
          <p:cNvSpPr/>
          <p:nvPr/>
        </p:nvSpPr>
        <p:spPr>
          <a:xfrm>
            <a:off x="6245352" y="2990088"/>
            <a:ext cx="21031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55" name="TextBox 856"/>
          <p:cNvSpPr txBox="1"/>
          <p:nvPr/>
        </p:nvSpPr>
        <p:spPr>
          <a:xfrm>
            <a:off x="6318504" y="2990088"/>
            <a:ext cx="1956816" cy="40233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산가 (Acid value)</a:t>
            </a:r>
          </a:p>
        </p:txBody>
      </p:sp>
      <p:sp>
        <p:nvSpPr>
          <p:cNvPr id="857" name="Rectangle 858"/>
          <p:cNvSpPr/>
          <p:nvPr/>
        </p:nvSpPr>
        <p:spPr>
          <a:xfrm>
            <a:off x="8348472" y="2990088"/>
            <a:ext cx="333756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59" name="TextBox 860"/>
          <p:cNvSpPr txBox="1"/>
          <p:nvPr/>
        </p:nvSpPr>
        <p:spPr>
          <a:xfrm>
            <a:off x="8421624" y="2990088"/>
            <a:ext cx="3191256" cy="40233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유리지방산 생성으로 상승</a:t>
            </a:r>
          </a:p>
        </p:txBody>
      </p:sp>
      <p:sp>
        <p:nvSpPr>
          <p:cNvPr id="861" name="Rectangle 862"/>
          <p:cNvSpPr/>
          <p:nvPr/>
        </p:nvSpPr>
        <p:spPr>
          <a:xfrm>
            <a:off x="6245352" y="3392424"/>
            <a:ext cx="21031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63" name="TextBox 864"/>
          <p:cNvSpPr txBox="1"/>
          <p:nvPr/>
        </p:nvSpPr>
        <p:spPr>
          <a:xfrm>
            <a:off x="6318504" y="3392424"/>
            <a:ext cx="1956816" cy="40233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수분</a:t>
            </a:r>
          </a:p>
        </p:txBody>
      </p:sp>
      <p:sp>
        <p:nvSpPr>
          <p:cNvPr id="865" name="Rectangle 866"/>
          <p:cNvSpPr/>
          <p:nvPr/>
        </p:nvSpPr>
        <p:spPr>
          <a:xfrm>
            <a:off x="8348472" y="3392424"/>
            <a:ext cx="333756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67" name="TextBox 868"/>
          <p:cNvSpPr txBox="1"/>
          <p:nvPr/>
        </p:nvSpPr>
        <p:spPr>
          <a:xfrm>
            <a:off x="8421624" y="3392424"/>
            <a:ext cx="3191256" cy="40233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흡습·결로로 증가, 산화를 가속</a:t>
            </a:r>
          </a:p>
        </p:txBody>
      </p:sp>
      <p:sp>
        <p:nvSpPr>
          <p:cNvPr id="869" name="TextBox 870"/>
          <p:cNvSpPr txBox="1"/>
          <p:nvPr/>
        </p:nvSpPr>
        <p:spPr>
          <a:xfrm>
            <a:off x="6245352" y="3931920"/>
            <a:ext cx="5440680" cy="1143000"/>
          </a:xfrm>
          <a:prstGeom prst="rect">
            <a:avLst/>
          </a:prstGeom>
          <a:noFill/>
        </p:spPr>
        <p:txBody>
          <a:bodyPr wrap="square" lIns="36576" tIns="0" rIns="36576" bIns="0" anchor="t"/>
          <a:lstStyle/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운영 원칙은 간단합니다 — Pour Point보다 약 10°C 높게 유지, 3개월 내 소모, 장기 보관 시 정기 재분석.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GCMD Project LOTUS는 B24를 선상에서 6개월 보관했을 때 산가가 상승했으나 ISO 8217 한도 내였음을 확인했습니다.</a:t>
            </a:r>
          </a:p>
        </p:txBody>
      </p:sp>
      <p:sp>
        <p:nvSpPr>
          <p:cNvPr id="871" name="Rectangle 872"/>
          <p:cNvSpPr/>
          <p:nvPr/>
        </p:nvSpPr>
        <p:spPr>
          <a:xfrm>
            <a:off x="6245352" y="5166360"/>
            <a:ext cx="5440680" cy="566928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73" name="TextBox 874"/>
          <p:cNvSpPr txBox="1"/>
          <p:nvPr/>
        </p:nvSpPr>
        <p:spPr>
          <a:xfrm>
            <a:off x="6428232" y="5166360"/>
            <a:ext cx="5074920" cy="56692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1">
                <a:solidFill>
                  <a:srgbClr val="172A4A"/>
                </a:solidFill>
                <a:latin typeface="Calibri"/>
                <a:ea typeface="맑은 고딕"/>
                <a:cs typeface="Calibri"/>
              </a:rPr>
              <a:t>Fresh in, fresh out — 재고 회전이 최고의 방어책.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5" name="Rectangle 876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77" name="TextBox 878"/>
          <p:cNvSpPr txBox="1"/>
          <p:nvPr/>
        </p:nvSpPr>
        <p:spPr>
          <a:xfrm>
            <a:off x="502920" y="146304"/>
            <a:ext cx="11155680" cy="74980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규제 캘린더 — IMO와 EU를 한 장으로</a:t>
            </a:r>
          </a:p>
        </p:txBody>
      </p:sp>
      <p:sp>
        <p:nvSpPr>
          <p:cNvPr id="879" name="Rectangle 880"/>
          <p:cNvSpPr/>
          <p:nvPr/>
        </p:nvSpPr>
        <p:spPr>
          <a:xfrm>
            <a:off x="502920" y="1325880"/>
            <a:ext cx="5440680" cy="329184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81" name="TextBox 882"/>
          <p:cNvSpPr txBox="1"/>
          <p:nvPr/>
        </p:nvSpPr>
        <p:spPr>
          <a:xfrm>
            <a:off x="612648" y="1325880"/>
            <a:ext cx="5221224" cy="32918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33333"/>
                </a:solidFill>
                <a:latin typeface="Calibri"/>
                <a:ea typeface="맑은 고딕"/>
                <a:cs typeface="Calibri"/>
              </a:rPr>
              <a:t>IMO</a:t>
            </a:r>
          </a:p>
        </p:txBody>
      </p:sp>
      <p:sp>
        <p:nvSpPr>
          <p:cNvPr id="883" name="Rectangle 884"/>
          <p:cNvSpPr/>
          <p:nvPr/>
        </p:nvSpPr>
        <p:spPr>
          <a:xfrm>
            <a:off x="502920" y="1783080"/>
            <a:ext cx="1417320" cy="384048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85" name="TextBox 886"/>
          <p:cNvSpPr txBox="1"/>
          <p:nvPr/>
        </p:nvSpPr>
        <p:spPr>
          <a:xfrm>
            <a:off x="576072" y="1783080"/>
            <a:ext cx="1271016" cy="38404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시점</a:t>
            </a:r>
          </a:p>
        </p:txBody>
      </p:sp>
      <p:sp>
        <p:nvSpPr>
          <p:cNvPr id="887" name="Rectangle 888"/>
          <p:cNvSpPr/>
          <p:nvPr/>
        </p:nvSpPr>
        <p:spPr>
          <a:xfrm>
            <a:off x="1920240" y="1783080"/>
            <a:ext cx="4023360" cy="384048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89" name="TextBox 890"/>
          <p:cNvSpPr txBox="1"/>
          <p:nvPr/>
        </p:nvSpPr>
        <p:spPr>
          <a:xfrm>
            <a:off x="1993392" y="1783080"/>
            <a:ext cx="3877056" cy="38404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내용</a:t>
            </a:r>
          </a:p>
        </p:txBody>
      </p:sp>
      <p:sp>
        <p:nvSpPr>
          <p:cNvPr id="891" name="Rectangle 892"/>
          <p:cNvSpPr/>
          <p:nvPr/>
        </p:nvSpPr>
        <p:spPr>
          <a:xfrm>
            <a:off x="502920" y="2167128"/>
            <a:ext cx="141732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93" name="TextBox 894"/>
          <p:cNvSpPr txBox="1"/>
          <p:nvPr/>
        </p:nvSpPr>
        <p:spPr>
          <a:xfrm>
            <a:off x="576072" y="2167128"/>
            <a:ext cx="1271016" cy="51206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시행 중</a:t>
            </a:r>
          </a:p>
        </p:txBody>
      </p:sp>
      <p:sp>
        <p:nvSpPr>
          <p:cNvPr id="895" name="Rectangle 896"/>
          <p:cNvSpPr/>
          <p:nvPr/>
        </p:nvSpPr>
        <p:spPr>
          <a:xfrm>
            <a:off x="1920240" y="2167128"/>
            <a:ext cx="40233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97" name="TextBox 898"/>
          <p:cNvSpPr txBox="1"/>
          <p:nvPr/>
        </p:nvSpPr>
        <p:spPr>
          <a:xfrm>
            <a:off x="1993392" y="2167128"/>
            <a:ext cx="3877056" cy="51206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MEPC.1/Circ.905 — DCS·CII·SEEMP에서 바이오연료 Cf 산정</a:t>
            </a:r>
          </a:p>
        </p:txBody>
      </p:sp>
      <p:sp>
        <p:nvSpPr>
          <p:cNvPr id="899" name="Rectangle 900"/>
          <p:cNvSpPr/>
          <p:nvPr/>
        </p:nvSpPr>
        <p:spPr>
          <a:xfrm>
            <a:off x="502920" y="2679192"/>
            <a:ext cx="141732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01" name="TextBox 902"/>
          <p:cNvSpPr txBox="1"/>
          <p:nvPr/>
        </p:nvSpPr>
        <p:spPr>
          <a:xfrm>
            <a:off x="576072" y="2679192"/>
            <a:ext cx="1271016" cy="51206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시행 중</a:t>
            </a:r>
          </a:p>
        </p:txBody>
      </p:sp>
      <p:sp>
        <p:nvSpPr>
          <p:cNvPr id="903" name="Rectangle 904"/>
          <p:cNvSpPr/>
          <p:nvPr/>
        </p:nvSpPr>
        <p:spPr>
          <a:xfrm>
            <a:off x="1920240" y="2679192"/>
            <a:ext cx="40233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05" name="TextBox 906"/>
          <p:cNvSpPr txBox="1"/>
          <p:nvPr/>
        </p:nvSpPr>
        <p:spPr>
          <a:xfrm>
            <a:off x="1993392" y="2679192"/>
            <a:ext cx="3877056" cy="51206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≤B30은 “석유계”로 간주 (NOx Reg.18.3.1), 일반 벙커선 운송 가능</a:t>
            </a:r>
          </a:p>
        </p:txBody>
      </p:sp>
      <p:sp>
        <p:nvSpPr>
          <p:cNvPr id="907" name="Rectangle 908"/>
          <p:cNvSpPr/>
          <p:nvPr/>
        </p:nvSpPr>
        <p:spPr>
          <a:xfrm>
            <a:off x="502920" y="3191256"/>
            <a:ext cx="141732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09" name="TextBox 910"/>
          <p:cNvSpPr txBox="1"/>
          <p:nvPr/>
        </p:nvSpPr>
        <p:spPr>
          <a:xfrm>
            <a:off x="576072" y="3191256"/>
            <a:ext cx="1271016" cy="438912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시행 중</a:t>
            </a:r>
          </a:p>
        </p:txBody>
      </p:sp>
      <p:sp>
        <p:nvSpPr>
          <p:cNvPr id="911" name="Rectangle 912"/>
          <p:cNvSpPr/>
          <p:nvPr/>
        </p:nvSpPr>
        <p:spPr>
          <a:xfrm>
            <a:off x="1920240" y="3191256"/>
            <a:ext cx="402336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13" name="TextBox 914"/>
          <p:cNvSpPr txBox="1"/>
          <p:nvPr/>
        </p:nvSpPr>
        <p:spPr>
          <a:xfrm>
            <a:off x="1993392" y="3191256"/>
            <a:ext cx="3877056" cy="438912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인증 스킴은 ISCC·RSB — PoS를 BDN과 함께 수령</a:t>
            </a:r>
          </a:p>
        </p:txBody>
      </p:sp>
      <p:sp>
        <p:nvSpPr>
          <p:cNvPr id="915" name="Rectangle 916"/>
          <p:cNvSpPr/>
          <p:nvPr/>
        </p:nvSpPr>
        <p:spPr>
          <a:xfrm>
            <a:off x="502920" y="3630168"/>
            <a:ext cx="141732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17" name="TextBox 918"/>
          <p:cNvSpPr txBox="1"/>
          <p:nvPr/>
        </p:nvSpPr>
        <p:spPr>
          <a:xfrm>
            <a:off x="576072" y="3630168"/>
            <a:ext cx="1271016" cy="51206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C00000"/>
                </a:solidFill>
                <a:latin typeface="Calibri"/>
                <a:ea typeface="맑은 고딕"/>
                <a:cs typeface="Calibri"/>
              </a:rPr>
              <a:t>2027-01-01</a:t>
            </a:r>
          </a:p>
        </p:txBody>
      </p:sp>
      <p:sp>
        <p:nvSpPr>
          <p:cNvPr id="919" name="Rectangle 920"/>
          <p:cNvSpPr/>
          <p:nvPr/>
        </p:nvSpPr>
        <p:spPr>
          <a:xfrm>
            <a:off x="1920240" y="3630168"/>
            <a:ext cx="40233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21" name="TextBox 922"/>
          <p:cNvSpPr txBox="1"/>
          <p:nvPr/>
        </p:nvSpPr>
        <p:spPr>
          <a:xfrm>
            <a:off x="1993392" y="3630168"/>
            <a:ext cx="3877056" cy="51206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C00000"/>
                </a:solidFill>
                <a:latin typeface="Calibri"/>
                <a:ea typeface="맑은 고딕"/>
                <a:cs typeface="Calibri"/>
              </a:rPr>
              <a:t>Circ.905 Rev.1 — Cf를 에너지가중에서 질량가중으로 변경</a:t>
            </a:r>
          </a:p>
        </p:txBody>
      </p:sp>
      <p:sp>
        <p:nvSpPr>
          <p:cNvPr id="923" name="Rectangle 924"/>
          <p:cNvSpPr/>
          <p:nvPr/>
        </p:nvSpPr>
        <p:spPr>
          <a:xfrm>
            <a:off x="502920" y="4142232"/>
            <a:ext cx="141732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25" name="TextBox 926"/>
          <p:cNvSpPr txBox="1"/>
          <p:nvPr/>
        </p:nvSpPr>
        <p:spPr>
          <a:xfrm>
            <a:off x="576072" y="4142232"/>
            <a:ext cx="1271016" cy="438912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C00000"/>
                </a:solidFill>
                <a:latin typeface="Calibri"/>
                <a:ea typeface="맑은 고딕"/>
                <a:cs typeface="Calibri"/>
              </a:rPr>
              <a:t>2027-01-01</a:t>
            </a:r>
          </a:p>
        </p:txBody>
      </p:sp>
      <p:sp>
        <p:nvSpPr>
          <p:cNvPr id="927" name="Rectangle 928"/>
          <p:cNvSpPr/>
          <p:nvPr/>
        </p:nvSpPr>
        <p:spPr>
          <a:xfrm>
            <a:off x="1920240" y="4142232"/>
            <a:ext cx="402336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29" name="TextBox 930"/>
          <p:cNvSpPr txBox="1"/>
          <p:nvPr/>
        </p:nvSpPr>
        <p:spPr>
          <a:xfrm>
            <a:off x="1993392" y="4142232"/>
            <a:ext cx="3877056" cy="438912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C00000"/>
                </a:solidFill>
                <a:latin typeface="Calibri"/>
                <a:ea typeface="맑은 고딕"/>
                <a:cs typeface="Calibri"/>
              </a:rPr>
              <a:t>비인증 바이오 성분은 화석연료 등가로 취급</a:t>
            </a:r>
          </a:p>
        </p:txBody>
      </p:sp>
      <p:sp>
        <p:nvSpPr>
          <p:cNvPr id="931" name="Rectangle 932"/>
          <p:cNvSpPr/>
          <p:nvPr/>
        </p:nvSpPr>
        <p:spPr>
          <a:xfrm>
            <a:off x="6245352" y="1325880"/>
            <a:ext cx="5440680" cy="329184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33" name="TextBox 934"/>
          <p:cNvSpPr txBox="1"/>
          <p:nvPr/>
        </p:nvSpPr>
        <p:spPr>
          <a:xfrm>
            <a:off x="6355080" y="1325880"/>
            <a:ext cx="5221224" cy="32918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33333"/>
                </a:solidFill>
                <a:latin typeface="Calibri"/>
                <a:ea typeface="맑은 고딕"/>
                <a:cs typeface="Calibri"/>
              </a:rPr>
              <a:t>EU</a:t>
            </a:r>
          </a:p>
        </p:txBody>
      </p:sp>
      <p:sp>
        <p:nvSpPr>
          <p:cNvPr id="935" name="Rectangle 936"/>
          <p:cNvSpPr/>
          <p:nvPr/>
        </p:nvSpPr>
        <p:spPr>
          <a:xfrm>
            <a:off x="6245352" y="1783080"/>
            <a:ext cx="1417320" cy="384048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37" name="TextBox 938"/>
          <p:cNvSpPr txBox="1"/>
          <p:nvPr/>
        </p:nvSpPr>
        <p:spPr>
          <a:xfrm>
            <a:off x="6318504" y="1783080"/>
            <a:ext cx="1271016" cy="38404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시점</a:t>
            </a:r>
          </a:p>
        </p:txBody>
      </p:sp>
      <p:sp>
        <p:nvSpPr>
          <p:cNvPr id="939" name="Rectangle 940"/>
          <p:cNvSpPr/>
          <p:nvPr/>
        </p:nvSpPr>
        <p:spPr>
          <a:xfrm>
            <a:off x="7662672" y="1783080"/>
            <a:ext cx="4023360" cy="384048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41" name="TextBox 942"/>
          <p:cNvSpPr txBox="1"/>
          <p:nvPr/>
        </p:nvSpPr>
        <p:spPr>
          <a:xfrm>
            <a:off x="7735824" y="1783080"/>
            <a:ext cx="3877056" cy="38404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내용</a:t>
            </a:r>
          </a:p>
        </p:txBody>
      </p:sp>
      <p:sp>
        <p:nvSpPr>
          <p:cNvPr id="943" name="Rectangle 944"/>
          <p:cNvSpPr/>
          <p:nvPr/>
        </p:nvSpPr>
        <p:spPr>
          <a:xfrm>
            <a:off x="6245352" y="2167128"/>
            <a:ext cx="141732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45" name="TextBox 946"/>
          <p:cNvSpPr txBox="1"/>
          <p:nvPr/>
        </p:nvSpPr>
        <p:spPr>
          <a:xfrm>
            <a:off x="6318504" y="2167128"/>
            <a:ext cx="1271016" cy="51206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2025–2029</a:t>
            </a:r>
          </a:p>
        </p:txBody>
      </p:sp>
      <p:sp>
        <p:nvSpPr>
          <p:cNvPr id="947" name="Rectangle 948"/>
          <p:cNvSpPr/>
          <p:nvPr/>
        </p:nvSpPr>
        <p:spPr>
          <a:xfrm>
            <a:off x="7662672" y="2167128"/>
            <a:ext cx="40233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49" name="TextBox 950"/>
          <p:cNvSpPr txBox="1"/>
          <p:nvPr/>
        </p:nvSpPr>
        <p:spPr>
          <a:xfrm>
            <a:off x="7735824" y="2167128"/>
            <a:ext cx="3877056" cy="51206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FuelEU — WtW GHG 집약도 −2% (5,000GT 이상, EU/EEA 기항)</a:t>
            </a:r>
          </a:p>
        </p:txBody>
      </p:sp>
      <p:sp>
        <p:nvSpPr>
          <p:cNvPr id="951" name="Rectangle 952"/>
          <p:cNvSpPr/>
          <p:nvPr/>
        </p:nvSpPr>
        <p:spPr>
          <a:xfrm>
            <a:off x="6245352" y="2679192"/>
            <a:ext cx="141732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53" name="TextBox 954"/>
          <p:cNvSpPr txBox="1"/>
          <p:nvPr/>
        </p:nvSpPr>
        <p:spPr>
          <a:xfrm>
            <a:off x="6318504" y="2679192"/>
            <a:ext cx="1271016" cy="438912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2026</a:t>
            </a:r>
          </a:p>
        </p:txBody>
      </p:sp>
      <p:sp>
        <p:nvSpPr>
          <p:cNvPr id="955" name="Rectangle 956"/>
          <p:cNvSpPr/>
          <p:nvPr/>
        </p:nvSpPr>
        <p:spPr>
          <a:xfrm>
            <a:off x="7662672" y="2679192"/>
            <a:ext cx="402336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57" name="TextBox 958"/>
          <p:cNvSpPr txBox="1"/>
          <p:nvPr/>
        </p:nvSpPr>
        <p:spPr>
          <a:xfrm>
            <a:off x="7735824" y="2679192"/>
            <a:ext cx="3877056" cy="438912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EU ETS 대상에 CH₄·N₂O 포함</a:t>
            </a:r>
          </a:p>
        </p:txBody>
      </p:sp>
      <p:sp>
        <p:nvSpPr>
          <p:cNvPr id="959" name="Rectangle 960"/>
          <p:cNvSpPr/>
          <p:nvPr/>
        </p:nvSpPr>
        <p:spPr>
          <a:xfrm>
            <a:off x="6245352" y="3118104"/>
            <a:ext cx="14173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61" name="TextBox 962"/>
          <p:cNvSpPr txBox="1"/>
          <p:nvPr/>
        </p:nvSpPr>
        <p:spPr>
          <a:xfrm>
            <a:off x="6318504" y="3118104"/>
            <a:ext cx="1271016" cy="38404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2027</a:t>
            </a:r>
          </a:p>
        </p:txBody>
      </p:sp>
      <p:sp>
        <p:nvSpPr>
          <p:cNvPr id="963" name="Rectangle 964"/>
          <p:cNvSpPr/>
          <p:nvPr/>
        </p:nvSpPr>
        <p:spPr>
          <a:xfrm>
            <a:off x="7662672" y="3118104"/>
            <a:ext cx="40233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65" name="TextBox 966"/>
          <p:cNvSpPr txBox="1"/>
          <p:nvPr/>
        </p:nvSpPr>
        <p:spPr>
          <a:xfrm>
            <a:off x="7735824" y="3118104"/>
            <a:ext cx="3877056" cy="38404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2026년 배출분 100% 제출</a:t>
            </a:r>
          </a:p>
        </p:txBody>
      </p:sp>
      <p:sp>
        <p:nvSpPr>
          <p:cNvPr id="967" name="Rectangle 968"/>
          <p:cNvSpPr/>
          <p:nvPr/>
        </p:nvSpPr>
        <p:spPr>
          <a:xfrm>
            <a:off x="6245352" y="3502152"/>
            <a:ext cx="141732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69" name="TextBox 970"/>
          <p:cNvSpPr txBox="1"/>
          <p:nvPr/>
        </p:nvSpPr>
        <p:spPr>
          <a:xfrm>
            <a:off x="6318504" y="3502152"/>
            <a:ext cx="1271016" cy="438912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2030 이후</a:t>
            </a:r>
          </a:p>
        </p:txBody>
      </p:sp>
      <p:sp>
        <p:nvSpPr>
          <p:cNvPr id="971" name="Rectangle 972"/>
          <p:cNvSpPr/>
          <p:nvPr/>
        </p:nvSpPr>
        <p:spPr>
          <a:xfrm>
            <a:off x="7662672" y="3502152"/>
            <a:ext cx="402336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73" name="TextBox 974"/>
          <p:cNvSpPr txBox="1"/>
          <p:nvPr/>
        </p:nvSpPr>
        <p:spPr>
          <a:xfrm>
            <a:off x="7735824" y="3502152"/>
            <a:ext cx="3877056" cy="438912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−6% → 2035 −14.5% → 2040 −31% → 2050 −80%</a:t>
            </a:r>
          </a:p>
        </p:txBody>
      </p:sp>
      <p:sp>
        <p:nvSpPr>
          <p:cNvPr id="975" name="Rectangle 976"/>
          <p:cNvSpPr/>
          <p:nvPr/>
        </p:nvSpPr>
        <p:spPr>
          <a:xfrm>
            <a:off x="6245352" y="3941064"/>
            <a:ext cx="141732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77" name="TextBox 978"/>
          <p:cNvSpPr txBox="1"/>
          <p:nvPr/>
        </p:nvSpPr>
        <p:spPr>
          <a:xfrm>
            <a:off x="6318504" y="3941064"/>
            <a:ext cx="1271016" cy="438912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F6F3D"/>
                </a:solidFill>
                <a:latin typeface="Calibri"/>
                <a:ea typeface="맑은 고딕"/>
                <a:cs typeface="Calibri"/>
              </a:rPr>
              <a:t>상시</a:t>
            </a:r>
          </a:p>
        </p:txBody>
      </p:sp>
      <p:sp>
        <p:nvSpPr>
          <p:cNvPr id="979" name="Rectangle 980"/>
          <p:cNvSpPr/>
          <p:nvPr/>
        </p:nvSpPr>
        <p:spPr>
          <a:xfrm>
            <a:off x="7662672" y="3941064"/>
            <a:ext cx="402336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81" name="TextBox 982"/>
          <p:cNvSpPr txBox="1"/>
          <p:nvPr/>
        </p:nvSpPr>
        <p:spPr>
          <a:xfrm>
            <a:off x="7735824" y="3941064"/>
            <a:ext cx="3877056" cy="438912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RED III 65% 감축 미달 바이오는 화석 등가 처리</a:t>
            </a:r>
          </a:p>
        </p:txBody>
      </p:sp>
      <p:sp>
        <p:nvSpPr>
          <p:cNvPr id="983" name="Rectangle 984"/>
          <p:cNvSpPr/>
          <p:nvPr/>
        </p:nvSpPr>
        <p:spPr>
          <a:xfrm>
            <a:off x="502920" y="4846320"/>
            <a:ext cx="11183112" cy="640080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85" name="TextBox 986"/>
          <p:cNvSpPr txBox="1"/>
          <p:nvPr/>
        </p:nvSpPr>
        <p:spPr>
          <a:xfrm>
            <a:off x="685800" y="4846320"/>
            <a:ext cx="10817352" cy="64008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1">
                <a:solidFill>
                  <a:srgbClr val="172A4A"/>
                </a:solidFill>
                <a:latin typeface="Calibri"/>
                <a:ea typeface="맑은 고딕"/>
                <a:cs typeface="Calibri"/>
              </a:rPr>
              <a:t>EU ETS는 TtW(gCO₂e/t), FuelEU는 WtW(gCO₂e/MJ) — 두 규제의 배출계수는 서로 다릅니다.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7" name="Rectangle 988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89" name="TextBox 990"/>
          <p:cNvSpPr txBox="1"/>
          <p:nvPr/>
        </p:nvSpPr>
        <p:spPr>
          <a:xfrm>
            <a:off x="502920" y="146304"/>
            <a:ext cx="11155680" cy="74980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표준·시험과 non-FAME 게이트</a:t>
            </a:r>
          </a:p>
        </p:txBody>
      </p:sp>
      <p:sp>
        <p:nvSpPr>
          <p:cNvPr id="991" name="Rectangle 992"/>
          <p:cNvSpPr/>
          <p:nvPr/>
        </p:nvSpPr>
        <p:spPr>
          <a:xfrm>
            <a:off x="502920" y="1325880"/>
            <a:ext cx="5440680" cy="329184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93" name="TextBox 994"/>
          <p:cNvSpPr txBox="1"/>
          <p:nvPr/>
        </p:nvSpPr>
        <p:spPr>
          <a:xfrm>
            <a:off x="612648" y="1325880"/>
            <a:ext cx="5221224" cy="32918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33333"/>
                </a:solidFill>
                <a:latin typeface="Calibri"/>
                <a:ea typeface="맑은 고딕"/>
                <a:cs typeface="Calibri"/>
              </a:rPr>
              <a:t>어떤 표준을 같이 봐야 하나</a:t>
            </a:r>
          </a:p>
        </p:txBody>
      </p:sp>
      <p:sp>
        <p:nvSpPr>
          <p:cNvPr id="995" name="Rectangle 996"/>
          <p:cNvSpPr/>
          <p:nvPr/>
        </p:nvSpPr>
        <p:spPr>
          <a:xfrm>
            <a:off x="502920" y="1783080"/>
            <a:ext cx="1920240" cy="402336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997" name="TextBox 998"/>
          <p:cNvSpPr txBox="1"/>
          <p:nvPr/>
        </p:nvSpPr>
        <p:spPr>
          <a:xfrm>
            <a:off x="576072" y="1783080"/>
            <a:ext cx="1773936" cy="40233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표준</a:t>
            </a:r>
          </a:p>
        </p:txBody>
      </p:sp>
      <p:sp>
        <p:nvSpPr>
          <p:cNvPr id="999" name="Rectangle 1000"/>
          <p:cNvSpPr/>
          <p:nvPr/>
        </p:nvSpPr>
        <p:spPr>
          <a:xfrm>
            <a:off x="2423160" y="1783080"/>
            <a:ext cx="3520440" cy="402336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01" name="TextBox 1002"/>
          <p:cNvSpPr txBox="1"/>
          <p:nvPr/>
        </p:nvSpPr>
        <p:spPr>
          <a:xfrm>
            <a:off x="2496312" y="1783080"/>
            <a:ext cx="3374136" cy="40233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역할</a:t>
            </a:r>
          </a:p>
        </p:txBody>
      </p:sp>
      <p:sp>
        <p:nvSpPr>
          <p:cNvPr id="1003" name="Rectangle 1004"/>
          <p:cNvSpPr/>
          <p:nvPr/>
        </p:nvSpPr>
        <p:spPr>
          <a:xfrm>
            <a:off x="502920" y="2185416"/>
            <a:ext cx="192024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05" name="TextBox 1006"/>
          <p:cNvSpPr txBox="1"/>
          <p:nvPr/>
        </p:nvSpPr>
        <p:spPr>
          <a:xfrm>
            <a:off x="576072" y="2185416"/>
            <a:ext cx="1773936" cy="40233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ISO 8217:2024</a:t>
            </a:r>
          </a:p>
        </p:txBody>
      </p:sp>
      <p:sp>
        <p:nvSpPr>
          <p:cNvPr id="1007" name="Rectangle 1008"/>
          <p:cNvSpPr/>
          <p:nvPr/>
        </p:nvSpPr>
        <p:spPr>
          <a:xfrm>
            <a:off x="2423160" y="2185416"/>
            <a:ext cx="352044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09" name="TextBox 1010"/>
          <p:cNvSpPr txBox="1"/>
          <p:nvPr/>
        </p:nvSpPr>
        <p:spPr>
          <a:xfrm>
            <a:off x="2496312" y="2185416"/>
            <a:ext cx="3374136" cy="40233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마린연료 기본 규격 (4개 테이블 체계)</a:t>
            </a:r>
          </a:p>
        </p:txBody>
      </p:sp>
      <p:sp>
        <p:nvSpPr>
          <p:cNvPr id="1011" name="Rectangle 1012"/>
          <p:cNvSpPr/>
          <p:nvPr/>
        </p:nvSpPr>
        <p:spPr>
          <a:xfrm>
            <a:off x="502920" y="2587752"/>
            <a:ext cx="19202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13" name="TextBox 1014"/>
          <p:cNvSpPr txBox="1"/>
          <p:nvPr/>
        </p:nvSpPr>
        <p:spPr>
          <a:xfrm>
            <a:off x="576072" y="2587752"/>
            <a:ext cx="1773936" cy="438912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TR 140:2025</a:t>
            </a:r>
          </a:p>
        </p:txBody>
      </p:sp>
      <p:sp>
        <p:nvSpPr>
          <p:cNvPr id="1015" name="Rectangle 1016"/>
          <p:cNvSpPr/>
          <p:nvPr/>
        </p:nvSpPr>
        <p:spPr>
          <a:xfrm>
            <a:off x="2423160" y="2587752"/>
            <a:ext cx="35204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17" name="TextBox 1018"/>
          <p:cNvSpPr txBox="1"/>
          <p:nvPr/>
        </p:nvSpPr>
        <p:spPr>
          <a:xfrm>
            <a:off x="2496312" y="2587752"/>
            <a:ext cx="3374136" cy="438912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싱가포르 마린 바이오연료 — 추가 파라미터 보완</a:t>
            </a:r>
          </a:p>
        </p:txBody>
      </p:sp>
      <p:sp>
        <p:nvSpPr>
          <p:cNvPr id="1019" name="Rectangle 1020"/>
          <p:cNvSpPr/>
          <p:nvPr/>
        </p:nvSpPr>
        <p:spPr>
          <a:xfrm>
            <a:off x="502920" y="3026664"/>
            <a:ext cx="192024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21" name="TextBox 1022"/>
          <p:cNvSpPr txBox="1"/>
          <p:nvPr/>
        </p:nvSpPr>
        <p:spPr>
          <a:xfrm>
            <a:off x="576072" y="3026664"/>
            <a:ext cx="1773936" cy="51206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EN 14214 / ASTM D6751</a:t>
            </a:r>
          </a:p>
        </p:txBody>
      </p:sp>
      <p:sp>
        <p:nvSpPr>
          <p:cNvPr id="1023" name="Rectangle 1024"/>
          <p:cNvSpPr/>
          <p:nvPr/>
        </p:nvSpPr>
        <p:spPr>
          <a:xfrm>
            <a:off x="2423160" y="3026664"/>
            <a:ext cx="352044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25" name="TextBox 1026"/>
          <p:cNvSpPr txBox="1"/>
          <p:nvPr/>
        </p:nvSpPr>
        <p:spPr>
          <a:xfrm>
            <a:off x="2496312" y="3026664"/>
            <a:ext cx="3374136" cy="51206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FAME 성분 기준 (황분·운점·CFPP 제외)</a:t>
            </a:r>
          </a:p>
        </p:txBody>
      </p:sp>
      <p:sp>
        <p:nvSpPr>
          <p:cNvPr id="1027" name="Rectangle 1028"/>
          <p:cNvSpPr/>
          <p:nvPr/>
        </p:nvSpPr>
        <p:spPr>
          <a:xfrm>
            <a:off x="502920" y="3538728"/>
            <a:ext cx="19202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29" name="TextBox 1030"/>
          <p:cNvSpPr txBox="1"/>
          <p:nvPr/>
        </p:nvSpPr>
        <p:spPr>
          <a:xfrm>
            <a:off x="576072" y="3538728"/>
            <a:ext cx="1773936" cy="438912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요오드가 (불포화도)</a:t>
            </a:r>
          </a:p>
        </p:txBody>
      </p:sp>
      <p:sp>
        <p:nvSpPr>
          <p:cNvPr id="1031" name="Rectangle 1032"/>
          <p:cNvSpPr/>
          <p:nvPr/>
        </p:nvSpPr>
        <p:spPr>
          <a:xfrm>
            <a:off x="2423160" y="3538728"/>
            <a:ext cx="35204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33" name="TextBox 1034"/>
          <p:cNvSpPr txBox="1"/>
          <p:nvPr/>
        </p:nvSpPr>
        <p:spPr>
          <a:xfrm>
            <a:off x="2496312" y="3538728"/>
            <a:ext cx="3374136" cy="438912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산화·중합·저장안정성에 직결 — 평가 권장</a:t>
            </a:r>
          </a:p>
        </p:txBody>
      </p:sp>
      <p:sp>
        <p:nvSpPr>
          <p:cNvPr id="1035" name="TextBox 1036"/>
          <p:cNvSpPr txBox="1"/>
          <p:nvPr/>
        </p:nvSpPr>
        <p:spPr>
          <a:xfrm>
            <a:off x="502920" y="3977640"/>
            <a:ext cx="5440680" cy="1280160"/>
          </a:xfrm>
          <a:prstGeom prst="rect">
            <a:avLst/>
          </a:prstGeom>
          <a:noFill/>
        </p:spPr>
        <p:txBody>
          <a:bodyPr wrap="square" lIns="36576" tIns="0" rIns="36576" bIns="0" anchor="t"/>
          <a:lstStyle/>
          <a:p>
            <a:pPr algn="l">
              <a:lnSpc>
                <a:spcPct val="125000"/>
              </a:lnSpc>
              <a:spcAft>
                <a:spcPts val="70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B30은 FAME 30%가 아닙니다. EN 14214 준수 B100의 FAME가 최소 96.5%이므로 B30의 실제 FAME는 28.95%입니다.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>
                <a:solidFill>
                  <a:srgbClr val="172A4A"/>
                </a:solidFill>
                <a:latin typeface="Calibri"/>
                <a:ea typeface="맑은 고딕"/>
                <a:cs typeface="Calibri"/>
              </a:rPr>
              <a:t>EN 14214가 유일한 정답은 아닙니다 — 공급 제약으로 non-FAME 제품이 이미 유통 중입니다.</a:t>
            </a:r>
          </a:p>
        </p:txBody>
      </p:sp>
      <p:sp>
        <p:nvSpPr>
          <p:cNvPr id="1037" name="Rectangle 1038"/>
          <p:cNvSpPr/>
          <p:nvPr/>
        </p:nvSpPr>
        <p:spPr>
          <a:xfrm>
            <a:off x="6245352" y="1325880"/>
            <a:ext cx="5440680" cy="329184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39" name="TextBox 1040"/>
          <p:cNvSpPr txBox="1"/>
          <p:nvPr/>
        </p:nvSpPr>
        <p:spPr>
          <a:xfrm>
            <a:off x="6355080" y="1325880"/>
            <a:ext cx="5221224" cy="32918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33333"/>
                </a:solidFill>
                <a:latin typeface="Calibri"/>
                <a:ea typeface="맑은 고딕"/>
                <a:cs typeface="Calibri"/>
              </a:rPr>
              <a:t>non-FAME 도입 시 6단계 검증 (HVO, CNSL, 열분해유 등)</a:t>
            </a:r>
          </a:p>
        </p:txBody>
      </p:sp>
      <p:sp>
        <p:nvSpPr>
          <p:cNvPr id="1041" name="Rectangle 1042"/>
          <p:cNvSpPr/>
          <p:nvPr/>
        </p:nvSpPr>
        <p:spPr>
          <a:xfrm>
            <a:off x="6245352" y="1783080"/>
            <a:ext cx="56692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43" name="TextBox 1044"/>
          <p:cNvSpPr txBox="1"/>
          <p:nvPr/>
        </p:nvSpPr>
        <p:spPr>
          <a:xfrm>
            <a:off x="6318504" y="1783080"/>
            <a:ext cx="420624" cy="47548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72A4A"/>
                </a:solidFill>
                <a:latin typeface="Calibri"/>
                <a:ea typeface="맑은 고딕"/>
                <a:cs typeface="Calibri"/>
              </a:rPr>
              <a:t>01</a:t>
            </a:r>
          </a:p>
        </p:txBody>
      </p:sp>
      <p:sp>
        <p:nvSpPr>
          <p:cNvPr id="1045" name="Rectangle 1046"/>
          <p:cNvSpPr/>
          <p:nvPr/>
        </p:nvSpPr>
        <p:spPr>
          <a:xfrm>
            <a:off x="6812280" y="1783080"/>
            <a:ext cx="4873752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47" name="TextBox 1048"/>
          <p:cNvSpPr txBox="1"/>
          <p:nvPr/>
        </p:nvSpPr>
        <p:spPr>
          <a:xfrm>
            <a:off x="6885432" y="1783080"/>
            <a:ext cx="4727448" cy="47548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문서 검토 및 평가</a:t>
            </a:r>
          </a:p>
        </p:txBody>
      </p:sp>
      <p:sp>
        <p:nvSpPr>
          <p:cNvPr id="1049" name="Rectangle 1050"/>
          <p:cNvSpPr/>
          <p:nvPr/>
        </p:nvSpPr>
        <p:spPr>
          <a:xfrm>
            <a:off x="6245352" y="2258568"/>
            <a:ext cx="56692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51" name="TextBox 1052"/>
          <p:cNvSpPr txBox="1"/>
          <p:nvPr/>
        </p:nvSpPr>
        <p:spPr>
          <a:xfrm>
            <a:off x="6318504" y="2258568"/>
            <a:ext cx="420624" cy="47548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72A4A"/>
                </a:solidFill>
                <a:latin typeface="Calibri"/>
                <a:ea typeface="맑은 고딕"/>
                <a:cs typeface="Calibri"/>
              </a:rPr>
              <a:t>02</a:t>
            </a:r>
          </a:p>
        </p:txBody>
      </p:sp>
      <p:sp>
        <p:nvSpPr>
          <p:cNvPr id="1053" name="Rectangle 1054"/>
          <p:cNvSpPr/>
          <p:nvPr/>
        </p:nvSpPr>
        <p:spPr>
          <a:xfrm>
            <a:off x="6812280" y="2258568"/>
            <a:ext cx="4873752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55" name="TextBox 1056"/>
          <p:cNvSpPr txBox="1"/>
          <p:nvPr/>
        </p:nvSpPr>
        <p:spPr>
          <a:xfrm>
            <a:off x="6885432" y="2258568"/>
            <a:ext cx="4727448" cy="47548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제품 성분 분석</a:t>
            </a:r>
          </a:p>
        </p:txBody>
      </p:sp>
      <p:sp>
        <p:nvSpPr>
          <p:cNvPr id="1057" name="Rectangle 1058"/>
          <p:cNvSpPr/>
          <p:nvPr/>
        </p:nvSpPr>
        <p:spPr>
          <a:xfrm>
            <a:off x="6245352" y="2734056"/>
            <a:ext cx="56692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59" name="TextBox 1060"/>
          <p:cNvSpPr txBox="1"/>
          <p:nvPr/>
        </p:nvSpPr>
        <p:spPr>
          <a:xfrm>
            <a:off x="6318504" y="2734056"/>
            <a:ext cx="420624" cy="47548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72A4A"/>
                </a:solidFill>
                <a:latin typeface="Calibri"/>
                <a:ea typeface="맑은 고딕"/>
                <a:cs typeface="Calibri"/>
              </a:rPr>
              <a:t>03</a:t>
            </a:r>
          </a:p>
        </p:txBody>
      </p:sp>
      <p:sp>
        <p:nvSpPr>
          <p:cNvPr id="1061" name="Rectangle 1062"/>
          <p:cNvSpPr/>
          <p:nvPr/>
        </p:nvSpPr>
        <p:spPr>
          <a:xfrm>
            <a:off x="6812280" y="2734056"/>
            <a:ext cx="4873752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63" name="TextBox 1064"/>
          <p:cNvSpPr txBox="1"/>
          <p:nvPr/>
        </p:nvSpPr>
        <p:spPr>
          <a:xfrm>
            <a:off x="6885432" y="2734056"/>
            <a:ext cx="4727448" cy="47548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사전 적합성 평가</a:t>
            </a:r>
          </a:p>
        </p:txBody>
      </p:sp>
      <p:sp>
        <p:nvSpPr>
          <p:cNvPr id="1065" name="Rectangle 1066"/>
          <p:cNvSpPr/>
          <p:nvPr/>
        </p:nvSpPr>
        <p:spPr>
          <a:xfrm>
            <a:off x="6245352" y="3209544"/>
            <a:ext cx="56692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67" name="TextBox 1068"/>
          <p:cNvSpPr txBox="1"/>
          <p:nvPr/>
        </p:nvSpPr>
        <p:spPr>
          <a:xfrm>
            <a:off x="6318504" y="3209544"/>
            <a:ext cx="420624" cy="47548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72A4A"/>
                </a:solidFill>
                <a:latin typeface="Calibri"/>
                <a:ea typeface="맑은 고딕"/>
                <a:cs typeface="Calibri"/>
              </a:rPr>
              <a:t>04</a:t>
            </a:r>
          </a:p>
        </p:txBody>
      </p:sp>
      <p:sp>
        <p:nvSpPr>
          <p:cNvPr id="1069" name="Rectangle 1070"/>
          <p:cNvSpPr/>
          <p:nvPr/>
        </p:nvSpPr>
        <p:spPr>
          <a:xfrm>
            <a:off x="6812280" y="3209544"/>
            <a:ext cx="4873752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71" name="TextBox 1072"/>
          <p:cNvSpPr txBox="1"/>
          <p:nvPr/>
        </p:nvSpPr>
        <p:spPr>
          <a:xfrm>
            <a:off x="6885432" y="3209544"/>
            <a:ext cx="4727448" cy="47548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해상 시운전 데이터 수집·검토</a:t>
            </a:r>
          </a:p>
        </p:txBody>
      </p:sp>
      <p:sp>
        <p:nvSpPr>
          <p:cNvPr id="1073" name="Rectangle 1074"/>
          <p:cNvSpPr/>
          <p:nvPr/>
        </p:nvSpPr>
        <p:spPr>
          <a:xfrm>
            <a:off x="6245352" y="3685032"/>
            <a:ext cx="56692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75" name="TextBox 1076"/>
          <p:cNvSpPr txBox="1"/>
          <p:nvPr/>
        </p:nvSpPr>
        <p:spPr>
          <a:xfrm>
            <a:off x="6318504" y="3685032"/>
            <a:ext cx="420624" cy="47548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72A4A"/>
                </a:solidFill>
                <a:latin typeface="Calibri"/>
                <a:ea typeface="맑은 고딕"/>
                <a:cs typeface="Calibri"/>
              </a:rPr>
              <a:t>05</a:t>
            </a:r>
          </a:p>
        </p:txBody>
      </p:sp>
      <p:sp>
        <p:nvSpPr>
          <p:cNvPr id="1077" name="Rectangle 1078"/>
          <p:cNvSpPr/>
          <p:nvPr/>
        </p:nvSpPr>
        <p:spPr>
          <a:xfrm>
            <a:off x="6812280" y="3685032"/>
            <a:ext cx="4873752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79" name="TextBox 1080"/>
          <p:cNvSpPr txBox="1"/>
          <p:nvPr/>
        </p:nvSpPr>
        <p:spPr>
          <a:xfrm>
            <a:off x="6885432" y="3685032"/>
            <a:ext cx="4727448" cy="47548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시운전 성능 최종 평가</a:t>
            </a:r>
          </a:p>
        </p:txBody>
      </p:sp>
      <p:sp>
        <p:nvSpPr>
          <p:cNvPr id="1081" name="Rectangle 1082"/>
          <p:cNvSpPr/>
          <p:nvPr/>
        </p:nvSpPr>
        <p:spPr>
          <a:xfrm>
            <a:off x="6245352" y="4160520"/>
            <a:ext cx="56692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83" name="TextBox 1084"/>
          <p:cNvSpPr txBox="1"/>
          <p:nvPr/>
        </p:nvSpPr>
        <p:spPr>
          <a:xfrm>
            <a:off x="6318504" y="4160520"/>
            <a:ext cx="420624" cy="47548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72A4A"/>
                </a:solidFill>
                <a:latin typeface="Calibri"/>
                <a:ea typeface="맑은 고딕"/>
                <a:cs typeface="Calibri"/>
              </a:rPr>
              <a:t>06</a:t>
            </a:r>
          </a:p>
        </p:txBody>
      </p:sp>
      <p:sp>
        <p:nvSpPr>
          <p:cNvPr id="1085" name="Rectangle 1086"/>
          <p:cNvSpPr/>
          <p:nvPr/>
        </p:nvSpPr>
        <p:spPr>
          <a:xfrm>
            <a:off x="6812280" y="4160520"/>
            <a:ext cx="4873752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87" name="TextBox 1088"/>
          <p:cNvSpPr txBox="1"/>
          <p:nvPr/>
        </p:nvSpPr>
        <p:spPr>
          <a:xfrm>
            <a:off x="6885432" y="4160520"/>
            <a:ext cx="4727448" cy="47548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기관 내구성 중·장기 평가</a:t>
            </a:r>
          </a:p>
        </p:txBody>
      </p:sp>
      <p:sp>
        <p:nvSpPr>
          <p:cNvPr id="1089" name="Rectangle 1090"/>
          <p:cNvSpPr/>
          <p:nvPr/>
        </p:nvSpPr>
        <p:spPr>
          <a:xfrm>
            <a:off x="6245352" y="4754880"/>
            <a:ext cx="5440680" cy="777240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91" name="TextBox 1092"/>
          <p:cNvSpPr txBox="1"/>
          <p:nvPr/>
        </p:nvSpPr>
        <p:spPr>
          <a:xfrm>
            <a:off x="6428232" y="4754880"/>
            <a:ext cx="5074920" cy="77724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172A4A"/>
                </a:solidFill>
                <a:latin typeface="Calibri"/>
                <a:ea typeface="맑은 고딕"/>
                <a:cs typeface="Calibri"/>
              </a:rPr>
              <a:t>여기에 매도·매수 합의와 Flag·Class 승인, 그리고 OEM LONO가 반드시 더해져야 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3" name="Rectangle 1094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95" name="TextBox 1096"/>
          <p:cNvSpPr txBox="1"/>
          <p:nvPr/>
        </p:nvSpPr>
        <p:spPr>
          <a:xfrm>
            <a:off x="502920" y="146304"/>
            <a:ext cx="11155680" cy="74980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두 문서의 교집합 — 오늘 이 다섯 개만 잡으면 됩니다</a:t>
            </a:r>
          </a:p>
        </p:txBody>
      </p:sp>
      <p:sp>
        <p:nvSpPr>
          <p:cNvPr id="1097" name="Rectangle 1098"/>
          <p:cNvSpPr/>
          <p:nvPr/>
        </p:nvSpPr>
        <p:spPr>
          <a:xfrm>
            <a:off x="502920" y="1280160"/>
            <a:ext cx="2834640" cy="457200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099" name="TextBox 1100"/>
          <p:cNvSpPr txBox="1"/>
          <p:nvPr/>
        </p:nvSpPr>
        <p:spPr>
          <a:xfrm>
            <a:off x="576072" y="1280160"/>
            <a:ext cx="2688336" cy="45720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공통 논점</a:t>
            </a:r>
          </a:p>
        </p:txBody>
      </p:sp>
      <p:sp>
        <p:nvSpPr>
          <p:cNvPr id="1101" name="Rectangle 1102"/>
          <p:cNvSpPr/>
          <p:nvPr/>
        </p:nvSpPr>
        <p:spPr>
          <a:xfrm>
            <a:off x="3337560" y="1280160"/>
            <a:ext cx="3200400" cy="457200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03" name="TextBox 1104"/>
          <p:cNvSpPr txBox="1"/>
          <p:nvPr/>
        </p:nvSpPr>
        <p:spPr>
          <a:xfrm>
            <a:off x="3410712" y="1280160"/>
            <a:ext cx="3054096" cy="45720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Gard 근거</a:t>
            </a:r>
          </a:p>
        </p:txBody>
      </p:sp>
      <p:sp>
        <p:nvSpPr>
          <p:cNvPr id="1105" name="Rectangle 1106"/>
          <p:cNvSpPr/>
          <p:nvPr/>
        </p:nvSpPr>
        <p:spPr>
          <a:xfrm>
            <a:off x="6537960" y="1280160"/>
            <a:ext cx="3017520" cy="457200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07" name="TextBox 1108"/>
          <p:cNvSpPr txBox="1"/>
          <p:nvPr/>
        </p:nvSpPr>
        <p:spPr>
          <a:xfrm>
            <a:off x="6611112" y="1280160"/>
            <a:ext cx="2871216" cy="45720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SSA 근거</a:t>
            </a:r>
          </a:p>
        </p:txBody>
      </p:sp>
      <p:sp>
        <p:nvSpPr>
          <p:cNvPr id="1109" name="Rectangle 1110"/>
          <p:cNvSpPr/>
          <p:nvPr/>
        </p:nvSpPr>
        <p:spPr>
          <a:xfrm>
            <a:off x="9555480" y="1280160"/>
            <a:ext cx="2130552" cy="457200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11" name="TextBox 1112"/>
          <p:cNvSpPr txBox="1"/>
          <p:nvPr/>
        </p:nvSpPr>
        <p:spPr>
          <a:xfrm>
            <a:off x="9628632" y="1280160"/>
            <a:ext cx="1984248" cy="45720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시사점</a:t>
            </a:r>
          </a:p>
        </p:txBody>
      </p:sp>
      <p:sp>
        <p:nvSpPr>
          <p:cNvPr id="1113" name="Rectangle 1114"/>
          <p:cNvSpPr/>
          <p:nvPr/>
        </p:nvSpPr>
        <p:spPr>
          <a:xfrm>
            <a:off x="502920" y="1737360"/>
            <a:ext cx="283464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15" name="TextBox 1116"/>
          <p:cNvSpPr txBox="1"/>
          <p:nvPr/>
        </p:nvSpPr>
        <p:spPr>
          <a:xfrm>
            <a:off x="576072" y="1737360"/>
            <a:ext cx="2688336" cy="73152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172A4A"/>
                </a:solidFill>
                <a:latin typeface="Calibri"/>
                <a:ea typeface="맑은 고딕"/>
                <a:cs typeface="Calibri"/>
              </a:rPr>
              <a:t>규격 준수 ≠ 사용 적합성</a:t>
            </a:r>
          </a:p>
        </p:txBody>
      </p:sp>
      <p:sp>
        <p:nvSpPr>
          <p:cNvPr id="1117" name="Rectangle 1118"/>
          <p:cNvSpPr/>
          <p:nvPr/>
        </p:nvSpPr>
        <p:spPr>
          <a:xfrm>
            <a:off x="3337560" y="1737360"/>
            <a:ext cx="32004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19" name="TextBox 1120"/>
          <p:cNvSpPr txBox="1"/>
          <p:nvPr/>
        </p:nvSpPr>
        <p:spPr>
          <a:xfrm>
            <a:off x="3410712" y="1737360"/>
            <a:ext cx="3054096" cy="73152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Table 2 온스펙인데 문제 발생 40%, Clause 5·Annex B</a:t>
            </a:r>
          </a:p>
        </p:txBody>
      </p:sp>
      <p:sp>
        <p:nvSpPr>
          <p:cNvPr id="1121" name="Rectangle 1122"/>
          <p:cNvSpPr/>
          <p:nvPr/>
        </p:nvSpPr>
        <p:spPr>
          <a:xfrm>
            <a:off x="6537960" y="1737360"/>
            <a:ext cx="30175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23" name="TextBox 1124"/>
          <p:cNvSpPr txBox="1"/>
          <p:nvPr/>
        </p:nvSpPr>
        <p:spPr>
          <a:xfrm>
            <a:off x="6611112" y="1737360"/>
            <a:ext cx="2871216" cy="73152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ISO 8217:2024 + TR 140:2025 추가 파라미터·요오드가</a:t>
            </a:r>
          </a:p>
        </p:txBody>
      </p:sp>
      <p:sp>
        <p:nvSpPr>
          <p:cNvPr id="1125" name="Rectangle 1126"/>
          <p:cNvSpPr/>
          <p:nvPr/>
        </p:nvSpPr>
        <p:spPr>
          <a:xfrm>
            <a:off x="9555480" y="1737360"/>
            <a:ext cx="213055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27" name="TextBox 1128"/>
          <p:cNvSpPr txBox="1"/>
          <p:nvPr/>
        </p:nvSpPr>
        <p:spPr>
          <a:xfrm>
            <a:off x="9628632" y="1737360"/>
            <a:ext cx="1984248" cy="73152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1F6F3D"/>
                </a:solidFill>
                <a:latin typeface="Calibri"/>
                <a:ea typeface="맑은 고딕"/>
                <a:cs typeface="Calibri"/>
              </a:rPr>
              <a:t>구매 스펙을 한 줄로 끝내지 말 것</a:t>
            </a:r>
          </a:p>
        </p:txBody>
      </p:sp>
      <p:sp>
        <p:nvSpPr>
          <p:cNvPr id="1129" name="Rectangle 1130"/>
          <p:cNvSpPr/>
          <p:nvPr/>
        </p:nvSpPr>
        <p:spPr>
          <a:xfrm>
            <a:off x="502920" y="2468880"/>
            <a:ext cx="283464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31" name="TextBox 1132"/>
          <p:cNvSpPr txBox="1"/>
          <p:nvPr/>
        </p:nvSpPr>
        <p:spPr>
          <a:xfrm>
            <a:off x="576072" y="2468880"/>
            <a:ext cx="2688336" cy="73152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172A4A"/>
                </a:solidFill>
                <a:latin typeface="Calibri"/>
                <a:ea typeface="맑은 고딕"/>
                <a:cs typeface="Calibri"/>
              </a:rPr>
              <a:t>CNSL·non-FAME가 직접 연결</a:t>
            </a:r>
          </a:p>
        </p:txBody>
      </p:sp>
      <p:sp>
        <p:nvSpPr>
          <p:cNvPr id="1133" name="Rectangle 1134"/>
          <p:cNvSpPr/>
          <p:nvPr/>
        </p:nvSpPr>
        <p:spPr>
          <a:xfrm>
            <a:off x="3337560" y="2468880"/>
            <a:ext cx="32004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35" name="TextBox 1136"/>
          <p:cNvSpPr txBox="1"/>
          <p:nvPr/>
        </p:nvSpPr>
        <p:spPr>
          <a:xfrm>
            <a:off x="3410712" y="2468880"/>
            <a:ext cx="3054096" cy="73152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Case 3 — ULSFO+B30(CNSL)로 주기관 시동 실패</a:t>
            </a:r>
          </a:p>
        </p:txBody>
      </p:sp>
      <p:sp>
        <p:nvSpPr>
          <p:cNvPr id="1137" name="Rectangle 1138"/>
          <p:cNvSpPr/>
          <p:nvPr/>
        </p:nvSpPr>
        <p:spPr>
          <a:xfrm>
            <a:off x="6537960" y="2468880"/>
            <a:ext cx="30175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39" name="TextBox 1140"/>
          <p:cNvSpPr txBox="1"/>
          <p:nvPr/>
        </p:nvSpPr>
        <p:spPr>
          <a:xfrm>
            <a:off x="6611112" y="2468880"/>
            <a:ext cx="2871216" cy="73152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FAQ 28 — 허용되는 대안이나 6단계 검증 전제</a:t>
            </a:r>
          </a:p>
        </p:txBody>
      </p:sp>
      <p:sp>
        <p:nvSpPr>
          <p:cNvPr id="1141" name="Rectangle 1142"/>
          <p:cNvSpPr/>
          <p:nvPr/>
        </p:nvSpPr>
        <p:spPr>
          <a:xfrm>
            <a:off x="9555480" y="2468880"/>
            <a:ext cx="213055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43" name="TextBox 1144"/>
          <p:cNvSpPr txBox="1"/>
          <p:nvPr/>
        </p:nvSpPr>
        <p:spPr>
          <a:xfrm>
            <a:off x="9628632" y="2468880"/>
            <a:ext cx="1984248" cy="73152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1F6F3D"/>
                </a:solidFill>
                <a:latin typeface="Calibri"/>
                <a:ea typeface="맑은 고딕"/>
                <a:cs typeface="Calibri"/>
              </a:rPr>
              <a:t>수용 정책을 명시적으로 결정</a:t>
            </a:r>
          </a:p>
        </p:txBody>
      </p:sp>
      <p:sp>
        <p:nvSpPr>
          <p:cNvPr id="1145" name="Rectangle 1146"/>
          <p:cNvSpPr/>
          <p:nvPr/>
        </p:nvSpPr>
        <p:spPr>
          <a:xfrm>
            <a:off x="502920" y="3200400"/>
            <a:ext cx="283464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47" name="TextBox 1148"/>
          <p:cNvSpPr txBox="1"/>
          <p:nvPr/>
        </p:nvSpPr>
        <p:spPr>
          <a:xfrm>
            <a:off x="576072" y="3200400"/>
            <a:ext cx="2688336" cy="73152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172A4A"/>
                </a:solidFill>
                <a:latin typeface="Calibri"/>
                <a:ea typeface="맑은 고딕"/>
                <a:cs typeface="Calibri"/>
              </a:rPr>
              <a:t>저장 안정성</a:t>
            </a:r>
          </a:p>
        </p:txBody>
      </p:sp>
      <p:sp>
        <p:nvSpPr>
          <p:cNvPr id="1149" name="Rectangle 1150"/>
          <p:cNvSpPr/>
          <p:nvPr/>
        </p:nvSpPr>
        <p:spPr>
          <a:xfrm>
            <a:off x="3337560" y="3200400"/>
            <a:ext cx="32004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51" name="TextBox 1152"/>
          <p:cNvSpPr txBox="1"/>
          <p:nvPr/>
        </p:nvSpPr>
        <p:spPr>
          <a:xfrm>
            <a:off x="3410712" y="3200400"/>
            <a:ext cx="3054096" cy="73152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아라비아만 장기 정박 선박의 FAME 저장안정성 경고</a:t>
            </a:r>
          </a:p>
        </p:txBody>
      </p:sp>
      <p:sp>
        <p:nvSpPr>
          <p:cNvPr id="1153" name="Rectangle 1154"/>
          <p:cNvSpPr/>
          <p:nvPr/>
        </p:nvSpPr>
        <p:spPr>
          <a:xfrm>
            <a:off x="6537960" y="3200400"/>
            <a:ext cx="30175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55" name="TextBox 1156"/>
          <p:cNvSpPr txBox="1"/>
          <p:nvPr/>
        </p:nvSpPr>
        <p:spPr>
          <a:xfrm>
            <a:off x="6611112" y="3200400"/>
            <a:ext cx="2871216" cy="73152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3개월 내 사용, PP+10°C, 4대 지표 모니터링</a:t>
            </a:r>
          </a:p>
        </p:txBody>
      </p:sp>
      <p:sp>
        <p:nvSpPr>
          <p:cNvPr id="1157" name="Rectangle 1158"/>
          <p:cNvSpPr/>
          <p:nvPr/>
        </p:nvSpPr>
        <p:spPr>
          <a:xfrm>
            <a:off x="9555480" y="3200400"/>
            <a:ext cx="213055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59" name="TextBox 1160"/>
          <p:cNvSpPr txBox="1"/>
          <p:nvPr/>
        </p:nvSpPr>
        <p:spPr>
          <a:xfrm>
            <a:off x="9628632" y="3200400"/>
            <a:ext cx="1984248" cy="73152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1F6F3D"/>
                </a:solidFill>
                <a:latin typeface="Calibri"/>
                <a:ea typeface="맑은 고딕"/>
                <a:cs typeface="Calibri"/>
              </a:rPr>
              <a:t>탱크 FIFO·재분석 주기 신설</a:t>
            </a:r>
          </a:p>
        </p:txBody>
      </p:sp>
      <p:sp>
        <p:nvSpPr>
          <p:cNvPr id="1161" name="Rectangle 1162"/>
          <p:cNvSpPr/>
          <p:nvPr/>
        </p:nvSpPr>
        <p:spPr>
          <a:xfrm>
            <a:off x="502920" y="3931920"/>
            <a:ext cx="283464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63" name="TextBox 1164"/>
          <p:cNvSpPr txBox="1"/>
          <p:nvPr/>
        </p:nvSpPr>
        <p:spPr>
          <a:xfrm>
            <a:off x="576072" y="3931920"/>
            <a:ext cx="2688336" cy="73152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172A4A"/>
                </a:solidFill>
                <a:latin typeface="Calibri"/>
                <a:ea typeface="맑은 고딕"/>
                <a:cs typeface="Calibri"/>
              </a:rPr>
              <a:t>샘플·문서·계약</a:t>
            </a:r>
          </a:p>
        </p:txBody>
      </p:sp>
      <p:sp>
        <p:nvSpPr>
          <p:cNvPr id="1165" name="Rectangle 1166"/>
          <p:cNvSpPr/>
          <p:nvPr/>
        </p:nvSpPr>
        <p:spPr>
          <a:xfrm>
            <a:off x="3337560" y="3931920"/>
            <a:ext cx="32004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67" name="TextBox 1168"/>
          <p:cNvSpPr txBox="1"/>
          <p:nvPr/>
        </p:nvSpPr>
        <p:spPr>
          <a:xfrm>
            <a:off x="3410712" y="3931920"/>
            <a:ext cx="3054096" cy="73152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binding sample 불일치, 봉인 훼손, fingerprinting</a:t>
            </a:r>
          </a:p>
        </p:txBody>
      </p:sp>
      <p:sp>
        <p:nvSpPr>
          <p:cNvPr id="1169" name="Rectangle 1170"/>
          <p:cNvSpPr/>
          <p:nvPr/>
        </p:nvSpPr>
        <p:spPr>
          <a:xfrm>
            <a:off x="6537960" y="3931920"/>
            <a:ext cx="30175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71" name="TextBox 1172"/>
          <p:cNvSpPr txBox="1"/>
          <p:nvPr/>
        </p:nvSpPr>
        <p:spPr>
          <a:xfrm>
            <a:off x="6611112" y="3931920"/>
            <a:ext cx="2871216" cy="73152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BDN + PoS — PoS는 인도 후 약 30일 소요</a:t>
            </a:r>
          </a:p>
        </p:txBody>
      </p:sp>
      <p:sp>
        <p:nvSpPr>
          <p:cNvPr id="1173" name="Rectangle 1174"/>
          <p:cNvSpPr/>
          <p:nvPr/>
        </p:nvSpPr>
        <p:spPr>
          <a:xfrm>
            <a:off x="9555480" y="3931920"/>
            <a:ext cx="213055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75" name="TextBox 1176"/>
          <p:cNvSpPr txBox="1"/>
          <p:nvPr/>
        </p:nvSpPr>
        <p:spPr>
          <a:xfrm>
            <a:off x="9628632" y="3931920"/>
            <a:ext cx="1984248" cy="73152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1F6F3D"/>
                </a:solidFill>
                <a:latin typeface="Calibri"/>
                <a:ea typeface="맑은 고딕"/>
                <a:cs typeface="Calibri"/>
              </a:rPr>
              <a:t>계약 단계에서 함께 설계</a:t>
            </a:r>
          </a:p>
        </p:txBody>
      </p:sp>
      <p:sp>
        <p:nvSpPr>
          <p:cNvPr id="1177" name="Rectangle 1178"/>
          <p:cNvSpPr/>
          <p:nvPr/>
        </p:nvSpPr>
        <p:spPr>
          <a:xfrm>
            <a:off x="502920" y="4663440"/>
            <a:ext cx="283464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79" name="TextBox 1180"/>
          <p:cNvSpPr txBox="1"/>
          <p:nvPr/>
        </p:nvSpPr>
        <p:spPr>
          <a:xfrm>
            <a:off x="576072" y="4663440"/>
            <a:ext cx="2688336" cy="73152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172A4A"/>
                </a:solidFill>
                <a:latin typeface="Calibri"/>
                <a:ea typeface="맑은 고딕"/>
                <a:cs typeface="Calibri"/>
              </a:rPr>
              <a:t>규제 위반은 즉시 정지</a:t>
            </a:r>
          </a:p>
        </p:txBody>
      </p:sp>
      <p:sp>
        <p:nvSpPr>
          <p:cNvPr id="1181" name="Rectangle 1182"/>
          <p:cNvSpPr/>
          <p:nvPr/>
        </p:nvSpPr>
        <p:spPr>
          <a:xfrm>
            <a:off x="3337560" y="4663440"/>
            <a:ext cx="32004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83" name="TextBox 1184"/>
          <p:cNvSpPr txBox="1"/>
          <p:nvPr/>
        </p:nvSpPr>
        <p:spPr>
          <a:xfrm>
            <a:off x="3410712" y="4663440"/>
            <a:ext cx="3054096" cy="73152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황분 12.86%, 인화점 4.11%, 2026-01 SOLAS BDN</a:t>
            </a:r>
          </a:p>
        </p:txBody>
      </p:sp>
      <p:sp>
        <p:nvSpPr>
          <p:cNvPr id="1185" name="Rectangle 1186"/>
          <p:cNvSpPr/>
          <p:nvPr/>
        </p:nvSpPr>
        <p:spPr>
          <a:xfrm>
            <a:off x="6537960" y="4663440"/>
            <a:ext cx="301752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87" name="TextBox 1188"/>
          <p:cNvSpPr txBox="1"/>
          <p:nvPr/>
        </p:nvSpPr>
        <p:spPr>
          <a:xfrm>
            <a:off x="6611112" y="4663440"/>
            <a:ext cx="2871216" cy="73152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NOx 18.3.2, ≤B30 캐리지, Circ.905 Rev.1, FuelEU</a:t>
            </a:r>
          </a:p>
        </p:txBody>
      </p:sp>
      <p:sp>
        <p:nvSpPr>
          <p:cNvPr id="1189" name="Rectangle 1190"/>
          <p:cNvSpPr/>
          <p:nvPr/>
        </p:nvSpPr>
        <p:spPr>
          <a:xfrm>
            <a:off x="9555480" y="4663440"/>
            <a:ext cx="213055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91" name="TextBox 1192"/>
          <p:cNvSpPr txBox="1"/>
          <p:nvPr/>
        </p:nvSpPr>
        <p:spPr>
          <a:xfrm>
            <a:off x="9628632" y="4663440"/>
            <a:ext cx="1984248" cy="73152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1">
                <a:solidFill>
                  <a:srgbClr val="1F6F3D"/>
                </a:solidFill>
                <a:latin typeface="Calibri"/>
                <a:ea typeface="맑은 고딕"/>
                <a:cs typeface="Calibri"/>
              </a:rPr>
              <a:t>규제 캘린더를 하나로 통합</a:t>
            </a:r>
          </a:p>
        </p:txBody>
      </p:sp>
      <p:sp>
        <p:nvSpPr>
          <p:cNvPr id="1193" name="Rectangle 1194"/>
          <p:cNvSpPr/>
          <p:nvPr/>
        </p:nvSpPr>
        <p:spPr>
          <a:xfrm>
            <a:off x="502920" y="5532120"/>
            <a:ext cx="11183112" cy="566928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95" name="TextBox 1196"/>
          <p:cNvSpPr txBox="1"/>
          <p:nvPr/>
        </p:nvSpPr>
        <p:spPr>
          <a:xfrm>
            <a:off x="685800" y="5532120"/>
            <a:ext cx="10817352" cy="56692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1">
                <a:solidFill>
                  <a:srgbClr val="172A4A"/>
                </a:solidFill>
                <a:latin typeface="Calibri"/>
                <a:ea typeface="맑은 고딕"/>
                <a:cs typeface="Calibri"/>
              </a:rPr>
              <a:t>“스펙은 통과했는데 배가 섰다” — 그리고 바이오 전환이 그 리스크를 한 단계 더 키우고 있습니다.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7" name="Rectangle 1198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199" name="TextBox 1200"/>
          <p:cNvSpPr txBox="1"/>
          <p:nvPr/>
        </p:nvSpPr>
        <p:spPr>
          <a:xfrm>
            <a:off x="502920" y="146304"/>
            <a:ext cx="11155680" cy="74980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액션 플랜 — Now / Next / Later</a:t>
            </a:r>
          </a:p>
        </p:txBody>
      </p:sp>
      <p:sp>
        <p:nvSpPr>
          <p:cNvPr id="1201" name="Rectangle 1202"/>
          <p:cNvSpPr/>
          <p:nvPr/>
        </p:nvSpPr>
        <p:spPr>
          <a:xfrm>
            <a:off x="502920" y="1325880"/>
            <a:ext cx="5440680" cy="329184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03" name="TextBox 1204"/>
          <p:cNvSpPr txBox="1"/>
          <p:nvPr/>
        </p:nvSpPr>
        <p:spPr>
          <a:xfrm>
            <a:off x="612648" y="1325880"/>
            <a:ext cx="5221224" cy="32918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33333"/>
                </a:solidFill>
                <a:latin typeface="Calibri"/>
                <a:ea typeface="맑은 고딕"/>
                <a:cs typeface="Calibri"/>
              </a:rPr>
              <a:t>Now — 0–1개월</a:t>
            </a:r>
          </a:p>
        </p:txBody>
      </p:sp>
      <p:sp>
        <p:nvSpPr>
          <p:cNvPr id="1205" name="Rectangle 1206"/>
          <p:cNvSpPr/>
          <p:nvPr/>
        </p:nvSpPr>
        <p:spPr>
          <a:xfrm>
            <a:off x="502920" y="1783080"/>
            <a:ext cx="3794760" cy="384048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07" name="TextBox 1208"/>
          <p:cNvSpPr txBox="1"/>
          <p:nvPr/>
        </p:nvSpPr>
        <p:spPr>
          <a:xfrm>
            <a:off x="576072" y="1783080"/>
            <a:ext cx="3648456" cy="38404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할 일</a:t>
            </a:r>
          </a:p>
        </p:txBody>
      </p:sp>
      <p:sp>
        <p:nvSpPr>
          <p:cNvPr id="1209" name="Rectangle 1210"/>
          <p:cNvSpPr/>
          <p:nvPr/>
        </p:nvSpPr>
        <p:spPr>
          <a:xfrm>
            <a:off x="4297680" y="1783080"/>
            <a:ext cx="1645920" cy="384048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11" name="TextBox 1212"/>
          <p:cNvSpPr txBox="1"/>
          <p:nvPr/>
        </p:nvSpPr>
        <p:spPr>
          <a:xfrm>
            <a:off x="4370832" y="1783080"/>
            <a:ext cx="1499616" cy="38404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담당</a:t>
            </a:r>
          </a:p>
        </p:txBody>
      </p:sp>
      <p:sp>
        <p:nvSpPr>
          <p:cNvPr id="1213" name="Rectangle 1214"/>
          <p:cNvSpPr/>
          <p:nvPr/>
        </p:nvSpPr>
        <p:spPr>
          <a:xfrm>
            <a:off x="502920" y="2167128"/>
            <a:ext cx="37947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15" name="TextBox 1216"/>
          <p:cNvSpPr txBox="1"/>
          <p:nvPr/>
        </p:nvSpPr>
        <p:spPr>
          <a:xfrm>
            <a:off x="576072" y="2167128"/>
            <a:ext cx="3648456" cy="45720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구매 스펙에 Clause 5·fingerprinting 명문화</a:t>
            </a:r>
          </a:p>
        </p:txBody>
      </p:sp>
      <p:sp>
        <p:nvSpPr>
          <p:cNvPr id="1217" name="Rectangle 1218"/>
          <p:cNvSpPr/>
          <p:nvPr/>
        </p:nvSpPr>
        <p:spPr>
          <a:xfrm>
            <a:off x="4297680" y="2167128"/>
            <a:ext cx="16459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19" name="TextBox 1220"/>
          <p:cNvSpPr txBox="1"/>
          <p:nvPr/>
        </p:nvSpPr>
        <p:spPr>
          <a:xfrm>
            <a:off x="4370832" y="2167128"/>
            <a:ext cx="1499616" cy="45720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구매·법무</a:t>
            </a:r>
          </a:p>
        </p:txBody>
      </p:sp>
      <p:sp>
        <p:nvSpPr>
          <p:cNvPr id="1221" name="Rectangle 1222"/>
          <p:cNvSpPr/>
          <p:nvPr/>
        </p:nvSpPr>
        <p:spPr>
          <a:xfrm>
            <a:off x="502920" y="2624328"/>
            <a:ext cx="3794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23" name="TextBox 1224"/>
          <p:cNvSpPr txBox="1"/>
          <p:nvPr/>
        </p:nvSpPr>
        <p:spPr>
          <a:xfrm>
            <a:off x="576072" y="2624328"/>
            <a:ext cx="3648456" cy="38404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매니폴드 샘플을 binding으로 협상</a:t>
            </a:r>
          </a:p>
        </p:txBody>
      </p:sp>
      <p:sp>
        <p:nvSpPr>
          <p:cNvPr id="1225" name="Rectangle 1226"/>
          <p:cNvSpPr/>
          <p:nvPr/>
        </p:nvSpPr>
        <p:spPr>
          <a:xfrm>
            <a:off x="4297680" y="2624328"/>
            <a:ext cx="16459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27" name="TextBox 1228"/>
          <p:cNvSpPr txBox="1"/>
          <p:nvPr/>
        </p:nvSpPr>
        <p:spPr>
          <a:xfrm>
            <a:off x="4370832" y="2624328"/>
            <a:ext cx="1499616" cy="38404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구매</a:t>
            </a:r>
          </a:p>
        </p:txBody>
      </p:sp>
      <p:sp>
        <p:nvSpPr>
          <p:cNvPr id="1229" name="Rectangle 1230"/>
          <p:cNvSpPr/>
          <p:nvPr/>
        </p:nvSpPr>
        <p:spPr>
          <a:xfrm>
            <a:off x="502920" y="3008376"/>
            <a:ext cx="379476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31" name="TextBox 1232"/>
          <p:cNvSpPr txBox="1"/>
          <p:nvPr/>
        </p:nvSpPr>
        <p:spPr>
          <a:xfrm>
            <a:off x="576072" y="3008376"/>
            <a:ext cx="3648456" cy="51206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선내 벙커 관리 지침 배포 (감시 파라미터·조기 신호)</a:t>
            </a:r>
          </a:p>
        </p:txBody>
      </p:sp>
      <p:sp>
        <p:nvSpPr>
          <p:cNvPr id="1233" name="Rectangle 1234"/>
          <p:cNvSpPr/>
          <p:nvPr/>
        </p:nvSpPr>
        <p:spPr>
          <a:xfrm>
            <a:off x="4297680" y="3008376"/>
            <a:ext cx="164592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35" name="TextBox 1236"/>
          <p:cNvSpPr txBox="1"/>
          <p:nvPr/>
        </p:nvSpPr>
        <p:spPr>
          <a:xfrm>
            <a:off x="4370832" y="3008376"/>
            <a:ext cx="1499616" cy="51206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기술</a:t>
            </a:r>
          </a:p>
        </p:txBody>
      </p:sp>
      <p:sp>
        <p:nvSpPr>
          <p:cNvPr id="1237" name="Rectangle 1238"/>
          <p:cNvSpPr/>
          <p:nvPr/>
        </p:nvSpPr>
        <p:spPr>
          <a:xfrm>
            <a:off x="502920" y="3520440"/>
            <a:ext cx="37947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39" name="TextBox 1240"/>
          <p:cNvSpPr txBox="1"/>
          <p:nvPr/>
        </p:nvSpPr>
        <p:spPr>
          <a:xfrm>
            <a:off x="576072" y="3520440"/>
            <a:ext cx="3648456" cy="45720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장기 정박 선박 바이오 블렌드 재고 점검</a:t>
            </a:r>
          </a:p>
        </p:txBody>
      </p:sp>
      <p:sp>
        <p:nvSpPr>
          <p:cNvPr id="1241" name="Rectangle 1242"/>
          <p:cNvSpPr/>
          <p:nvPr/>
        </p:nvSpPr>
        <p:spPr>
          <a:xfrm>
            <a:off x="4297680" y="3520440"/>
            <a:ext cx="16459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43" name="TextBox 1244"/>
          <p:cNvSpPr txBox="1"/>
          <p:nvPr/>
        </p:nvSpPr>
        <p:spPr>
          <a:xfrm>
            <a:off x="4370832" y="3520440"/>
            <a:ext cx="1499616" cy="45720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운항</a:t>
            </a:r>
          </a:p>
        </p:txBody>
      </p:sp>
      <p:sp>
        <p:nvSpPr>
          <p:cNvPr id="1245" name="Rectangle 1246"/>
          <p:cNvSpPr/>
          <p:nvPr/>
        </p:nvSpPr>
        <p:spPr>
          <a:xfrm>
            <a:off x="502920" y="4114800"/>
            <a:ext cx="5440680" cy="329184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47" name="TextBox 1248"/>
          <p:cNvSpPr txBox="1"/>
          <p:nvPr/>
        </p:nvSpPr>
        <p:spPr>
          <a:xfrm>
            <a:off x="612648" y="4114800"/>
            <a:ext cx="5221224" cy="32918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33333"/>
                </a:solidFill>
                <a:latin typeface="Calibri"/>
                <a:ea typeface="맑은 고딕"/>
                <a:cs typeface="Calibri"/>
              </a:rPr>
              <a:t>Next — 1–3개월</a:t>
            </a:r>
          </a:p>
        </p:txBody>
      </p:sp>
      <p:sp>
        <p:nvSpPr>
          <p:cNvPr id="1249" name="Rectangle 1250"/>
          <p:cNvSpPr/>
          <p:nvPr/>
        </p:nvSpPr>
        <p:spPr>
          <a:xfrm>
            <a:off x="502920" y="4572000"/>
            <a:ext cx="3794760" cy="384048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51" name="TextBox 1252"/>
          <p:cNvSpPr txBox="1"/>
          <p:nvPr/>
        </p:nvSpPr>
        <p:spPr>
          <a:xfrm>
            <a:off x="576072" y="4572000"/>
            <a:ext cx="3648456" cy="38404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할 일</a:t>
            </a:r>
          </a:p>
        </p:txBody>
      </p:sp>
      <p:sp>
        <p:nvSpPr>
          <p:cNvPr id="1253" name="Rectangle 1254"/>
          <p:cNvSpPr/>
          <p:nvPr/>
        </p:nvSpPr>
        <p:spPr>
          <a:xfrm>
            <a:off x="4297680" y="4572000"/>
            <a:ext cx="1645920" cy="384048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55" name="TextBox 1256"/>
          <p:cNvSpPr txBox="1"/>
          <p:nvPr/>
        </p:nvSpPr>
        <p:spPr>
          <a:xfrm>
            <a:off x="4370832" y="4572000"/>
            <a:ext cx="1499616" cy="38404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담당</a:t>
            </a:r>
          </a:p>
        </p:txBody>
      </p:sp>
      <p:sp>
        <p:nvSpPr>
          <p:cNvPr id="1257" name="Rectangle 1258"/>
          <p:cNvSpPr/>
          <p:nvPr/>
        </p:nvSpPr>
        <p:spPr>
          <a:xfrm>
            <a:off x="502920" y="4956048"/>
            <a:ext cx="37947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59" name="TextBox 1260"/>
          <p:cNvSpPr txBox="1"/>
          <p:nvPr/>
        </p:nvSpPr>
        <p:spPr>
          <a:xfrm>
            <a:off x="576072" y="4956048"/>
            <a:ext cx="3648456" cy="45720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바이오 탱크 FIFO 규정·정기 재분석 주기 신설</a:t>
            </a:r>
          </a:p>
        </p:txBody>
      </p:sp>
      <p:sp>
        <p:nvSpPr>
          <p:cNvPr id="1261" name="Rectangle 1262"/>
          <p:cNvSpPr/>
          <p:nvPr/>
        </p:nvSpPr>
        <p:spPr>
          <a:xfrm>
            <a:off x="4297680" y="4956048"/>
            <a:ext cx="16459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63" name="TextBox 1264"/>
          <p:cNvSpPr txBox="1"/>
          <p:nvPr/>
        </p:nvSpPr>
        <p:spPr>
          <a:xfrm>
            <a:off x="4370832" y="4956048"/>
            <a:ext cx="1499616" cy="45720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기술·운항</a:t>
            </a:r>
          </a:p>
        </p:txBody>
      </p:sp>
      <p:sp>
        <p:nvSpPr>
          <p:cNvPr id="1265" name="Rectangle 1266"/>
          <p:cNvSpPr/>
          <p:nvPr/>
        </p:nvSpPr>
        <p:spPr>
          <a:xfrm>
            <a:off x="502920" y="5413248"/>
            <a:ext cx="379476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67" name="TextBox 1268"/>
          <p:cNvSpPr txBox="1"/>
          <p:nvPr/>
        </p:nvSpPr>
        <p:spPr>
          <a:xfrm>
            <a:off x="576072" y="5413248"/>
            <a:ext cx="3648456" cy="38404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OEM LONO·Class 제출 서류 정비</a:t>
            </a:r>
          </a:p>
        </p:txBody>
      </p:sp>
      <p:sp>
        <p:nvSpPr>
          <p:cNvPr id="1269" name="Rectangle 1270"/>
          <p:cNvSpPr/>
          <p:nvPr/>
        </p:nvSpPr>
        <p:spPr>
          <a:xfrm>
            <a:off x="4297680" y="5413248"/>
            <a:ext cx="16459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71" name="TextBox 1272"/>
          <p:cNvSpPr txBox="1"/>
          <p:nvPr/>
        </p:nvSpPr>
        <p:spPr>
          <a:xfrm>
            <a:off x="4370832" y="5413248"/>
            <a:ext cx="1499616" cy="38404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기술</a:t>
            </a:r>
          </a:p>
        </p:txBody>
      </p:sp>
      <p:sp>
        <p:nvSpPr>
          <p:cNvPr id="1273" name="Rectangle 1274"/>
          <p:cNvSpPr/>
          <p:nvPr/>
        </p:nvSpPr>
        <p:spPr>
          <a:xfrm>
            <a:off x="502920" y="5797296"/>
            <a:ext cx="379476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75" name="TextBox 1276"/>
          <p:cNvSpPr txBox="1"/>
          <p:nvPr/>
        </p:nvSpPr>
        <p:spPr>
          <a:xfrm>
            <a:off x="576072" y="5797296"/>
            <a:ext cx="3648456" cy="45720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PoS 30일 리드타임을 반영한 보고 프로세스</a:t>
            </a:r>
          </a:p>
        </p:txBody>
      </p:sp>
      <p:sp>
        <p:nvSpPr>
          <p:cNvPr id="1277" name="Rectangle 1278"/>
          <p:cNvSpPr/>
          <p:nvPr/>
        </p:nvSpPr>
        <p:spPr>
          <a:xfrm>
            <a:off x="4297680" y="5797296"/>
            <a:ext cx="16459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79" name="TextBox 1280"/>
          <p:cNvSpPr txBox="1"/>
          <p:nvPr/>
        </p:nvSpPr>
        <p:spPr>
          <a:xfrm>
            <a:off x="4370832" y="5797296"/>
            <a:ext cx="1499616" cy="45720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컴플라이언스</a:t>
            </a:r>
          </a:p>
        </p:txBody>
      </p:sp>
      <p:sp>
        <p:nvSpPr>
          <p:cNvPr id="1281" name="Rectangle 1282"/>
          <p:cNvSpPr/>
          <p:nvPr/>
        </p:nvSpPr>
        <p:spPr>
          <a:xfrm>
            <a:off x="6245352" y="1325880"/>
            <a:ext cx="5440680" cy="329184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83" name="TextBox 1284"/>
          <p:cNvSpPr txBox="1"/>
          <p:nvPr/>
        </p:nvSpPr>
        <p:spPr>
          <a:xfrm>
            <a:off x="6355080" y="1325880"/>
            <a:ext cx="5221224" cy="329184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333333"/>
                </a:solidFill>
                <a:latin typeface="Calibri"/>
                <a:ea typeface="맑은 고딕"/>
                <a:cs typeface="Calibri"/>
              </a:rPr>
              <a:t>Later — 3–12개월</a:t>
            </a:r>
          </a:p>
        </p:txBody>
      </p:sp>
      <p:sp>
        <p:nvSpPr>
          <p:cNvPr id="1285" name="Rectangle 1286"/>
          <p:cNvSpPr/>
          <p:nvPr/>
        </p:nvSpPr>
        <p:spPr>
          <a:xfrm>
            <a:off x="6245352" y="1783080"/>
            <a:ext cx="3794760" cy="402336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87" name="TextBox 1288"/>
          <p:cNvSpPr txBox="1"/>
          <p:nvPr/>
        </p:nvSpPr>
        <p:spPr>
          <a:xfrm>
            <a:off x="6318504" y="1783080"/>
            <a:ext cx="3648456" cy="40233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할 일</a:t>
            </a:r>
          </a:p>
        </p:txBody>
      </p:sp>
      <p:sp>
        <p:nvSpPr>
          <p:cNvPr id="1289" name="Rectangle 1290"/>
          <p:cNvSpPr/>
          <p:nvPr/>
        </p:nvSpPr>
        <p:spPr>
          <a:xfrm>
            <a:off x="10040112" y="1783080"/>
            <a:ext cx="1645920" cy="402336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91" name="TextBox 1292"/>
          <p:cNvSpPr txBox="1"/>
          <p:nvPr/>
        </p:nvSpPr>
        <p:spPr>
          <a:xfrm>
            <a:off x="10113264" y="1783080"/>
            <a:ext cx="1499616" cy="40233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담당</a:t>
            </a:r>
          </a:p>
        </p:txBody>
      </p:sp>
      <p:sp>
        <p:nvSpPr>
          <p:cNvPr id="1293" name="Rectangle 1294"/>
          <p:cNvSpPr/>
          <p:nvPr/>
        </p:nvSpPr>
        <p:spPr>
          <a:xfrm>
            <a:off x="6245352" y="2185416"/>
            <a:ext cx="37947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95" name="TextBox 1296"/>
          <p:cNvSpPr txBox="1"/>
          <p:nvPr/>
        </p:nvSpPr>
        <p:spPr>
          <a:xfrm>
            <a:off x="6318504" y="2185416"/>
            <a:ext cx="3648456" cy="47548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Circ.905 Rev.1 대응 — DCS·SEEMP Part II/III 개정</a:t>
            </a:r>
          </a:p>
        </p:txBody>
      </p:sp>
      <p:sp>
        <p:nvSpPr>
          <p:cNvPr id="1297" name="Rectangle 1298"/>
          <p:cNvSpPr/>
          <p:nvPr/>
        </p:nvSpPr>
        <p:spPr>
          <a:xfrm>
            <a:off x="10040112" y="2185416"/>
            <a:ext cx="1645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99" name="TextBox 1300"/>
          <p:cNvSpPr txBox="1"/>
          <p:nvPr/>
        </p:nvSpPr>
        <p:spPr>
          <a:xfrm>
            <a:off x="10113264" y="2185416"/>
            <a:ext cx="1499616" cy="47548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컴플라이언스</a:t>
            </a:r>
          </a:p>
        </p:txBody>
      </p:sp>
      <p:sp>
        <p:nvSpPr>
          <p:cNvPr id="1301" name="Rectangle 1302"/>
          <p:cNvSpPr/>
          <p:nvPr/>
        </p:nvSpPr>
        <p:spPr>
          <a:xfrm>
            <a:off x="6245352" y="2660904"/>
            <a:ext cx="379476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03" name="TextBox 1304"/>
          <p:cNvSpPr txBox="1"/>
          <p:nvPr/>
        </p:nvSpPr>
        <p:spPr>
          <a:xfrm>
            <a:off x="6318504" y="2660904"/>
            <a:ext cx="3648456" cy="40233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non-FAME 수용 정책 확정 및 문서화</a:t>
            </a:r>
          </a:p>
        </p:txBody>
      </p:sp>
      <p:sp>
        <p:nvSpPr>
          <p:cNvPr id="1305" name="Rectangle 1306"/>
          <p:cNvSpPr/>
          <p:nvPr/>
        </p:nvSpPr>
        <p:spPr>
          <a:xfrm>
            <a:off x="10040112" y="2660904"/>
            <a:ext cx="16459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07" name="TextBox 1308"/>
          <p:cNvSpPr txBox="1"/>
          <p:nvPr/>
        </p:nvSpPr>
        <p:spPr>
          <a:xfrm>
            <a:off x="10113264" y="2660904"/>
            <a:ext cx="1499616" cy="40233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기술·구매</a:t>
            </a:r>
          </a:p>
        </p:txBody>
      </p:sp>
      <p:sp>
        <p:nvSpPr>
          <p:cNvPr id="1309" name="Rectangle 1310"/>
          <p:cNvSpPr/>
          <p:nvPr/>
        </p:nvSpPr>
        <p:spPr>
          <a:xfrm>
            <a:off x="6245352" y="3063240"/>
            <a:ext cx="379476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11" name="TextBox 1312"/>
          <p:cNvSpPr txBox="1"/>
          <p:nvPr/>
        </p:nvSpPr>
        <p:spPr>
          <a:xfrm>
            <a:off x="6318504" y="3063240"/>
            <a:ext cx="3648456" cy="40233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용선·공급계약 표준안 개정</a:t>
            </a:r>
          </a:p>
        </p:txBody>
      </p:sp>
      <p:sp>
        <p:nvSpPr>
          <p:cNvPr id="1313" name="Rectangle 1314"/>
          <p:cNvSpPr/>
          <p:nvPr/>
        </p:nvSpPr>
        <p:spPr>
          <a:xfrm>
            <a:off x="10040112" y="3063240"/>
            <a:ext cx="16459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15" name="TextBox 1316"/>
          <p:cNvSpPr txBox="1"/>
          <p:nvPr/>
        </p:nvSpPr>
        <p:spPr>
          <a:xfrm>
            <a:off x="10113264" y="3063240"/>
            <a:ext cx="1499616" cy="402336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법무</a:t>
            </a:r>
          </a:p>
        </p:txBody>
      </p:sp>
      <p:sp>
        <p:nvSpPr>
          <p:cNvPr id="1317" name="Rectangle 1318"/>
          <p:cNvSpPr/>
          <p:nvPr/>
        </p:nvSpPr>
        <p:spPr>
          <a:xfrm>
            <a:off x="6245352" y="3465576"/>
            <a:ext cx="37947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19" name="TextBox 1320"/>
          <p:cNvSpPr txBox="1"/>
          <p:nvPr/>
        </p:nvSpPr>
        <p:spPr>
          <a:xfrm>
            <a:off x="6318504" y="3465576"/>
            <a:ext cx="3648456" cy="47548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선원 교육 모듈 업데이트 (바이오 SOP 포함)</a:t>
            </a:r>
          </a:p>
        </p:txBody>
      </p:sp>
      <p:sp>
        <p:nvSpPr>
          <p:cNvPr id="1321" name="Rectangle 1322"/>
          <p:cNvSpPr/>
          <p:nvPr/>
        </p:nvSpPr>
        <p:spPr>
          <a:xfrm>
            <a:off x="10040112" y="3465576"/>
            <a:ext cx="16459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23" name="TextBox 1324"/>
          <p:cNvSpPr txBox="1"/>
          <p:nvPr/>
        </p:nvSpPr>
        <p:spPr>
          <a:xfrm>
            <a:off x="10113264" y="3465576"/>
            <a:ext cx="1499616" cy="47548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HR·기술</a:t>
            </a:r>
          </a:p>
        </p:txBody>
      </p:sp>
      <p:sp>
        <p:nvSpPr>
          <p:cNvPr id="1325" name="Rectangle 1326"/>
          <p:cNvSpPr/>
          <p:nvPr/>
        </p:nvSpPr>
        <p:spPr>
          <a:xfrm>
            <a:off x="6245352" y="4069080"/>
            <a:ext cx="5440680" cy="777240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27" name="TextBox 1328"/>
          <p:cNvSpPr txBox="1"/>
          <p:nvPr/>
        </p:nvSpPr>
        <p:spPr>
          <a:xfrm>
            <a:off x="6428232" y="4069080"/>
            <a:ext cx="5074920" cy="77724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>
                <a:solidFill>
                  <a:srgbClr val="172A4A"/>
                </a:solidFill>
                <a:latin typeface="Calibri"/>
                <a:ea typeface="맑은 고딕"/>
                <a:cs typeface="Calibri"/>
              </a:rPr>
              <a:t>선원이 개인 경험에 의존해 대응하고 있다는 것이 Gard가 짚은 가장 현실적인 공백입니다.</a:t>
            </a:r>
          </a:p>
        </p:txBody>
      </p:sp>
      <p:sp>
        <p:nvSpPr>
          <p:cNvPr id="1329" name="TextBox 1330"/>
          <p:cNvSpPr txBox="1"/>
          <p:nvPr/>
        </p:nvSpPr>
        <p:spPr>
          <a:xfrm>
            <a:off x="6245352" y="4983480"/>
            <a:ext cx="5440680" cy="457200"/>
          </a:xfrm>
          <a:prstGeom prst="rect">
            <a:avLst/>
          </a:prstGeom>
          <a:noFill/>
        </p:spPr>
        <p:txBody>
          <a:bodyPr wrap="square" lIns="36576" tIns="0" rIns="36576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595959"/>
                </a:solidFill>
                <a:latin typeface="Calibri"/>
                <a:ea typeface="맑은 고딕"/>
                <a:cs typeface="Calibri"/>
              </a:rPr>
              <a:t>→ 육상 기술부서의 구체적 지침이 가장 빠른 리스크 감소 수단입니다.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" name="Rectangle 133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172A4A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33" name="TextBox 1334"/>
          <p:cNvSpPr txBox="1"/>
          <p:nvPr/>
        </p:nvSpPr>
        <p:spPr>
          <a:xfrm>
            <a:off x="502920" y="146304"/>
            <a:ext cx="11155680" cy="749808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Calibri"/>
                <a:ea typeface="맑은 고딕"/>
                <a:cs typeface="Calibri"/>
              </a:rPr>
              <a:t>의사결정 요청 및 Q&amp;A</a:t>
            </a:r>
          </a:p>
        </p:txBody>
      </p:sp>
      <p:sp>
        <p:nvSpPr>
          <p:cNvPr id="1335" name="Rectangle 1336"/>
          <p:cNvSpPr/>
          <p:nvPr/>
        </p:nvSpPr>
        <p:spPr>
          <a:xfrm>
            <a:off x="502920" y="1325880"/>
            <a:ext cx="68580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37" name="TextBox 1338"/>
          <p:cNvSpPr txBox="1"/>
          <p:nvPr/>
        </p:nvSpPr>
        <p:spPr>
          <a:xfrm>
            <a:off x="576072" y="1325880"/>
            <a:ext cx="539496" cy="105156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72A4A"/>
                </a:solidFill>
                <a:latin typeface="Calibri"/>
                <a:ea typeface="맑은 고딕"/>
                <a:cs typeface="Calibri"/>
              </a:rPr>
              <a:t>01</a:t>
            </a:r>
          </a:p>
        </p:txBody>
      </p:sp>
      <p:sp>
        <p:nvSpPr>
          <p:cNvPr id="1339" name="Rectangle 1340"/>
          <p:cNvSpPr/>
          <p:nvPr/>
        </p:nvSpPr>
        <p:spPr>
          <a:xfrm>
            <a:off x="1188720" y="1325880"/>
            <a:ext cx="475488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41" name="TextBox 1342"/>
          <p:cNvSpPr txBox="1"/>
          <p:nvPr/>
        </p:nvSpPr>
        <p:spPr>
          <a:xfrm>
            <a:off x="1261872" y="1325880"/>
            <a:ext cx="4608576" cy="105156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72A4A"/>
                </a:solidFill>
                <a:latin typeface="Calibri"/>
                <a:ea typeface="맑은 고딕"/>
                <a:cs typeface="Calibri"/>
              </a:rPr>
              <a:t>non-FAME 수용 여부</a:t>
            </a:r>
          </a:p>
        </p:txBody>
      </p:sp>
      <p:sp>
        <p:nvSpPr>
          <p:cNvPr id="1343" name="Rectangle 1344"/>
          <p:cNvSpPr/>
          <p:nvPr/>
        </p:nvSpPr>
        <p:spPr>
          <a:xfrm>
            <a:off x="5943600" y="1325880"/>
            <a:ext cx="5742432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45" name="TextBox 1346"/>
          <p:cNvSpPr txBox="1"/>
          <p:nvPr/>
        </p:nvSpPr>
        <p:spPr>
          <a:xfrm>
            <a:off x="6016752" y="1325880"/>
            <a:ext cx="5596128" cy="105156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전면 금지 / 6단계 검증 통과 시 조건부 허용 / 건별 승인 — Gard 사례 3에서 실제 주기관 손상이 발생했습니다.</a:t>
            </a:r>
          </a:p>
        </p:txBody>
      </p:sp>
      <p:sp>
        <p:nvSpPr>
          <p:cNvPr id="1347" name="Rectangle 1348"/>
          <p:cNvSpPr/>
          <p:nvPr/>
        </p:nvSpPr>
        <p:spPr>
          <a:xfrm>
            <a:off x="502920" y="2377440"/>
            <a:ext cx="68580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49" name="TextBox 1350"/>
          <p:cNvSpPr txBox="1"/>
          <p:nvPr/>
        </p:nvSpPr>
        <p:spPr>
          <a:xfrm>
            <a:off x="576072" y="2377440"/>
            <a:ext cx="539496" cy="105156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72A4A"/>
                </a:solidFill>
                <a:latin typeface="Calibri"/>
                <a:ea typeface="맑은 고딕"/>
                <a:cs typeface="Calibri"/>
              </a:rPr>
              <a:t>02</a:t>
            </a:r>
          </a:p>
        </p:txBody>
      </p:sp>
      <p:sp>
        <p:nvSpPr>
          <p:cNvPr id="1351" name="Rectangle 1352"/>
          <p:cNvSpPr/>
          <p:nvPr/>
        </p:nvSpPr>
        <p:spPr>
          <a:xfrm>
            <a:off x="1188720" y="2377440"/>
            <a:ext cx="475488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53" name="TextBox 1354"/>
          <p:cNvSpPr txBox="1"/>
          <p:nvPr/>
        </p:nvSpPr>
        <p:spPr>
          <a:xfrm>
            <a:off x="1261872" y="2377440"/>
            <a:ext cx="4608576" cy="105156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72A4A"/>
                </a:solidFill>
                <a:latin typeface="Calibri"/>
                <a:ea typeface="맑은 고딕"/>
                <a:cs typeface="Calibri"/>
              </a:rPr>
              <a:t>계약 조항 개정 착수 승인</a:t>
            </a:r>
          </a:p>
        </p:txBody>
      </p:sp>
      <p:sp>
        <p:nvSpPr>
          <p:cNvPr id="1355" name="Rectangle 1356"/>
          <p:cNvSpPr/>
          <p:nvPr/>
        </p:nvSpPr>
        <p:spPr>
          <a:xfrm>
            <a:off x="5943600" y="2377440"/>
            <a:ext cx="5742432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57" name="TextBox 1358"/>
          <p:cNvSpPr txBox="1"/>
          <p:nvPr/>
        </p:nvSpPr>
        <p:spPr>
          <a:xfrm>
            <a:off x="6016752" y="2377440"/>
            <a:ext cx="5596128" cy="105156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binding sample을 매니폴드로, fingerprinting과 공동시험 프로토콜을 표준 조항으로 — 법무·구매 리소스 배정이 필요합니다.</a:t>
            </a:r>
          </a:p>
        </p:txBody>
      </p:sp>
      <p:sp>
        <p:nvSpPr>
          <p:cNvPr id="1359" name="Rectangle 1360"/>
          <p:cNvSpPr/>
          <p:nvPr/>
        </p:nvSpPr>
        <p:spPr>
          <a:xfrm>
            <a:off x="502920" y="3429000"/>
            <a:ext cx="68580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61" name="TextBox 1362"/>
          <p:cNvSpPr txBox="1"/>
          <p:nvPr/>
        </p:nvSpPr>
        <p:spPr>
          <a:xfrm>
            <a:off x="576072" y="3429000"/>
            <a:ext cx="539496" cy="105156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72A4A"/>
                </a:solidFill>
                <a:latin typeface="Calibri"/>
                <a:ea typeface="맑은 고딕"/>
                <a:cs typeface="Calibri"/>
              </a:rPr>
              <a:t>03</a:t>
            </a:r>
          </a:p>
        </p:txBody>
      </p:sp>
      <p:sp>
        <p:nvSpPr>
          <p:cNvPr id="1363" name="Rectangle 1364"/>
          <p:cNvSpPr/>
          <p:nvPr/>
        </p:nvSpPr>
        <p:spPr>
          <a:xfrm>
            <a:off x="1188720" y="3429000"/>
            <a:ext cx="4754880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65" name="TextBox 1366"/>
          <p:cNvSpPr txBox="1"/>
          <p:nvPr/>
        </p:nvSpPr>
        <p:spPr>
          <a:xfrm>
            <a:off x="1261872" y="3429000"/>
            <a:ext cx="4608576" cy="105156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72A4A"/>
                </a:solidFill>
                <a:latin typeface="Calibri"/>
                <a:ea typeface="맑은 고딕"/>
                <a:cs typeface="Calibri"/>
              </a:rPr>
              <a:t>Circ.905 Rev.1 오너십</a:t>
            </a:r>
          </a:p>
        </p:txBody>
      </p:sp>
      <p:sp>
        <p:nvSpPr>
          <p:cNvPr id="1367" name="Rectangle 1368"/>
          <p:cNvSpPr/>
          <p:nvPr/>
        </p:nvSpPr>
        <p:spPr>
          <a:xfrm>
            <a:off x="5943600" y="3429000"/>
            <a:ext cx="5742432" cy="10515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4DA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69" name="TextBox 1370"/>
          <p:cNvSpPr txBox="1"/>
          <p:nvPr/>
        </p:nvSpPr>
        <p:spPr>
          <a:xfrm>
            <a:off x="6016752" y="3429000"/>
            <a:ext cx="5596128" cy="105156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1A1A1A"/>
                </a:solidFill>
                <a:latin typeface="Calibri"/>
                <a:ea typeface="맑은 고딕"/>
                <a:cs typeface="Calibri"/>
              </a:rPr>
              <a:t>Cf 질량가중 전환과 “비인증 바이오 = 화석 등가”는 CII 등급에 직접 영향 — 담당 부서와 착수 시점을 정해야 합니다.</a:t>
            </a:r>
          </a:p>
        </p:txBody>
      </p:sp>
      <p:sp>
        <p:nvSpPr>
          <p:cNvPr id="1371" name="Rectangle 1372"/>
          <p:cNvSpPr/>
          <p:nvPr/>
        </p:nvSpPr>
        <p:spPr>
          <a:xfrm>
            <a:off x="502920" y="4709160"/>
            <a:ext cx="11183112" cy="685800"/>
          </a:xfrm>
          <a:prstGeom prst="rect">
            <a:avLst/>
          </a:prstGeom>
          <a:solidFill>
            <a:srgbClr val="EFEFE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73" name="TextBox 1374"/>
          <p:cNvSpPr txBox="1"/>
          <p:nvPr/>
        </p:nvSpPr>
        <p:spPr>
          <a:xfrm>
            <a:off x="685800" y="4709160"/>
            <a:ext cx="10817352" cy="685800"/>
          </a:xfrm>
          <a:prstGeom prst="rect">
            <a:avLst/>
          </a:prstGeom>
          <a:noFill/>
        </p:spPr>
        <p:txBody>
          <a:bodyPr wrap="square" lIns="36576" tIns="0" rIns="36576" bIns="0" anchor="ctr"/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1">
                <a:solidFill>
                  <a:srgbClr val="172A4A"/>
                </a:solidFill>
                <a:latin typeface="Calibri"/>
                <a:ea typeface="맑은 고딕"/>
                <a:cs typeface="Calibri"/>
              </a:rPr>
              <a:t>불량 벙커의 공급과 사용을 막는 것은 선주와 용선자의 공동 책임이며, 가장 효과적인 방법입니다.</a:t>
            </a:r>
          </a:p>
        </p:txBody>
      </p:sp>
      <p:sp>
        <p:nvSpPr>
          <p:cNvPr id="1375" name="TextBox 1376"/>
          <p:cNvSpPr txBox="1"/>
          <p:nvPr/>
        </p:nvSpPr>
        <p:spPr>
          <a:xfrm>
            <a:off x="502920" y="5577840"/>
            <a:ext cx="11183112" cy="548640"/>
          </a:xfrm>
          <a:prstGeom prst="rect">
            <a:avLst/>
          </a:prstGeom>
          <a:noFill/>
        </p:spPr>
        <p:txBody>
          <a:bodyPr wrap="square" lIns="36576" tIns="0" rIns="36576" bIns="0" anchor="t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>
                <a:solidFill>
                  <a:srgbClr val="595959"/>
                </a:solidFill>
                <a:latin typeface="Calibri"/>
                <a:ea typeface="맑은 고딕"/>
                <a:cs typeface="Calibri"/>
              </a:rPr>
              <a:t>출처: Gard, Beyond Specification — Bunker Claims Insights in early 2026 (VPS 데이터 제공) / Singapore Shipping Association, FAQ on Bunkering of Biofuels in the Port of Singapore, August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/>
      </a:spPr>
      <a:bodyPr wrap="square" lIns="0" tIns="0" rIns="0" bIns="0" rtlCol="0" anchor="ctr"/>
      <a:lstStyle>
        <a:defPPr algn="l">
          <a:lnSpc>
            <a:spcPct val="160000"/>
          </a:lnSpc>
          <a:defRPr sz="2800" b="1" dirty="0">
            <a:solidFill>
              <a:schemeClr val="bg1"/>
            </a:solidFill>
            <a:latin typeface="Roboto"/>
            <a:ea typeface="Roboto"/>
            <a:cs typeface="Roboto"/>
            <a:sym typeface="Roboto"/>
          </a:defRPr>
        </a:defPPr>
      </a:lst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22c0d03a-4a30-4ecd-86b9-2064bc46f2a0}" enabled="1" method="Standard" siteId="{5d0227ad-3bcc-4106-8cf3-16e735f3b4c4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285</TotalTime>
  <Words>2656</Words>
  <Application>Microsoft Office PowerPoint</Application>
  <PresentationFormat>와이드스크린</PresentationFormat>
  <Paragraphs>248</Paragraphs>
  <Slides>12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12</vt:i4>
      </vt:variant>
    </vt:vector>
  </HeadingPairs>
  <TitlesOfParts>
    <vt:vector size="19" baseType="lpstr">
      <vt:lpstr>Aptos</vt:lpstr>
      <vt:lpstr>Arial</vt:lpstr>
      <vt:lpstr>Calibri</vt:lpstr>
      <vt:lpstr>Oswald</vt:lpstr>
      <vt:lpstr>Roboto</vt:lpstr>
      <vt:lpstr>Office Theme</vt:lpstr>
      <vt:lpstr>1_Office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Jeong, Peter</cp:lastModifiedBy>
  <cp:revision>4</cp:revision>
  <dcterms:created xsi:type="dcterms:W3CDTF">2013-01-27T09:14:16Z</dcterms:created>
  <dcterms:modified xsi:type="dcterms:W3CDTF">2026-08-20T07:47:13Z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Locations">
    <vt:lpwstr>Office Theme:8</vt:lpwstr>
  </property>
  <property fmtid="{D5CDD505-2E9C-101B-9397-08002B2CF9AE}" pid="3" name="ClassificationContentMarkingFooterText">
    <vt:lpwstr>Classified as Internal - This content is proprietary information intended for employees and partners only.</vt:lpwstr>
  </property>
</Properties>
</file>