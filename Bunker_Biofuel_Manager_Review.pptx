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43" autoAdjust="0"/>
  </p:normalViewPr>
  <p:slideViewPr>
    <p:cSldViewPr snapToGrid="0" snapToObjects="1">
      <p:cViewPr varScale="1">
        <p:scale>
          <a:sx n="67" d="100"/>
          <a:sy n="67" d="100"/>
        </p:scale>
        <p:origin x="55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ong, Peter" userId="84dba6ce-dc99-4d1d-b73d-a1e33699aa70" providerId="ADAL" clId="{BE2B2E2D-DACA-45F7-A15F-EEBD169E5821}"/>
    <pc:docChg chg="addSld">
      <pc:chgData name="Jeong, Peter" userId="84dba6ce-dc99-4d1d-b73d-a1e33699aa70" providerId="ADAL" clId="{BE2B2E2D-DACA-45F7-A15F-EEBD169E5821}" dt="2026-08-20T07:47:04.534" v="0" actId="680"/>
      <pc:docMkLst>
        <pc:docMk/>
      </pc:docMkLst>
      <pc:sldChg chg="new">
        <pc:chgData name="Jeong, Peter" userId="84dba6ce-dc99-4d1d-b73d-a1e33699aa70" providerId="ADAL" clId="{BE2B2E2D-DACA-45F7-A15F-EEBD169E5821}" dt="2026-08-20T07:47:04.534" v="0" actId="680"/>
        <pc:sldMkLst>
          <pc:docMk/>
          <pc:sldMk cId="2831487298"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56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[오프닝 · 약 1분]</a:t>
            </a:r>
          </a:p>
          <a:p>
            <a:endParaRPr lang="ko-KR" altLang="en-US" dirty="0"/>
          </a:p>
          <a:p>
            <a:r>
              <a:rPr lang="ko-KR" altLang="en-US" dirty="0"/>
              <a:t>오늘 공유드릴 건 두 개의 최신 리포트입니다. 하나는 Gard가 올해 8월에 낸 'Beyond Specification — 2026년 초 벙커 클레임 인사이트'이고, 다른 하나는 싱가포르선주협회(SSA)가 2026년 8월에 개정한 바이오연료 벙커링 FAQ입니다.</a:t>
            </a:r>
          </a:p>
          <a:p>
            <a:endParaRPr lang="ko-KR" altLang="en-US" dirty="0"/>
          </a:p>
          <a:p>
            <a:r>
              <a:rPr lang="ko-KR" altLang="en-US" dirty="0"/>
              <a:t>두 문서를 따로 읽으면 각각 별개의 이슈로 보이는데, 같이 놓고 보면 하나의 흐름으로 이어집니다. 그래서 오늘은 문서를 순서대로 요약하는 대신, 네 덩어리로 나눠서 말씀드리겠습니다.</a:t>
            </a:r>
          </a:p>
          <a:p>
            <a:endParaRPr lang="ko-KR" altLang="en-US" dirty="0"/>
          </a:p>
          <a:p>
            <a:r>
              <a:rPr lang="ko-KR" altLang="en-US" dirty="0"/>
              <a:t>앞의 두 파트는 '지금 무슨 일이 벌어지고 있나', 세 번째는 '바이오연료 전환이 여기에 어떻게 얹히나', 마지막이 '그래서 우리는 뭘 해야 하나'입니다.</a:t>
            </a:r>
          </a:p>
          <a:p>
            <a:endParaRPr lang="ko-KR" altLang="en-US" dirty="0"/>
          </a:p>
          <a:p>
            <a:r>
              <a:rPr lang="ko-KR" altLang="en-US" dirty="0"/>
              <a:t>전체 20분 정도 예상하고, 13번 슬라이드가 오늘의 핵심이니 거기서 조금 더 시간을 쓰겠습니다. 마지막에 결정을 부탁드릴 사항이 세 가지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2분 · 여기서 결론을 먼저 말하고 시작]</a:t>
            </a:r>
          </a:p>
          <a:p>
            <a:endParaRPr lang="ko-KR" altLang="en-US" dirty="0"/>
          </a:p>
          <a:p>
            <a:r>
              <a:rPr lang="ko-KR" altLang="en-US" dirty="0"/>
              <a:t>숫자 네 개만 기억하시면 됩니다.</a:t>
            </a:r>
          </a:p>
          <a:p>
            <a:endParaRPr lang="ko-KR" altLang="en-US" dirty="0"/>
          </a:p>
          <a:p>
            <a:r>
              <a:rPr lang="ko-KR" altLang="en-US" dirty="0"/>
              <a:t>+50%. Gard가 올해 1월부터 5월까지 접수한 벙커 관련 클레임이 약 70건인데, 작년 같은 기간보다 50% 늘었습니다.</a:t>
            </a:r>
          </a:p>
          <a:p>
            <a:endParaRPr lang="ko-KR" altLang="en-US" dirty="0"/>
          </a:p>
          <a:p>
            <a:r>
              <a:rPr lang="ko-KR" altLang="en-US" dirty="0"/>
              <a:t>85%. 그중 VLSFO가 85% 이상입니다. 2020년 황산화물 규제 이후 주력 연료이기도 하고, 여러 성분을 섞어 만들기 때문에 조성 편차와 이상 화학물질 위험이 구조적으로 큽니다.</a:t>
            </a:r>
          </a:p>
          <a:p>
            <a:endParaRPr lang="ko-KR" altLang="en-US" dirty="0"/>
          </a:p>
          <a:p>
            <a:r>
              <a:rPr lang="ko-KR" altLang="en-US" dirty="0"/>
              <a:t>40%. 이게 오늘 가장 중요한 숫자입니다. 클레임의 40%는 ISO 8217 Table 2를 전부 통과한 연료에서 나왔습니다. 시험 성적서상으로는 합격인데 배가 섰다는 뜻입니다.</a:t>
            </a:r>
          </a:p>
          <a:p>
            <a:endParaRPr lang="ko-KR" altLang="en-US" dirty="0"/>
          </a:p>
          <a:p>
            <a:r>
              <a:rPr lang="ko-KR" altLang="en-US" dirty="0"/>
              <a:t>+53%. 싱가포르 바이오 블렌드 판매가 1년 만에 53% 늘었습니다.</a:t>
            </a:r>
          </a:p>
          <a:p>
            <a:endParaRPr lang="ko-KR" altLang="en-US" dirty="0"/>
          </a:p>
          <a:p>
            <a:r>
              <a:rPr lang="ko-KR" altLang="en-US" dirty="0"/>
              <a:t>왼쪽은 왜 늘었는가입니다. 2월 말 중동 분쟁 이후 정제사들이 원유 구성을 바꾸고 감산했고, 그 결과 총침전물과 캣파인 오프스펙이 전 세계적으로 늘었습니다. VPS도 같은 기간 11개 지역에 20건의 경보를 냈습니다.</a:t>
            </a:r>
          </a:p>
          <a:p>
            <a:endParaRPr lang="ko-KR" altLang="en-US" dirty="0"/>
          </a:p>
          <a:p>
            <a:r>
              <a:rPr lang="ko-KR" altLang="en-US" dirty="0"/>
              <a:t>오른쪽 세 가지는 마지막 슬라이드에서 다시 말씀드릴 결정 사항입니다. 지금은 '이런 게 나온다' 정도만 봐주시면 됩니다.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2분]</a:t>
            </a:r>
          </a:p>
          <a:p>
            <a:endParaRPr lang="ko-KR" altLang="en-US" dirty="0"/>
          </a:p>
          <a:p>
            <a:r>
              <a:rPr lang="ko-KR" altLang="en-US" dirty="0"/>
              <a:t>왼쪽 표가 Gard 접수 현황입니다. 약 70건 중 황분 규제 위반이 12.86%, 인화점 위반이 4.11%, 수량 분쟁이 3%입니다. 나머지 대부분이 품질 문제입니다.</a:t>
            </a:r>
          </a:p>
          <a:p>
            <a:endParaRPr lang="ko-KR" altLang="en-US" dirty="0"/>
          </a:p>
          <a:p>
            <a:r>
              <a:rPr lang="ko-KR" altLang="en-US" dirty="0"/>
              <a:t>주목할 점은 월별 분포입니다. 1~2월보다 3~5월이 뚜렷하게 높고, 이게 중동 분쟁 격화 시점과 겹칩니다. Gard도 인과관계를 단정하지는 않지만, 공급망 압박을 받는 시장에서 나타나는 전형적인 패턴이라고 표현했습니다.</a:t>
            </a:r>
          </a:p>
          <a:p>
            <a:endParaRPr lang="ko-KR" altLang="en-US" dirty="0"/>
          </a:p>
          <a:p>
            <a:r>
              <a:rPr lang="ko-KR" altLang="en-US" dirty="0"/>
              <a:t>오른쪽은 VPS 데이터인데, 여기서 두 가지가 눈에 띕니다.</a:t>
            </a:r>
          </a:p>
          <a:p>
            <a:endParaRPr lang="ko-KR" altLang="en-US" dirty="0"/>
          </a:p>
          <a:p>
            <a:r>
              <a:rPr lang="ko-KR" altLang="en-US" dirty="0"/>
              <a:t>첫째, ULSFO가 28.8%로 압도적입니다. 글로벌 평균 8.8%의 세 배가 넘습니다. ECA 진입 선박이 있으면 이건 별도로 챙겨야 합니다.</a:t>
            </a:r>
          </a:p>
          <a:p>
            <a:endParaRPr lang="ko-KR" altLang="en-US" dirty="0"/>
          </a:p>
          <a:p>
            <a:r>
              <a:rPr lang="ko-KR" altLang="en-US" dirty="0"/>
              <a:t>둘째, 바이오연료가 0.4%로 가장 낮습니다. 통념과 반대죠. 다만 이건 '시험 항목 기준 오프스펙률'이라 낮은 것이고, 바이오의 리스크는 성적서가 아니라 저장·호환성·운영 쪽에 있습니다. 이 얘기는 10번 슬라이드에서 이어가겠습니다.</a:t>
            </a:r>
          </a:p>
          <a:p>
            <a:endParaRPr lang="ko-KR" altLang="en-US" dirty="0"/>
          </a:p>
          <a:p>
            <a:r>
              <a:rPr lang="ko-KR" altLang="en-US" dirty="0"/>
              <a:t>한 가지 주의사항 — 아래 빨간 문장입니다. 클레임 '건수'가 많은 항만이 위험한 항만이라는 뜻은 아닙니다. 싱가포르나 휴스턴은 물동량 자체가 크기 때문에 건수가 많은 것이고, 실제 오프스펙률은 싱가포르가 7.3%로 평균보다 낮습니다. 반대로 로테르담과 안트베르프가 25~29%로 높습니다.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1분 30초]</a:t>
            </a:r>
          </a:p>
          <a:p>
            <a:endParaRPr lang="ko-KR" altLang="en-US" dirty="0"/>
          </a:p>
          <a:p>
            <a:r>
              <a:rPr lang="ko-KR" altLang="en-US" dirty="0"/>
              <a:t>보험 커버별로 보면 절반 이상이 선주 항변비용(Owners' Defence)이고, 40%가 용선자 P&amp;I입니다. 선체기관보험은 6%밖에 안 됩니다.</a:t>
            </a:r>
          </a:p>
          <a:p>
            <a:endParaRPr lang="ko-KR" altLang="en-US" dirty="0"/>
          </a:p>
          <a:p>
            <a:r>
              <a:rPr lang="ko-KR" altLang="en-US" dirty="0"/>
              <a:t>이 분포 자체가 구조를 설명합니다. 정기용선에서는 용선자가 벙커를 수배하고 결제하니까, 문제가 생기면 선주와 용선자 사이 계약 분쟁으로 먼저 터집니다. 선체기관보험까지 가는 건 기관 손상 같은 실물 손해가 났을 때뿐입니다.</a:t>
            </a:r>
          </a:p>
          <a:p>
            <a:endParaRPr lang="ko-KR" altLang="en-US" dirty="0"/>
          </a:p>
          <a:p>
            <a:r>
              <a:rPr lang="ko-KR" altLang="en-US" dirty="0"/>
              <a:t>긍정적인 부분도 있습니다. 분석 결과를 받자마자 짧은 시효 때문에 즉시 용선자나 공급자에게 통지한 선주가 다수였습니다. 이건 우리도 유지해야 할 관행입니다.</a:t>
            </a:r>
          </a:p>
          <a:p>
            <a:endParaRPr lang="ko-KR" altLang="en-US" dirty="0"/>
          </a:p>
          <a:p>
            <a:r>
              <a:rPr lang="ko-KR" altLang="en-US" dirty="0"/>
              <a:t>오른쪽이 진짜 문제입니다. 용선계약과 공급계약, 이 두 계약이 서로 정렬되어 있지 않습니다. 용선계약은 인도 시점에 매니폴드에서 뜬 샘플을 기준으로 삼는데, 공급자 약관은 바지 쪽 리테인 샘플을 최종이라고 규정하는 경우가 많습니다. 같은 스템인데 기준 샘플이 다른 겁니다.</a:t>
            </a:r>
          </a:p>
          <a:p>
            <a:endParaRPr lang="ko-KR" altLang="en-US" dirty="0"/>
          </a:p>
          <a:p>
            <a:r>
              <a:rPr lang="ko-KR" altLang="en-US" dirty="0"/>
              <a:t>그래서 용선자가 두 계약의 교차점에서 가장 큰 노출을 집니다. 선주에게는 책임을 지면서, 공급자에게는 구제받을 길이 제한적인 위치죠.</a:t>
            </a:r>
          </a:p>
          <a:p>
            <a:endParaRPr lang="ko-KR" altLang="en-US" dirty="0"/>
          </a:p>
          <a:p>
            <a:r>
              <a:rPr lang="ko-KR" altLang="en-US" dirty="0"/>
              <a:t>라이너나 대형선주처럼 직접 구매하면 이 미스매치는 없어지지만, 대신 공급자가 작성한 약관을 그대로 받아야 합니다. 결국 샘플링과 시험 조항을 개별 협상하는 게 핵심입니다.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2분 · 오늘 진단의 핵심]</a:t>
            </a:r>
          </a:p>
          <a:p>
            <a:endParaRPr lang="ko-KR" altLang="en-US" dirty="0"/>
          </a:p>
          <a:p>
            <a:r>
              <a:rPr lang="ko-KR" altLang="en-US" dirty="0"/>
              <a:t>Gard 경험상 클레임은 두 갈래입니다.</a:t>
            </a:r>
          </a:p>
          <a:p>
            <a:endParaRPr lang="ko-KR" altLang="en-US" dirty="0"/>
          </a:p>
          <a:p>
            <a:r>
              <a:rPr lang="ko-KR" altLang="en-US" dirty="0"/>
              <a:t>60%는 Table 2 파라미터 자체가 오프스펙인 경우입니다. 총침전물이나 캣파인 같은 것들이죠. 그런데 이 중 상당수는 다른 유해 물질도 함께 있었을 것으로 의심됩니다.</a:t>
            </a:r>
          </a:p>
          <a:p>
            <a:endParaRPr lang="ko-KR" altLang="en-US" dirty="0"/>
          </a:p>
          <a:p>
            <a:r>
              <a:rPr lang="ko-KR" altLang="en-US" dirty="0"/>
              <a:t>40%는 Table 2를 전부 통과했는데도 문제가 된 경우입니다. 이 40%가 지금 업계가 씨름하고 있는 영역입니다.</a:t>
            </a:r>
          </a:p>
          <a:p>
            <a:endParaRPr lang="ko-KR" altLang="en-US" dirty="0"/>
          </a:p>
          <a:p>
            <a:r>
              <a:rPr lang="ko-KR" altLang="en-US" dirty="0"/>
              <a:t>여기에 적용되는 게 ISO 8217 Clause 5입니다. 조항 자체는 간단합니다 — 연료는 선박이나 인명에 유해한 물질을 포함해서는 안 된다. 문제는 입증입니다.</a:t>
            </a:r>
          </a:p>
          <a:p>
            <a:endParaRPr lang="ko-KR" altLang="en-US" dirty="0"/>
          </a:p>
          <a:p>
            <a:r>
              <a:rPr lang="ko-KR" altLang="en-US" dirty="0"/>
              <a:t>오른쪽 세 단계를 보시면, 물질이 있다는 것만으로는 부족하고 그 물질이 실제로 기관이나 안전에 악영향을 줬다는 인과관계까지 보여야 합니다. 그런데 표준 시험법으로는 이런 물질이 잡히지 않습니다. GCMS 같은 탐색적 분석이나 별도 포렌식이 필요하고, 비용과 시간이 듭니다.</a:t>
            </a:r>
          </a:p>
          <a:p>
            <a:endParaRPr lang="ko-KR" altLang="en-US" dirty="0"/>
          </a:p>
          <a:p>
            <a:r>
              <a:rPr lang="ko-KR" altLang="en-US" dirty="0"/>
              <a:t>다행히 ISO 8217:2024 Annex B가 이 부분을 명확히 했습니다. 화학종과 운항 문제 사이에 사실적 인과관계가 입증되면 그 연료는 규격을 충족하지 못한 것으로 본다고 명시했습니다. 입증 부담은 여전하지만 근거는 생긴 셈입니다.</a:t>
            </a:r>
          </a:p>
          <a:p>
            <a:endParaRPr lang="ko-KR" altLang="en-US" dirty="0"/>
          </a:p>
          <a:p>
            <a:r>
              <a:rPr lang="ko-KR" altLang="en-US" dirty="0"/>
              <a:t>실무적으로는 양측이 합의해서 시험 소모나 연료 처리를 해보기도 합니다. 실물 증거가 되지만 운항 리스크가 따르고, 기록을 철저히 남겨야 합니다. 그게 어려우면 전문가 의견에 의존하는데, 전문가마다 견해가 갈려서 Gard 표현으로는 '과학이라기보다 예술에 가까울 때도 있다'고 합니다.</a:t>
            </a:r>
          </a:p>
          <a:p>
            <a:endParaRPr lang="ko-KR" altLang="en-US" dirty="0"/>
          </a:p>
          <a:p>
            <a:r>
              <a:rPr lang="ko-KR" altLang="en-US" dirty="0"/>
              <a:t>왼쪽 아래 빨간 문장도 짚고 넘어가겠습니다. 계약이 참조하는 ISO 버전이 제각각인데, 2017년판이 절반 이상이고 2024년판 전환은 느립니다. 그리고 이번에 가장 큰 손해가 난 사례가 2005년판 기준 계약이었습니다.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2분 · 숫자를 체감으로 바꾸는 슬라이드]</a:t>
            </a:r>
          </a:p>
          <a:p>
            <a:endParaRPr lang="ko-KR" altLang="en-US" dirty="0"/>
          </a:p>
          <a:p>
            <a:r>
              <a:rPr lang="ko-KR" altLang="en-US" dirty="0"/>
              <a:t>Case 1. 안트베르프에서 받은 VLSFO입니다. 유기산이 6,000ppm을 넘었습니다. 실린더 두 기에 고온 경보가 뜨더니 피스톤링과 라이너가 눌어붙었고, 나머지 실린더에서도 심한 마모가 확인되면서 주기관 전체가 멈췄습니다. 3일간 표류하고 4일간 예인했습니다. 공동해손을 선언했고 화물을 환적했으며, 탱크를 전부 비우고 세정했습니다. 수리에 4주, 비용은 약 50만 달러입니다. 그런데 이 연료, Table 2는 전부 통과했습니다. 참고로 다른 건에서는 예인만 3주 걸린 사례도 있습니다.</a:t>
            </a:r>
          </a:p>
          <a:p>
            <a:endParaRPr lang="ko-KR" altLang="en-US" dirty="0"/>
          </a:p>
          <a:p>
            <a:r>
              <a:rPr lang="ko-KR" altLang="en-US" dirty="0"/>
              <a:t>Case 2. 싱가포르 스템입니다. 싱가포르 해협 통항 중 연료유 저압 경보가 울렸습니다. 발전기는 MGO 라인으로 전환해서 넘겼는데, 주기관 쪽 자동역세척 필터가 청소 속도를 못 따라갈 정도로 빨리 막혔습니다. 나중에 분석해 보니 카돌과 레조르시놀이 22,000ppm 넘게 검출됐습니다. 결국 디벙커링했습니다. 이것도 Table 2는 준수했다고 보고됐습니다.</a:t>
            </a:r>
          </a:p>
          <a:p>
            <a:endParaRPr lang="ko-KR" altLang="en-US" dirty="0"/>
          </a:p>
          <a:p>
            <a:r>
              <a:rPr lang="ko-KR" altLang="en-US" dirty="0"/>
              <a:t>Case 3. 이게 두 리포트를 직접 연결하는 사례입니다. ULSFO와 B30 CNSL 블렌드가 든 탱크로 전환하고 약 이틀 뒤, 도선사 승선을 기다리며 표류하던 중에 추진력을 잃었습니다. 검정인 예비 조사에서 연료 분사기와 펌프 손상이 불량 연료, 특히 캐슈넛 껍질 오일 오염 때문이라고 나왔습니다.</a:t>
            </a:r>
          </a:p>
          <a:p>
            <a:endParaRPr lang="ko-KR" altLang="en-US" dirty="0"/>
          </a:p>
          <a:p>
            <a:r>
              <a:rPr lang="ko-KR" altLang="en-US" dirty="0"/>
              <a:t>CNSL은 잠시 뒤 SSA 문서에서 다시 나옵니다. 거기서는 '허용되는 non-FAME 대안'으로 소개되거든요. 같은 물질이 한쪽에서는 대안이고 한쪽에서는 사고 원인입니다. 그 간극이 오늘 결정 사항 1번입니다.</a:t>
            </a:r>
          </a:p>
          <a:p>
            <a:endParaRPr lang="ko-KR" altLang="en-US" dirty="0"/>
          </a:p>
          <a:p>
            <a:r>
              <a:rPr lang="ko-KR" altLang="en-US" dirty="0"/>
              <a:t>오른쪽 표는 여러 클레임에서 공통으로 나온 증상입니다. 필터와 청정기 급속 막힘, 끈적한 슬러지와 탄화물, 플런저·피스톤링 마모. 이 셋 중 하나라도 보고되면 연료를 의심하고 즉시 샘플을 확보해야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1분 30초]</a:t>
            </a:r>
          </a:p>
          <a:p>
            <a:endParaRPr lang="ko-KR" altLang="en-US" dirty="0"/>
          </a:p>
          <a:p>
            <a:r>
              <a:rPr lang="ko-KR" altLang="en-US" dirty="0"/>
              <a:t>품질과 별개로, 규제 수치를 넘기면 그 순간 배가 묶입니다.</a:t>
            </a:r>
          </a:p>
          <a:p>
            <a:endParaRPr lang="ko-KR" altLang="en-US" dirty="0"/>
          </a:p>
          <a:p>
            <a:r>
              <a:rPr lang="ko-KR" altLang="en-US" dirty="0"/>
              <a:t>황분이 전체 클레임의 12.86%입니다. 대부분 VLSFO가 0.5% 한도를 넘긴 건데, 심한 경우 2.7%까지 나왔습니다. 일부는 스크러버 장착선의 HSFO가 3.5%를, ECA 내 ULSFO가 0.1%를 넘긴 경우입니다.</a:t>
            </a:r>
          </a:p>
          <a:p>
            <a:endParaRPr lang="ko-KR" altLang="en-US" dirty="0"/>
          </a:p>
          <a:p>
            <a:r>
              <a:rPr lang="ko-KR" altLang="en-US" dirty="0"/>
              <a:t>중국 사례를 보시면 문제가 더 복잡해집니다. MSA 정기 점검에서 2%가 넘게 나왔고, 당국이 해당 탱크를 봉인해서 디벙커링과 세정 전까지 사용을 막았습니다. 그런데 그 시점에 이미 정기용선자가 재인도를 마친 뒤였습니다. 제거 비용과 세정 비용을 누가 부담하느냐가 계약상 큰 쟁점이 됐습니다.</a:t>
            </a:r>
          </a:p>
          <a:p>
            <a:endParaRPr lang="ko-KR" altLang="en-US" dirty="0"/>
          </a:p>
          <a:p>
            <a:r>
              <a:rPr lang="ko-KR" altLang="en-US" dirty="0"/>
              <a:t>참고로, 자체 분석에서 부적합이 나오면 선장은 기국, 목적항 당국, 공급자 관할 당국, 그리고 공급자 본인에게 공식 통지해야 합니다. 항만국통제가 이 부분을 확인할 수 있습니다.</a:t>
            </a:r>
          </a:p>
          <a:p>
            <a:endParaRPr lang="ko-KR" altLang="en-US" dirty="0"/>
          </a:p>
          <a:p>
            <a:r>
              <a:rPr lang="ko-KR" altLang="en-US" dirty="0"/>
              <a:t>인화점은 4.11%입니다. SOLAS상 선내 사용 연료는 60도 이상이어야 합니다. 사례에서는 공동 시험에서도 60도 미만이 확인돼서 전량 디벙커링했습니다.</a:t>
            </a:r>
          </a:p>
          <a:p>
            <a:endParaRPr lang="ko-KR" altLang="en-US" dirty="0"/>
          </a:p>
          <a:p>
            <a:r>
              <a:rPr lang="ko-KR" altLang="en-US" dirty="0"/>
              <a:t>아래 회색 박스가 실무적으로 챙겨야 할 변경입니다. 올해 1월 SOLAS 개정으로 사전 벙커링 신고와 BDN이 의무화됐고, BDN에 인화점 실측치를 적거나 70도 이상이라고 명시해야 합니다. 벙커링 전에 확인할 수 있게 된 겁니다.</a:t>
            </a:r>
          </a:p>
          <a:p>
            <a:endParaRPr lang="ko-KR" altLang="en-US" dirty="0"/>
          </a:p>
          <a:p>
            <a:r>
              <a:rPr lang="ko-KR" altLang="en-US" dirty="0"/>
              <a:t>오른쪽은 수량 쪽입니다. ARA에서 질량유량계가 의무화되면서 3% 정도가 수량 분쟁입니다. 사례에서는 BDN보다 60톤이 적게 들어왔는데, 검정인과 선원이 바지 수동 검척을 거부당했고 교정증은 16개월이 지나 있었습니다. 당국은 상업 분쟁에 개입하지 않는다는 입장이라, 결국 선상에서 검증 기회를 확보했느냐가 클레임의 강도를 결정합니다.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1분 30초]</a:t>
            </a:r>
          </a:p>
          <a:p>
            <a:endParaRPr lang="ko-KR" altLang="en-US" dirty="0"/>
          </a:p>
          <a:p>
            <a:r>
              <a:rPr lang="ko-KR" altLang="en-US" dirty="0"/>
              <a:t>여기가 '이길 수 있느냐'를 가르는 지점입니다.</a:t>
            </a:r>
          </a:p>
          <a:p>
            <a:endParaRPr lang="ko-KR" altLang="en-US" dirty="0"/>
          </a:p>
          <a:p>
            <a:r>
              <a:rPr lang="ko-KR" altLang="en-US" dirty="0"/>
              <a:t>핵심 쟁점은 어느 샘플이 구속력을 갖느냐입니다. 앞에서 말씀드린 대로 용선계약과 공급자 약관이 서로 다른 샘플을 지정하는 경우가 많습니다.</a:t>
            </a:r>
          </a:p>
          <a:p>
            <a:endParaRPr lang="ko-KR" altLang="en-US" dirty="0"/>
          </a:p>
          <a:p>
            <a:r>
              <a:rPr lang="ko-KR" altLang="en-US" dirty="0"/>
              <a:t>샘플 무결성 문제도 실제로 있었습니다. 한 건에서는 검정인이 공급자 리테인 샘플의 봉인 링이 빠지고 구멍이 난 걸 발견했습니다. 선박 매니폴드와 탱크 샘플에서는 캣파인이 200mg/kg, 나트륨이 500mg/kg을 넘었는데 공급자 샘플은 품질증명서와 똑같이 온스펙이었습니다. 결국 당국에 정식 신고했습니다. 3D 프린팅으로 봉인을 복제한다는 얘기도 돌지만 Gard가 다룬 사건에서 입증된 적은 없습니다.</a:t>
            </a:r>
          </a:p>
          <a:p>
            <a:endParaRPr lang="ko-KR" altLang="en-US" dirty="0"/>
          </a:p>
          <a:p>
            <a:r>
              <a:rPr lang="ko-KR" altLang="en-US" dirty="0"/>
              <a:t>공급자들은 오프스펙이 난 항목 하나만 시험하자고 제안하는 경우가 많습니다. 이건 거절해야 합니다. 그 샘플이 실제 인도된 연료를 대표하는지 알 수 없게 되고, 앞선 분석에서 더 넓은 문제가 시사됐을 때 특히 그렇습니다. 전체 화학 프로파일, 즉 fingerprinting을 확보해야 샘플 간 비교가 가능해집니다.</a:t>
            </a:r>
          </a:p>
          <a:p>
            <a:endParaRPr lang="ko-KR" altLang="en-US" dirty="0"/>
          </a:p>
          <a:p>
            <a:r>
              <a:rPr lang="ko-KR" altLang="en-US" dirty="0"/>
              <a:t>오른쪽 다섯 가지는 분쟁이 나기 전에 계약서에 박아둬야 할 항목입니다. 특히 3번 공동시험 프로토콜 — 보관 사슬, 연구소, 입회 방법, 시험법을 미리 합의해두지 않으면 본안은 시작도 못 하고 증거 다툼만 길어집니다.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1분 30초 · 여기서 두 번째 문서로 넘어감]</a:t>
            </a:r>
          </a:p>
          <a:p>
            <a:endParaRPr lang="ko-KR" altLang="en-US" dirty="0"/>
          </a:p>
          <a:p>
            <a:r>
              <a:rPr lang="ko-KR" altLang="en-US" dirty="0"/>
              <a:t>여기서부터 SSA 문서입니다.</a:t>
            </a:r>
          </a:p>
          <a:p>
            <a:endParaRPr lang="ko-KR" altLang="en-US" dirty="0"/>
          </a:p>
          <a:p>
            <a:r>
              <a:rPr lang="ko-KR" altLang="en-US" dirty="0"/>
              <a:t>싱가포르 바이오 블렌드 판매가 2025년에 약 1.3백만 톤, 전년 대비 53% 증가했습니다. 2024년에도 68% 늘었으니 2년 연속 폭발적인 성장입니다. 그 결과 로테르담의 63.5만 톤을 넘어서면서 아시아태평양이 세계 최대 바이오 벙커링 지역이 됐습니다.</a:t>
            </a:r>
          </a:p>
          <a:p>
            <a:endParaRPr lang="ko-KR" altLang="en-US" dirty="0"/>
          </a:p>
          <a:p>
            <a:r>
              <a:rPr lang="ko-KR" altLang="en-US" dirty="0"/>
              <a:t>각주 하나 말씀드리면, SSA 문서 안에서도 서문은 1.36백만 톤, FAQ 31은 1.33백만 톤으로 숫자가 조금 다릅니다. 그래서 저는 '약 1.3백만 톤'으로 통일했습니다.</a:t>
            </a:r>
          </a:p>
          <a:p>
            <a:endParaRPr lang="ko-KR" altLang="en-US" dirty="0"/>
          </a:p>
          <a:p>
            <a:r>
              <a:rPr lang="ko-KR" altLang="en-US" dirty="0"/>
              <a:t>수요를 만드는 건 IMO가 아니라 EU입니다. FuelEU Maritime이 2025년 1월부터 시행되면서 벙커 구매 방식이 바뀌었습니다. 예전엔 가격 최적화였는데 지금은 규제 준수 조달입니다. 페널티나 풀링 복잡성을 피하려고 선주들이 비싼 바이오 블렌드를 감수하고 있습니다. 반면 IMO 넷제로 프레임워크는 2025년 10월에 연기되면서 단기 수요에는 거의 영향이 없습니다.</a:t>
            </a:r>
          </a:p>
          <a:p>
            <a:endParaRPr lang="ko-KR" altLang="en-US" dirty="0"/>
          </a:p>
          <a:p>
            <a:r>
              <a:rPr lang="ko-KR" altLang="en-US" dirty="0"/>
              <a:t>공급 쪽 제약도 봐야 합니다. 전 세계 폐식용유가 1,100~1,200만 톤인데, 그중 마린 바이오디젤로 가는 건 37만 톤 정도입니다. 나머지는 항공 SAF와 HVO 쪽으로 갑니다. 같은 원료를 놓고 항공·육상운송과 경쟁하니까 인증 UCOME 확보가 어려워지고 가격 변동성이 커집니다.</a:t>
            </a:r>
          </a:p>
          <a:p>
            <a:endParaRPr lang="ko-KR" altLang="en-US" dirty="0"/>
          </a:p>
          <a:p>
            <a:r>
              <a:rPr lang="ko-KR" altLang="en-US" dirty="0"/>
              <a:t>가격은 VLSFO 대비 톤당 200달러대 프리미엄이 구조적으로 유지되고 있습니다. 그리고 바이오 자체 수급보다 원유와 VLSFO 가격에 연동해서 움직입니다. 수요가 약할 때도 가격이 떨어지기보다 프리미엄만 좁아지는 형태로 조정됩니다.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2분]</a:t>
            </a:r>
          </a:p>
          <a:p>
            <a:endParaRPr lang="ko-KR" altLang="en-US" dirty="0"/>
          </a:p>
          <a:p>
            <a:r>
              <a:rPr lang="ko-KR" altLang="en-US" dirty="0"/>
              <a:t>왼쪽 아홉 가지가 SSA가 정리한 기술·운항 리스크입니다. 전부 설명드리진 않고 우리 선대에서 실제로 걸릴 만한 것만 짚겠습니다.</a:t>
            </a:r>
          </a:p>
          <a:p>
            <a:endParaRPr lang="ko-KR" altLang="en-US" dirty="0"/>
          </a:p>
          <a:p>
            <a:r>
              <a:rPr lang="ko-KR" altLang="en-US" dirty="0"/>
              <a:t>용제성 필터 막힘. 바이오는 용제 성질이 있어서 기존 탱크 벽에 붙어 있던 퇴적물을 떼어냅니다. 그게 필터로 몰려서 막힙니다. 그래서 바이오를 넣기 전에 탱크를 세정하라는 권고가 나옵니다. 전환 초기에 필터를 집중 감시해야 하는 이유이기도 합니다.</a:t>
            </a:r>
          </a:p>
          <a:p>
            <a:endParaRPr lang="ko-KR" altLang="en-US" dirty="0"/>
          </a:p>
          <a:p>
            <a:r>
              <a:rPr lang="ko-KR" altLang="en-US" dirty="0"/>
              <a:t>저온 왁싱. 따뜻한 지역에서 추운 지역으로 갈 때 탱크 안에서 왁스가 생깁니다. 가열 용량이 충분한지 미리 확인해야 합니다. 참고로 유동점 시험이 왁싱을 정확히 예측하지 못할 수 있어서, 필요하면 왁스 출현 온도를 따로 측정하라고 되어 있습니다.</a:t>
            </a:r>
          </a:p>
          <a:p>
            <a:endParaRPr lang="ko-KR" altLang="en-US" dirty="0"/>
          </a:p>
          <a:p>
            <a:r>
              <a:rPr lang="ko-KR" altLang="en-US" dirty="0"/>
              <a:t>씰과 개스킷. FAME의 용제 성질이 고무 재질을 상하게 합니다. 연료 계통의 조인트·씰·개스킷이 바이오와 함께 쓸 수 있는 재질인지 검증이 필요합니다.</a:t>
            </a:r>
          </a:p>
          <a:p>
            <a:endParaRPr lang="ko-KR" altLang="en-US" dirty="0"/>
          </a:p>
          <a:p>
            <a:r>
              <a:rPr lang="ko-KR" altLang="en-US" dirty="0"/>
              <a:t>오른쪽이 실무적으로 가장 유용한 부분입니다. 저장 상태를 볼 때 이 네 가지를 보라는 겁니다. 산화안정성이 가장 직접적인 지표이고, FAME 함량은 에스테르가 분해되면 줄어들고, 산가는 유리지방산이 생기면서 올라가고, 수분은 흡습이나 결로로 늘면서 산화를 가속합니다.</a:t>
            </a:r>
          </a:p>
          <a:p>
            <a:endParaRPr lang="ko-KR" altLang="en-US" dirty="0"/>
          </a:p>
          <a:p>
            <a:r>
              <a:rPr lang="ko-KR" altLang="en-US" dirty="0"/>
              <a:t>운영 원칙은 세 줄로 요약됩니다. 유동점보다 10도 정도 높게 유지하고, 3개월 안에 소모하고, 오래 보관하면 정기적으로 재분석하라.</a:t>
            </a:r>
          </a:p>
          <a:p>
            <a:endParaRPr lang="ko-KR" altLang="en-US" dirty="0"/>
          </a:p>
          <a:p>
            <a:r>
              <a:rPr lang="ko-KR" altLang="en-US" dirty="0"/>
              <a:t>좋은 소식도 있습니다. GCMD가 진행한 Project LOTUS에서 B24를 실제 선박 탱크에 6개월 보관했는데, 산가가 올라가긴 했지만 ISO 8217 한도 안에 머물렀습니다. 별도로 공급망 전체를 5개월 추적한 시험에서도 유의미한 열화가 없었습니다. 즉 관리만 되면 다룰 수 있는 연료라는 뜻입니다.</a:t>
            </a:r>
          </a:p>
          <a:p>
            <a:endParaRPr lang="ko-KR" altLang="en-US" dirty="0"/>
          </a:p>
          <a:p>
            <a:r>
              <a:rPr lang="ko-KR" altLang="en-US" dirty="0"/>
              <a:t>그래서 결론은 'Fresh in, fresh out'입니다. 재고 회전이 최고의 방어책입니다. 여기서 Gard 리포트와 연결되는데, 아라비아만에서 장기 정박 중인 선박은 FAME 블렌드 저장안정성이 떨어질 위험이 크다고 경고했습니다. 우리 선대에 장기 대기 중인 배가 있으면 재고부터 봐야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1분 30초 · 빠르게 훑고 지나감]</a:t>
            </a:r>
          </a:p>
          <a:p>
            <a:endParaRPr lang="ko-KR" altLang="en-US" dirty="0"/>
          </a:p>
          <a:p>
            <a:r>
              <a:rPr lang="ko-KR" altLang="en-US" dirty="0"/>
              <a:t>이 슬라이드는 나중에 참고용으로 보시면 되고, 지금은 붉은 줄 두 개만 봐주십시오.</a:t>
            </a:r>
          </a:p>
          <a:p>
            <a:endParaRPr lang="ko-KR" altLang="en-US" dirty="0"/>
          </a:p>
          <a:p>
            <a:r>
              <a:rPr lang="ko-KR" altLang="en-US" dirty="0"/>
              <a:t>IMO 쪽. 지금 시행 중인 건 MEPC.1/Circ.905입니다. 인증받은 바이오연료에 대해 배출 전환계수를 다르게 적용할 수 있게 해주는 임시 지침인데, 조건이 있습니다. 국제 인증 스킴을 통과하고, 화석 MGO 대비 웰투웨이크 기준 최소 65% 감축, 즉 33 gCO2eq/MJ 이하여야 합니다. 인증 스킴은 ISCC와 RSB 두 개입니다. 그리고 지속가능성 증명서(PoS)를 BDN과 함께 받아야 검증이 됩니다.</a:t>
            </a:r>
          </a:p>
          <a:p>
            <a:endParaRPr lang="ko-KR" altLang="en-US" dirty="0"/>
          </a:p>
          <a:p>
            <a:r>
              <a:rPr lang="ko-KR" altLang="en-US" dirty="0"/>
              <a:t>붉은 줄이 2027년 1월 1일부터 적용되는 Circ.905 Rev.1입니다. 두 가지가 바뀝니다. 첫째, 블렌드의 전환계수를 에너지 가중에서 질량 가중으로 바꿉니다. 둘째, 바이오 성분이 인증되지 않았으면 그 블렌드를 화석연료 등가로 취급합니다.</a:t>
            </a:r>
          </a:p>
          <a:p>
            <a:endParaRPr lang="ko-KR" altLang="en-US" dirty="0"/>
          </a:p>
          <a:p>
            <a:r>
              <a:rPr lang="ko-KR" altLang="en-US" dirty="0"/>
              <a:t>이게 왜 중요하냐면, 계산 방식이 바뀌면 CII 등급이 바뀝니다. 그리고 인증 서류를 못 챙긴 스템은 바이오를 넣고도 아무 혜택을 못 받게 됩니다. 실무적으로는 SEEMP Part II와 Part III, DCS 보고 체계를 손봐야 한다는 뜻입니다.</a:t>
            </a:r>
          </a:p>
          <a:p>
            <a:endParaRPr lang="ko-KR" altLang="en-US" dirty="0"/>
          </a:p>
          <a:p>
            <a:r>
              <a:rPr lang="ko-KR" altLang="en-US" dirty="0"/>
              <a:t>EU 쪽은 이미 돌아가고 있습니다. FuelEU가 2025년부터 2% 감축이고 2030년 6%, 2050년 80%까지 갑니다. EU ETS는 올해부터 메탄과 아산화질소가 들어왔고, 올해 배출분은 내년에 100% 제출해야 합니다.</a:t>
            </a:r>
          </a:p>
          <a:p>
            <a:endParaRPr lang="ko-KR" altLang="en-US" dirty="0"/>
          </a:p>
          <a:p>
            <a:r>
              <a:rPr lang="ko-KR" altLang="en-US" dirty="0"/>
              <a:t>RED III 기준을 못 넘는 바이오나 식량작물 원료 바이오는 화석 등가로 처리된다는 점도 IMO와 같습니다. 인증이 곧 가치입니다.</a:t>
            </a:r>
          </a:p>
          <a:p>
            <a:endParaRPr lang="ko-KR" altLang="en-US" dirty="0"/>
          </a:p>
          <a:p>
            <a:r>
              <a:rPr lang="ko-KR" altLang="en-US" dirty="0"/>
              <a:t>아래 박스는 실수하기 쉬운 부분입니다. EU ETS는 배 위에서 나온 배출만 보는 톤당 기준이고, FuelEU는 생산부터 연소까지 전 주기를 보는 MJ당 집약도입니다. 계수가 다르니 섞어 쓰면 안 됩니다.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1분 30초]</a:t>
            </a:r>
          </a:p>
          <a:p>
            <a:endParaRPr lang="ko-KR" altLang="en-US" dirty="0"/>
          </a:p>
          <a:p>
            <a:r>
              <a:rPr lang="ko-KR" altLang="en-US" dirty="0"/>
              <a:t>왼쪽은 어떤 표준을 같이 봐야 하느냐입니다. ISO 8217:2024가 기본인데, 바이오 블렌드는 그것만으로 부족해서 싱가포르 TR 140:2025가 추가 파라미터를 보완합니다. 여기에 요오드가, 즉 불포화도를 같이 보라고 권고합니다. 이중결합이 많으면 산화가 빨라지고 중합해서 검이나 침전물이 생기면서 필터와 인젝터를 막습니다. 저장 안정성과 직결됩니다.</a:t>
            </a:r>
          </a:p>
          <a:p>
            <a:endParaRPr lang="ko-KR" altLang="en-US" dirty="0"/>
          </a:p>
          <a:p>
            <a:r>
              <a:rPr lang="ko-KR" altLang="en-US" dirty="0"/>
              <a:t>작은 오해 하나 정리하고 가겠습니다. B30이 FAME 30%가 아닙니다. B 뒤 숫자는 바이오 성분의 부피 비율이고, EN 14214를 준수하는 B100의 FAME가 최소 96.5%이니까 B30의 실제 FAME는 28.95%입니다. 계산할 때 헷갈리기 쉽습니다.</a:t>
            </a:r>
          </a:p>
          <a:p>
            <a:endParaRPr lang="ko-KR" altLang="en-US" dirty="0"/>
          </a:p>
          <a:p>
            <a:r>
              <a:rPr lang="ko-KR" altLang="en-US" dirty="0"/>
              <a:t>오른쪽이 중요합니다. EN 14214가 유일한 정답은 아닙니다. FAME 생산이 항공 SAF와 원료를 두고 경쟁하기 때문에 마린 수요를 감당하기 어려울 거라는 게 업계 전망이고, 그래서 이미 HVO, 오프스펙 FAME, 업그레이드 열분해유, 바이오 난방유, 그리고 CNSL 같은 제품이 유통되고 있습니다. 실제로 좋은 피드백을 받은 사례도 있습니다.</a:t>
            </a:r>
          </a:p>
          <a:p>
            <a:endParaRPr lang="ko-KR" altLang="en-US" dirty="0"/>
          </a:p>
          <a:p>
            <a:r>
              <a:rPr lang="ko-KR" altLang="en-US" dirty="0"/>
              <a:t>그런데 조건이 붙습니다. 오른쪽 6단계 검증을 전부 거쳐야 하고, 매도인과 매수인이 합의해야 하며, 기국과 선급 승인이 필요합니다. 문서 심사부터 시작해서 성분 분석, 사전 적합성 평가, 해상 시운전 데이터, 최종 성능 평가, 그리고 기관 내구성 중장기 평가까지입니다.</a:t>
            </a:r>
          </a:p>
          <a:p>
            <a:endParaRPr lang="ko-KR" altLang="en-US" dirty="0"/>
          </a:p>
          <a:p>
            <a:r>
              <a:rPr lang="ko-KR" altLang="en-US" dirty="0"/>
              <a:t>여기에 OEM 확인서, 즉 LONO를 받아두는 게 전제입니다. 엔진 제작사에서 어떤 블렌드를 쓸 수 있는지 명시적으로 받아야 하고, 못 받으면 선급이 설비 상태를 보고 판단하게 됩니다.</a:t>
            </a:r>
          </a:p>
          <a:p>
            <a:endParaRPr lang="ko-KR" altLang="en-US" dirty="0"/>
          </a:p>
          <a:p>
            <a:r>
              <a:rPr lang="ko-KR" altLang="en-US" dirty="0"/>
              <a:t>앞서 본 Case 3이 정확히 이 게이트를 다 거쳤는지 확인이 안 되는 상태에서 벌어진 일입니다.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3분 · 오늘의 핵심 슬라이드. 여기서 충분히 시간을 쓸 것]</a:t>
            </a:r>
          </a:p>
          <a:p>
            <a:endParaRPr lang="ko-KR" altLang="en-US" dirty="0"/>
          </a:p>
          <a:p>
            <a:r>
              <a:rPr lang="ko-KR" altLang="en-US" dirty="0"/>
              <a:t>지금까지 내용을 한 장으로 모았습니다. 두 문서가 만나는 지점이 다섯 개입니다.</a:t>
            </a:r>
          </a:p>
          <a:p>
            <a:endParaRPr lang="ko-KR" altLang="en-US" dirty="0"/>
          </a:p>
          <a:p>
            <a:r>
              <a:rPr lang="ko-KR" altLang="en-US" dirty="0"/>
              <a:t>첫째, 규격 준수가 곧 사용 적합성이 아니라는 점. Gard는 온스펙 연료의 40%가 문제를 일으켰다고 하고, SSA는 ISO 8217만으로 부족하니 TR 140의 추가 파라미터와 요오드가를 같이 보라고 합니다. 접근은 다르지만 결론은 같습니다. 우리 구매 스펙에 'ISO 8217 준수' 한 줄만 있다면 그건 바꿔야 합니다.</a:t>
            </a:r>
          </a:p>
          <a:p>
            <a:endParaRPr lang="ko-KR" altLang="en-US" dirty="0"/>
          </a:p>
          <a:p>
            <a:r>
              <a:rPr lang="ko-KR" altLang="en-US" dirty="0"/>
              <a:t>둘째, CNSL과 non-FAME이 두 문서를 직접 연결합니다. Gard 사례 3에서 실제로 주기관이 섰고, SSA는 같은 물질을 허용 가능한 대안으로 소개하되 6단계 검증을 전제로 답니다. 우리 회사가 이걸 받을 건지 말 건지, 받는다면 어떤 조건인지 명시적으로 정해야 합니다.</a:t>
            </a:r>
          </a:p>
          <a:p>
            <a:endParaRPr lang="ko-KR" altLang="en-US" dirty="0"/>
          </a:p>
          <a:p>
            <a:r>
              <a:rPr lang="ko-KR" altLang="en-US" dirty="0"/>
              <a:t>셋째, 저장 안정성. Gard는 아라비아만에서 장기 정박한 선박의 FAME 블렌드를 경고하고, SSA는 3개월 내 사용과 4대 지표 모니터링을 권고합니다. 이건 계약 문제가 아니라 우리 내부 절차 문제입니다. 탱크 재고 선입선출 규정과 재분석 주기를 만들면 해결됩니다.</a:t>
            </a:r>
          </a:p>
          <a:p>
            <a:endParaRPr lang="ko-KR" altLang="en-US" dirty="0"/>
          </a:p>
          <a:p>
            <a:r>
              <a:rPr lang="ko-KR" altLang="en-US" dirty="0"/>
              <a:t>넷째, 샘플과 문서. Gard는 어떤 샘플이 구속력을 갖느냐를 얘기하고, SSA는 BDN과 PoS 얘기를 합니다. 그런데 PoS는 인도 즉시 안 나옵니다. 공급자가 수량 배분을 계산해야 해서 보통 30일 정도 걸리고, 한 번의 인도에 여러 장의 PoS가 나올 수도 있습니다. 이걸 모르면 보고 마감을 못 맞춥니다. 결국 둘 다 계약 체결 단계에서 함께 설계해야 하는 항목입니다.</a:t>
            </a:r>
          </a:p>
          <a:p>
            <a:endParaRPr lang="ko-KR" altLang="en-US" dirty="0"/>
          </a:p>
          <a:p>
            <a:r>
              <a:rPr lang="ko-KR" altLang="en-US" dirty="0"/>
              <a:t>다섯째, 규제 위반은 즉시 운항 정지로 이어진다는 점. Gard는 황분과 인화점, SSA는 NOx와 캐리지 제한과 Circ.905를 다룹니다. 부서별로 흩어져 있는데 하나의 캘린더로 합쳐야 관리가 됩니다.</a:t>
            </a:r>
          </a:p>
          <a:p>
            <a:endParaRPr lang="ko-KR" altLang="en-US" dirty="0"/>
          </a:p>
          <a:p>
            <a:r>
              <a:rPr lang="ko-KR" altLang="en-US" dirty="0"/>
              <a:t>한 문장으로 줄이면 아래 박스입니다. '스펙은 통과했는데 배가 섰다.' 그리고 바이오 전환이 그 리스크를 한 단계 더 키우고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2분]</a:t>
            </a:r>
          </a:p>
          <a:p>
            <a:endParaRPr lang="ko-KR" altLang="en-US" dirty="0"/>
          </a:p>
          <a:p>
            <a:r>
              <a:rPr lang="ko-KR" altLang="en-US" dirty="0"/>
              <a:t>교집합에서 나온 다섯 가지를 시간 순으로 배치했습니다.</a:t>
            </a:r>
          </a:p>
          <a:p>
            <a:endParaRPr lang="ko-KR" altLang="en-US" dirty="0"/>
          </a:p>
          <a:p>
            <a:r>
              <a:rPr lang="ko-KR" altLang="en-US" dirty="0"/>
              <a:t>Now, 한 달 안에 할 것들입니다.</a:t>
            </a:r>
          </a:p>
          <a:p>
            <a:endParaRPr lang="ko-KR" altLang="en-US" dirty="0"/>
          </a:p>
          <a:p>
            <a:r>
              <a:rPr lang="ko-KR" altLang="en-US" dirty="0"/>
              <a:t>구매 스펙에 Clause 5와 fingerprinting을 명문화합니다. 문구만 넣으면 되는 일이라 비용이 거의 안 듭니다.</a:t>
            </a:r>
          </a:p>
          <a:p>
            <a:endParaRPr lang="ko-KR" altLang="en-US" dirty="0"/>
          </a:p>
          <a:p>
            <a:r>
              <a:rPr lang="ko-KR" altLang="en-US" dirty="0"/>
              <a:t>매니폴드 샘플을 구속력 있는 샘플로 협상합니다. 이건 공급자와 협의가 필요해서 시간이 걸리지만, 지금 시작해야 합니다.</a:t>
            </a:r>
          </a:p>
          <a:p>
            <a:endParaRPr lang="ko-KR" altLang="en-US" dirty="0"/>
          </a:p>
          <a:p>
            <a:r>
              <a:rPr lang="ko-KR" altLang="en-US" dirty="0"/>
              <a:t>선내 벙커 관리 지침을 배포합니다. Gard가 지적한 게, 선원들이 육상의 구체적 지침 없이 개인 경험으로 대응하고 있다는 겁니다. 감시할 기계 파라미터와 성능 저하의 조기 신호를 정리해서 내려보내는 것만으로도 효과가 큽니다.</a:t>
            </a:r>
          </a:p>
          <a:p>
            <a:endParaRPr lang="ko-KR" altLang="en-US" dirty="0"/>
          </a:p>
          <a:p>
            <a:r>
              <a:rPr lang="ko-KR" altLang="en-US" dirty="0"/>
              <a:t>장기 정박 중인 선박의 바이오 블렌드 재고를 점검합니다. 이건 이번 주에라도 가능합니다.</a:t>
            </a:r>
          </a:p>
          <a:p>
            <a:endParaRPr lang="ko-KR" altLang="en-US" dirty="0"/>
          </a:p>
          <a:p>
            <a:r>
              <a:rPr lang="ko-KR" altLang="en-US" dirty="0"/>
              <a:t>Next, 1~3개월입니다. 바이오 탱크 선입선출 규정과 정기 재분석 주기를 만들고, OEM LONO와 선급 제출 서류를 정비하고, PoS 30일 리드타임을 반영해서 보고 프로세스를 조정합니다.</a:t>
            </a:r>
          </a:p>
          <a:p>
            <a:endParaRPr lang="ko-KR" altLang="en-US" dirty="0"/>
          </a:p>
          <a:p>
            <a:r>
              <a:rPr lang="ko-KR" altLang="en-US" dirty="0"/>
              <a:t>Later, 3~12개월입니다. Circ.905 Rev.1에 맞춰 DCS와 SEEMP Part II·III를 개정해야 하는데 2027년 1월 발효라 지금 시작하면 여유가 있습니다. non-FAME 정책을 확정해서 문서화하고, 용선·공급계약 표준안을 개정하고, 선원 교육 모듈에 바이오 운영 절차를 넣습니다.</a:t>
            </a:r>
          </a:p>
          <a:p>
            <a:endParaRPr lang="ko-KR" altLang="en-US" dirty="0"/>
          </a:p>
          <a:p>
            <a:r>
              <a:rPr lang="ko-KR" altLang="en-US" dirty="0"/>
              <a:t>오른쪽 박스를 다시 강조드리면, 선원이 개인 경험에 의존하고 있다는 게 Gard가 짚은 가장 현실적인 공백입니다. 그리고 이건 우리가 가장 빨리, 가장 싸게 메울 수 있는 항목이기도 합니다.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dirty="0"/>
              <a:t>[약 2분 · 마무리 및 논의]</a:t>
            </a:r>
          </a:p>
          <a:p>
            <a:endParaRPr lang="ko-KR" altLang="en-US" dirty="0"/>
          </a:p>
          <a:p>
            <a:r>
              <a:rPr lang="ko-KR" altLang="en-US" dirty="0"/>
              <a:t>결정을 부탁드릴 사항 세 가지입니다.</a:t>
            </a:r>
          </a:p>
          <a:p>
            <a:endParaRPr lang="ko-KR" altLang="en-US" dirty="0"/>
          </a:p>
          <a:p>
            <a:r>
              <a:rPr lang="ko-KR" altLang="en-US" dirty="0"/>
              <a:t>첫째, non-FAME 수용 여부입니다. 선택지는 세 가지입니다. 전면 금지하거나, 6단계 검증을 통과한 경우에만 조건부로 허용하거나, 건별로 승인하는 방식입니다. 저는 조건부 허용이 현실적이라고 봅니다. 전면 금지는 FAME 공급 제약을 감안하면 지속 가능하지 않고, 건별 승인은 기준이 없어서 결국 아무나 통과하게 됩니다. 다만 Gard 사례 3에서 실제 주기관 손상이 났으니, 조건부로 가더라도 기준은 문서로 못박아야 합니다.</a:t>
            </a:r>
          </a:p>
          <a:p>
            <a:endParaRPr lang="ko-KR" altLang="en-US" dirty="0"/>
          </a:p>
          <a:p>
            <a:r>
              <a:rPr lang="ko-KR" altLang="en-US" dirty="0"/>
              <a:t>둘째, 계약 조항 개정 착수 승인입니다. 매니폴드 샘플을 구속력 있는 샘플로, fingerprinting과 공동시험 프로토콜을 표준 조항으로 넣는 작업입니다. 법무와 구매 쪽 리소스 배정이 필요합니다.</a:t>
            </a:r>
          </a:p>
          <a:p>
            <a:endParaRPr lang="ko-KR" altLang="en-US" dirty="0"/>
          </a:p>
          <a:p>
            <a:r>
              <a:rPr lang="ko-KR" altLang="en-US" dirty="0"/>
              <a:t>셋째, Circ.905 Rev.1 대응 오너십입니다. 전환계수 질량가중 변경과 '비인증 바이오는 화석 등가' 조항이 CII 등급에 직접 영향을 줍니다. 어느 부서가 주관하고 언제 시작할지 정해주셔야 합니다.</a:t>
            </a:r>
          </a:p>
          <a:p>
            <a:endParaRPr lang="ko-KR" altLang="en-US" dirty="0"/>
          </a:p>
          <a:p>
            <a:r>
              <a:rPr lang="ko-KR" altLang="en-US" dirty="0"/>
              <a:t>마지막으로 Gard 리포트가 결론에서 강조한 문장을 그대로 옮겼습니다. 불량 벙커의 공급과 사용을 막는 건 선주와 용선자의 공동 책임이고, 그게 선박 안전과 운항 연속성을 지키는 가장 효과적인 방법이라는 겁니다. 우리 쪽에서만 조이는 게 아니라 상대방과 같이 설계해야 한다는 뜻으로 이해하고 있습니다.</a:t>
            </a:r>
          </a:p>
          <a:p>
            <a:endParaRPr lang="ko-KR" altLang="en-US" dirty="0"/>
          </a:p>
          <a:p>
            <a:r>
              <a:rPr lang="ko-KR" altLang="en-US" dirty="0"/>
              <a:t>질문 받겠습니다.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896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FBE5D85A-D5CA-3CDB-2D2C-737E2B81245C}"/>
              </a:ext>
            </a:extLst>
          </p:cNvPr>
          <p:cNvSpPr txBox="1"/>
          <p:nvPr userDrawn="1">
            <p:extLst>
              <p:ext uri="{1162E1C5-73C7-4A58-AE30-91384D911F3F}">
                <p184:classification xmlns:p184="http://schemas.microsoft.com/office/powerpoint/2018/4/main" val="ftr"/>
              </p:ext>
            </p:extLst>
          </p:nvPr>
        </p:nvSpPr>
        <p:spPr>
          <a:xfrm>
            <a:off x="63500" y="6642100"/>
            <a:ext cx="56927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Internal - This content is proprietary information intended for employees and partners only.</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F49DF0-6E37-F7B0-2AA4-A1FA68754445}"/>
              </a:ext>
            </a:extLst>
          </p:cNvPr>
          <p:cNvSpPr txBox="1"/>
          <p:nvPr userDrawn="1">
            <p:extLst>
              <p:ext uri="{1162E1C5-73C7-4A58-AE30-91384D911F3F}">
                <p184:classification xmlns:p184="http://schemas.microsoft.com/office/powerpoint/2018/4/main" val="ftr"/>
              </p:ext>
            </p:extLst>
          </p:nvPr>
        </p:nvSpPr>
        <p:spPr>
          <a:xfrm>
            <a:off x="84667" y="6570134"/>
            <a:ext cx="7590367" cy="205121"/>
          </a:xfrm>
          <a:prstGeom prst="rect">
            <a:avLst/>
          </a:prstGeom>
        </p:spPr>
        <p:txBody>
          <a:bodyPr horzOverflow="overflow" lIns="0" tIns="0" rIns="0" bIns="0">
            <a:spAutoFit/>
          </a:bodyPr>
          <a:lstStyle/>
          <a:p>
            <a:pPr algn="l"/>
            <a:r>
              <a:rPr lang="en-US" sz="1333">
                <a:solidFill>
                  <a:srgbClr val="000000">
                    <a:alpha val="50000"/>
                  </a:srgbClr>
                </a:solidFill>
                <a:latin typeface="Aptos" panose="020B0004020202020204" pitchFamily="34" charset="0"/>
              </a:rPr>
              <a:t>Classified as Internal - This content is proprietary information intended for employees and partners only.</a:t>
            </a:r>
          </a:p>
        </p:txBody>
      </p:sp>
    </p:spTree>
    <p:extLst>
      <p:ext uri="{BB962C8B-B14F-4D97-AF65-F5344CB8AC3E}">
        <p14:creationId xmlns:p14="http://schemas.microsoft.com/office/powerpoint/2010/main" val="4038517432"/>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png"/><Relationship Id="rIdNotes"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globe_only.png"/>
          <p:cNvPicPr>
            <a:picLocks noChangeAspect="1"/>
          </p:cNvPicPr>
          <p:nvPr/>
        </p:nvPicPr>
        <p:blipFill>
          <a:blip r:embed="rId3"/>
          <a:srcRect/>
          <a:stretch/>
        </p:blipFill>
        <p:spPr>
          <a:xfrm>
            <a:off x="6888175" y="0"/>
            <a:ext cx="5303520" cy="6858000"/>
          </a:xfrm>
          <a:prstGeom prst="rect">
            <a:avLst/>
          </a:prstGeom>
        </p:spPr>
      </p:pic>
      <p:pic>
        <p:nvPicPr>
          <p:cNvPr id="3" name="Image 1" descr="wil_logo.png"/>
          <p:cNvPicPr>
            <a:picLocks noChangeAspect="1"/>
          </p:cNvPicPr>
          <p:nvPr/>
        </p:nvPicPr>
        <p:blipFill>
          <a:blip r:embed="rId4"/>
          <a:srcRect/>
          <a:stretch/>
        </p:blipFill>
        <p:spPr>
          <a:xfrm>
            <a:off x="548640" y="457200"/>
            <a:ext cx="1554480" cy="438912"/>
          </a:xfrm>
          <a:prstGeom prst="rect">
            <a:avLst/>
          </a:prstGeom>
        </p:spPr>
      </p:pic>
      <p:sp>
        <p:nvSpPr>
          <p:cNvPr id="5" name="Text 1"/>
          <p:cNvSpPr/>
          <p:nvPr/>
        </p:nvSpPr>
        <p:spPr>
          <a:xfrm>
            <a:off x="566928" y="896112"/>
            <a:ext cx="8686800" cy="2560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4472C4">
                    <a:lumMod val="75000"/>
                  </a:srgbClr>
                </a:solidFill>
                <a:effectLst/>
                <a:uLnTx/>
                <a:uFillTx/>
                <a:latin typeface="Oswald"/>
                <a:ea typeface="Oswald"/>
                <a:cs typeface="Oswald"/>
                <a:sym typeface="Oswald"/>
              </a:rPr>
              <a:t>AGENDA</a:t>
            </a:r>
            <a:endParaRPr kumimoji="0" lang="en-US" sz="5400" b="0" i="0" u="none" strike="noStrike" kern="0" cap="none" spc="0" normalizeH="0" baseline="0" noProof="0" dirty="0">
              <a:ln>
                <a:noFill/>
              </a:ln>
              <a:solidFill>
                <a:srgbClr val="4472C4">
                  <a:lumMod val="75000"/>
                </a:srgbClr>
              </a:solidFill>
              <a:effectLst/>
              <a:uLnTx/>
              <a:uFillTx/>
              <a:latin typeface="Arial"/>
              <a:cs typeface="Arial"/>
              <a:sym typeface="Arial"/>
            </a:endParaRPr>
          </a:p>
        </p:txBody>
      </p:sp>
      <p:sp>
        <p:nvSpPr>
          <p:cNvPr id="4" name="Google Shape;99;p14">
            <a:extLst>
              <a:ext uri="{FF2B5EF4-FFF2-40B4-BE49-F238E27FC236}">
                <a16:creationId xmlns:a16="http://schemas.microsoft.com/office/drawing/2014/main" id="{A8359433-9952-6A10-0453-926E743CAAF4}"/>
              </a:ext>
            </a:extLst>
          </p:cNvPr>
          <p:cNvSpPr/>
          <p:nvPr/>
        </p:nvSpPr>
        <p:spPr>
          <a:xfrm flipV="1">
            <a:off x="566928" y="2793559"/>
            <a:ext cx="6321247" cy="45719"/>
          </a:xfrm>
          <a:prstGeom prst="rect">
            <a:avLst/>
          </a:prstGeom>
          <a:solidFill>
            <a:schemeClr val="bg1">
              <a:lumMod val="8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
        <p:nvSpPr>
          <p:cNvPr id="20" name="Agenda 1"/>
          <p:cNvSpPr txBox="1"/>
          <p:nvPr/>
        </p:nvSpPr>
        <p:spPr>
          <a:xfrm>
            <a:off x="548641" y="3193691"/>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01  2026년 벙커 클레임 동향 (Gard)</a:t>
            </a:r>
          </a:p>
        </p:txBody>
      </p:sp>
      <p:sp>
        <p:nvSpPr>
          <p:cNvPr id="21" name="Agenda 2"/>
          <p:cNvSpPr txBox="1"/>
          <p:nvPr/>
        </p:nvSpPr>
        <p:spPr>
          <a:xfrm>
            <a:off x="548641" y="3823615"/>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02  스펙 너머의 리스크 — ISO 8217과 Clause 5</a:t>
            </a:r>
          </a:p>
        </p:txBody>
      </p:sp>
      <p:sp>
        <p:nvSpPr>
          <p:cNvPr id="22" name="Agenda 3"/>
          <p:cNvSpPr txBox="1"/>
          <p:nvPr/>
        </p:nvSpPr>
        <p:spPr>
          <a:xfrm>
            <a:off x="548641" y="4453539"/>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03  바이오연료 전환 (SSA FAQ 2026)</a:t>
            </a:r>
          </a:p>
        </p:txBody>
      </p:sp>
      <p:sp>
        <p:nvSpPr>
          <p:cNvPr id="23" name="Agenda 4"/>
          <p:cNvSpPr txBox="1"/>
          <p:nvPr/>
        </p:nvSpPr>
        <p:spPr>
          <a:xfrm>
            <a:off x="548641" y="5083463"/>
            <a:ext cx="6241774" cy="492443"/>
          </a:xfrm>
          <a:prstGeom prst="rect">
            <a:avLst/>
          </a:prstGeom>
          <a:noFill/>
          <a:ln>
            <a:noFill/>
          </a:ln>
        </p:spPr>
        <p:txBody>
          <a:bodyPr spcFirstLastPara="1" wrap="square" lIns="0" tIns="0" rIns="0" bIns="0" anchor="t" anchorCtr="0"/>
          <a:lstStyle/>
          <a:p>
            <a:pPr lvl="0" defTabSz="914400">
              <a:lnSpc>
                <a:spcPct val="160000"/>
              </a:lnSpc>
            </a:pPr>
            <a:r>
              <a:rPr lang="en-US" sz="1800" b="1" kern="0" dirty="0">
                <a:solidFill>
                  <a:srgbClr val="ED7D31"/>
                </a:solidFill>
                <a:latin typeface="Roboto"/>
                <a:ea typeface="맑은 고딕"/>
                <a:cs typeface="Roboto"/>
                <a:sym typeface="Roboto"/>
              </a:rPr>
              <a:t>04  공통 시사점과 액션 플랜</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10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03" name="TextBox 10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Executive Summary — 두 리포트가 말하는 것</a:t>
            </a:r>
          </a:p>
        </p:txBody>
      </p:sp>
      <p:sp>
        <p:nvSpPr>
          <p:cNvPr id="105" name="Rectangle 106"/>
          <p:cNvSpPr/>
          <p:nvPr/>
        </p:nvSpPr>
        <p:spPr>
          <a:xfrm>
            <a:off x="502920" y="1234440"/>
            <a:ext cx="2761488" cy="1005840"/>
          </a:xfrm>
          <a:prstGeom prst="rect">
            <a:avLst/>
          </a:prstGeom>
          <a:solidFill>
            <a:srgbClr val="172A4A"/>
          </a:solidFill>
          <a:ln>
            <a:noFill/>
          </a:ln>
          <a:effectLst/>
        </p:spPr>
        <p:txBody>
          <a:bodyPr rtlCol="0" anchor="ctr"/>
          <a:lstStyle/>
          <a:p>
            <a:pPr algn="ctr"/>
            <a:endParaRPr/>
          </a:p>
        </p:txBody>
      </p:sp>
      <p:sp>
        <p:nvSpPr>
          <p:cNvPr id="107" name="TextBox 108"/>
          <p:cNvSpPr txBox="1"/>
          <p:nvPr/>
        </p:nvSpPr>
        <p:spPr>
          <a:xfrm>
            <a:off x="594360" y="1234440"/>
            <a:ext cx="2578608" cy="1005840"/>
          </a:xfrm>
          <a:prstGeom prst="rect">
            <a:avLst/>
          </a:prstGeom>
          <a:noFill/>
        </p:spPr>
        <p:txBody>
          <a:bodyPr wrap="square" lIns="36576" tIns="0" rIns="36576" bIns="0" anchor="ctr"/>
          <a:lstStyle/>
          <a:p>
            <a:pPr algn="ctr">
              <a:lnSpc>
                <a:spcPct val="100000"/>
              </a:lnSpc>
              <a:spcAft>
                <a:spcPts val="200"/>
              </a:spcAft>
            </a:pPr>
            <a:r>
              <a:rPr sz="2800" b="1">
                <a:solidFill>
                  <a:srgbClr val="FFFFFF"/>
                </a:solidFill>
                <a:latin typeface="Calibri"/>
                <a:ea typeface="맑은 고딕"/>
                <a:cs typeface="Calibri"/>
              </a:rPr>
              <a:t>+50%</a:t>
            </a:r>
          </a:p>
          <a:p>
            <a:pPr algn="ctr">
              <a:lnSpc>
                <a:spcPct val="110000"/>
              </a:lnSpc>
              <a:spcAft>
                <a:spcPts val="0"/>
              </a:spcAft>
            </a:pPr>
            <a:r>
              <a:rPr sz="1000" b="0">
                <a:solidFill>
                  <a:srgbClr val="C9D2E0"/>
                </a:solidFill>
                <a:latin typeface="Calibri"/>
                <a:ea typeface="맑은 고딕"/>
                <a:cs typeface="Calibri"/>
              </a:rPr>
              <a:t>벙커 클레임 증가 (약 70건)</a:t>
            </a:r>
          </a:p>
        </p:txBody>
      </p:sp>
      <p:sp>
        <p:nvSpPr>
          <p:cNvPr id="109" name="Rectangle 110"/>
          <p:cNvSpPr/>
          <p:nvPr/>
        </p:nvSpPr>
        <p:spPr>
          <a:xfrm>
            <a:off x="3310128" y="1234440"/>
            <a:ext cx="2761488" cy="1005840"/>
          </a:xfrm>
          <a:prstGeom prst="rect">
            <a:avLst/>
          </a:prstGeom>
          <a:solidFill>
            <a:srgbClr val="172A4A"/>
          </a:solidFill>
          <a:ln>
            <a:noFill/>
          </a:ln>
          <a:effectLst/>
        </p:spPr>
        <p:txBody>
          <a:bodyPr rtlCol="0" anchor="ctr"/>
          <a:lstStyle/>
          <a:p>
            <a:pPr algn="ctr"/>
            <a:endParaRPr/>
          </a:p>
        </p:txBody>
      </p:sp>
      <p:sp>
        <p:nvSpPr>
          <p:cNvPr id="111" name="TextBox 112"/>
          <p:cNvSpPr txBox="1"/>
          <p:nvPr/>
        </p:nvSpPr>
        <p:spPr>
          <a:xfrm>
            <a:off x="3401568" y="1234440"/>
            <a:ext cx="2578608" cy="1005840"/>
          </a:xfrm>
          <a:prstGeom prst="rect">
            <a:avLst/>
          </a:prstGeom>
          <a:noFill/>
        </p:spPr>
        <p:txBody>
          <a:bodyPr wrap="square" lIns="36576" tIns="0" rIns="36576" bIns="0" anchor="ctr"/>
          <a:lstStyle/>
          <a:p>
            <a:pPr algn="ctr">
              <a:lnSpc>
                <a:spcPct val="100000"/>
              </a:lnSpc>
              <a:spcAft>
                <a:spcPts val="200"/>
              </a:spcAft>
            </a:pPr>
            <a:r>
              <a:rPr sz="2800" b="1">
                <a:solidFill>
                  <a:srgbClr val="FFFFFF"/>
                </a:solidFill>
                <a:latin typeface="Calibri"/>
                <a:ea typeface="맑은 고딕"/>
                <a:cs typeface="Calibri"/>
              </a:rPr>
              <a:t>85%</a:t>
            </a:r>
          </a:p>
          <a:p>
            <a:pPr algn="ctr">
              <a:lnSpc>
                <a:spcPct val="110000"/>
              </a:lnSpc>
              <a:spcAft>
                <a:spcPts val="0"/>
              </a:spcAft>
            </a:pPr>
            <a:r>
              <a:rPr sz="1000" b="0">
                <a:solidFill>
                  <a:srgbClr val="C9D2E0"/>
                </a:solidFill>
                <a:latin typeface="Calibri"/>
                <a:ea typeface="맑은 고딕"/>
                <a:cs typeface="Calibri"/>
              </a:rPr>
              <a:t>VLSFO가 차지하는 비중</a:t>
            </a:r>
          </a:p>
        </p:txBody>
      </p:sp>
      <p:sp>
        <p:nvSpPr>
          <p:cNvPr id="113" name="Rectangle 114"/>
          <p:cNvSpPr/>
          <p:nvPr/>
        </p:nvSpPr>
        <p:spPr>
          <a:xfrm>
            <a:off x="6117336" y="1234440"/>
            <a:ext cx="2761488" cy="1005840"/>
          </a:xfrm>
          <a:prstGeom prst="rect">
            <a:avLst/>
          </a:prstGeom>
          <a:solidFill>
            <a:srgbClr val="172A4A"/>
          </a:solidFill>
          <a:ln>
            <a:noFill/>
          </a:ln>
          <a:effectLst/>
        </p:spPr>
        <p:txBody>
          <a:bodyPr rtlCol="0" anchor="ctr"/>
          <a:lstStyle/>
          <a:p>
            <a:pPr algn="ctr"/>
            <a:endParaRPr/>
          </a:p>
        </p:txBody>
      </p:sp>
      <p:sp>
        <p:nvSpPr>
          <p:cNvPr id="115" name="TextBox 116"/>
          <p:cNvSpPr txBox="1"/>
          <p:nvPr/>
        </p:nvSpPr>
        <p:spPr>
          <a:xfrm>
            <a:off x="6208776" y="1234440"/>
            <a:ext cx="2578608" cy="1005840"/>
          </a:xfrm>
          <a:prstGeom prst="rect">
            <a:avLst/>
          </a:prstGeom>
          <a:noFill/>
        </p:spPr>
        <p:txBody>
          <a:bodyPr wrap="square" lIns="36576" tIns="0" rIns="36576" bIns="0" anchor="ctr"/>
          <a:lstStyle/>
          <a:p>
            <a:pPr algn="ctr">
              <a:lnSpc>
                <a:spcPct val="100000"/>
              </a:lnSpc>
              <a:spcAft>
                <a:spcPts val="200"/>
              </a:spcAft>
            </a:pPr>
            <a:r>
              <a:rPr sz="2800" b="1">
                <a:solidFill>
                  <a:srgbClr val="FFFFFF"/>
                </a:solidFill>
                <a:latin typeface="Calibri"/>
                <a:ea typeface="맑은 고딕"/>
                <a:cs typeface="Calibri"/>
              </a:rPr>
              <a:t>40%</a:t>
            </a:r>
          </a:p>
          <a:p>
            <a:pPr algn="ctr">
              <a:lnSpc>
                <a:spcPct val="110000"/>
              </a:lnSpc>
              <a:spcAft>
                <a:spcPts val="0"/>
              </a:spcAft>
            </a:pPr>
            <a:r>
              <a:rPr sz="1000" b="0">
                <a:solidFill>
                  <a:srgbClr val="C9D2E0"/>
                </a:solidFill>
                <a:latin typeface="Calibri"/>
                <a:ea typeface="맑은 고딕"/>
                <a:cs typeface="Calibri"/>
              </a:rPr>
              <a:t>Table 2 온스펙인데도 문제 발생</a:t>
            </a:r>
          </a:p>
        </p:txBody>
      </p:sp>
      <p:sp>
        <p:nvSpPr>
          <p:cNvPr id="117" name="Rectangle 118"/>
          <p:cNvSpPr/>
          <p:nvPr/>
        </p:nvSpPr>
        <p:spPr>
          <a:xfrm>
            <a:off x="8924544" y="1234440"/>
            <a:ext cx="2761488" cy="1005840"/>
          </a:xfrm>
          <a:prstGeom prst="rect">
            <a:avLst/>
          </a:prstGeom>
          <a:solidFill>
            <a:srgbClr val="172A4A"/>
          </a:solidFill>
          <a:ln>
            <a:noFill/>
          </a:ln>
          <a:effectLst/>
        </p:spPr>
        <p:txBody>
          <a:bodyPr rtlCol="0" anchor="ctr"/>
          <a:lstStyle/>
          <a:p>
            <a:pPr algn="ctr"/>
            <a:endParaRPr/>
          </a:p>
        </p:txBody>
      </p:sp>
      <p:sp>
        <p:nvSpPr>
          <p:cNvPr id="119" name="TextBox 120"/>
          <p:cNvSpPr txBox="1"/>
          <p:nvPr/>
        </p:nvSpPr>
        <p:spPr>
          <a:xfrm>
            <a:off x="9015984" y="1234440"/>
            <a:ext cx="2578608" cy="1005840"/>
          </a:xfrm>
          <a:prstGeom prst="rect">
            <a:avLst/>
          </a:prstGeom>
          <a:noFill/>
        </p:spPr>
        <p:txBody>
          <a:bodyPr wrap="square" lIns="36576" tIns="0" rIns="36576" bIns="0" anchor="ctr"/>
          <a:lstStyle/>
          <a:p>
            <a:pPr algn="ctr">
              <a:lnSpc>
                <a:spcPct val="100000"/>
              </a:lnSpc>
              <a:spcAft>
                <a:spcPts val="200"/>
              </a:spcAft>
            </a:pPr>
            <a:r>
              <a:rPr sz="2800" b="1">
                <a:solidFill>
                  <a:srgbClr val="FFFFFF"/>
                </a:solidFill>
                <a:latin typeface="Calibri"/>
                <a:ea typeface="맑은 고딕"/>
                <a:cs typeface="Calibri"/>
              </a:rPr>
              <a:t>+53%</a:t>
            </a:r>
          </a:p>
          <a:p>
            <a:pPr algn="ctr">
              <a:lnSpc>
                <a:spcPct val="110000"/>
              </a:lnSpc>
              <a:spcAft>
                <a:spcPts val="0"/>
              </a:spcAft>
            </a:pPr>
            <a:r>
              <a:rPr sz="1000" b="0">
                <a:solidFill>
                  <a:srgbClr val="C9D2E0"/>
                </a:solidFill>
                <a:latin typeface="Calibri"/>
                <a:ea typeface="맑은 고딕"/>
                <a:cs typeface="Calibri"/>
              </a:rPr>
              <a:t>싱가포르 바이오 블렌드 판매 증가</a:t>
            </a:r>
          </a:p>
        </p:txBody>
      </p:sp>
      <p:sp>
        <p:nvSpPr>
          <p:cNvPr id="121" name="Rectangle 122"/>
          <p:cNvSpPr/>
          <p:nvPr/>
        </p:nvSpPr>
        <p:spPr>
          <a:xfrm>
            <a:off x="502920" y="2487168"/>
            <a:ext cx="5440680" cy="329184"/>
          </a:xfrm>
          <a:prstGeom prst="rect">
            <a:avLst/>
          </a:prstGeom>
          <a:solidFill>
            <a:srgbClr val="EFEFEF"/>
          </a:solidFill>
          <a:ln>
            <a:noFill/>
          </a:ln>
          <a:effectLst/>
        </p:spPr>
        <p:txBody>
          <a:bodyPr rtlCol="0" anchor="ctr"/>
          <a:lstStyle/>
          <a:p>
            <a:pPr algn="ctr"/>
            <a:endParaRPr/>
          </a:p>
        </p:txBody>
      </p:sp>
      <p:sp>
        <p:nvSpPr>
          <p:cNvPr id="123" name="TextBox 124"/>
          <p:cNvSpPr txBox="1"/>
          <p:nvPr/>
        </p:nvSpPr>
        <p:spPr>
          <a:xfrm>
            <a:off x="612648" y="2487168"/>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무엇이 달라졌나</a:t>
            </a:r>
          </a:p>
        </p:txBody>
      </p:sp>
      <p:sp>
        <p:nvSpPr>
          <p:cNvPr id="125" name="TextBox 126"/>
          <p:cNvSpPr txBox="1"/>
          <p:nvPr/>
        </p:nvSpPr>
        <p:spPr>
          <a:xfrm>
            <a:off x="502920" y="2944368"/>
            <a:ext cx="5440680" cy="201168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중동 분쟁(2월 말) 이후 정제사가 원유 구성을 바꾸고 감산하면서 총침전물(TSP)과 캣파인 오프스펙이 전 세계적으로 늘었습니다.</a:t>
            </a:r>
          </a:p>
          <a:p>
            <a:pPr algn="l">
              <a:lnSpc>
                <a:spcPct val="125000"/>
              </a:lnSpc>
              <a:spcAft>
                <a:spcPts val="700"/>
              </a:spcAft>
            </a:pPr>
            <a:r>
              <a:rPr sz="1200" b="0">
                <a:solidFill>
                  <a:srgbClr val="1A1A1A"/>
                </a:solidFill>
                <a:latin typeface="Calibri"/>
                <a:ea typeface="맑은 고딕"/>
                <a:cs typeface="Calibri"/>
              </a:rPr>
              <a:t>원료비 상승으로 cutter stock 사용이 늘면서 블렌딩 구성도 복잡해졌고, VPS는 같은 기간 11개 지역에 20건의 alert를 발령했습니다.</a:t>
            </a:r>
          </a:p>
          <a:p>
            <a:pPr algn="l">
              <a:lnSpc>
                <a:spcPct val="125000"/>
              </a:lnSpc>
              <a:spcAft>
                <a:spcPts val="0"/>
              </a:spcAft>
            </a:pPr>
            <a:r>
              <a:rPr sz="1200" b="0">
                <a:solidFill>
                  <a:srgbClr val="1A1A1A"/>
                </a:solidFill>
                <a:latin typeface="Calibri"/>
                <a:ea typeface="맑은 고딕"/>
                <a:cs typeface="Calibri"/>
              </a:rPr>
              <a:t>동시에 FuelEU Maritime 시행으로 바이오 블렌드 수요가 급증 — 새로운 연료가 새로운 리스크를 함께 가져오고 있습니다.</a:t>
            </a:r>
          </a:p>
        </p:txBody>
      </p:sp>
      <p:sp>
        <p:nvSpPr>
          <p:cNvPr id="127" name="Rectangle 128"/>
          <p:cNvSpPr/>
          <p:nvPr/>
        </p:nvSpPr>
        <p:spPr>
          <a:xfrm>
            <a:off x="6245352" y="2487168"/>
            <a:ext cx="5440680" cy="329184"/>
          </a:xfrm>
          <a:prstGeom prst="rect">
            <a:avLst/>
          </a:prstGeom>
          <a:solidFill>
            <a:srgbClr val="EFEFEF"/>
          </a:solidFill>
          <a:ln>
            <a:noFill/>
          </a:ln>
          <a:effectLst/>
        </p:spPr>
        <p:txBody>
          <a:bodyPr rtlCol="0" anchor="ctr"/>
          <a:lstStyle/>
          <a:p>
            <a:pPr algn="ctr"/>
            <a:endParaRPr/>
          </a:p>
        </p:txBody>
      </p:sp>
      <p:sp>
        <p:nvSpPr>
          <p:cNvPr id="129" name="TextBox 130"/>
          <p:cNvSpPr txBox="1"/>
          <p:nvPr/>
        </p:nvSpPr>
        <p:spPr>
          <a:xfrm>
            <a:off x="6355080" y="2487168"/>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오늘 결정해야 할 것</a:t>
            </a:r>
          </a:p>
        </p:txBody>
      </p:sp>
      <p:sp>
        <p:nvSpPr>
          <p:cNvPr id="131" name="Rectangle 132"/>
          <p:cNvSpPr/>
          <p:nvPr/>
        </p:nvSpPr>
        <p:spPr>
          <a:xfrm>
            <a:off x="6245352" y="2944368"/>
            <a:ext cx="1005840" cy="640080"/>
          </a:xfrm>
          <a:prstGeom prst="rect">
            <a:avLst/>
          </a:prstGeom>
          <a:solidFill>
            <a:srgbClr val="FFFFFF"/>
          </a:solidFill>
          <a:ln w="9525">
            <a:solidFill>
              <a:srgbClr val="D0D4DA"/>
            </a:solidFill>
          </a:ln>
          <a:effectLst/>
        </p:spPr>
        <p:txBody>
          <a:bodyPr rtlCol="0" anchor="ctr"/>
          <a:lstStyle/>
          <a:p>
            <a:pPr algn="ctr"/>
            <a:endParaRPr/>
          </a:p>
        </p:txBody>
      </p:sp>
      <p:sp>
        <p:nvSpPr>
          <p:cNvPr id="133" name="TextBox 134"/>
          <p:cNvSpPr txBox="1"/>
          <p:nvPr/>
        </p:nvSpPr>
        <p:spPr>
          <a:xfrm>
            <a:off x="6318504" y="2944368"/>
            <a:ext cx="859536" cy="64008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01</a:t>
            </a:r>
          </a:p>
        </p:txBody>
      </p:sp>
      <p:sp>
        <p:nvSpPr>
          <p:cNvPr id="135" name="Rectangle 136"/>
          <p:cNvSpPr/>
          <p:nvPr/>
        </p:nvSpPr>
        <p:spPr>
          <a:xfrm>
            <a:off x="7251192" y="2944368"/>
            <a:ext cx="4434840" cy="640080"/>
          </a:xfrm>
          <a:prstGeom prst="rect">
            <a:avLst/>
          </a:prstGeom>
          <a:solidFill>
            <a:srgbClr val="FFFFFF"/>
          </a:solidFill>
          <a:ln w="9525">
            <a:solidFill>
              <a:srgbClr val="D0D4DA"/>
            </a:solidFill>
          </a:ln>
          <a:effectLst/>
        </p:spPr>
        <p:txBody>
          <a:bodyPr rtlCol="0" anchor="ctr"/>
          <a:lstStyle/>
          <a:p>
            <a:pPr algn="ctr"/>
            <a:endParaRPr/>
          </a:p>
        </p:txBody>
      </p:sp>
      <p:sp>
        <p:nvSpPr>
          <p:cNvPr id="137" name="TextBox 138"/>
          <p:cNvSpPr txBox="1"/>
          <p:nvPr/>
        </p:nvSpPr>
        <p:spPr>
          <a:xfrm>
            <a:off x="7324344" y="2944368"/>
            <a:ext cx="4288536" cy="64008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non-FAME(CNSL 등) 수용 정책 — 금지 / 조건부 허용 / 건별 승인</a:t>
            </a:r>
          </a:p>
        </p:txBody>
      </p:sp>
      <p:sp>
        <p:nvSpPr>
          <p:cNvPr id="139" name="Rectangle 140"/>
          <p:cNvSpPr/>
          <p:nvPr/>
        </p:nvSpPr>
        <p:spPr>
          <a:xfrm>
            <a:off x="6245352" y="3584448"/>
            <a:ext cx="1005840" cy="640080"/>
          </a:xfrm>
          <a:prstGeom prst="rect">
            <a:avLst/>
          </a:prstGeom>
          <a:solidFill>
            <a:srgbClr val="FFFFFF"/>
          </a:solidFill>
          <a:ln w="9525">
            <a:solidFill>
              <a:srgbClr val="D0D4DA"/>
            </a:solidFill>
          </a:ln>
          <a:effectLst/>
        </p:spPr>
        <p:txBody>
          <a:bodyPr rtlCol="0" anchor="ctr"/>
          <a:lstStyle/>
          <a:p>
            <a:pPr algn="ctr"/>
            <a:endParaRPr/>
          </a:p>
        </p:txBody>
      </p:sp>
      <p:sp>
        <p:nvSpPr>
          <p:cNvPr id="141" name="TextBox 142"/>
          <p:cNvSpPr txBox="1"/>
          <p:nvPr/>
        </p:nvSpPr>
        <p:spPr>
          <a:xfrm>
            <a:off x="6318504" y="3584448"/>
            <a:ext cx="859536" cy="64008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02</a:t>
            </a:r>
          </a:p>
        </p:txBody>
      </p:sp>
      <p:sp>
        <p:nvSpPr>
          <p:cNvPr id="143" name="Rectangle 144"/>
          <p:cNvSpPr/>
          <p:nvPr/>
        </p:nvSpPr>
        <p:spPr>
          <a:xfrm>
            <a:off x="7251192" y="3584448"/>
            <a:ext cx="4434840" cy="640080"/>
          </a:xfrm>
          <a:prstGeom prst="rect">
            <a:avLst/>
          </a:prstGeom>
          <a:solidFill>
            <a:srgbClr val="FFFFFF"/>
          </a:solidFill>
          <a:ln w="9525">
            <a:solidFill>
              <a:srgbClr val="D0D4DA"/>
            </a:solidFill>
          </a:ln>
          <a:effectLst/>
        </p:spPr>
        <p:txBody>
          <a:bodyPr rtlCol="0" anchor="ctr"/>
          <a:lstStyle/>
          <a:p>
            <a:pPr algn="ctr"/>
            <a:endParaRPr/>
          </a:p>
        </p:txBody>
      </p:sp>
      <p:sp>
        <p:nvSpPr>
          <p:cNvPr id="145" name="TextBox 146"/>
          <p:cNvSpPr txBox="1"/>
          <p:nvPr/>
        </p:nvSpPr>
        <p:spPr>
          <a:xfrm>
            <a:off x="7324344" y="3584448"/>
            <a:ext cx="4288536" cy="64008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계약 조항 개정 착수 — binding sample과 공동시험 프로토콜</a:t>
            </a:r>
          </a:p>
        </p:txBody>
      </p:sp>
      <p:sp>
        <p:nvSpPr>
          <p:cNvPr id="147" name="Rectangle 148"/>
          <p:cNvSpPr/>
          <p:nvPr/>
        </p:nvSpPr>
        <p:spPr>
          <a:xfrm>
            <a:off x="6245352" y="4224528"/>
            <a:ext cx="1005840" cy="640080"/>
          </a:xfrm>
          <a:prstGeom prst="rect">
            <a:avLst/>
          </a:prstGeom>
          <a:solidFill>
            <a:srgbClr val="FFFFFF"/>
          </a:solidFill>
          <a:ln w="9525">
            <a:solidFill>
              <a:srgbClr val="D0D4DA"/>
            </a:solidFill>
          </a:ln>
          <a:effectLst/>
        </p:spPr>
        <p:txBody>
          <a:bodyPr rtlCol="0" anchor="ctr"/>
          <a:lstStyle/>
          <a:p>
            <a:pPr algn="ctr"/>
            <a:endParaRPr/>
          </a:p>
        </p:txBody>
      </p:sp>
      <p:sp>
        <p:nvSpPr>
          <p:cNvPr id="149" name="TextBox 150"/>
          <p:cNvSpPr txBox="1"/>
          <p:nvPr/>
        </p:nvSpPr>
        <p:spPr>
          <a:xfrm>
            <a:off x="6318504" y="4224528"/>
            <a:ext cx="859536" cy="64008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03</a:t>
            </a:r>
          </a:p>
        </p:txBody>
      </p:sp>
      <p:sp>
        <p:nvSpPr>
          <p:cNvPr id="151" name="Rectangle 152"/>
          <p:cNvSpPr/>
          <p:nvPr/>
        </p:nvSpPr>
        <p:spPr>
          <a:xfrm>
            <a:off x="7251192" y="4224528"/>
            <a:ext cx="4434840" cy="640080"/>
          </a:xfrm>
          <a:prstGeom prst="rect">
            <a:avLst/>
          </a:prstGeom>
          <a:solidFill>
            <a:srgbClr val="FFFFFF"/>
          </a:solidFill>
          <a:ln w="9525">
            <a:solidFill>
              <a:srgbClr val="D0D4DA"/>
            </a:solidFill>
          </a:ln>
          <a:effectLst/>
        </p:spPr>
        <p:txBody>
          <a:bodyPr rtlCol="0" anchor="ctr"/>
          <a:lstStyle/>
          <a:p>
            <a:pPr algn="ctr"/>
            <a:endParaRPr/>
          </a:p>
        </p:txBody>
      </p:sp>
      <p:sp>
        <p:nvSpPr>
          <p:cNvPr id="153" name="TextBox 154"/>
          <p:cNvSpPr txBox="1"/>
          <p:nvPr/>
        </p:nvSpPr>
        <p:spPr>
          <a:xfrm>
            <a:off x="7324344" y="4224528"/>
            <a:ext cx="4288536" cy="64008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2027-01-01 Circ.905 Rev.1 대응 오너십 — CII에 직결</a:t>
            </a:r>
          </a:p>
        </p:txBody>
      </p:sp>
      <p:sp>
        <p:nvSpPr>
          <p:cNvPr id="155" name="Rectangle 156"/>
          <p:cNvSpPr/>
          <p:nvPr/>
        </p:nvSpPr>
        <p:spPr>
          <a:xfrm>
            <a:off x="6245352" y="5074920"/>
            <a:ext cx="5440680" cy="777240"/>
          </a:xfrm>
          <a:prstGeom prst="rect">
            <a:avLst/>
          </a:prstGeom>
          <a:solidFill>
            <a:srgbClr val="EFEFEF"/>
          </a:solidFill>
          <a:ln>
            <a:noFill/>
          </a:ln>
          <a:effectLst/>
        </p:spPr>
        <p:txBody>
          <a:bodyPr rtlCol="0" anchor="ctr"/>
          <a:lstStyle/>
          <a:p>
            <a:pPr algn="ctr"/>
            <a:endParaRPr/>
          </a:p>
        </p:txBody>
      </p:sp>
      <p:sp>
        <p:nvSpPr>
          <p:cNvPr id="157" name="TextBox 158"/>
          <p:cNvSpPr txBox="1"/>
          <p:nvPr/>
        </p:nvSpPr>
        <p:spPr>
          <a:xfrm>
            <a:off x="6428232" y="507492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규격은 최저 기준일 뿐 — 리스크는 스펙 밖에서 발생하고 있습니다.</a:t>
            </a:r>
          </a:p>
        </p:txBody>
      </p:sp>
      <p:sp>
        <p:nvSpPr>
          <p:cNvPr id="159" name="Rectangle 160"/>
          <p:cNvSpPr/>
          <p:nvPr/>
        </p:nvSpPr>
        <p:spPr>
          <a:xfrm>
            <a:off x="502920" y="5074920"/>
            <a:ext cx="5440680" cy="777240"/>
          </a:xfrm>
          <a:prstGeom prst="rect">
            <a:avLst/>
          </a:prstGeom>
          <a:solidFill>
            <a:srgbClr val="EFEFEF"/>
          </a:solidFill>
          <a:ln>
            <a:noFill/>
          </a:ln>
          <a:effectLst/>
        </p:spPr>
        <p:txBody>
          <a:bodyPr rtlCol="0" anchor="ctr"/>
          <a:lstStyle/>
          <a:p>
            <a:pPr algn="ctr"/>
            <a:endParaRPr/>
          </a:p>
        </p:txBody>
      </p:sp>
      <p:sp>
        <p:nvSpPr>
          <p:cNvPr id="161" name="TextBox 162"/>
          <p:cNvSpPr txBox="1"/>
          <p:nvPr/>
        </p:nvSpPr>
        <p:spPr>
          <a:xfrm>
            <a:off x="685800" y="507492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온스펙 연료의 40%가 문제를 일으켰습니다.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16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65" name="TextBox 16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2026년 1–5월 벙커 클레임 — 건수도, 복잡성도 늘었다</a:t>
            </a:r>
          </a:p>
        </p:txBody>
      </p:sp>
      <p:sp>
        <p:nvSpPr>
          <p:cNvPr id="167" name="Rectangle 168"/>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169" name="TextBox 170"/>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Gard 접수 현황 (2026년 1–5월)</a:t>
            </a:r>
          </a:p>
        </p:txBody>
      </p:sp>
      <p:sp>
        <p:nvSpPr>
          <p:cNvPr id="171" name="Rectangle 172"/>
          <p:cNvSpPr/>
          <p:nvPr/>
        </p:nvSpPr>
        <p:spPr>
          <a:xfrm>
            <a:off x="502920" y="1783080"/>
            <a:ext cx="3017520" cy="457200"/>
          </a:xfrm>
          <a:prstGeom prst="rect">
            <a:avLst/>
          </a:prstGeom>
          <a:solidFill>
            <a:srgbClr val="172A4A"/>
          </a:solidFill>
          <a:ln>
            <a:noFill/>
          </a:ln>
          <a:effectLst/>
        </p:spPr>
        <p:txBody>
          <a:bodyPr rtlCol="0" anchor="ctr"/>
          <a:lstStyle/>
          <a:p>
            <a:pPr algn="ctr"/>
            <a:endParaRPr/>
          </a:p>
        </p:txBody>
      </p:sp>
      <p:sp>
        <p:nvSpPr>
          <p:cNvPr id="173" name="TextBox 174"/>
          <p:cNvSpPr txBox="1"/>
          <p:nvPr/>
        </p:nvSpPr>
        <p:spPr>
          <a:xfrm>
            <a:off x="576072" y="1783080"/>
            <a:ext cx="287121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구분</a:t>
            </a:r>
          </a:p>
        </p:txBody>
      </p:sp>
      <p:sp>
        <p:nvSpPr>
          <p:cNvPr id="175" name="Rectangle 176"/>
          <p:cNvSpPr/>
          <p:nvPr/>
        </p:nvSpPr>
        <p:spPr>
          <a:xfrm>
            <a:off x="3520440" y="1783080"/>
            <a:ext cx="2423160" cy="457200"/>
          </a:xfrm>
          <a:prstGeom prst="rect">
            <a:avLst/>
          </a:prstGeom>
          <a:solidFill>
            <a:srgbClr val="172A4A"/>
          </a:solidFill>
          <a:ln>
            <a:noFill/>
          </a:ln>
          <a:effectLst/>
        </p:spPr>
        <p:txBody>
          <a:bodyPr rtlCol="0" anchor="ctr"/>
          <a:lstStyle/>
          <a:p>
            <a:pPr algn="ctr"/>
            <a:endParaRPr/>
          </a:p>
        </p:txBody>
      </p:sp>
      <p:sp>
        <p:nvSpPr>
          <p:cNvPr id="177" name="TextBox 178"/>
          <p:cNvSpPr txBox="1"/>
          <p:nvPr/>
        </p:nvSpPr>
        <p:spPr>
          <a:xfrm>
            <a:off x="3593592" y="1783080"/>
            <a:ext cx="227685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수치</a:t>
            </a:r>
          </a:p>
        </p:txBody>
      </p:sp>
      <p:sp>
        <p:nvSpPr>
          <p:cNvPr id="179" name="Rectangle 180"/>
          <p:cNvSpPr/>
          <p:nvPr/>
        </p:nvSpPr>
        <p:spPr>
          <a:xfrm>
            <a:off x="502920" y="2240280"/>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181" name="TextBox 182"/>
          <p:cNvSpPr txBox="1"/>
          <p:nvPr/>
        </p:nvSpPr>
        <p:spPr>
          <a:xfrm>
            <a:off x="576072" y="2240280"/>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전체 벙커 관련 클레임</a:t>
            </a:r>
          </a:p>
        </p:txBody>
      </p:sp>
      <p:sp>
        <p:nvSpPr>
          <p:cNvPr id="183" name="Rectangle 184"/>
          <p:cNvSpPr/>
          <p:nvPr/>
        </p:nvSpPr>
        <p:spPr>
          <a:xfrm>
            <a:off x="3520440" y="2240280"/>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185" name="TextBox 186"/>
          <p:cNvSpPr txBox="1"/>
          <p:nvPr/>
        </p:nvSpPr>
        <p:spPr>
          <a:xfrm>
            <a:off x="3593592" y="2240280"/>
            <a:ext cx="2276856" cy="402336"/>
          </a:xfrm>
          <a:prstGeom prst="rect">
            <a:avLst/>
          </a:prstGeom>
          <a:noFill/>
        </p:spPr>
        <p:txBody>
          <a:bodyPr wrap="square" lIns="36576" tIns="0" rIns="36576" bIns="0" anchor="ctr"/>
          <a:lstStyle/>
          <a:p>
            <a:pPr algn="l">
              <a:lnSpc>
                <a:spcPct val="110000"/>
              </a:lnSpc>
              <a:spcAft>
                <a:spcPts val="0"/>
              </a:spcAft>
            </a:pPr>
            <a:r>
              <a:rPr sz="1200" b="1">
                <a:solidFill>
                  <a:srgbClr val="1F6F3D"/>
                </a:solidFill>
                <a:latin typeface="Calibri"/>
                <a:ea typeface="맑은 고딕"/>
                <a:cs typeface="Calibri"/>
              </a:rPr>
              <a:t>약 70건 (전년 동기 +50%)</a:t>
            </a:r>
          </a:p>
        </p:txBody>
      </p:sp>
      <p:sp>
        <p:nvSpPr>
          <p:cNvPr id="187" name="Rectangle 188"/>
          <p:cNvSpPr/>
          <p:nvPr/>
        </p:nvSpPr>
        <p:spPr>
          <a:xfrm>
            <a:off x="502920" y="2642616"/>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189" name="TextBox 190"/>
          <p:cNvSpPr txBox="1"/>
          <p:nvPr/>
        </p:nvSpPr>
        <p:spPr>
          <a:xfrm>
            <a:off x="576072" y="2642616"/>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VLSFO 비중</a:t>
            </a:r>
          </a:p>
        </p:txBody>
      </p:sp>
      <p:sp>
        <p:nvSpPr>
          <p:cNvPr id="191" name="Rectangle 192"/>
          <p:cNvSpPr/>
          <p:nvPr/>
        </p:nvSpPr>
        <p:spPr>
          <a:xfrm>
            <a:off x="3520440" y="2642616"/>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193" name="TextBox 194"/>
          <p:cNvSpPr txBox="1"/>
          <p:nvPr/>
        </p:nvSpPr>
        <p:spPr>
          <a:xfrm>
            <a:off x="3593592" y="2642616"/>
            <a:ext cx="22768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85% 이상</a:t>
            </a:r>
          </a:p>
        </p:txBody>
      </p:sp>
      <p:sp>
        <p:nvSpPr>
          <p:cNvPr id="195" name="Rectangle 196"/>
          <p:cNvSpPr/>
          <p:nvPr/>
        </p:nvSpPr>
        <p:spPr>
          <a:xfrm>
            <a:off x="502920" y="3044952"/>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197" name="TextBox 198"/>
          <p:cNvSpPr txBox="1"/>
          <p:nvPr/>
        </p:nvSpPr>
        <p:spPr>
          <a:xfrm>
            <a:off x="576072" y="3044952"/>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황분 규제 위반</a:t>
            </a:r>
          </a:p>
        </p:txBody>
      </p:sp>
      <p:sp>
        <p:nvSpPr>
          <p:cNvPr id="199" name="Rectangle 200"/>
          <p:cNvSpPr/>
          <p:nvPr/>
        </p:nvSpPr>
        <p:spPr>
          <a:xfrm>
            <a:off x="3520440" y="3044952"/>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201" name="TextBox 202"/>
          <p:cNvSpPr txBox="1"/>
          <p:nvPr/>
        </p:nvSpPr>
        <p:spPr>
          <a:xfrm>
            <a:off x="3593592" y="3044952"/>
            <a:ext cx="22768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12.86%</a:t>
            </a:r>
          </a:p>
        </p:txBody>
      </p:sp>
      <p:sp>
        <p:nvSpPr>
          <p:cNvPr id="203" name="Rectangle 204"/>
          <p:cNvSpPr/>
          <p:nvPr/>
        </p:nvSpPr>
        <p:spPr>
          <a:xfrm>
            <a:off x="502920" y="3447288"/>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205" name="TextBox 206"/>
          <p:cNvSpPr txBox="1"/>
          <p:nvPr/>
        </p:nvSpPr>
        <p:spPr>
          <a:xfrm>
            <a:off x="576072" y="3447288"/>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인화점 위반</a:t>
            </a:r>
          </a:p>
        </p:txBody>
      </p:sp>
      <p:sp>
        <p:nvSpPr>
          <p:cNvPr id="207" name="Rectangle 208"/>
          <p:cNvSpPr/>
          <p:nvPr/>
        </p:nvSpPr>
        <p:spPr>
          <a:xfrm>
            <a:off x="3520440" y="3447288"/>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209" name="TextBox 210"/>
          <p:cNvSpPr txBox="1"/>
          <p:nvPr/>
        </p:nvSpPr>
        <p:spPr>
          <a:xfrm>
            <a:off x="3593592" y="3447288"/>
            <a:ext cx="22768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4.11%</a:t>
            </a:r>
          </a:p>
        </p:txBody>
      </p:sp>
      <p:sp>
        <p:nvSpPr>
          <p:cNvPr id="211" name="Rectangle 212"/>
          <p:cNvSpPr/>
          <p:nvPr/>
        </p:nvSpPr>
        <p:spPr>
          <a:xfrm>
            <a:off x="502920" y="3849624"/>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213" name="TextBox 214"/>
          <p:cNvSpPr txBox="1"/>
          <p:nvPr/>
        </p:nvSpPr>
        <p:spPr>
          <a:xfrm>
            <a:off x="576072" y="3849624"/>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수량(MFM) 분쟁</a:t>
            </a:r>
          </a:p>
        </p:txBody>
      </p:sp>
      <p:sp>
        <p:nvSpPr>
          <p:cNvPr id="215" name="Rectangle 216"/>
          <p:cNvSpPr/>
          <p:nvPr/>
        </p:nvSpPr>
        <p:spPr>
          <a:xfrm>
            <a:off x="3520440" y="3849624"/>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217" name="TextBox 218"/>
          <p:cNvSpPr txBox="1"/>
          <p:nvPr/>
        </p:nvSpPr>
        <p:spPr>
          <a:xfrm>
            <a:off x="3593592" y="3849624"/>
            <a:ext cx="22768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3%</a:t>
            </a:r>
          </a:p>
        </p:txBody>
      </p:sp>
      <p:sp>
        <p:nvSpPr>
          <p:cNvPr id="219" name="TextBox 220"/>
          <p:cNvSpPr txBox="1"/>
          <p:nvPr/>
        </p:nvSpPr>
        <p:spPr>
          <a:xfrm>
            <a:off x="502920" y="4434840"/>
            <a:ext cx="5440680" cy="54864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올해 Gard가 다룬 중대 사고 중 불량 연료가 원인으로 의심된 건은 없었으나, 항행불능 상태에 빠진 선박은 다수 발생했습니다.</a:t>
            </a:r>
          </a:p>
        </p:txBody>
      </p:sp>
      <p:sp>
        <p:nvSpPr>
          <p:cNvPr id="221" name="Rectangle 222"/>
          <p:cNvSpPr/>
          <p:nvPr/>
        </p:nvSpPr>
        <p:spPr>
          <a:xfrm>
            <a:off x="502920" y="5074920"/>
            <a:ext cx="5440680" cy="640080"/>
          </a:xfrm>
          <a:prstGeom prst="rect">
            <a:avLst/>
          </a:prstGeom>
          <a:solidFill>
            <a:srgbClr val="EFEFEF"/>
          </a:solidFill>
          <a:ln>
            <a:noFill/>
          </a:ln>
          <a:effectLst/>
        </p:spPr>
        <p:txBody>
          <a:bodyPr rtlCol="0" anchor="ctr"/>
          <a:lstStyle/>
          <a:p>
            <a:pPr algn="ctr"/>
            <a:endParaRPr/>
          </a:p>
        </p:txBody>
      </p:sp>
      <p:sp>
        <p:nvSpPr>
          <p:cNvPr id="223" name="TextBox 224"/>
          <p:cNvSpPr txBox="1"/>
          <p:nvPr/>
        </p:nvSpPr>
        <p:spPr>
          <a:xfrm>
            <a:off x="685800" y="5074920"/>
            <a:ext cx="5074920" cy="64008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1–2월보다 3–5월이 높습니다 — 중동 분쟁 시점과 일치.</a:t>
            </a:r>
          </a:p>
        </p:txBody>
      </p:sp>
      <p:sp>
        <p:nvSpPr>
          <p:cNvPr id="225" name="Rectangle 226"/>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227" name="TextBox 228"/>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VPS 오프스펙률 — 연료별 / 항만별</a:t>
            </a:r>
          </a:p>
        </p:txBody>
      </p:sp>
      <p:sp>
        <p:nvSpPr>
          <p:cNvPr id="229" name="Rectangle 230"/>
          <p:cNvSpPr/>
          <p:nvPr/>
        </p:nvSpPr>
        <p:spPr>
          <a:xfrm>
            <a:off x="6245352" y="1783080"/>
            <a:ext cx="2011680" cy="457200"/>
          </a:xfrm>
          <a:prstGeom prst="rect">
            <a:avLst/>
          </a:prstGeom>
          <a:solidFill>
            <a:srgbClr val="172A4A"/>
          </a:solidFill>
          <a:ln>
            <a:noFill/>
          </a:ln>
          <a:effectLst/>
        </p:spPr>
        <p:txBody>
          <a:bodyPr rtlCol="0" anchor="ctr"/>
          <a:lstStyle/>
          <a:p>
            <a:pPr algn="ctr"/>
            <a:endParaRPr/>
          </a:p>
        </p:txBody>
      </p:sp>
      <p:sp>
        <p:nvSpPr>
          <p:cNvPr id="231" name="TextBox 232"/>
          <p:cNvSpPr txBox="1"/>
          <p:nvPr/>
        </p:nvSpPr>
        <p:spPr>
          <a:xfrm>
            <a:off x="6318504" y="1783080"/>
            <a:ext cx="186537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연료</a:t>
            </a:r>
          </a:p>
        </p:txBody>
      </p:sp>
      <p:sp>
        <p:nvSpPr>
          <p:cNvPr id="233" name="Rectangle 234"/>
          <p:cNvSpPr/>
          <p:nvPr/>
        </p:nvSpPr>
        <p:spPr>
          <a:xfrm>
            <a:off x="8257032" y="1783080"/>
            <a:ext cx="1417320" cy="457200"/>
          </a:xfrm>
          <a:prstGeom prst="rect">
            <a:avLst/>
          </a:prstGeom>
          <a:solidFill>
            <a:srgbClr val="172A4A"/>
          </a:solidFill>
          <a:ln>
            <a:noFill/>
          </a:ln>
          <a:effectLst/>
        </p:spPr>
        <p:txBody>
          <a:bodyPr rtlCol="0" anchor="ctr"/>
          <a:lstStyle/>
          <a:p>
            <a:pPr algn="ctr"/>
            <a:endParaRPr/>
          </a:p>
        </p:txBody>
      </p:sp>
      <p:sp>
        <p:nvSpPr>
          <p:cNvPr id="235" name="TextBox 236"/>
          <p:cNvSpPr txBox="1"/>
          <p:nvPr/>
        </p:nvSpPr>
        <p:spPr>
          <a:xfrm>
            <a:off x="8330184" y="1783080"/>
            <a:ext cx="127101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오프스펙률</a:t>
            </a:r>
          </a:p>
        </p:txBody>
      </p:sp>
      <p:sp>
        <p:nvSpPr>
          <p:cNvPr id="237" name="Rectangle 238"/>
          <p:cNvSpPr/>
          <p:nvPr/>
        </p:nvSpPr>
        <p:spPr>
          <a:xfrm>
            <a:off x="9674352" y="1783080"/>
            <a:ext cx="2011680" cy="457200"/>
          </a:xfrm>
          <a:prstGeom prst="rect">
            <a:avLst/>
          </a:prstGeom>
          <a:solidFill>
            <a:srgbClr val="172A4A"/>
          </a:solidFill>
          <a:ln>
            <a:noFill/>
          </a:ln>
          <a:effectLst/>
        </p:spPr>
        <p:txBody>
          <a:bodyPr rtlCol="0" anchor="ctr"/>
          <a:lstStyle/>
          <a:p>
            <a:pPr algn="ctr"/>
            <a:endParaRPr/>
          </a:p>
        </p:txBody>
      </p:sp>
      <p:sp>
        <p:nvSpPr>
          <p:cNvPr id="239" name="TextBox 240"/>
          <p:cNvSpPr txBox="1"/>
          <p:nvPr/>
        </p:nvSpPr>
        <p:spPr>
          <a:xfrm>
            <a:off x="9747504" y="1783080"/>
            <a:ext cx="186537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참고</a:t>
            </a:r>
          </a:p>
        </p:txBody>
      </p:sp>
      <p:sp>
        <p:nvSpPr>
          <p:cNvPr id="241" name="Rectangle 242"/>
          <p:cNvSpPr/>
          <p:nvPr/>
        </p:nvSpPr>
        <p:spPr>
          <a:xfrm>
            <a:off x="6245352" y="2240280"/>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43" name="TextBox 244"/>
          <p:cNvSpPr txBox="1"/>
          <p:nvPr/>
        </p:nvSpPr>
        <p:spPr>
          <a:xfrm>
            <a:off x="6318504" y="2240280"/>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ULSFO</a:t>
            </a:r>
          </a:p>
        </p:txBody>
      </p:sp>
      <p:sp>
        <p:nvSpPr>
          <p:cNvPr id="245" name="Rectangle 246"/>
          <p:cNvSpPr/>
          <p:nvPr/>
        </p:nvSpPr>
        <p:spPr>
          <a:xfrm>
            <a:off x="8257032" y="2240280"/>
            <a:ext cx="1417320" cy="402336"/>
          </a:xfrm>
          <a:prstGeom prst="rect">
            <a:avLst/>
          </a:prstGeom>
          <a:solidFill>
            <a:srgbClr val="FFFFFF"/>
          </a:solidFill>
          <a:ln w="9525">
            <a:solidFill>
              <a:srgbClr val="D0D4DA"/>
            </a:solidFill>
          </a:ln>
          <a:effectLst/>
        </p:spPr>
        <p:txBody>
          <a:bodyPr rtlCol="0" anchor="ctr"/>
          <a:lstStyle/>
          <a:p>
            <a:pPr algn="ctr"/>
            <a:endParaRPr/>
          </a:p>
        </p:txBody>
      </p:sp>
      <p:sp>
        <p:nvSpPr>
          <p:cNvPr id="247" name="TextBox 248"/>
          <p:cNvSpPr txBox="1"/>
          <p:nvPr/>
        </p:nvSpPr>
        <p:spPr>
          <a:xfrm>
            <a:off x="8330184" y="2240280"/>
            <a:ext cx="1271016" cy="402336"/>
          </a:xfrm>
          <a:prstGeom prst="rect">
            <a:avLst/>
          </a:prstGeom>
          <a:noFill/>
        </p:spPr>
        <p:txBody>
          <a:bodyPr wrap="square" lIns="36576" tIns="0" rIns="36576" bIns="0" anchor="ctr"/>
          <a:lstStyle/>
          <a:p>
            <a:pPr algn="l">
              <a:lnSpc>
                <a:spcPct val="110000"/>
              </a:lnSpc>
              <a:spcAft>
                <a:spcPts val="0"/>
              </a:spcAft>
            </a:pPr>
            <a:r>
              <a:rPr sz="1200" b="1">
                <a:solidFill>
                  <a:srgbClr val="C00000"/>
                </a:solidFill>
                <a:latin typeface="Calibri"/>
                <a:ea typeface="맑은 고딕"/>
                <a:cs typeface="Calibri"/>
              </a:rPr>
              <a:t>28.8%</a:t>
            </a:r>
          </a:p>
        </p:txBody>
      </p:sp>
      <p:sp>
        <p:nvSpPr>
          <p:cNvPr id="249" name="Rectangle 250"/>
          <p:cNvSpPr/>
          <p:nvPr/>
        </p:nvSpPr>
        <p:spPr>
          <a:xfrm>
            <a:off x="9674352" y="2240280"/>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51" name="TextBox 252"/>
          <p:cNvSpPr txBox="1"/>
          <p:nvPr/>
        </p:nvSpPr>
        <p:spPr>
          <a:xfrm>
            <a:off x="9747504" y="2240280"/>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압도적 1위</a:t>
            </a:r>
          </a:p>
        </p:txBody>
      </p:sp>
      <p:sp>
        <p:nvSpPr>
          <p:cNvPr id="253" name="Rectangle 254"/>
          <p:cNvSpPr/>
          <p:nvPr/>
        </p:nvSpPr>
        <p:spPr>
          <a:xfrm>
            <a:off x="6245352" y="2642616"/>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55" name="TextBox 256"/>
          <p:cNvSpPr txBox="1"/>
          <p:nvPr/>
        </p:nvSpPr>
        <p:spPr>
          <a:xfrm>
            <a:off x="6318504" y="2642616"/>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증류유</a:t>
            </a:r>
          </a:p>
        </p:txBody>
      </p:sp>
      <p:sp>
        <p:nvSpPr>
          <p:cNvPr id="257" name="Rectangle 258"/>
          <p:cNvSpPr/>
          <p:nvPr/>
        </p:nvSpPr>
        <p:spPr>
          <a:xfrm>
            <a:off x="8257032" y="2642616"/>
            <a:ext cx="1417320" cy="402336"/>
          </a:xfrm>
          <a:prstGeom prst="rect">
            <a:avLst/>
          </a:prstGeom>
          <a:solidFill>
            <a:srgbClr val="FFFFFF"/>
          </a:solidFill>
          <a:ln w="9525">
            <a:solidFill>
              <a:srgbClr val="D0D4DA"/>
            </a:solidFill>
          </a:ln>
          <a:effectLst/>
        </p:spPr>
        <p:txBody>
          <a:bodyPr rtlCol="0" anchor="ctr"/>
          <a:lstStyle/>
          <a:p>
            <a:pPr algn="ctr"/>
            <a:endParaRPr/>
          </a:p>
        </p:txBody>
      </p:sp>
      <p:sp>
        <p:nvSpPr>
          <p:cNvPr id="259" name="TextBox 260"/>
          <p:cNvSpPr txBox="1"/>
          <p:nvPr/>
        </p:nvSpPr>
        <p:spPr>
          <a:xfrm>
            <a:off x="8330184" y="2642616"/>
            <a:ext cx="12710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8.8%</a:t>
            </a:r>
          </a:p>
        </p:txBody>
      </p:sp>
      <p:sp>
        <p:nvSpPr>
          <p:cNvPr id="261" name="Rectangle 262"/>
          <p:cNvSpPr/>
          <p:nvPr/>
        </p:nvSpPr>
        <p:spPr>
          <a:xfrm>
            <a:off x="9674352" y="2642616"/>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63" name="TextBox 264"/>
          <p:cNvSpPr txBox="1"/>
          <p:nvPr/>
        </p:nvSpPr>
        <p:spPr>
          <a:xfrm>
            <a:off x="9747504" y="2642616"/>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글로벌 평균</a:t>
            </a:r>
          </a:p>
        </p:txBody>
      </p:sp>
      <p:sp>
        <p:nvSpPr>
          <p:cNvPr id="265" name="Rectangle 266"/>
          <p:cNvSpPr/>
          <p:nvPr/>
        </p:nvSpPr>
        <p:spPr>
          <a:xfrm>
            <a:off x="6245352" y="3044952"/>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67" name="TextBox 268"/>
          <p:cNvSpPr txBox="1"/>
          <p:nvPr/>
        </p:nvSpPr>
        <p:spPr>
          <a:xfrm>
            <a:off x="6318504" y="3044952"/>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VLSFO</a:t>
            </a:r>
          </a:p>
        </p:txBody>
      </p:sp>
      <p:sp>
        <p:nvSpPr>
          <p:cNvPr id="269" name="Rectangle 270"/>
          <p:cNvSpPr/>
          <p:nvPr/>
        </p:nvSpPr>
        <p:spPr>
          <a:xfrm>
            <a:off x="8257032" y="3044952"/>
            <a:ext cx="1417320" cy="402336"/>
          </a:xfrm>
          <a:prstGeom prst="rect">
            <a:avLst/>
          </a:prstGeom>
          <a:solidFill>
            <a:srgbClr val="FFFFFF"/>
          </a:solidFill>
          <a:ln w="9525">
            <a:solidFill>
              <a:srgbClr val="D0D4DA"/>
            </a:solidFill>
          </a:ln>
          <a:effectLst/>
        </p:spPr>
        <p:txBody>
          <a:bodyPr rtlCol="0" anchor="ctr"/>
          <a:lstStyle/>
          <a:p>
            <a:pPr algn="ctr"/>
            <a:endParaRPr/>
          </a:p>
        </p:txBody>
      </p:sp>
      <p:sp>
        <p:nvSpPr>
          <p:cNvPr id="271" name="TextBox 272"/>
          <p:cNvSpPr txBox="1"/>
          <p:nvPr/>
        </p:nvSpPr>
        <p:spPr>
          <a:xfrm>
            <a:off x="8330184" y="3044952"/>
            <a:ext cx="12710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8.7%</a:t>
            </a:r>
          </a:p>
        </p:txBody>
      </p:sp>
      <p:sp>
        <p:nvSpPr>
          <p:cNvPr id="273" name="Rectangle 274"/>
          <p:cNvSpPr/>
          <p:nvPr/>
        </p:nvSpPr>
        <p:spPr>
          <a:xfrm>
            <a:off x="9674352" y="3044952"/>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75" name="TextBox 276"/>
          <p:cNvSpPr txBox="1"/>
          <p:nvPr/>
        </p:nvSpPr>
        <p:spPr>
          <a:xfrm>
            <a:off x="9747504" y="3044952"/>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클레임의 85%</a:t>
            </a:r>
          </a:p>
        </p:txBody>
      </p:sp>
      <p:sp>
        <p:nvSpPr>
          <p:cNvPr id="277" name="Rectangle 278"/>
          <p:cNvSpPr/>
          <p:nvPr/>
        </p:nvSpPr>
        <p:spPr>
          <a:xfrm>
            <a:off x="6245352" y="3447288"/>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79" name="TextBox 280"/>
          <p:cNvSpPr txBox="1"/>
          <p:nvPr/>
        </p:nvSpPr>
        <p:spPr>
          <a:xfrm>
            <a:off x="6318504" y="3447288"/>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HSFO</a:t>
            </a:r>
          </a:p>
        </p:txBody>
      </p:sp>
      <p:sp>
        <p:nvSpPr>
          <p:cNvPr id="281" name="Rectangle 282"/>
          <p:cNvSpPr/>
          <p:nvPr/>
        </p:nvSpPr>
        <p:spPr>
          <a:xfrm>
            <a:off x="8257032" y="3447288"/>
            <a:ext cx="1417320" cy="402336"/>
          </a:xfrm>
          <a:prstGeom prst="rect">
            <a:avLst/>
          </a:prstGeom>
          <a:solidFill>
            <a:srgbClr val="FFFFFF"/>
          </a:solidFill>
          <a:ln w="9525">
            <a:solidFill>
              <a:srgbClr val="D0D4DA"/>
            </a:solidFill>
          </a:ln>
          <a:effectLst/>
        </p:spPr>
        <p:txBody>
          <a:bodyPr rtlCol="0" anchor="ctr"/>
          <a:lstStyle/>
          <a:p>
            <a:pPr algn="ctr"/>
            <a:endParaRPr/>
          </a:p>
        </p:txBody>
      </p:sp>
      <p:sp>
        <p:nvSpPr>
          <p:cNvPr id="283" name="TextBox 284"/>
          <p:cNvSpPr txBox="1"/>
          <p:nvPr/>
        </p:nvSpPr>
        <p:spPr>
          <a:xfrm>
            <a:off x="8330184" y="3447288"/>
            <a:ext cx="12710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8.5%</a:t>
            </a:r>
          </a:p>
        </p:txBody>
      </p:sp>
      <p:sp>
        <p:nvSpPr>
          <p:cNvPr id="285" name="Rectangle 286"/>
          <p:cNvSpPr/>
          <p:nvPr/>
        </p:nvSpPr>
        <p:spPr>
          <a:xfrm>
            <a:off x="9674352" y="3447288"/>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87" name="TextBox 288"/>
          <p:cNvSpPr txBox="1"/>
          <p:nvPr/>
        </p:nvSpPr>
        <p:spPr>
          <a:xfrm>
            <a:off x="9747504" y="3447288"/>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스크러버선</a:t>
            </a:r>
          </a:p>
        </p:txBody>
      </p:sp>
      <p:sp>
        <p:nvSpPr>
          <p:cNvPr id="289" name="Rectangle 290"/>
          <p:cNvSpPr/>
          <p:nvPr/>
        </p:nvSpPr>
        <p:spPr>
          <a:xfrm>
            <a:off x="6245352" y="3849624"/>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91" name="TextBox 292"/>
          <p:cNvSpPr txBox="1"/>
          <p:nvPr/>
        </p:nvSpPr>
        <p:spPr>
          <a:xfrm>
            <a:off x="6318504" y="3849624"/>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바이오연료</a:t>
            </a:r>
          </a:p>
        </p:txBody>
      </p:sp>
      <p:sp>
        <p:nvSpPr>
          <p:cNvPr id="293" name="Rectangle 294"/>
          <p:cNvSpPr/>
          <p:nvPr/>
        </p:nvSpPr>
        <p:spPr>
          <a:xfrm>
            <a:off x="8257032" y="3849624"/>
            <a:ext cx="1417320" cy="402336"/>
          </a:xfrm>
          <a:prstGeom prst="rect">
            <a:avLst/>
          </a:prstGeom>
          <a:solidFill>
            <a:srgbClr val="FFFFFF"/>
          </a:solidFill>
          <a:ln w="9525">
            <a:solidFill>
              <a:srgbClr val="D0D4DA"/>
            </a:solidFill>
          </a:ln>
          <a:effectLst/>
        </p:spPr>
        <p:txBody>
          <a:bodyPr rtlCol="0" anchor="ctr"/>
          <a:lstStyle/>
          <a:p>
            <a:pPr algn="ctr"/>
            <a:endParaRPr/>
          </a:p>
        </p:txBody>
      </p:sp>
      <p:sp>
        <p:nvSpPr>
          <p:cNvPr id="295" name="TextBox 296"/>
          <p:cNvSpPr txBox="1"/>
          <p:nvPr/>
        </p:nvSpPr>
        <p:spPr>
          <a:xfrm>
            <a:off x="8330184" y="3849624"/>
            <a:ext cx="1271016" cy="402336"/>
          </a:xfrm>
          <a:prstGeom prst="rect">
            <a:avLst/>
          </a:prstGeom>
          <a:noFill/>
        </p:spPr>
        <p:txBody>
          <a:bodyPr wrap="square" lIns="36576" tIns="0" rIns="36576" bIns="0" anchor="ctr"/>
          <a:lstStyle/>
          <a:p>
            <a:pPr algn="l">
              <a:lnSpc>
                <a:spcPct val="110000"/>
              </a:lnSpc>
              <a:spcAft>
                <a:spcPts val="0"/>
              </a:spcAft>
            </a:pPr>
            <a:r>
              <a:rPr sz="1200" b="1">
                <a:solidFill>
                  <a:srgbClr val="1F6F3D"/>
                </a:solidFill>
                <a:latin typeface="Calibri"/>
                <a:ea typeface="맑은 고딕"/>
                <a:cs typeface="Calibri"/>
              </a:rPr>
              <a:t>0.4%</a:t>
            </a:r>
          </a:p>
        </p:txBody>
      </p:sp>
      <p:sp>
        <p:nvSpPr>
          <p:cNvPr id="297" name="Rectangle 298"/>
          <p:cNvSpPr/>
          <p:nvPr/>
        </p:nvSpPr>
        <p:spPr>
          <a:xfrm>
            <a:off x="9674352" y="3849624"/>
            <a:ext cx="2011680" cy="402336"/>
          </a:xfrm>
          <a:prstGeom prst="rect">
            <a:avLst/>
          </a:prstGeom>
          <a:solidFill>
            <a:srgbClr val="FFFFFF"/>
          </a:solidFill>
          <a:ln w="9525">
            <a:solidFill>
              <a:srgbClr val="D0D4DA"/>
            </a:solidFill>
          </a:ln>
          <a:effectLst/>
        </p:spPr>
        <p:txBody>
          <a:bodyPr rtlCol="0" anchor="ctr"/>
          <a:lstStyle/>
          <a:p>
            <a:pPr algn="ctr"/>
            <a:endParaRPr/>
          </a:p>
        </p:txBody>
      </p:sp>
      <p:sp>
        <p:nvSpPr>
          <p:cNvPr id="299" name="TextBox 300"/>
          <p:cNvSpPr txBox="1"/>
          <p:nvPr/>
        </p:nvSpPr>
        <p:spPr>
          <a:xfrm>
            <a:off x="9747504" y="3849624"/>
            <a:ext cx="186537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의외의 최저치</a:t>
            </a:r>
          </a:p>
        </p:txBody>
      </p:sp>
      <p:sp>
        <p:nvSpPr>
          <p:cNvPr id="301" name="TextBox 302"/>
          <p:cNvSpPr txBox="1"/>
          <p:nvPr/>
        </p:nvSpPr>
        <p:spPr>
          <a:xfrm>
            <a:off x="6245352" y="4590288"/>
            <a:ext cx="5440680" cy="118872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항만별로는 Rotterdam 29.0%, Antwerp 25.6%인 반면 Singapore는 7.3%로 글로벌 평균(8.8%)을 밑돌았습니다.</a:t>
            </a:r>
          </a:p>
          <a:p>
            <a:pPr algn="l">
              <a:lnSpc>
                <a:spcPct val="125000"/>
              </a:lnSpc>
              <a:spcAft>
                <a:spcPts val="0"/>
              </a:spcAft>
            </a:pPr>
            <a:r>
              <a:rPr sz="1200" b="1">
                <a:solidFill>
                  <a:srgbClr val="C00000"/>
                </a:solidFill>
                <a:latin typeface="Calibri"/>
                <a:ea typeface="맑은 고딕"/>
                <a:cs typeface="Calibri"/>
              </a:rPr>
              <a:t>단, 클레임 “건수”는 물동량을 반영할 뿐 리스크율이 아닙니다.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Rectangle 30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305" name="TextBox 30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누가 비용을 물고, 어디서 막히는가</a:t>
            </a:r>
          </a:p>
        </p:txBody>
      </p:sp>
      <p:sp>
        <p:nvSpPr>
          <p:cNvPr id="307" name="Rectangle 308"/>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309" name="TextBox 310"/>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보험 커버별 분포</a:t>
            </a:r>
          </a:p>
        </p:txBody>
      </p:sp>
      <p:sp>
        <p:nvSpPr>
          <p:cNvPr id="311" name="Rectangle 312"/>
          <p:cNvSpPr/>
          <p:nvPr/>
        </p:nvSpPr>
        <p:spPr>
          <a:xfrm>
            <a:off x="502920" y="1783080"/>
            <a:ext cx="2606040" cy="457200"/>
          </a:xfrm>
          <a:prstGeom prst="rect">
            <a:avLst/>
          </a:prstGeom>
          <a:solidFill>
            <a:srgbClr val="172A4A"/>
          </a:solidFill>
          <a:ln>
            <a:noFill/>
          </a:ln>
          <a:effectLst/>
        </p:spPr>
        <p:txBody>
          <a:bodyPr rtlCol="0" anchor="ctr"/>
          <a:lstStyle/>
          <a:p>
            <a:pPr algn="ctr"/>
            <a:endParaRPr/>
          </a:p>
        </p:txBody>
      </p:sp>
      <p:sp>
        <p:nvSpPr>
          <p:cNvPr id="313" name="TextBox 314"/>
          <p:cNvSpPr txBox="1"/>
          <p:nvPr/>
        </p:nvSpPr>
        <p:spPr>
          <a:xfrm>
            <a:off x="576072" y="1783080"/>
            <a:ext cx="245973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커버</a:t>
            </a:r>
          </a:p>
        </p:txBody>
      </p:sp>
      <p:sp>
        <p:nvSpPr>
          <p:cNvPr id="315" name="Rectangle 316"/>
          <p:cNvSpPr/>
          <p:nvPr/>
        </p:nvSpPr>
        <p:spPr>
          <a:xfrm>
            <a:off x="3108960" y="1783080"/>
            <a:ext cx="1051560" cy="457200"/>
          </a:xfrm>
          <a:prstGeom prst="rect">
            <a:avLst/>
          </a:prstGeom>
          <a:solidFill>
            <a:srgbClr val="172A4A"/>
          </a:solidFill>
          <a:ln>
            <a:noFill/>
          </a:ln>
          <a:effectLst/>
        </p:spPr>
        <p:txBody>
          <a:bodyPr rtlCol="0" anchor="ctr"/>
          <a:lstStyle/>
          <a:p>
            <a:pPr algn="ctr"/>
            <a:endParaRPr/>
          </a:p>
        </p:txBody>
      </p:sp>
      <p:sp>
        <p:nvSpPr>
          <p:cNvPr id="317" name="TextBox 318"/>
          <p:cNvSpPr txBox="1"/>
          <p:nvPr/>
        </p:nvSpPr>
        <p:spPr>
          <a:xfrm>
            <a:off x="3182112" y="1783080"/>
            <a:ext cx="90525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비중</a:t>
            </a:r>
          </a:p>
        </p:txBody>
      </p:sp>
      <p:sp>
        <p:nvSpPr>
          <p:cNvPr id="319" name="Rectangle 320"/>
          <p:cNvSpPr/>
          <p:nvPr/>
        </p:nvSpPr>
        <p:spPr>
          <a:xfrm>
            <a:off x="4160520" y="1783080"/>
            <a:ext cx="1783080" cy="457200"/>
          </a:xfrm>
          <a:prstGeom prst="rect">
            <a:avLst/>
          </a:prstGeom>
          <a:solidFill>
            <a:srgbClr val="172A4A"/>
          </a:solidFill>
          <a:ln>
            <a:noFill/>
          </a:ln>
          <a:effectLst/>
        </p:spPr>
        <p:txBody>
          <a:bodyPr rtlCol="0" anchor="ctr"/>
          <a:lstStyle/>
          <a:p>
            <a:pPr algn="ctr"/>
            <a:endParaRPr/>
          </a:p>
        </p:txBody>
      </p:sp>
      <p:sp>
        <p:nvSpPr>
          <p:cNvPr id="321" name="TextBox 322"/>
          <p:cNvSpPr txBox="1"/>
          <p:nvPr/>
        </p:nvSpPr>
        <p:spPr>
          <a:xfrm>
            <a:off x="4233672" y="1783080"/>
            <a:ext cx="163677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전형적 상황</a:t>
            </a:r>
          </a:p>
        </p:txBody>
      </p:sp>
      <p:sp>
        <p:nvSpPr>
          <p:cNvPr id="323" name="Rectangle 324"/>
          <p:cNvSpPr/>
          <p:nvPr/>
        </p:nvSpPr>
        <p:spPr>
          <a:xfrm>
            <a:off x="502920" y="2240280"/>
            <a:ext cx="2606040" cy="420624"/>
          </a:xfrm>
          <a:prstGeom prst="rect">
            <a:avLst/>
          </a:prstGeom>
          <a:solidFill>
            <a:srgbClr val="FFFFFF"/>
          </a:solidFill>
          <a:ln w="9525">
            <a:solidFill>
              <a:srgbClr val="D0D4DA"/>
            </a:solidFill>
          </a:ln>
          <a:effectLst/>
        </p:spPr>
        <p:txBody>
          <a:bodyPr rtlCol="0" anchor="ctr"/>
          <a:lstStyle/>
          <a:p>
            <a:pPr algn="ctr"/>
            <a:endParaRPr/>
          </a:p>
        </p:txBody>
      </p:sp>
      <p:sp>
        <p:nvSpPr>
          <p:cNvPr id="325" name="TextBox 326"/>
          <p:cNvSpPr txBox="1"/>
          <p:nvPr/>
        </p:nvSpPr>
        <p:spPr>
          <a:xfrm>
            <a:off x="576072" y="2240280"/>
            <a:ext cx="245973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Owners' Defence</a:t>
            </a:r>
          </a:p>
        </p:txBody>
      </p:sp>
      <p:sp>
        <p:nvSpPr>
          <p:cNvPr id="327" name="Rectangle 328"/>
          <p:cNvSpPr/>
          <p:nvPr/>
        </p:nvSpPr>
        <p:spPr>
          <a:xfrm>
            <a:off x="3108960" y="2240280"/>
            <a:ext cx="1051560" cy="420624"/>
          </a:xfrm>
          <a:prstGeom prst="rect">
            <a:avLst/>
          </a:prstGeom>
          <a:solidFill>
            <a:srgbClr val="FFFFFF"/>
          </a:solidFill>
          <a:ln w="9525">
            <a:solidFill>
              <a:srgbClr val="D0D4DA"/>
            </a:solidFill>
          </a:ln>
          <a:effectLst/>
        </p:spPr>
        <p:txBody>
          <a:bodyPr rtlCol="0" anchor="ctr"/>
          <a:lstStyle/>
          <a:p>
            <a:pPr algn="ctr"/>
            <a:endParaRPr/>
          </a:p>
        </p:txBody>
      </p:sp>
      <p:sp>
        <p:nvSpPr>
          <p:cNvPr id="329" name="TextBox 330"/>
          <p:cNvSpPr txBox="1"/>
          <p:nvPr/>
        </p:nvSpPr>
        <p:spPr>
          <a:xfrm>
            <a:off x="3182112" y="2240280"/>
            <a:ext cx="905256" cy="420624"/>
          </a:xfrm>
          <a:prstGeom prst="rect">
            <a:avLst/>
          </a:prstGeom>
          <a:noFill/>
        </p:spPr>
        <p:txBody>
          <a:bodyPr wrap="square" lIns="36576" tIns="0" rIns="36576" bIns="0" anchor="ctr"/>
          <a:lstStyle/>
          <a:p>
            <a:pPr algn="l">
              <a:lnSpc>
                <a:spcPct val="110000"/>
              </a:lnSpc>
              <a:spcAft>
                <a:spcPts val="0"/>
              </a:spcAft>
            </a:pPr>
            <a:r>
              <a:rPr sz="1200" b="1">
                <a:solidFill>
                  <a:srgbClr val="1F6F3D"/>
                </a:solidFill>
                <a:latin typeface="Calibri"/>
                <a:ea typeface="맑은 고딕"/>
                <a:cs typeface="Calibri"/>
              </a:rPr>
              <a:t>50%+</a:t>
            </a:r>
          </a:p>
        </p:txBody>
      </p:sp>
      <p:sp>
        <p:nvSpPr>
          <p:cNvPr id="331" name="Rectangle 332"/>
          <p:cNvSpPr/>
          <p:nvPr/>
        </p:nvSpPr>
        <p:spPr>
          <a:xfrm>
            <a:off x="4160520" y="2240280"/>
            <a:ext cx="1783080" cy="420624"/>
          </a:xfrm>
          <a:prstGeom prst="rect">
            <a:avLst/>
          </a:prstGeom>
          <a:solidFill>
            <a:srgbClr val="FFFFFF"/>
          </a:solidFill>
          <a:ln w="9525">
            <a:solidFill>
              <a:srgbClr val="D0D4DA"/>
            </a:solidFill>
          </a:ln>
          <a:effectLst/>
        </p:spPr>
        <p:txBody>
          <a:bodyPr rtlCol="0" anchor="ctr"/>
          <a:lstStyle/>
          <a:p>
            <a:pPr algn="ctr"/>
            <a:endParaRPr/>
          </a:p>
        </p:txBody>
      </p:sp>
      <p:sp>
        <p:nvSpPr>
          <p:cNvPr id="333" name="TextBox 334"/>
          <p:cNvSpPr txBox="1"/>
          <p:nvPr/>
        </p:nvSpPr>
        <p:spPr>
          <a:xfrm>
            <a:off x="4233672" y="2240280"/>
            <a:ext cx="163677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선주–용선자 분쟁</a:t>
            </a:r>
          </a:p>
        </p:txBody>
      </p:sp>
      <p:sp>
        <p:nvSpPr>
          <p:cNvPr id="335" name="Rectangle 336"/>
          <p:cNvSpPr/>
          <p:nvPr/>
        </p:nvSpPr>
        <p:spPr>
          <a:xfrm>
            <a:off x="502920" y="2660904"/>
            <a:ext cx="2606040" cy="420624"/>
          </a:xfrm>
          <a:prstGeom prst="rect">
            <a:avLst/>
          </a:prstGeom>
          <a:solidFill>
            <a:srgbClr val="FFFFFF"/>
          </a:solidFill>
          <a:ln w="9525">
            <a:solidFill>
              <a:srgbClr val="D0D4DA"/>
            </a:solidFill>
          </a:ln>
          <a:effectLst/>
        </p:spPr>
        <p:txBody>
          <a:bodyPr rtlCol="0" anchor="ctr"/>
          <a:lstStyle/>
          <a:p>
            <a:pPr algn="ctr"/>
            <a:endParaRPr/>
          </a:p>
        </p:txBody>
      </p:sp>
      <p:sp>
        <p:nvSpPr>
          <p:cNvPr id="337" name="TextBox 338"/>
          <p:cNvSpPr txBox="1"/>
          <p:nvPr/>
        </p:nvSpPr>
        <p:spPr>
          <a:xfrm>
            <a:off x="576072" y="2660904"/>
            <a:ext cx="245973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Charterers' P&amp;I</a:t>
            </a:r>
          </a:p>
        </p:txBody>
      </p:sp>
      <p:sp>
        <p:nvSpPr>
          <p:cNvPr id="339" name="Rectangle 340"/>
          <p:cNvSpPr/>
          <p:nvPr/>
        </p:nvSpPr>
        <p:spPr>
          <a:xfrm>
            <a:off x="3108960" y="2660904"/>
            <a:ext cx="1051560" cy="420624"/>
          </a:xfrm>
          <a:prstGeom prst="rect">
            <a:avLst/>
          </a:prstGeom>
          <a:solidFill>
            <a:srgbClr val="FFFFFF"/>
          </a:solidFill>
          <a:ln w="9525">
            <a:solidFill>
              <a:srgbClr val="D0D4DA"/>
            </a:solidFill>
          </a:ln>
          <a:effectLst/>
        </p:spPr>
        <p:txBody>
          <a:bodyPr rtlCol="0" anchor="ctr"/>
          <a:lstStyle/>
          <a:p>
            <a:pPr algn="ctr"/>
            <a:endParaRPr/>
          </a:p>
        </p:txBody>
      </p:sp>
      <p:sp>
        <p:nvSpPr>
          <p:cNvPr id="341" name="TextBox 342"/>
          <p:cNvSpPr txBox="1"/>
          <p:nvPr/>
        </p:nvSpPr>
        <p:spPr>
          <a:xfrm>
            <a:off x="3182112" y="2660904"/>
            <a:ext cx="90525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40%</a:t>
            </a:r>
          </a:p>
        </p:txBody>
      </p:sp>
      <p:sp>
        <p:nvSpPr>
          <p:cNvPr id="343" name="Rectangle 344"/>
          <p:cNvSpPr/>
          <p:nvPr/>
        </p:nvSpPr>
        <p:spPr>
          <a:xfrm>
            <a:off x="4160520" y="2660904"/>
            <a:ext cx="1783080" cy="420624"/>
          </a:xfrm>
          <a:prstGeom prst="rect">
            <a:avLst/>
          </a:prstGeom>
          <a:solidFill>
            <a:srgbClr val="FFFFFF"/>
          </a:solidFill>
          <a:ln w="9525">
            <a:solidFill>
              <a:srgbClr val="D0D4DA"/>
            </a:solidFill>
          </a:ln>
          <a:effectLst/>
        </p:spPr>
        <p:txBody>
          <a:bodyPr rtlCol="0" anchor="ctr"/>
          <a:lstStyle/>
          <a:p>
            <a:pPr algn="ctr"/>
            <a:endParaRPr/>
          </a:p>
        </p:txBody>
      </p:sp>
      <p:sp>
        <p:nvSpPr>
          <p:cNvPr id="345" name="TextBox 346"/>
          <p:cNvSpPr txBox="1"/>
          <p:nvPr/>
        </p:nvSpPr>
        <p:spPr>
          <a:xfrm>
            <a:off x="4233672" y="2660904"/>
            <a:ext cx="163677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용선자의 공급 책임</a:t>
            </a:r>
          </a:p>
        </p:txBody>
      </p:sp>
      <p:sp>
        <p:nvSpPr>
          <p:cNvPr id="347" name="Rectangle 348"/>
          <p:cNvSpPr/>
          <p:nvPr/>
        </p:nvSpPr>
        <p:spPr>
          <a:xfrm>
            <a:off x="502920" y="3081528"/>
            <a:ext cx="2606040" cy="420624"/>
          </a:xfrm>
          <a:prstGeom prst="rect">
            <a:avLst/>
          </a:prstGeom>
          <a:solidFill>
            <a:srgbClr val="FFFFFF"/>
          </a:solidFill>
          <a:ln w="9525">
            <a:solidFill>
              <a:srgbClr val="D0D4DA"/>
            </a:solidFill>
          </a:ln>
          <a:effectLst/>
        </p:spPr>
        <p:txBody>
          <a:bodyPr rtlCol="0" anchor="ctr"/>
          <a:lstStyle/>
          <a:p>
            <a:pPr algn="ctr"/>
            <a:endParaRPr/>
          </a:p>
        </p:txBody>
      </p:sp>
      <p:sp>
        <p:nvSpPr>
          <p:cNvPr id="349" name="TextBox 350"/>
          <p:cNvSpPr txBox="1"/>
          <p:nvPr/>
        </p:nvSpPr>
        <p:spPr>
          <a:xfrm>
            <a:off x="576072" y="3081528"/>
            <a:ext cx="245973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Hull &amp; Machinery</a:t>
            </a:r>
          </a:p>
        </p:txBody>
      </p:sp>
      <p:sp>
        <p:nvSpPr>
          <p:cNvPr id="351" name="Rectangle 352"/>
          <p:cNvSpPr/>
          <p:nvPr/>
        </p:nvSpPr>
        <p:spPr>
          <a:xfrm>
            <a:off x="3108960" y="3081528"/>
            <a:ext cx="1051560" cy="420624"/>
          </a:xfrm>
          <a:prstGeom prst="rect">
            <a:avLst/>
          </a:prstGeom>
          <a:solidFill>
            <a:srgbClr val="FFFFFF"/>
          </a:solidFill>
          <a:ln w="9525">
            <a:solidFill>
              <a:srgbClr val="D0D4DA"/>
            </a:solidFill>
          </a:ln>
          <a:effectLst/>
        </p:spPr>
        <p:txBody>
          <a:bodyPr rtlCol="0" anchor="ctr"/>
          <a:lstStyle/>
          <a:p>
            <a:pPr algn="ctr"/>
            <a:endParaRPr/>
          </a:p>
        </p:txBody>
      </p:sp>
      <p:sp>
        <p:nvSpPr>
          <p:cNvPr id="353" name="TextBox 354"/>
          <p:cNvSpPr txBox="1"/>
          <p:nvPr/>
        </p:nvSpPr>
        <p:spPr>
          <a:xfrm>
            <a:off x="3182112" y="3081528"/>
            <a:ext cx="90525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6%</a:t>
            </a:r>
          </a:p>
        </p:txBody>
      </p:sp>
      <p:sp>
        <p:nvSpPr>
          <p:cNvPr id="355" name="Rectangle 356"/>
          <p:cNvSpPr/>
          <p:nvPr/>
        </p:nvSpPr>
        <p:spPr>
          <a:xfrm>
            <a:off x="4160520" y="3081528"/>
            <a:ext cx="1783080" cy="420624"/>
          </a:xfrm>
          <a:prstGeom prst="rect">
            <a:avLst/>
          </a:prstGeom>
          <a:solidFill>
            <a:srgbClr val="FFFFFF"/>
          </a:solidFill>
          <a:ln w="9525">
            <a:solidFill>
              <a:srgbClr val="D0D4DA"/>
            </a:solidFill>
          </a:ln>
          <a:effectLst/>
        </p:spPr>
        <p:txBody>
          <a:bodyPr rtlCol="0" anchor="ctr"/>
          <a:lstStyle/>
          <a:p>
            <a:pPr algn="ctr"/>
            <a:endParaRPr/>
          </a:p>
        </p:txBody>
      </p:sp>
      <p:sp>
        <p:nvSpPr>
          <p:cNvPr id="357" name="TextBox 358"/>
          <p:cNvSpPr txBox="1"/>
          <p:nvPr/>
        </p:nvSpPr>
        <p:spPr>
          <a:xfrm>
            <a:off x="4233672" y="3081528"/>
            <a:ext cx="163677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기관 손상으로 확대</a:t>
            </a:r>
          </a:p>
        </p:txBody>
      </p:sp>
      <p:sp>
        <p:nvSpPr>
          <p:cNvPr id="359" name="TextBox 360"/>
          <p:cNvSpPr txBox="1"/>
          <p:nvPr/>
        </p:nvSpPr>
        <p:spPr>
          <a:xfrm>
            <a:off x="502920" y="3657600"/>
            <a:ext cx="5440680" cy="12344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정기용선에서는 용선자가 벙커를 수배·결제하기 때문에 분쟁은 대부분 선주–용선자 사이에서 먼저 터집니다.</a:t>
            </a:r>
          </a:p>
          <a:p>
            <a:pPr algn="l">
              <a:lnSpc>
                <a:spcPct val="125000"/>
              </a:lnSpc>
              <a:spcAft>
                <a:spcPts val="0"/>
              </a:spcAft>
            </a:pPr>
            <a:r>
              <a:rPr sz="1200" b="0">
                <a:solidFill>
                  <a:srgbClr val="1A1A1A"/>
                </a:solidFill>
                <a:latin typeface="Calibri"/>
                <a:ea typeface="맑은 고딕"/>
                <a:cs typeface="Calibri"/>
              </a:rPr>
              <a:t>다수의 선주가 분석 결과를 받자마자 짧은 시효 때문에 즉시 통지한 점은 긍정적입니다.</a:t>
            </a:r>
          </a:p>
        </p:txBody>
      </p:sp>
      <p:sp>
        <p:nvSpPr>
          <p:cNvPr id="361" name="Rectangle 36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363" name="TextBox 36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계약 체인이 어긋나는 지점</a:t>
            </a:r>
          </a:p>
        </p:txBody>
      </p:sp>
      <p:sp>
        <p:nvSpPr>
          <p:cNvPr id="365" name="Rectangle 366"/>
          <p:cNvSpPr/>
          <p:nvPr/>
        </p:nvSpPr>
        <p:spPr>
          <a:xfrm>
            <a:off x="6245352" y="1783080"/>
            <a:ext cx="1920240" cy="457200"/>
          </a:xfrm>
          <a:prstGeom prst="rect">
            <a:avLst/>
          </a:prstGeom>
          <a:solidFill>
            <a:srgbClr val="172A4A"/>
          </a:solidFill>
          <a:ln>
            <a:noFill/>
          </a:ln>
          <a:effectLst/>
        </p:spPr>
        <p:txBody>
          <a:bodyPr rtlCol="0" anchor="ctr"/>
          <a:lstStyle/>
          <a:p>
            <a:pPr algn="ctr"/>
            <a:endParaRPr/>
          </a:p>
        </p:txBody>
      </p:sp>
      <p:sp>
        <p:nvSpPr>
          <p:cNvPr id="367" name="TextBox 368"/>
          <p:cNvSpPr txBox="1"/>
          <p:nvPr/>
        </p:nvSpPr>
        <p:spPr>
          <a:xfrm>
            <a:off x="6318504" y="1783080"/>
            <a:ext cx="177393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구조</a:t>
            </a:r>
          </a:p>
        </p:txBody>
      </p:sp>
      <p:sp>
        <p:nvSpPr>
          <p:cNvPr id="369" name="Rectangle 370"/>
          <p:cNvSpPr/>
          <p:nvPr/>
        </p:nvSpPr>
        <p:spPr>
          <a:xfrm>
            <a:off x="8165592" y="1783080"/>
            <a:ext cx="3520440" cy="457200"/>
          </a:xfrm>
          <a:prstGeom prst="rect">
            <a:avLst/>
          </a:prstGeom>
          <a:solidFill>
            <a:srgbClr val="172A4A"/>
          </a:solidFill>
          <a:ln>
            <a:noFill/>
          </a:ln>
          <a:effectLst/>
        </p:spPr>
        <p:txBody>
          <a:bodyPr rtlCol="0" anchor="ctr"/>
          <a:lstStyle/>
          <a:p>
            <a:pPr algn="ctr"/>
            <a:endParaRPr/>
          </a:p>
        </p:txBody>
      </p:sp>
      <p:sp>
        <p:nvSpPr>
          <p:cNvPr id="371" name="TextBox 372"/>
          <p:cNvSpPr txBox="1"/>
          <p:nvPr/>
        </p:nvSpPr>
        <p:spPr>
          <a:xfrm>
            <a:off x="8238744" y="1783080"/>
            <a:ext cx="3374136" cy="457200"/>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리스크</a:t>
            </a:r>
          </a:p>
        </p:txBody>
      </p:sp>
      <p:sp>
        <p:nvSpPr>
          <p:cNvPr id="373" name="Rectangle 374"/>
          <p:cNvSpPr/>
          <p:nvPr/>
        </p:nvSpPr>
        <p:spPr>
          <a:xfrm>
            <a:off x="6245352" y="2240280"/>
            <a:ext cx="1920240" cy="530352"/>
          </a:xfrm>
          <a:prstGeom prst="rect">
            <a:avLst/>
          </a:prstGeom>
          <a:solidFill>
            <a:srgbClr val="FFFFFF"/>
          </a:solidFill>
          <a:ln w="9525">
            <a:solidFill>
              <a:srgbClr val="D0D4DA"/>
            </a:solidFill>
          </a:ln>
          <a:effectLst/>
        </p:spPr>
        <p:txBody>
          <a:bodyPr rtlCol="0" anchor="ctr"/>
          <a:lstStyle/>
          <a:p>
            <a:pPr algn="ctr"/>
            <a:endParaRPr/>
          </a:p>
        </p:txBody>
      </p:sp>
      <p:sp>
        <p:nvSpPr>
          <p:cNvPr id="375" name="TextBox 376"/>
          <p:cNvSpPr txBox="1"/>
          <p:nvPr/>
        </p:nvSpPr>
        <p:spPr>
          <a:xfrm>
            <a:off x="6318504" y="2240280"/>
            <a:ext cx="1773936" cy="53035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용선계약 (선주–용선자)</a:t>
            </a:r>
          </a:p>
        </p:txBody>
      </p:sp>
      <p:sp>
        <p:nvSpPr>
          <p:cNvPr id="377" name="Rectangle 378"/>
          <p:cNvSpPr/>
          <p:nvPr/>
        </p:nvSpPr>
        <p:spPr>
          <a:xfrm>
            <a:off x="8165592" y="2240280"/>
            <a:ext cx="3520440" cy="530352"/>
          </a:xfrm>
          <a:prstGeom prst="rect">
            <a:avLst/>
          </a:prstGeom>
          <a:solidFill>
            <a:srgbClr val="FFFFFF"/>
          </a:solidFill>
          <a:ln w="9525">
            <a:solidFill>
              <a:srgbClr val="D0D4DA"/>
            </a:solidFill>
          </a:ln>
          <a:effectLst/>
        </p:spPr>
        <p:txBody>
          <a:bodyPr rtlCol="0" anchor="ctr"/>
          <a:lstStyle/>
          <a:p>
            <a:pPr algn="ctr"/>
            <a:endParaRPr/>
          </a:p>
        </p:txBody>
      </p:sp>
      <p:sp>
        <p:nvSpPr>
          <p:cNvPr id="379" name="TextBox 380"/>
          <p:cNvSpPr txBox="1"/>
          <p:nvPr/>
        </p:nvSpPr>
        <p:spPr>
          <a:xfrm>
            <a:off x="8238744" y="2240280"/>
            <a:ext cx="3374136" cy="53035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매니폴드 샘플을 binding으로 삼음</a:t>
            </a:r>
          </a:p>
        </p:txBody>
      </p:sp>
      <p:sp>
        <p:nvSpPr>
          <p:cNvPr id="381" name="Rectangle 382"/>
          <p:cNvSpPr/>
          <p:nvPr/>
        </p:nvSpPr>
        <p:spPr>
          <a:xfrm>
            <a:off x="6245352" y="2770632"/>
            <a:ext cx="1920240" cy="530352"/>
          </a:xfrm>
          <a:prstGeom prst="rect">
            <a:avLst/>
          </a:prstGeom>
          <a:solidFill>
            <a:srgbClr val="FFFFFF"/>
          </a:solidFill>
          <a:ln w="9525">
            <a:solidFill>
              <a:srgbClr val="D0D4DA"/>
            </a:solidFill>
          </a:ln>
          <a:effectLst/>
        </p:spPr>
        <p:txBody>
          <a:bodyPr rtlCol="0" anchor="ctr"/>
          <a:lstStyle/>
          <a:p>
            <a:pPr algn="ctr"/>
            <a:endParaRPr/>
          </a:p>
        </p:txBody>
      </p:sp>
      <p:sp>
        <p:nvSpPr>
          <p:cNvPr id="383" name="TextBox 384"/>
          <p:cNvSpPr txBox="1"/>
          <p:nvPr/>
        </p:nvSpPr>
        <p:spPr>
          <a:xfrm>
            <a:off x="6318504" y="2770632"/>
            <a:ext cx="1773936" cy="53035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공급계약 (용선자–공급자)</a:t>
            </a:r>
          </a:p>
        </p:txBody>
      </p:sp>
      <p:sp>
        <p:nvSpPr>
          <p:cNvPr id="385" name="Rectangle 386"/>
          <p:cNvSpPr/>
          <p:nvPr/>
        </p:nvSpPr>
        <p:spPr>
          <a:xfrm>
            <a:off x="8165592" y="2770632"/>
            <a:ext cx="3520440" cy="530352"/>
          </a:xfrm>
          <a:prstGeom prst="rect">
            <a:avLst/>
          </a:prstGeom>
          <a:solidFill>
            <a:srgbClr val="FFFFFF"/>
          </a:solidFill>
          <a:ln w="9525">
            <a:solidFill>
              <a:srgbClr val="D0D4DA"/>
            </a:solidFill>
          </a:ln>
          <a:effectLst/>
        </p:spPr>
        <p:txBody>
          <a:bodyPr rtlCol="0" anchor="ctr"/>
          <a:lstStyle/>
          <a:p>
            <a:pPr algn="ctr"/>
            <a:endParaRPr/>
          </a:p>
        </p:txBody>
      </p:sp>
      <p:sp>
        <p:nvSpPr>
          <p:cNvPr id="387" name="TextBox 388"/>
          <p:cNvSpPr txBox="1"/>
          <p:nvPr/>
        </p:nvSpPr>
        <p:spPr>
          <a:xfrm>
            <a:off x="8238744" y="2770632"/>
            <a:ext cx="3374136" cy="530352"/>
          </a:xfrm>
          <a:prstGeom prst="rect">
            <a:avLst/>
          </a:prstGeom>
          <a:noFill/>
        </p:spPr>
        <p:txBody>
          <a:bodyPr wrap="square" lIns="36576" tIns="0" rIns="36576" bIns="0" anchor="ctr"/>
          <a:lstStyle/>
          <a:p>
            <a:pPr algn="l">
              <a:lnSpc>
                <a:spcPct val="110000"/>
              </a:lnSpc>
              <a:spcAft>
                <a:spcPts val="0"/>
              </a:spcAft>
            </a:pPr>
            <a:r>
              <a:rPr sz="1200" b="1">
                <a:solidFill>
                  <a:srgbClr val="C00000"/>
                </a:solidFill>
                <a:latin typeface="Calibri"/>
                <a:ea typeface="맑은 고딕"/>
                <a:cs typeface="Calibri"/>
              </a:rPr>
              <a:t>바지/공급자 리테인 샘플을 final로 규정</a:t>
            </a:r>
          </a:p>
        </p:txBody>
      </p:sp>
      <p:sp>
        <p:nvSpPr>
          <p:cNvPr id="389" name="Rectangle 390"/>
          <p:cNvSpPr/>
          <p:nvPr/>
        </p:nvSpPr>
        <p:spPr>
          <a:xfrm>
            <a:off x="6245352" y="3300984"/>
            <a:ext cx="1920240" cy="530352"/>
          </a:xfrm>
          <a:prstGeom prst="rect">
            <a:avLst/>
          </a:prstGeom>
          <a:solidFill>
            <a:srgbClr val="FFFFFF"/>
          </a:solidFill>
          <a:ln w="9525">
            <a:solidFill>
              <a:srgbClr val="D0D4DA"/>
            </a:solidFill>
          </a:ln>
          <a:effectLst/>
        </p:spPr>
        <p:txBody>
          <a:bodyPr rtlCol="0" anchor="ctr"/>
          <a:lstStyle/>
          <a:p>
            <a:pPr algn="ctr"/>
            <a:endParaRPr/>
          </a:p>
        </p:txBody>
      </p:sp>
      <p:sp>
        <p:nvSpPr>
          <p:cNvPr id="391" name="TextBox 392"/>
          <p:cNvSpPr txBox="1"/>
          <p:nvPr/>
        </p:nvSpPr>
        <p:spPr>
          <a:xfrm>
            <a:off x="6318504" y="3300984"/>
            <a:ext cx="1773936" cy="53035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직접 구매 (라이너·대형선주)</a:t>
            </a:r>
          </a:p>
        </p:txBody>
      </p:sp>
      <p:sp>
        <p:nvSpPr>
          <p:cNvPr id="393" name="Rectangle 394"/>
          <p:cNvSpPr/>
          <p:nvPr/>
        </p:nvSpPr>
        <p:spPr>
          <a:xfrm>
            <a:off x="8165592" y="3300984"/>
            <a:ext cx="3520440" cy="530352"/>
          </a:xfrm>
          <a:prstGeom prst="rect">
            <a:avLst/>
          </a:prstGeom>
          <a:solidFill>
            <a:srgbClr val="FFFFFF"/>
          </a:solidFill>
          <a:ln w="9525">
            <a:solidFill>
              <a:srgbClr val="D0D4DA"/>
            </a:solidFill>
          </a:ln>
          <a:effectLst/>
        </p:spPr>
        <p:txBody>
          <a:bodyPr rtlCol="0" anchor="ctr"/>
          <a:lstStyle/>
          <a:p>
            <a:pPr algn="ctr"/>
            <a:endParaRPr/>
          </a:p>
        </p:txBody>
      </p:sp>
      <p:sp>
        <p:nvSpPr>
          <p:cNvPr id="395" name="TextBox 396"/>
          <p:cNvSpPr txBox="1"/>
          <p:nvPr/>
        </p:nvSpPr>
        <p:spPr>
          <a:xfrm>
            <a:off x="8238744" y="3300984"/>
            <a:ext cx="3374136" cy="53035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미스매치는 없으나 공급자 약관 리스크를 직접 부담</a:t>
            </a:r>
          </a:p>
        </p:txBody>
      </p:sp>
      <p:sp>
        <p:nvSpPr>
          <p:cNvPr id="397" name="Rectangle 398"/>
          <p:cNvSpPr/>
          <p:nvPr/>
        </p:nvSpPr>
        <p:spPr>
          <a:xfrm>
            <a:off x="6245352" y="3977640"/>
            <a:ext cx="5440680" cy="777240"/>
          </a:xfrm>
          <a:prstGeom prst="rect">
            <a:avLst/>
          </a:prstGeom>
          <a:solidFill>
            <a:srgbClr val="EFEFEF"/>
          </a:solidFill>
          <a:ln>
            <a:noFill/>
          </a:ln>
          <a:effectLst/>
        </p:spPr>
        <p:txBody>
          <a:bodyPr rtlCol="0" anchor="ctr"/>
          <a:lstStyle/>
          <a:p>
            <a:pPr algn="ctr"/>
            <a:endParaRPr/>
          </a:p>
        </p:txBody>
      </p:sp>
      <p:sp>
        <p:nvSpPr>
          <p:cNvPr id="399" name="TextBox 400"/>
          <p:cNvSpPr txBox="1"/>
          <p:nvPr/>
        </p:nvSpPr>
        <p:spPr>
          <a:xfrm>
            <a:off x="6428232" y="3977640"/>
            <a:ext cx="5074920" cy="77724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두 계약이 서로 정렬되지 않아 용선자가 교차점에서 가장 큰 노출을 집니다.</a:t>
            </a:r>
          </a:p>
        </p:txBody>
      </p:sp>
      <p:sp>
        <p:nvSpPr>
          <p:cNvPr id="401" name="TextBox 402"/>
          <p:cNvSpPr txBox="1"/>
          <p:nvPr/>
        </p:nvSpPr>
        <p:spPr>
          <a:xfrm>
            <a:off x="6245352" y="4892040"/>
            <a:ext cx="5440680" cy="45720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 구매 단계에서 샘플·시험 조항을 맞추는 것이 사후 회수보다 저렴합니다.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Rectangle 40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05" name="TextBox 40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ISO 8217의 한계와 Clause 5</a:t>
            </a:r>
          </a:p>
        </p:txBody>
      </p:sp>
      <p:sp>
        <p:nvSpPr>
          <p:cNvPr id="407" name="Rectangle 408"/>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409" name="TextBox 410"/>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클레임은 두 가지로 갈립니다</a:t>
            </a:r>
          </a:p>
        </p:txBody>
      </p:sp>
      <p:sp>
        <p:nvSpPr>
          <p:cNvPr id="411" name="Rectangle 412"/>
          <p:cNvSpPr/>
          <p:nvPr/>
        </p:nvSpPr>
        <p:spPr>
          <a:xfrm>
            <a:off x="502920" y="1783080"/>
            <a:ext cx="1234440" cy="402336"/>
          </a:xfrm>
          <a:prstGeom prst="rect">
            <a:avLst/>
          </a:prstGeom>
          <a:solidFill>
            <a:srgbClr val="172A4A"/>
          </a:solidFill>
          <a:ln>
            <a:noFill/>
          </a:ln>
          <a:effectLst/>
        </p:spPr>
        <p:txBody>
          <a:bodyPr rtlCol="0" anchor="ctr"/>
          <a:lstStyle/>
          <a:p>
            <a:pPr algn="ctr"/>
            <a:endParaRPr/>
          </a:p>
        </p:txBody>
      </p:sp>
      <p:sp>
        <p:nvSpPr>
          <p:cNvPr id="413" name="TextBox 414"/>
          <p:cNvSpPr txBox="1"/>
          <p:nvPr/>
        </p:nvSpPr>
        <p:spPr>
          <a:xfrm>
            <a:off x="576072" y="1783080"/>
            <a:ext cx="108813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비중</a:t>
            </a:r>
          </a:p>
        </p:txBody>
      </p:sp>
      <p:sp>
        <p:nvSpPr>
          <p:cNvPr id="415" name="Rectangle 416"/>
          <p:cNvSpPr/>
          <p:nvPr/>
        </p:nvSpPr>
        <p:spPr>
          <a:xfrm>
            <a:off x="1737360" y="1783080"/>
            <a:ext cx="4206240" cy="402336"/>
          </a:xfrm>
          <a:prstGeom prst="rect">
            <a:avLst/>
          </a:prstGeom>
          <a:solidFill>
            <a:srgbClr val="172A4A"/>
          </a:solidFill>
          <a:ln>
            <a:noFill/>
          </a:ln>
          <a:effectLst/>
        </p:spPr>
        <p:txBody>
          <a:bodyPr rtlCol="0" anchor="ctr"/>
          <a:lstStyle/>
          <a:p>
            <a:pPr algn="ctr"/>
            <a:endParaRPr/>
          </a:p>
        </p:txBody>
      </p:sp>
      <p:sp>
        <p:nvSpPr>
          <p:cNvPr id="417" name="TextBox 418"/>
          <p:cNvSpPr txBox="1"/>
          <p:nvPr/>
        </p:nvSpPr>
        <p:spPr>
          <a:xfrm>
            <a:off x="1810512" y="1783080"/>
            <a:ext cx="405993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유형</a:t>
            </a:r>
          </a:p>
        </p:txBody>
      </p:sp>
      <p:sp>
        <p:nvSpPr>
          <p:cNvPr id="419" name="Rectangle 420"/>
          <p:cNvSpPr/>
          <p:nvPr/>
        </p:nvSpPr>
        <p:spPr>
          <a:xfrm>
            <a:off x="502920" y="2185416"/>
            <a:ext cx="1234440" cy="868680"/>
          </a:xfrm>
          <a:prstGeom prst="rect">
            <a:avLst/>
          </a:prstGeom>
          <a:solidFill>
            <a:srgbClr val="FFFFFF"/>
          </a:solidFill>
          <a:ln w="9525">
            <a:solidFill>
              <a:srgbClr val="D0D4DA"/>
            </a:solidFill>
          </a:ln>
          <a:effectLst/>
        </p:spPr>
        <p:txBody>
          <a:bodyPr rtlCol="0" anchor="ctr"/>
          <a:lstStyle/>
          <a:p>
            <a:pPr algn="ctr"/>
            <a:endParaRPr/>
          </a:p>
        </p:txBody>
      </p:sp>
      <p:sp>
        <p:nvSpPr>
          <p:cNvPr id="421" name="TextBox 422"/>
          <p:cNvSpPr txBox="1"/>
          <p:nvPr/>
        </p:nvSpPr>
        <p:spPr>
          <a:xfrm>
            <a:off x="576072" y="2185416"/>
            <a:ext cx="1088136" cy="86868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60%</a:t>
            </a:r>
          </a:p>
        </p:txBody>
      </p:sp>
      <p:sp>
        <p:nvSpPr>
          <p:cNvPr id="423" name="Rectangle 424"/>
          <p:cNvSpPr/>
          <p:nvPr/>
        </p:nvSpPr>
        <p:spPr>
          <a:xfrm>
            <a:off x="1737360" y="2185416"/>
            <a:ext cx="4206240" cy="868680"/>
          </a:xfrm>
          <a:prstGeom prst="rect">
            <a:avLst/>
          </a:prstGeom>
          <a:solidFill>
            <a:srgbClr val="FFFFFF"/>
          </a:solidFill>
          <a:ln w="9525">
            <a:solidFill>
              <a:srgbClr val="D0D4DA"/>
            </a:solidFill>
          </a:ln>
          <a:effectLst/>
        </p:spPr>
        <p:txBody>
          <a:bodyPr rtlCol="0" anchor="ctr"/>
          <a:lstStyle/>
          <a:p>
            <a:pPr algn="ctr"/>
            <a:endParaRPr/>
          </a:p>
        </p:txBody>
      </p:sp>
      <p:sp>
        <p:nvSpPr>
          <p:cNvPr id="425" name="TextBox 426"/>
          <p:cNvSpPr txBox="1"/>
          <p:nvPr/>
        </p:nvSpPr>
        <p:spPr>
          <a:xfrm>
            <a:off x="1810512" y="2185416"/>
            <a:ext cx="4059936" cy="86868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Table 2 파라미터 자체가 오프스펙 (TSP, 캣파인 등) — 이 중 상당수는 다른 유해 물질도 함께 의심됨</a:t>
            </a:r>
          </a:p>
        </p:txBody>
      </p:sp>
      <p:sp>
        <p:nvSpPr>
          <p:cNvPr id="427" name="Rectangle 428"/>
          <p:cNvSpPr/>
          <p:nvPr/>
        </p:nvSpPr>
        <p:spPr>
          <a:xfrm>
            <a:off x="502920" y="3054096"/>
            <a:ext cx="1234440" cy="658368"/>
          </a:xfrm>
          <a:prstGeom prst="rect">
            <a:avLst/>
          </a:prstGeom>
          <a:solidFill>
            <a:srgbClr val="FFFFFF"/>
          </a:solidFill>
          <a:ln w="9525">
            <a:solidFill>
              <a:srgbClr val="D0D4DA"/>
            </a:solidFill>
          </a:ln>
          <a:effectLst/>
        </p:spPr>
        <p:txBody>
          <a:bodyPr rtlCol="0" anchor="ctr"/>
          <a:lstStyle/>
          <a:p>
            <a:pPr algn="ctr"/>
            <a:endParaRPr/>
          </a:p>
        </p:txBody>
      </p:sp>
      <p:sp>
        <p:nvSpPr>
          <p:cNvPr id="429" name="TextBox 430"/>
          <p:cNvSpPr txBox="1"/>
          <p:nvPr/>
        </p:nvSpPr>
        <p:spPr>
          <a:xfrm>
            <a:off x="576072" y="3054096"/>
            <a:ext cx="1088136" cy="65836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40%</a:t>
            </a:r>
          </a:p>
        </p:txBody>
      </p:sp>
      <p:sp>
        <p:nvSpPr>
          <p:cNvPr id="431" name="Rectangle 432"/>
          <p:cNvSpPr/>
          <p:nvPr/>
        </p:nvSpPr>
        <p:spPr>
          <a:xfrm>
            <a:off x="1737360" y="3054096"/>
            <a:ext cx="4206240" cy="658368"/>
          </a:xfrm>
          <a:prstGeom prst="rect">
            <a:avLst/>
          </a:prstGeom>
          <a:solidFill>
            <a:srgbClr val="FFFFFF"/>
          </a:solidFill>
          <a:ln w="9525">
            <a:solidFill>
              <a:srgbClr val="D0D4DA"/>
            </a:solidFill>
          </a:ln>
          <a:effectLst/>
        </p:spPr>
        <p:txBody>
          <a:bodyPr rtlCol="0" anchor="ctr"/>
          <a:lstStyle/>
          <a:p>
            <a:pPr algn="ctr"/>
            <a:endParaRPr/>
          </a:p>
        </p:txBody>
      </p:sp>
      <p:sp>
        <p:nvSpPr>
          <p:cNvPr id="433" name="TextBox 434"/>
          <p:cNvSpPr txBox="1"/>
          <p:nvPr/>
        </p:nvSpPr>
        <p:spPr>
          <a:xfrm>
            <a:off x="1810512" y="3054096"/>
            <a:ext cx="4059936" cy="65836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Table 2는 전부 통과했으나 다른 문제 물질이 주장된 사례</a:t>
            </a:r>
          </a:p>
        </p:txBody>
      </p:sp>
      <p:sp>
        <p:nvSpPr>
          <p:cNvPr id="435" name="Rectangle 436"/>
          <p:cNvSpPr/>
          <p:nvPr/>
        </p:nvSpPr>
        <p:spPr>
          <a:xfrm>
            <a:off x="502920" y="3840480"/>
            <a:ext cx="5440680" cy="329184"/>
          </a:xfrm>
          <a:prstGeom prst="rect">
            <a:avLst/>
          </a:prstGeom>
          <a:solidFill>
            <a:srgbClr val="EFEFEF"/>
          </a:solidFill>
          <a:ln>
            <a:noFill/>
          </a:ln>
          <a:effectLst/>
        </p:spPr>
        <p:txBody>
          <a:bodyPr rtlCol="0" anchor="ctr"/>
          <a:lstStyle/>
          <a:p>
            <a:pPr algn="ctr"/>
            <a:endParaRPr/>
          </a:p>
        </p:txBody>
      </p:sp>
      <p:sp>
        <p:nvSpPr>
          <p:cNvPr id="437" name="TextBox 438"/>
          <p:cNvSpPr txBox="1"/>
          <p:nvPr/>
        </p:nvSpPr>
        <p:spPr>
          <a:xfrm>
            <a:off x="612648" y="38404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계약이 참조하는 ISO 버전</a:t>
            </a:r>
          </a:p>
        </p:txBody>
      </p:sp>
      <p:sp>
        <p:nvSpPr>
          <p:cNvPr id="439" name="TextBox 440"/>
          <p:cNvSpPr txBox="1"/>
          <p:nvPr/>
        </p:nvSpPr>
        <p:spPr>
          <a:xfrm>
            <a:off x="502920" y="4297680"/>
            <a:ext cx="5440680" cy="14630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2017년판이 절반 이상으로 가장 많지만, ISO 8217:2005 같은 구버전을 그대로 쓰는 계약도 적지 않습니다.</a:t>
            </a:r>
          </a:p>
          <a:p>
            <a:pPr algn="l">
              <a:lnSpc>
                <a:spcPct val="125000"/>
              </a:lnSpc>
              <a:spcAft>
                <a:spcPts val="0"/>
              </a:spcAft>
            </a:pPr>
            <a:r>
              <a:rPr sz="1200" b="1">
                <a:solidFill>
                  <a:srgbClr val="C00000"/>
                </a:solidFill>
                <a:latin typeface="Calibri"/>
                <a:ea typeface="맑은 고딕"/>
                <a:cs typeface="Calibri"/>
              </a:rPr>
              <a:t>이번 최악의 손해 사례가 바로 2005년판 기준 계약이었습니다.</a:t>
            </a:r>
          </a:p>
        </p:txBody>
      </p:sp>
      <p:sp>
        <p:nvSpPr>
          <p:cNvPr id="441" name="Rectangle 44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443" name="TextBox 44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Clause 5 — 입증해야 하는 것</a:t>
            </a:r>
          </a:p>
        </p:txBody>
      </p:sp>
      <p:sp>
        <p:nvSpPr>
          <p:cNvPr id="445" name="Rectangle 446"/>
          <p:cNvSpPr/>
          <p:nvPr/>
        </p:nvSpPr>
        <p:spPr>
          <a:xfrm>
            <a:off x="6245352" y="1783080"/>
            <a:ext cx="566928" cy="621792"/>
          </a:xfrm>
          <a:prstGeom prst="rect">
            <a:avLst/>
          </a:prstGeom>
          <a:solidFill>
            <a:srgbClr val="FFFFFF"/>
          </a:solidFill>
          <a:ln w="9525">
            <a:solidFill>
              <a:srgbClr val="D0D4DA"/>
            </a:solidFill>
          </a:ln>
          <a:effectLst/>
        </p:spPr>
        <p:txBody>
          <a:bodyPr rtlCol="0" anchor="ctr"/>
          <a:lstStyle/>
          <a:p>
            <a:pPr algn="ctr"/>
            <a:endParaRPr/>
          </a:p>
        </p:txBody>
      </p:sp>
      <p:sp>
        <p:nvSpPr>
          <p:cNvPr id="447" name="TextBox 448"/>
          <p:cNvSpPr txBox="1"/>
          <p:nvPr/>
        </p:nvSpPr>
        <p:spPr>
          <a:xfrm>
            <a:off x="6318504" y="1783080"/>
            <a:ext cx="420624" cy="621792"/>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1</a:t>
            </a:r>
          </a:p>
        </p:txBody>
      </p:sp>
      <p:sp>
        <p:nvSpPr>
          <p:cNvPr id="449" name="Rectangle 450"/>
          <p:cNvSpPr/>
          <p:nvPr/>
        </p:nvSpPr>
        <p:spPr>
          <a:xfrm>
            <a:off x="6812280" y="1783080"/>
            <a:ext cx="4873752" cy="621792"/>
          </a:xfrm>
          <a:prstGeom prst="rect">
            <a:avLst/>
          </a:prstGeom>
          <a:solidFill>
            <a:srgbClr val="FFFFFF"/>
          </a:solidFill>
          <a:ln w="9525">
            <a:solidFill>
              <a:srgbClr val="D0D4DA"/>
            </a:solidFill>
          </a:ln>
          <a:effectLst/>
        </p:spPr>
        <p:txBody>
          <a:bodyPr rtlCol="0" anchor="ctr"/>
          <a:lstStyle/>
          <a:p>
            <a:pPr algn="ctr"/>
            <a:endParaRPr/>
          </a:p>
        </p:txBody>
      </p:sp>
      <p:sp>
        <p:nvSpPr>
          <p:cNvPr id="451" name="TextBox 452"/>
          <p:cNvSpPr txBox="1"/>
          <p:nvPr/>
        </p:nvSpPr>
        <p:spPr>
          <a:xfrm>
            <a:off x="6885432" y="1783080"/>
            <a:ext cx="4727448" cy="62179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유해 물질의 존재를 밝힐 것 — 표준 시험으로는 부족, GCMS 등 탐색적 분석 필요</a:t>
            </a:r>
          </a:p>
        </p:txBody>
      </p:sp>
      <p:sp>
        <p:nvSpPr>
          <p:cNvPr id="453" name="Rectangle 454"/>
          <p:cNvSpPr/>
          <p:nvPr/>
        </p:nvSpPr>
        <p:spPr>
          <a:xfrm>
            <a:off x="6245352" y="2404872"/>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455" name="TextBox 456"/>
          <p:cNvSpPr txBox="1"/>
          <p:nvPr/>
        </p:nvSpPr>
        <p:spPr>
          <a:xfrm>
            <a:off x="6318504" y="2404872"/>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2</a:t>
            </a:r>
          </a:p>
        </p:txBody>
      </p:sp>
      <p:sp>
        <p:nvSpPr>
          <p:cNvPr id="457" name="Rectangle 458"/>
          <p:cNvSpPr/>
          <p:nvPr/>
        </p:nvSpPr>
        <p:spPr>
          <a:xfrm>
            <a:off x="6812280" y="2404872"/>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459" name="TextBox 460"/>
          <p:cNvSpPr txBox="1"/>
          <p:nvPr/>
        </p:nvSpPr>
        <p:spPr>
          <a:xfrm>
            <a:off x="6885432" y="2404872"/>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그 물질이 기관·안전에 실제로 악영향을 줬음을 보일 것</a:t>
            </a:r>
          </a:p>
        </p:txBody>
      </p:sp>
      <p:sp>
        <p:nvSpPr>
          <p:cNvPr id="461" name="Rectangle 462"/>
          <p:cNvSpPr/>
          <p:nvPr/>
        </p:nvSpPr>
        <p:spPr>
          <a:xfrm>
            <a:off x="6245352" y="2907792"/>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463" name="TextBox 464"/>
          <p:cNvSpPr txBox="1"/>
          <p:nvPr/>
        </p:nvSpPr>
        <p:spPr>
          <a:xfrm>
            <a:off x="6318504" y="2907792"/>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3</a:t>
            </a:r>
          </a:p>
        </p:txBody>
      </p:sp>
      <p:sp>
        <p:nvSpPr>
          <p:cNvPr id="465" name="Rectangle 466"/>
          <p:cNvSpPr/>
          <p:nvPr/>
        </p:nvSpPr>
        <p:spPr>
          <a:xfrm>
            <a:off x="6812280" y="2907792"/>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467" name="TextBox 468"/>
          <p:cNvSpPr txBox="1"/>
          <p:nvPr/>
        </p:nvSpPr>
        <p:spPr>
          <a:xfrm>
            <a:off x="6885432" y="2907792"/>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즉, 단순한 검출이 아니라 “인과관계”가 핵심</a:t>
            </a:r>
          </a:p>
        </p:txBody>
      </p:sp>
      <p:sp>
        <p:nvSpPr>
          <p:cNvPr id="469" name="TextBox 470"/>
          <p:cNvSpPr txBox="1"/>
          <p:nvPr/>
        </p:nvSpPr>
        <p:spPr>
          <a:xfrm>
            <a:off x="6245352" y="3474720"/>
            <a:ext cx="5440680" cy="14630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ISO 8217:2024 Annex B는 화학종과 운항 문제 사이에 사실적 인과관계가 입증되면 해당 연료는 규격을 충족하지 못한 것으로 본다고 명시합니다.</a:t>
            </a:r>
          </a:p>
          <a:p>
            <a:pPr algn="l">
              <a:lnSpc>
                <a:spcPct val="125000"/>
              </a:lnSpc>
              <a:spcAft>
                <a:spcPts val="0"/>
              </a:spcAft>
            </a:pPr>
            <a:r>
              <a:rPr sz="1200" b="0">
                <a:solidFill>
                  <a:srgbClr val="1A1A1A"/>
                </a:solidFill>
                <a:latin typeface="Calibri"/>
                <a:ea typeface="맑은 고딕"/>
                <a:cs typeface="Calibri"/>
              </a:rPr>
              <a:t>시험 소모·연료 처리를 통한 실물 증명도 가능하지만 운항 리스크가 따르며 철저한 기록이 전제입니다.</a:t>
            </a:r>
          </a:p>
        </p:txBody>
      </p:sp>
      <p:sp>
        <p:nvSpPr>
          <p:cNvPr id="471" name="Rectangle 472"/>
          <p:cNvSpPr/>
          <p:nvPr/>
        </p:nvSpPr>
        <p:spPr>
          <a:xfrm>
            <a:off x="6245352" y="5029200"/>
            <a:ext cx="5440680" cy="640080"/>
          </a:xfrm>
          <a:prstGeom prst="rect">
            <a:avLst/>
          </a:prstGeom>
          <a:solidFill>
            <a:srgbClr val="EFEFEF"/>
          </a:solidFill>
          <a:ln>
            <a:noFill/>
          </a:ln>
          <a:effectLst/>
        </p:spPr>
        <p:txBody>
          <a:bodyPr rtlCol="0" anchor="ctr"/>
          <a:lstStyle/>
          <a:p>
            <a:pPr algn="ctr"/>
            <a:endParaRPr/>
          </a:p>
        </p:txBody>
      </p:sp>
      <p:sp>
        <p:nvSpPr>
          <p:cNvPr id="473" name="TextBox 474"/>
          <p:cNvSpPr txBox="1"/>
          <p:nvPr/>
        </p:nvSpPr>
        <p:spPr>
          <a:xfrm>
            <a:off x="6428232" y="5029200"/>
            <a:ext cx="5074920" cy="64008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Table 2 합격은 출발점일 뿐, 적합성의 증명이 아닙니다.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Rectangle 476"/>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77" name="TextBox 478"/>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실제로 무슨 일이 났나 — 사례 3건</a:t>
            </a:r>
          </a:p>
        </p:txBody>
      </p:sp>
      <p:sp>
        <p:nvSpPr>
          <p:cNvPr id="479" name="Rectangle 480"/>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481" name="TextBox 482"/>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Case 1 — Antwerp VLSFO (ISO 8217:2005)</a:t>
            </a:r>
          </a:p>
        </p:txBody>
      </p:sp>
      <p:sp>
        <p:nvSpPr>
          <p:cNvPr id="483" name="TextBox 484"/>
          <p:cNvSpPr txBox="1"/>
          <p:nvPr/>
        </p:nvSpPr>
        <p:spPr>
          <a:xfrm>
            <a:off x="502920" y="1783080"/>
            <a:ext cx="5440680" cy="118872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유기산 6,000ppm 초과. 주기관 전손으로 3일간 표류 후 4일간 예인. 공동해손 선언·화물 환적·탱크 세정으로 4주 수리, 약 USD 0.5M 소요.</a:t>
            </a:r>
          </a:p>
          <a:p>
            <a:pPr algn="l">
              <a:lnSpc>
                <a:spcPct val="125000"/>
              </a:lnSpc>
              <a:spcAft>
                <a:spcPts val="0"/>
              </a:spcAft>
            </a:pPr>
            <a:r>
              <a:rPr sz="1200" b="1">
                <a:solidFill>
                  <a:srgbClr val="C00000"/>
                </a:solidFill>
                <a:latin typeface="Calibri"/>
                <a:ea typeface="맑은 고딕"/>
                <a:cs typeface="Calibri"/>
              </a:rPr>
              <a:t>Table 2는 모두 통과한 연료였습니다.</a:t>
            </a:r>
          </a:p>
        </p:txBody>
      </p:sp>
      <p:sp>
        <p:nvSpPr>
          <p:cNvPr id="485" name="Rectangle 486"/>
          <p:cNvSpPr/>
          <p:nvPr/>
        </p:nvSpPr>
        <p:spPr>
          <a:xfrm>
            <a:off x="502920" y="3063240"/>
            <a:ext cx="5440680" cy="329184"/>
          </a:xfrm>
          <a:prstGeom prst="rect">
            <a:avLst/>
          </a:prstGeom>
          <a:solidFill>
            <a:srgbClr val="EFEFEF"/>
          </a:solidFill>
          <a:ln>
            <a:noFill/>
          </a:ln>
          <a:effectLst/>
        </p:spPr>
        <p:txBody>
          <a:bodyPr rtlCol="0" anchor="ctr"/>
          <a:lstStyle/>
          <a:p>
            <a:pPr algn="ctr"/>
            <a:endParaRPr/>
          </a:p>
        </p:txBody>
      </p:sp>
      <p:sp>
        <p:nvSpPr>
          <p:cNvPr id="487" name="TextBox 488"/>
          <p:cNvSpPr txBox="1"/>
          <p:nvPr/>
        </p:nvSpPr>
        <p:spPr>
          <a:xfrm>
            <a:off x="612648" y="306324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Case 2 — Singapore VLSFO</a:t>
            </a:r>
          </a:p>
        </p:txBody>
      </p:sp>
      <p:sp>
        <p:nvSpPr>
          <p:cNvPr id="489" name="TextBox 490"/>
          <p:cNvSpPr txBox="1"/>
          <p:nvPr/>
        </p:nvSpPr>
        <p:spPr>
          <a:xfrm>
            <a:off x="502920" y="3520440"/>
            <a:ext cx="5440680" cy="118872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cardol·resorcinol이 22,000ppm 이상 검출. 자동역세척 필터의 청소 능력을 넘어서는 속도로 막혀 주기관 연료 압력이 급감, 결국 디벙커링을 결정했습니다.</a:t>
            </a:r>
          </a:p>
        </p:txBody>
      </p:sp>
      <p:sp>
        <p:nvSpPr>
          <p:cNvPr id="491" name="Rectangle 49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493" name="TextBox 49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Case 3 — ULSFO + B30 (CNSL) ★ 두 문서의 접점</a:t>
            </a:r>
          </a:p>
        </p:txBody>
      </p:sp>
      <p:sp>
        <p:nvSpPr>
          <p:cNvPr id="495" name="TextBox 496"/>
          <p:cNvSpPr txBox="1"/>
          <p:nvPr/>
        </p:nvSpPr>
        <p:spPr>
          <a:xfrm>
            <a:off x="6245352" y="1783080"/>
            <a:ext cx="5440680" cy="118872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해당 탱크로 전환한 지 약 2일 뒤, 도선사 승선을 앞둔 표류 중 추진 상실. 검정인 예비 조사 결과 연료 분사기와 펌프 손상이 불량 연료, 특히 CNSL 오염에 기인한 것으로 확인됐습니다.</a:t>
            </a:r>
          </a:p>
        </p:txBody>
      </p:sp>
      <p:sp>
        <p:nvSpPr>
          <p:cNvPr id="497" name="Rectangle 498"/>
          <p:cNvSpPr/>
          <p:nvPr/>
        </p:nvSpPr>
        <p:spPr>
          <a:xfrm>
            <a:off x="6245352" y="3063240"/>
            <a:ext cx="5440680" cy="329184"/>
          </a:xfrm>
          <a:prstGeom prst="rect">
            <a:avLst/>
          </a:prstGeom>
          <a:solidFill>
            <a:srgbClr val="EFEFEF"/>
          </a:solidFill>
          <a:ln>
            <a:noFill/>
          </a:ln>
          <a:effectLst/>
        </p:spPr>
        <p:txBody>
          <a:bodyPr rtlCol="0" anchor="ctr"/>
          <a:lstStyle/>
          <a:p>
            <a:pPr algn="ctr"/>
            <a:endParaRPr/>
          </a:p>
        </p:txBody>
      </p:sp>
      <p:sp>
        <p:nvSpPr>
          <p:cNvPr id="499" name="TextBox 500"/>
          <p:cNvSpPr txBox="1"/>
          <p:nvPr/>
        </p:nvSpPr>
        <p:spPr>
          <a:xfrm>
            <a:off x="6355080" y="306324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공통적으로 나타난 증상</a:t>
            </a:r>
          </a:p>
        </p:txBody>
      </p:sp>
      <p:sp>
        <p:nvSpPr>
          <p:cNvPr id="501" name="Rectangle 502"/>
          <p:cNvSpPr/>
          <p:nvPr/>
        </p:nvSpPr>
        <p:spPr>
          <a:xfrm>
            <a:off x="6245352" y="3520440"/>
            <a:ext cx="2103120" cy="420624"/>
          </a:xfrm>
          <a:prstGeom prst="rect">
            <a:avLst/>
          </a:prstGeom>
          <a:solidFill>
            <a:srgbClr val="172A4A"/>
          </a:solidFill>
          <a:ln>
            <a:noFill/>
          </a:ln>
          <a:effectLst/>
        </p:spPr>
        <p:txBody>
          <a:bodyPr rtlCol="0" anchor="ctr"/>
          <a:lstStyle/>
          <a:p>
            <a:pPr algn="ctr"/>
            <a:endParaRPr/>
          </a:p>
        </p:txBody>
      </p:sp>
      <p:sp>
        <p:nvSpPr>
          <p:cNvPr id="503" name="TextBox 504"/>
          <p:cNvSpPr txBox="1"/>
          <p:nvPr/>
        </p:nvSpPr>
        <p:spPr>
          <a:xfrm>
            <a:off x="6318504" y="3520440"/>
            <a:ext cx="1956816" cy="420624"/>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증상</a:t>
            </a:r>
          </a:p>
        </p:txBody>
      </p:sp>
      <p:sp>
        <p:nvSpPr>
          <p:cNvPr id="505" name="Rectangle 506"/>
          <p:cNvSpPr/>
          <p:nvPr/>
        </p:nvSpPr>
        <p:spPr>
          <a:xfrm>
            <a:off x="8348472" y="3520440"/>
            <a:ext cx="3337560" cy="420624"/>
          </a:xfrm>
          <a:prstGeom prst="rect">
            <a:avLst/>
          </a:prstGeom>
          <a:solidFill>
            <a:srgbClr val="172A4A"/>
          </a:solidFill>
          <a:ln>
            <a:noFill/>
          </a:ln>
          <a:effectLst/>
        </p:spPr>
        <p:txBody>
          <a:bodyPr rtlCol="0" anchor="ctr"/>
          <a:lstStyle/>
          <a:p>
            <a:pPr algn="ctr"/>
            <a:endParaRPr/>
          </a:p>
        </p:txBody>
      </p:sp>
      <p:sp>
        <p:nvSpPr>
          <p:cNvPr id="507" name="TextBox 508"/>
          <p:cNvSpPr txBox="1"/>
          <p:nvPr/>
        </p:nvSpPr>
        <p:spPr>
          <a:xfrm>
            <a:off x="8421624" y="3520440"/>
            <a:ext cx="3191256" cy="420624"/>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부위</a:t>
            </a:r>
          </a:p>
        </p:txBody>
      </p:sp>
      <p:sp>
        <p:nvSpPr>
          <p:cNvPr id="509" name="Rectangle 510"/>
          <p:cNvSpPr/>
          <p:nvPr/>
        </p:nvSpPr>
        <p:spPr>
          <a:xfrm>
            <a:off x="6245352" y="3941064"/>
            <a:ext cx="2103120" cy="420624"/>
          </a:xfrm>
          <a:prstGeom prst="rect">
            <a:avLst/>
          </a:prstGeom>
          <a:solidFill>
            <a:srgbClr val="FFFFFF"/>
          </a:solidFill>
          <a:ln w="9525">
            <a:solidFill>
              <a:srgbClr val="D0D4DA"/>
            </a:solidFill>
          </a:ln>
          <a:effectLst/>
        </p:spPr>
        <p:txBody>
          <a:bodyPr rtlCol="0" anchor="ctr"/>
          <a:lstStyle/>
          <a:p>
            <a:pPr algn="ctr"/>
            <a:endParaRPr/>
          </a:p>
        </p:txBody>
      </p:sp>
      <p:sp>
        <p:nvSpPr>
          <p:cNvPr id="511" name="TextBox 512"/>
          <p:cNvSpPr txBox="1"/>
          <p:nvPr/>
        </p:nvSpPr>
        <p:spPr>
          <a:xfrm>
            <a:off x="6318504" y="3941064"/>
            <a:ext cx="1956816"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필터·청정기 급속 막힘</a:t>
            </a:r>
          </a:p>
        </p:txBody>
      </p:sp>
      <p:sp>
        <p:nvSpPr>
          <p:cNvPr id="513" name="Rectangle 514"/>
          <p:cNvSpPr/>
          <p:nvPr/>
        </p:nvSpPr>
        <p:spPr>
          <a:xfrm>
            <a:off x="8348472" y="3941064"/>
            <a:ext cx="3337560" cy="420624"/>
          </a:xfrm>
          <a:prstGeom prst="rect">
            <a:avLst/>
          </a:prstGeom>
          <a:solidFill>
            <a:srgbClr val="FFFFFF"/>
          </a:solidFill>
          <a:ln w="9525">
            <a:solidFill>
              <a:srgbClr val="D0D4DA"/>
            </a:solidFill>
          </a:ln>
          <a:effectLst/>
        </p:spPr>
        <p:txBody>
          <a:bodyPr rtlCol="0" anchor="ctr"/>
          <a:lstStyle/>
          <a:p>
            <a:pPr algn="ctr"/>
            <a:endParaRPr/>
          </a:p>
        </p:txBody>
      </p:sp>
      <p:sp>
        <p:nvSpPr>
          <p:cNvPr id="515" name="TextBox 516"/>
          <p:cNvSpPr txBox="1"/>
          <p:nvPr/>
        </p:nvSpPr>
        <p:spPr>
          <a:xfrm>
            <a:off x="8421624" y="3941064"/>
            <a:ext cx="3191256"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자동역세척 필터, 퍼리파이어</a:t>
            </a:r>
          </a:p>
        </p:txBody>
      </p:sp>
      <p:sp>
        <p:nvSpPr>
          <p:cNvPr id="517" name="Rectangle 518"/>
          <p:cNvSpPr/>
          <p:nvPr/>
        </p:nvSpPr>
        <p:spPr>
          <a:xfrm>
            <a:off x="6245352" y="4361688"/>
            <a:ext cx="2103120" cy="420624"/>
          </a:xfrm>
          <a:prstGeom prst="rect">
            <a:avLst/>
          </a:prstGeom>
          <a:solidFill>
            <a:srgbClr val="FFFFFF"/>
          </a:solidFill>
          <a:ln w="9525">
            <a:solidFill>
              <a:srgbClr val="D0D4DA"/>
            </a:solidFill>
          </a:ln>
          <a:effectLst/>
        </p:spPr>
        <p:txBody>
          <a:bodyPr rtlCol="0" anchor="ctr"/>
          <a:lstStyle/>
          <a:p>
            <a:pPr algn="ctr"/>
            <a:endParaRPr/>
          </a:p>
        </p:txBody>
      </p:sp>
      <p:sp>
        <p:nvSpPr>
          <p:cNvPr id="519" name="TextBox 520"/>
          <p:cNvSpPr txBox="1"/>
          <p:nvPr/>
        </p:nvSpPr>
        <p:spPr>
          <a:xfrm>
            <a:off x="6318504" y="4361688"/>
            <a:ext cx="1956816"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끈적한 슬러지·탄화물 생성</a:t>
            </a:r>
          </a:p>
        </p:txBody>
      </p:sp>
      <p:sp>
        <p:nvSpPr>
          <p:cNvPr id="521" name="Rectangle 522"/>
          <p:cNvSpPr/>
          <p:nvPr/>
        </p:nvSpPr>
        <p:spPr>
          <a:xfrm>
            <a:off x="8348472" y="4361688"/>
            <a:ext cx="3337560" cy="420624"/>
          </a:xfrm>
          <a:prstGeom prst="rect">
            <a:avLst/>
          </a:prstGeom>
          <a:solidFill>
            <a:srgbClr val="FFFFFF"/>
          </a:solidFill>
          <a:ln w="9525">
            <a:solidFill>
              <a:srgbClr val="D0D4DA"/>
            </a:solidFill>
          </a:ln>
          <a:effectLst/>
        </p:spPr>
        <p:txBody>
          <a:bodyPr rtlCol="0" anchor="ctr"/>
          <a:lstStyle/>
          <a:p>
            <a:pPr algn="ctr"/>
            <a:endParaRPr/>
          </a:p>
        </p:txBody>
      </p:sp>
      <p:sp>
        <p:nvSpPr>
          <p:cNvPr id="523" name="TextBox 524"/>
          <p:cNvSpPr txBox="1"/>
          <p:nvPr/>
        </p:nvSpPr>
        <p:spPr>
          <a:xfrm>
            <a:off x="8421624" y="4361688"/>
            <a:ext cx="3191256"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인젝터 팁, 분사 제어유닛</a:t>
            </a:r>
          </a:p>
        </p:txBody>
      </p:sp>
      <p:sp>
        <p:nvSpPr>
          <p:cNvPr id="525" name="Rectangle 526"/>
          <p:cNvSpPr/>
          <p:nvPr/>
        </p:nvSpPr>
        <p:spPr>
          <a:xfrm>
            <a:off x="6245352" y="4782312"/>
            <a:ext cx="2103120" cy="420624"/>
          </a:xfrm>
          <a:prstGeom prst="rect">
            <a:avLst/>
          </a:prstGeom>
          <a:solidFill>
            <a:srgbClr val="FFFFFF"/>
          </a:solidFill>
          <a:ln w="9525">
            <a:solidFill>
              <a:srgbClr val="D0D4DA"/>
            </a:solidFill>
          </a:ln>
          <a:effectLst/>
        </p:spPr>
        <p:txBody>
          <a:bodyPr rtlCol="0" anchor="ctr"/>
          <a:lstStyle/>
          <a:p>
            <a:pPr algn="ctr"/>
            <a:endParaRPr/>
          </a:p>
        </p:txBody>
      </p:sp>
      <p:sp>
        <p:nvSpPr>
          <p:cNvPr id="527" name="TextBox 528"/>
          <p:cNvSpPr txBox="1"/>
          <p:nvPr/>
        </p:nvSpPr>
        <p:spPr>
          <a:xfrm>
            <a:off x="6318504" y="4782312"/>
            <a:ext cx="1956816"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마모·스크래치·과열</a:t>
            </a:r>
          </a:p>
        </p:txBody>
      </p:sp>
      <p:sp>
        <p:nvSpPr>
          <p:cNvPr id="529" name="Rectangle 530"/>
          <p:cNvSpPr/>
          <p:nvPr/>
        </p:nvSpPr>
        <p:spPr>
          <a:xfrm>
            <a:off x="8348472" y="4782312"/>
            <a:ext cx="3337560" cy="420624"/>
          </a:xfrm>
          <a:prstGeom prst="rect">
            <a:avLst/>
          </a:prstGeom>
          <a:solidFill>
            <a:srgbClr val="FFFFFF"/>
          </a:solidFill>
          <a:ln w="9525">
            <a:solidFill>
              <a:srgbClr val="D0D4DA"/>
            </a:solidFill>
          </a:ln>
          <a:effectLst/>
        </p:spPr>
        <p:txBody>
          <a:bodyPr rtlCol="0" anchor="ctr"/>
          <a:lstStyle/>
          <a:p>
            <a:pPr algn="ctr"/>
            <a:endParaRPr/>
          </a:p>
        </p:txBody>
      </p:sp>
      <p:sp>
        <p:nvSpPr>
          <p:cNvPr id="531" name="TextBox 532"/>
          <p:cNvSpPr txBox="1"/>
          <p:nvPr/>
        </p:nvSpPr>
        <p:spPr>
          <a:xfrm>
            <a:off x="8421624" y="4782312"/>
            <a:ext cx="3191256" cy="42062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플런저, 피스톤링, 라이너</a:t>
            </a:r>
          </a:p>
        </p:txBody>
      </p:sp>
      <p:sp>
        <p:nvSpPr>
          <p:cNvPr id="533" name="Rectangle 534"/>
          <p:cNvSpPr/>
          <p:nvPr/>
        </p:nvSpPr>
        <p:spPr>
          <a:xfrm>
            <a:off x="502920" y="4983480"/>
            <a:ext cx="5440680" cy="777240"/>
          </a:xfrm>
          <a:prstGeom prst="rect">
            <a:avLst/>
          </a:prstGeom>
          <a:solidFill>
            <a:srgbClr val="EFEFEF"/>
          </a:solidFill>
          <a:ln>
            <a:noFill/>
          </a:ln>
          <a:effectLst/>
        </p:spPr>
        <p:txBody>
          <a:bodyPr rtlCol="0" anchor="ctr"/>
          <a:lstStyle/>
          <a:p>
            <a:pPr algn="ctr"/>
            <a:endParaRPr/>
          </a:p>
        </p:txBody>
      </p:sp>
      <p:sp>
        <p:nvSpPr>
          <p:cNvPr id="535" name="TextBox 536"/>
          <p:cNvSpPr txBox="1"/>
          <p:nvPr/>
        </p:nvSpPr>
        <p:spPr>
          <a:xfrm>
            <a:off x="685800" y="498348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세 사례 모두 표준 시험만으로는 사전에 걸러내지 못했습니다.</a:t>
            </a:r>
          </a:p>
        </p:txBody>
      </p:sp>
      <p:sp>
        <p:nvSpPr>
          <p:cNvPr id="537" name="TextBox 538"/>
          <p:cNvSpPr txBox="1"/>
          <p:nvPr/>
        </p:nvSpPr>
        <p:spPr>
          <a:xfrm>
            <a:off x="6245352" y="5394960"/>
            <a:ext cx="5440680" cy="41148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 증상이 나타나면 이미 손상이 진행 중입니다 — 조기 신호 감시가 핵심.</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Rectangle 540"/>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541" name="TextBox 542"/>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규제 위반은 곧바로 운항 정지로 이어집니다</a:t>
            </a:r>
          </a:p>
        </p:txBody>
      </p:sp>
      <p:sp>
        <p:nvSpPr>
          <p:cNvPr id="543" name="Rectangle 544"/>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545" name="TextBox 546"/>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황분 — 전체 클레임의 12.86%</a:t>
            </a:r>
          </a:p>
        </p:txBody>
      </p:sp>
      <p:sp>
        <p:nvSpPr>
          <p:cNvPr id="547" name="TextBox 548"/>
          <p:cNvSpPr txBox="1"/>
          <p:nvPr/>
        </p:nvSpPr>
        <p:spPr>
          <a:xfrm>
            <a:off x="502920" y="1783080"/>
            <a:ext cx="5440680" cy="137160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대부분 VLSFO가 0.5% 한도를 초과했고, 심한 경우 2.7%까지 나왔습니다. MARPOL 위반은 억류·벌금과 강제 디벙커링으로 이어집니다.</a:t>
            </a:r>
          </a:p>
          <a:p>
            <a:pPr algn="l">
              <a:lnSpc>
                <a:spcPct val="125000"/>
              </a:lnSpc>
              <a:spcAft>
                <a:spcPts val="0"/>
              </a:spcAft>
            </a:pPr>
            <a:r>
              <a:rPr sz="1200" b="1">
                <a:solidFill>
                  <a:srgbClr val="C00000"/>
                </a:solidFill>
                <a:latin typeface="Calibri"/>
                <a:ea typeface="맑은 고딕"/>
                <a:cs typeface="Calibri"/>
              </a:rPr>
              <a:t>중국 MSA 사례에서는 이미 재인도가 끝난 뒤 적발되어 비용 부담 주체가 문제가 됐습니다.</a:t>
            </a:r>
          </a:p>
        </p:txBody>
      </p:sp>
      <p:sp>
        <p:nvSpPr>
          <p:cNvPr id="549" name="Rectangle 550"/>
          <p:cNvSpPr/>
          <p:nvPr/>
        </p:nvSpPr>
        <p:spPr>
          <a:xfrm>
            <a:off x="502920" y="3291840"/>
            <a:ext cx="5440680" cy="329184"/>
          </a:xfrm>
          <a:prstGeom prst="rect">
            <a:avLst/>
          </a:prstGeom>
          <a:solidFill>
            <a:srgbClr val="EFEFEF"/>
          </a:solidFill>
          <a:ln>
            <a:noFill/>
          </a:ln>
          <a:effectLst/>
        </p:spPr>
        <p:txBody>
          <a:bodyPr rtlCol="0" anchor="ctr"/>
          <a:lstStyle/>
          <a:p>
            <a:pPr algn="ctr"/>
            <a:endParaRPr/>
          </a:p>
        </p:txBody>
      </p:sp>
      <p:sp>
        <p:nvSpPr>
          <p:cNvPr id="551" name="TextBox 552"/>
          <p:cNvSpPr txBox="1"/>
          <p:nvPr/>
        </p:nvSpPr>
        <p:spPr>
          <a:xfrm>
            <a:off x="612648" y="329184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인화점 — 전체의 4.11%</a:t>
            </a:r>
          </a:p>
        </p:txBody>
      </p:sp>
      <p:sp>
        <p:nvSpPr>
          <p:cNvPr id="553" name="TextBox 554"/>
          <p:cNvSpPr txBox="1"/>
          <p:nvPr/>
        </p:nvSpPr>
        <p:spPr>
          <a:xfrm>
            <a:off x="502920" y="3749040"/>
            <a:ext cx="5440680" cy="109728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SOLAS II-2 Reg.4에 따라 선내 사용 연료는 60°C 이상이어야 하며, 미달 시 전량 디벙커링이 불가피합니다.</a:t>
            </a:r>
          </a:p>
        </p:txBody>
      </p:sp>
      <p:sp>
        <p:nvSpPr>
          <p:cNvPr id="555" name="Rectangle 556"/>
          <p:cNvSpPr/>
          <p:nvPr/>
        </p:nvSpPr>
        <p:spPr>
          <a:xfrm>
            <a:off x="502920" y="4983480"/>
            <a:ext cx="5440680" cy="777240"/>
          </a:xfrm>
          <a:prstGeom prst="rect">
            <a:avLst/>
          </a:prstGeom>
          <a:solidFill>
            <a:srgbClr val="EFEFEF"/>
          </a:solidFill>
          <a:ln>
            <a:noFill/>
          </a:ln>
          <a:effectLst/>
        </p:spPr>
        <p:txBody>
          <a:bodyPr rtlCol="0" anchor="ctr"/>
          <a:lstStyle/>
          <a:p>
            <a:pPr algn="ctr"/>
            <a:endParaRPr/>
          </a:p>
        </p:txBody>
      </p:sp>
      <p:sp>
        <p:nvSpPr>
          <p:cNvPr id="557" name="TextBox 558"/>
          <p:cNvSpPr txBox="1"/>
          <p:nvPr/>
        </p:nvSpPr>
        <p:spPr>
          <a:xfrm>
            <a:off x="685800" y="498348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2026년 1월 SOLAS 개정 — BDN에 인화점 실측치 또는 70°C 이상 여부를 명기해야 합니다.</a:t>
            </a:r>
          </a:p>
        </p:txBody>
      </p:sp>
      <p:sp>
        <p:nvSpPr>
          <p:cNvPr id="559" name="Rectangle 560"/>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561" name="TextBox 562"/>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수량 분쟁 — ARA의 MFM 의무화</a:t>
            </a:r>
          </a:p>
        </p:txBody>
      </p:sp>
      <p:sp>
        <p:nvSpPr>
          <p:cNvPr id="563" name="Rectangle 564"/>
          <p:cNvSpPr/>
          <p:nvPr/>
        </p:nvSpPr>
        <p:spPr>
          <a:xfrm>
            <a:off x="6245352" y="1783080"/>
            <a:ext cx="2331720" cy="420624"/>
          </a:xfrm>
          <a:prstGeom prst="rect">
            <a:avLst/>
          </a:prstGeom>
          <a:solidFill>
            <a:srgbClr val="172A4A"/>
          </a:solidFill>
          <a:ln>
            <a:noFill/>
          </a:ln>
          <a:effectLst/>
        </p:spPr>
        <p:txBody>
          <a:bodyPr rtlCol="0" anchor="ctr"/>
          <a:lstStyle/>
          <a:p>
            <a:pPr algn="ctr"/>
            <a:endParaRPr/>
          </a:p>
        </p:txBody>
      </p:sp>
      <p:sp>
        <p:nvSpPr>
          <p:cNvPr id="565" name="TextBox 566"/>
          <p:cNvSpPr txBox="1"/>
          <p:nvPr/>
        </p:nvSpPr>
        <p:spPr>
          <a:xfrm>
            <a:off x="6318504" y="1783080"/>
            <a:ext cx="2185416" cy="420624"/>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쟁점</a:t>
            </a:r>
          </a:p>
        </p:txBody>
      </p:sp>
      <p:sp>
        <p:nvSpPr>
          <p:cNvPr id="567" name="Rectangle 568"/>
          <p:cNvSpPr/>
          <p:nvPr/>
        </p:nvSpPr>
        <p:spPr>
          <a:xfrm>
            <a:off x="8577072" y="1783080"/>
            <a:ext cx="3108960" cy="420624"/>
          </a:xfrm>
          <a:prstGeom prst="rect">
            <a:avLst/>
          </a:prstGeom>
          <a:solidFill>
            <a:srgbClr val="172A4A"/>
          </a:solidFill>
          <a:ln>
            <a:noFill/>
          </a:ln>
          <a:effectLst/>
        </p:spPr>
        <p:txBody>
          <a:bodyPr rtlCol="0" anchor="ctr"/>
          <a:lstStyle/>
          <a:p>
            <a:pPr algn="ctr"/>
            <a:endParaRPr/>
          </a:p>
        </p:txBody>
      </p:sp>
      <p:sp>
        <p:nvSpPr>
          <p:cNvPr id="569" name="TextBox 570"/>
          <p:cNvSpPr txBox="1"/>
          <p:nvPr/>
        </p:nvSpPr>
        <p:spPr>
          <a:xfrm>
            <a:off x="8650224" y="1783080"/>
            <a:ext cx="2962656" cy="420624"/>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실제 사례</a:t>
            </a:r>
          </a:p>
        </p:txBody>
      </p:sp>
      <p:sp>
        <p:nvSpPr>
          <p:cNvPr id="571" name="Rectangle 572"/>
          <p:cNvSpPr/>
          <p:nvPr/>
        </p:nvSpPr>
        <p:spPr>
          <a:xfrm>
            <a:off x="6245352" y="2203704"/>
            <a:ext cx="2331720" cy="420624"/>
          </a:xfrm>
          <a:prstGeom prst="rect">
            <a:avLst/>
          </a:prstGeom>
          <a:solidFill>
            <a:srgbClr val="FFFFFF"/>
          </a:solidFill>
          <a:ln w="9525">
            <a:solidFill>
              <a:srgbClr val="D0D4DA"/>
            </a:solidFill>
          </a:ln>
          <a:effectLst/>
        </p:spPr>
        <p:txBody>
          <a:bodyPr rtlCol="0" anchor="ctr"/>
          <a:lstStyle/>
          <a:p>
            <a:pPr algn="ctr"/>
            <a:endParaRPr/>
          </a:p>
        </p:txBody>
      </p:sp>
      <p:sp>
        <p:nvSpPr>
          <p:cNvPr id="573" name="TextBox 574"/>
          <p:cNvSpPr txBox="1"/>
          <p:nvPr/>
        </p:nvSpPr>
        <p:spPr>
          <a:xfrm>
            <a:off x="6318504" y="2203704"/>
            <a:ext cx="218541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수치 불일치</a:t>
            </a:r>
          </a:p>
        </p:txBody>
      </p:sp>
      <p:sp>
        <p:nvSpPr>
          <p:cNvPr id="575" name="Rectangle 576"/>
          <p:cNvSpPr/>
          <p:nvPr/>
        </p:nvSpPr>
        <p:spPr>
          <a:xfrm>
            <a:off x="8577072" y="2203704"/>
            <a:ext cx="3108960" cy="420624"/>
          </a:xfrm>
          <a:prstGeom prst="rect">
            <a:avLst/>
          </a:prstGeom>
          <a:solidFill>
            <a:srgbClr val="FFFFFF"/>
          </a:solidFill>
          <a:ln w="9525">
            <a:solidFill>
              <a:srgbClr val="D0D4DA"/>
            </a:solidFill>
          </a:ln>
          <a:effectLst/>
        </p:spPr>
        <p:txBody>
          <a:bodyPr rtlCol="0" anchor="ctr"/>
          <a:lstStyle/>
          <a:p>
            <a:pPr algn="ctr"/>
            <a:endParaRPr/>
          </a:p>
        </p:txBody>
      </p:sp>
      <p:sp>
        <p:nvSpPr>
          <p:cNvPr id="577" name="TextBox 578"/>
          <p:cNvSpPr txBox="1"/>
          <p:nvPr/>
        </p:nvSpPr>
        <p:spPr>
          <a:xfrm>
            <a:off x="8650224" y="2203704"/>
            <a:ext cx="296265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BDN 대비 약 60톤 부족 수령</a:t>
            </a:r>
          </a:p>
        </p:txBody>
      </p:sp>
      <p:sp>
        <p:nvSpPr>
          <p:cNvPr id="579" name="Rectangle 580"/>
          <p:cNvSpPr/>
          <p:nvPr/>
        </p:nvSpPr>
        <p:spPr>
          <a:xfrm>
            <a:off x="6245352" y="2624328"/>
            <a:ext cx="2331720" cy="420624"/>
          </a:xfrm>
          <a:prstGeom prst="rect">
            <a:avLst/>
          </a:prstGeom>
          <a:solidFill>
            <a:srgbClr val="FFFFFF"/>
          </a:solidFill>
          <a:ln w="9525">
            <a:solidFill>
              <a:srgbClr val="D0D4DA"/>
            </a:solidFill>
          </a:ln>
          <a:effectLst/>
        </p:spPr>
        <p:txBody>
          <a:bodyPr rtlCol="0" anchor="ctr"/>
          <a:lstStyle/>
          <a:p>
            <a:pPr algn="ctr"/>
            <a:endParaRPr/>
          </a:p>
        </p:txBody>
      </p:sp>
      <p:sp>
        <p:nvSpPr>
          <p:cNvPr id="581" name="TextBox 582"/>
          <p:cNvSpPr txBox="1"/>
          <p:nvPr/>
        </p:nvSpPr>
        <p:spPr>
          <a:xfrm>
            <a:off x="6318504" y="2624328"/>
            <a:ext cx="218541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검증 기회 박탈</a:t>
            </a:r>
          </a:p>
        </p:txBody>
      </p:sp>
      <p:sp>
        <p:nvSpPr>
          <p:cNvPr id="583" name="Rectangle 584"/>
          <p:cNvSpPr/>
          <p:nvPr/>
        </p:nvSpPr>
        <p:spPr>
          <a:xfrm>
            <a:off x="8577072" y="2624328"/>
            <a:ext cx="3108960" cy="420624"/>
          </a:xfrm>
          <a:prstGeom prst="rect">
            <a:avLst/>
          </a:prstGeom>
          <a:solidFill>
            <a:srgbClr val="FFFFFF"/>
          </a:solidFill>
          <a:ln w="9525">
            <a:solidFill>
              <a:srgbClr val="D0D4DA"/>
            </a:solidFill>
          </a:ln>
          <a:effectLst/>
        </p:spPr>
        <p:txBody>
          <a:bodyPr rtlCol="0" anchor="ctr"/>
          <a:lstStyle/>
          <a:p>
            <a:pPr algn="ctr"/>
            <a:endParaRPr/>
          </a:p>
        </p:txBody>
      </p:sp>
      <p:sp>
        <p:nvSpPr>
          <p:cNvPr id="585" name="TextBox 586"/>
          <p:cNvSpPr txBox="1"/>
          <p:nvPr/>
        </p:nvSpPr>
        <p:spPr>
          <a:xfrm>
            <a:off x="8650224" y="2624328"/>
            <a:ext cx="2962656" cy="420624"/>
          </a:xfrm>
          <a:prstGeom prst="rect">
            <a:avLst/>
          </a:prstGeom>
          <a:noFill/>
        </p:spPr>
        <p:txBody>
          <a:bodyPr wrap="square" lIns="36576" tIns="0" rIns="36576" bIns="0" anchor="ctr"/>
          <a:lstStyle/>
          <a:p>
            <a:pPr algn="l">
              <a:lnSpc>
                <a:spcPct val="110000"/>
              </a:lnSpc>
              <a:spcAft>
                <a:spcPts val="0"/>
              </a:spcAft>
            </a:pPr>
            <a:r>
              <a:rPr sz="1200" b="1">
                <a:solidFill>
                  <a:srgbClr val="C00000"/>
                </a:solidFill>
                <a:latin typeface="Calibri"/>
                <a:ea typeface="맑은 고딕"/>
                <a:cs typeface="Calibri"/>
              </a:rPr>
              <a:t>바지 수동 검척(sounding) 거부됨</a:t>
            </a:r>
          </a:p>
        </p:txBody>
      </p:sp>
      <p:sp>
        <p:nvSpPr>
          <p:cNvPr id="587" name="Rectangle 588"/>
          <p:cNvSpPr/>
          <p:nvPr/>
        </p:nvSpPr>
        <p:spPr>
          <a:xfrm>
            <a:off x="6245352" y="3044952"/>
            <a:ext cx="2331720" cy="420624"/>
          </a:xfrm>
          <a:prstGeom prst="rect">
            <a:avLst/>
          </a:prstGeom>
          <a:solidFill>
            <a:srgbClr val="FFFFFF"/>
          </a:solidFill>
          <a:ln w="9525">
            <a:solidFill>
              <a:srgbClr val="D0D4DA"/>
            </a:solidFill>
          </a:ln>
          <a:effectLst/>
        </p:spPr>
        <p:txBody>
          <a:bodyPr rtlCol="0" anchor="ctr"/>
          <a:lstStyle/>
          <a:p>
            <a:pPr algn="ctr"/>
            <a:endParaRPr/>
          </a:p>
        </p:txBody>
      </p:sp>
      <p:sp>
        <p:nvSpPr>
          <p:cNvPr id="589" name="TextBox 590"/>
          <p:cNvSpPr txBox="1"/>
          <p:nvPr/>
        </p:nvSpPr>
        <p:spPr>
          <a:xfrm>
            <a:off x="6318504" y="3044952"/>
            <a:ext cx="218541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교정 상태</a:t>
            </a:r>
          </a:p>
        </p:txBody>
      </p:sp>
      <p:sp>
        <p:nvSpPr>
          <p:cNvPr id="591" name="Rectangle 592"/>
          <p:cNvSpPr/>
          <p:nvPr/>
        </p:nvSpPr>
        <p:spPr>
          <a:xfrm>
            <a:off x="8577072" y="3044952"/>
            <a:ext cx="3108960" cy="420624"/>
          </a:xfrm>
          <a:prstGeom prst="rect">
            <a:avLst/>
          </a:prstGeom>
          <a:solidFill>
            <a:srgbClr val="FFFFFF"/>
          </a:solidFill>
          <a:ln w="9525">
            <a:solidFill>
              <a:srgbClr val="D0D4DA"/>
            </a:solidFill>
          </a:ln>
          <a:effectLst/>
        </p:spPr>
        <p:txBody>
          <a:bodyPr rtlCol="0" anchor="ctr"/>
          <a:lstStyle/>
          <a:p>
            <a:pPr algn="ctr"/>
            <a:endParaRPr/>
          </a:p>
        </p:txBody>
      </p:sp>
      <p:sp>
        <p:nvSpPr>
          <p:cNvPr id="593" name="TextBox 594"/>
          <p:cNvSpPr txBox="1"/>
          <p:nvPr/>
        </p:nvSpPr>
        <p:spPr>
          <a:xfrm>
            <a:off x="8650224" y="3044952"/>
            <a:ext cx="296265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MFM 교정증이 16개월 경과</a:t>
            </a:r>
          </a:p>
        </p:txBody>
      </p:sp>
      <p:sp>
        <p:nvSpPr>
          <p:cNvPr id="595" name="TextBox 596"/>
          <p:cNvSpPr txBox="1"/>
          <p:nvPr/>
        </p:nvSpPr>
        <p:spPr>
          <a:xfrm>
            <a:off x="6245352" y="3566160"/>
            <a:ext cx="5440680" cy="14630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당국은 상업적 분쟁에 개입하지 않음을 명확히 했습니다. 그들의 역할은 MFM의 편차가 유의미한지와 시스템이 올바르게 운영됐는지에만 한정됩니다.</a:t>
            </a:r>
          </a:p>
          <a:p>
            <a:pPr algn="l">
              <a:lnSpc>
                <a:spcPct val="125000"/>
              </a:lnSpc>
              <a:spcAft>
                <a:spcPts val="0"/>
              </a:spcAft>
            </a:pPr>
            <a:r>
              <a:rPr sz="1200" b="0">
                <a:solidFill>
                  <a:srgbClr val="1A1A1A"/>
                </a:solidFill>
                <a:latin typeface="Calibri"/>
                <a:ea typeface="맑은 고딕"/>
                <a:cs typeface="Calibri"/>
              </a:rPr>
              <a:t>나머지 분쟁 해결은 전적으로 당사자의 몫입니다 — 선상 검증 절차가 그만큼 중요해졌습니다.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Rectangle 59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599" name="TextBox 600"/>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증거와 계약 — 이기는 조건</a:t>
            </a:r>
          </a:p>
        </p:txBody>
      </p:sp>
      <p:sp>
        <p:nvSpPr>
          <p:cNvPr id="601" name="Rectangle 60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603" name="TextBox 60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샘플을 둘러싼 쟁점</a:t>
            </a:r>
          </a:p>
        </p:txBody>
      </p:sp>
      <p:sp>
        <p:nvSpPr>
          <p:cNvPr id="605" name="TextBox 606"/>
          <p:cNvSpPr txBox="1"/>
          <p:nvPr/>
        </p:nvSpPr>
        <p:spPr>
          <a:xfrm>
            <a:off x="502920" y="1783080"/>
            <a:ext cx="5440680" cy="182880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어느 샘플이 binding인가가 가장 큰 다툼입니다. 용선계약은 매니폴드 샘플을, 공급자 약관은 바지 리테인 샘플을 최종으로 규정하는 경우가 많습니다.</a:t>
            </a:r>
          </a:p>
          <a:p>
            <a:pPr algn="l">
              <a:lnSpc>
                <a:spcPct val="125000"/>
              </a:lnSpc>
              <a:spcAft>
                <a:spcPts val="0"/>
              </a:spcAft>
            </a:pPr>
            <a:r>
              <a:rPr sz="1200" b="0">
                <a:solidFill>
                  <a:srgbClr val="1A1A1A"/>
                </a:solidFill>
                <a:latin typeface="Calibri"/>
                <a:ea typeface="맑은 고딕"/>
                <a:cs typeface="Calibri"/>
              </a:rPr>
              <a:t>한 사례에서는 공급자 샘플의 봉인 링이 빠지고 천공된 상태였고, 선박 샘플은 캣파인 200mg/kg·나트륨 500mg/kg을 넘은 반면 공급자 샘플은 온스펙이었습니다.</a:t>
            </a:r>
          </a:p>
        </p:txBody>
      </p:sp>
      <p:sp>
        <p:nvSpPr>
          <p:cNvPr id="607" name="Rectangle 608"/>
          <p:cNvSpPr/>
          <p:nvPr/>
        </p:nvSpPr>
        <p:spPr>
          <a:xfrm>
            <a:off x="502920" y="3794760"/>
            <a:ext cx="5440680" cy="777240"/>
          </a:xfrm>
          <a:prstGeom prst="rect">
            <a:avLst/>
          </a:prstGeom>
          <a:solidFill>
            <a:srgbClr val="EFEFEF"/>
          </a:solidFill>
          <a:ln>
            <a:noFill/>
          </a:ln>
          <a:effectLst/>
        </p:spPr>
        <p:txBody>
          <a:bodyPr rtlCol="0" anchor="ctr"/>
          <a:lstStyle/>
          <a:p>
            <a:pPr algn="ctr"/>
            <a:endParaRPr/>
          </a:p>
        </p:txBody>
      </p:sp>
      <p:sp>
        <p:nvSpPr>
          <p:cNvPr id="609" name="TextBox 610"/>
          <p:cNvSpPr txBox="1"/>
          <p:nvPr/>
        </p:nvSpPr>
        <p:spPr>
          <a:xfrm>
            <a:off x="685800" y="379476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단일 파라미터만 시험하자는 제안은 거절하고 전체 fingerprinting을 요구하십시오.</a:t>
            </a:r>
          </a:p>
        </p:txBody>
      </p:sp>
      <p:sp>
        <p:nvSpPr>
          <p:cNvPr id="611" name="Rectangle 612"/>
          <p:cNvSpPr/>
          <p:nvPr/>
        </p:nvSpPr>
        <p:spPr>
          <a:xfrm>
            <a:off x="502920" y="4800600"/>
            <a:ext cx="5440680" cy="329184"/>
          </a:xfrm>
          <a:prstGeom prst="rect">
            <a:avLst/>
          </a:prstGeom>
          <a:solidFill>
            <a:srgbClr val="EFEFEF"/>
          </a:solidFill>
          <a:ln>
            <a:noFill/>
          </a:ln>
          <a:effectLst/>
        </p:spPr>
        <p:txBody>
          <a:bodyPr rtlCol="0" anchor="ctr"/>
          <a:lstStyle/>
          <a:p>
            <a:pPr algn="ctr"/>
            <a:endParaRPr/>
          </a:p>
        </p:txBody>
      </p:sp>
      <p:sp>
        <p:nvSpPr>
          <p:cNvPr id="613" name="TextBox 614"/>
          <p:cNvSpPr txBox="1"/>
          <p:nvPr/>
        </p:nvSpPr>
        <p:spPr>
          <a:xfrm>
            <a:off x="612648" y="480060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왜 full fingerprinting인가</a:t>
            </a:r>
          </a:p>
        </p:txBody>
      </p:sp>
      <p:sp>
        <p:nvSpPr>
          <p:cNvPr id="615" name="TextBox 616"/>
          <p:cNvSpPr txBox="1"/>
          <p:nvPr/>
        </p:nvSpPr>
        <p:spPr>
          <a:xfrm>
            <a:off x="502920" y="5257800"/>
            <a:ext cx="5440680" cy="100584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연료의 전체 화학 프로파일을 확보해야 샘플 간 비교가 가능해지고, 샘플의 진정성·대표성 다툼을 줄일 수 있습니다.</a:t>
            </a:r>
          </a:p>
        </p:txBody>
      </p:sp>
      <p:sp>
        <p:nvSpPr>
          <p:cNvPr id="617" name="Rectangle 618"/>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619" name="TextBox 620"/>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사전에 합의해두어야 할 것</a:t>
            </a:r>
          </a:p>
        </p:txBody>
      </p:sp>
      <p:sp>
        <p:nvSpPr>
          <p:cNvPr id="621" name="Rectangle 622"/>
          <p:cNvSpPr/>
          <p:nvPr/>
        </p:nvSpPr>
        <p:spPr>
          <a:xfrm>
            <a:off x="6245352" y="178308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623" name="TextBox 624"/>
          <p:cNvSpPr txBox="1"/>
          <p:nvPr/>
        </p:nvSpPr>
        <p:spPr>
          <a:xfrm>
            <a:off x="6318504" y="1783080"/>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01</a:t>
            </a:r>
          </a:p>
        </p:txBody>
      </p:sp>
      <p:sp>
        <p:nvSpPr>
          <p:cNvPr id="625" name="Rectangle 626"/>
          <p:cNvSpPr/>
          <p:nvPr/>
        </p:nvSpPr>
        <p:spPr>
          <a:xfrm>
            <a:off x="6812280" y="178308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627" name="TextBox 628"/>
          <p:cNvSpPr txBox="1"/>
          <p:nvPr/>
        </p:nvSpPr>
        <p:spPr>
          <a:xfrm>
            <a:off x="6885432" y="1783080"/>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Binding sample을 어느 것으로 할 것인가 (매니폴드 권장)</a:t>
            </a:r>
          </a:p>
        </p:txBody>
      </p:sp>
      <p:sp>
        <p:nvSpPr>
          <p:cNvPr id="629" name="Rectangle 630"/>
          <p:cNvSpPr/>
          <p:nvPr/>
        </p:nvSpPr>
        <p:spPr>
          <a:xfrm>
            <a:off x="6245352" y="228600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631" name="TextBox 632"/>
          <p:cNvSpPr txBox="1"/>
          <p:nvPr/>
        </p:nvSpPr>
        <p:spPr>
          <a:xfrm>
            <a:off x="6318504" y="2286000"/>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02</a:t>
            </a:r>
          </a:p>
        </p:txBody>
      </p:sp>
      <p:sp>
        <p:nvSpPr>
          <p:cNvPr id="633" name="Rectangle 634"/>
          <p:cNvSpPr/>
          <p:nvPr/>
        </p:nvSpPr>
        <p:spPr>
          <a:xfrm>
            <a:off x="6812280" y="228600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635" name="TextBox 636"/>
          <p:cNvSpPr txBox="1"/>
          <p:nvPr/>
        </p:nvSpPr>
        <p:spPr>
          <a:xfrm>
            <a:off x="6885432" y="2286000"/>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Chain of custody — 봉인·보관·이송 기록 절차</a:t>
            </a:r>
          </a:p>
        </p:txBody>
      </p:sp>
      <p:sp>
        <p:nvSpPr>
          <p:cNvPr id="637" name="Rectangle 638"/>
          <p:cNvSpPr/>
          <p:nvPr/>
        </p:nvSpPr>
        <p:spPr>
          <a:xfrm>
            <a:off x="6245352" y="278892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639" name="TextBox 640"/>
          <p:cNvSpPr txBox="1"/>
          <p:nvPr/>
        </p:nvSpPr>
        <p:spPr>
          <a:xfrm>
            <a:off x="6318504" y="2788920"/>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03</a:t>
            </a:r>
          </a:p>
        </p:txBody>
      </p:sp>
      <p:sp>
        <p:nvSpPr>
          <p:cNvPr id="641" name="Rectangle 642"/>
          <p:cNvSpPr/>
          <p:nvPr/>
        </p:nvSpPr>
        <p:spPr>
          <a:xfrm>
            <a:off x="6812280" y="278892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643" name="TextBox 644"/>
          <p:cNvSpPr txBox="1"/>
          <p:nvPr/>
        </p:nvSpPr>
        <p:spPr>
          <a:xfrm>
            <a:off x="6885432" y="2788920"/>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공동시험 프로토콜 — 연구소, 입회 방법, 시험법</a:t>
            </a:r>
          </a:p>
        </p:txBody>
      </p:sp>
      <p:sp>
        <p:nvSpPr>
          <p:cNvPr id="645" name="Rectangle 646"/>
          <p:cNvSpPr/>
          <p:nvPr/>
        </p:nvSpPr>
        <p:spPr>
          <a:xfrm>
            <a:off x="6245352" y="329184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647" name="TextBox 648"/>
          <p:cNvSpPr txBox="1"/>
          <p:nvPr/>
        </p:nvSpPr>
        <p:spPr>
          <a:xfrm>
            <a:off x="6318504" y="3291840"/>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04</a:t>
            </a:r>
          </a:p>
        </p:txBody>
      </p:sp>
      <p:sp>
        <p:nvSpPr>
          <p:cNvPr id="649" name="Rectangle 650"/>
          <p:cNvSpPr/>
          <p:nvPr/>
        </p:nvSpPr>
        <p:spPr>
          <a:xfrm>
            <a:off x="6812280" y="329184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651" name="TextBox 652"/>
          <p:cNvSpPr txBox="1"/>
          <p:nvPr/>
        </p:nvSpPr>
        <p:spPr>
          <a:xfrm>
            <a:off x="6885432" y="3291840"/>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표준 시험 외 분석(GCMS) 비용 부담 주체</a:t>
            </a:r>
          </a:p>
        </p:txBody>
      </p:sp>
      <p:sp>
        <p:nvSpPr>
          <p:cNvPr id="653" name="Rectangle 654"/>
          <p:cNvSpPr/>
          <p:nvPr/>
        </p:nvSpPr>
        <p:spPr>
          <a:xfrm>
            <a:off x="6245352" y="3794760"/>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655" name="TextBox 656"/>
          <p:cNvSpPr txBox="1"/>
          <p:nvPr/>
        </p:nvSpPr>
        <p:spPr>
          <a:xfrm>
            <a:off x="6318504" y="3794760"/>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05</a:t>
            </a:r>
          </a:p>
        </p:txBody>
      </p:sp>
      <p:sp>
        <p:nvSpPr>
          <p:cNvPr id="657" name="Rectangle 658"/>
          <p:cNvSpPr/>
          <p:nvPr/>
        </p:nvSpPr>
        <p:spPr>
          <a:xfrm>
            <a:off x="6812280" y="3794760"/>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659" name="TextBox 660"/>
          <p:cNvSpPr txBox="1"/>
          <p:nvPr/>
        </p:nvSpPr>
        <p:spPr>
          <a:xfrm>
            <a:off x="6885432" y="3794760"/>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ISO 4259 시험 허용오차의 적용 방식</a:t>
            </a:r>
          </a:p>
        </p:txBody>
      </p:sp>
      <p:sp>
        <p:nvSpPr>
          <p:cNvPr id="661" name="TextBox 662"/>
          <p:cNvSpPr txBox="1"/>
          <p:nvPr/>
        </p:nvSpPr>
        <p:spPr>
          <a:xfrm>
            <a:off x="6245352" y="4480560"/>
            <a:ext cx="5440680" cy="36576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사전 합의가 없으면 증거 다툼이 본안 다툼을 압도합니다.</a:t>
            </a:r>
          </a:p>
        </p:txBody>
      </p:sp>
      <p:sp>
        <p:nvSpPr>
          <p:cNvPr id="663" name="Rectangle 664"/>
          <p:cNvSpPr/>
          <p:nvPr/>
        </p:nvSpPr>
        <p:spPr>
          <a:xfrm>
            <a:off x="6245352" y="4937760"/>
            <a:ext cx="5440680" cy="777240"/>
          </a:xfrm>
          <a:prstGeom prst="rect">
            <a:avLst/>
          </a:prstGeom>
          <a:solidFill>
            <a:srgbClr val="EFEFEF"/>
          </a:solidFill>
          <a:ln>
            <a:noFill/>
          </a:ln>
          <a:effectLst/>
        </p:spPr>
        <p:txBody>
          <a:bodyPr rtlCol="0" anchor="ctr"/>
          <a:lstStyle/>
          <a:p>
            <a:pPr algn="ctr"/>
            <a:endParaRPr/>
          </a:p>
        </p:txBody>
      </p:sp>
      <p:sp>
        <p:nvSpPr>
          <p:cNvPr id="665" name="TextBox 666"/>
          <p:cNvSpPr txBox="1"/>
          <p:nvPr/>
        </p:nvSpPr>
        <p:spPr>
          <a:xfrm>
            <a:off x="6428232" y="4937760"/>
            <a:ext cx="5074920" cy="777240"/>
          </a:xfrm>
          <a:prstGeom prst="rect">
            <a:avLst/>
          </a:prstGeom>
          <a:noFill/>
        </p:spPr>
        <p:txBody>
          <a:bodyPr wrap="square" lIns="36576" tIns="0" rIns="36576" bIns="0" anchor="ctr"/>
          <a:lstStyle/>
          <a:p>
            <a:pPr algn="l">
              <a:lnSpc>
                <a:spcPct val="125000"/>
              </a:lnSpc>
              <a:spcAft>
                <a:spcPts val="0"/>
              </a:spcAft>
            </a:pPr>
            <a:r>
              <a:rPr sz="1200" b="1">
                <a:solidFill>
                  <a:srgbClr val="595959"/>
                </a:solidFill>
                <a:latin typeface="Calibri"/>
                <a:ea typeface="맑은 고딕"/>
                <a:cs typeface="Calibri"/>
              </a:rPr>
              <a:t>3D 프린팅 봉인 복제 의혹도 제기되었으나 Gard 취급 사건에서 입증된 바는 없습니다.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 name="Rectangle 66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669" name="TextBox 670"/>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바이오연료 시장 — 왜 지금인가</a:t>
            </a:r>
          </a:p>
        </p:txBody>
      </p:sp>
      <p:sp>
        <p:nvSpPr>
          <p:cNvPr id="671" name="Rectangle 67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673" name="TextBox 67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숫자로 본 시장</a:t>
            </a:r>
          </a:p>
        </p:txBody>
      </p:sp>
      <p:sp>
        <p:nvSpPr>
          <p:cNvPr id="675" name="Rectangle 676"/>
          <p:cNvSpPr/>
          <p:nvPr/>
        </p:nvSpPr>
        <p:spPr>
          <a:xfrm>
            <a:off x="502920" y="1783080"/>
            <a:ext cx="3017520" cy="402336"/>
          </a:xfrm>
          <a:prstGeom prst="rect">
            <a:avLst/>
          </a:prstGeom>
          <a:solidFill>
            <a:srgbClr val="172A4A"/>
          </a:solidFill>
          <a:ln>
            <a:noFill/>
          </a:ln>
          <a:effectLst/>
        </p:spPr>
        <p:txBody>
          <a:bodyPr rtlCol="0" anchor="ctr"/>
          <a:lstStyle/>
          <a:p>
            <a:pPr algn="ctr"/>
            <a:endParaRPr/>
          </a:p>
        </p:txBody>
      </p:sp>
      <p:sp>
        <p:nvSpPr>
          <p:cNvPr id="677" name="TextBox 678"/>
          <p:cNvSpPr txBox="1"/>
          <p:nvPr/>
        </p:nvSpPr>
        <p:spPr>
          <a:xfrm>
            <a:off x="576072" y="1783080"/>
            <a:ext cx="287121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지표</a:t>
            </a:r>
          </a:p>
        </p:txBody>
      </p:sp>
      <p:sp>
        <p:nvSpPr>
          <p:cNvPr id="679" name="Rectangle 680"/>
          <p:cNvSpPr/>
          <p:nvPr/>
        </p:nvSpPr>
        <p:spPr>
          <a:xfrm>
            <a:off x="3520440" y="1783080"/>
            <a:ext cx="2423160" cy="402336"/>
          </a:xfrm>
          <a:prstGeom prst="rect">
            <a:avLst/>
          </a:prstGeom>
          <a:solidFill>
            <a:srgbClr val="172A4A"/>
          </a:solidFill>
          <a:ln>
            <a:noFill/>
          </a:ln>
          <a:effectLst/>
        </p:spPr>
        <p:txBody>
          <a:bodyPr rtlCol="0" anchor="ctr"/>
          <a:lstStyle/>
          <a:p>
            <a:pPr algn="ctr"/>
            <a:endParaRPr/>
          </a:p>
        </p:txBody>
      </p:sp>
      <p:sp>
        <p:nvSpPr>
          <p:cNvPr id="681" name="TextBox 682"/>
          <p:cNvSpPr txBox="1"/>
          <p:nvPr/>
        </p:nvSpPr>
        <p:spPr>
          <a:xfrm>
            <a:off x="3593592" y="1783080"/>
            <a:ext cx="227685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값</a:t>
            </a:r>
          </a:p>
        </p:txBody>
      </p:sp>
      <p:sp>
        <p:nvSpPr>
          <p:cNvPr id="683" name="Rectangle 684"/>
          <p:cNvSpPr/>
          <p:nvPr/>
        </p:nvSpPr>
        <p:spPr>
          <a:xfrm>
            <a:off x="502920" y="2185416"/>
            <a:ext cx="3017520" cy="512064"/>
          </a:xfrm>
          <a:prstGeom prst="rect">
            <a:avLst/>
          </a:prstGeom>
          <a:solidFill>
            <a:srgbClr val="FFFFFF"/>
          </a:solidFill>
          <a:ln w="9525">
            <a:solidFill>
              <a:srgbClr val="D0D4DA"/>
            </a:solidFill>
          </a:ln>
          <a:effectLst/>
        </p:spPr>
        <p:txBody>
          <a:bodyPr rtlCol="0" anchor="ctr"/>
          <a:lstStyle/>
          <a:p>
            <a:pPr algn="ctr"/>
            <a:endParaRPr/>
          </a:p>
        </p:txBody>
      </p:sp>
      <p:sp>
        <p:nvSpPr>
          <p:cNvPr id="685" name="TextBox 686"/>
          <p:cNvSpPr txBox="1"/>
          <p:nvPr/>
        </p:nvSpPr>
        <p:spPr>
          <a:xfrm>
            <a:off x="576072" y="2185416"/>
            <a:ext cx="2871216" cy="51206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싱가포르 바이오 블렌드 판매 (2025)</a:t>
            </a:r>
          </a:p>
        </p:txBody>
      </p:sp>
      <p:sp>
        <p:nvSpPr>
          <p:cNvPr id="687" name="Rectangle 688"/>
          <p:cNvSpPr/>
          <p:nvPr/>
        </p:nvSpPr>
        <p:spPr>
          <a:xfrm>
            <a:off x="3520440" y="2185416"/>
            <a:ext cx="2423160" cy="512064"/>
          </a:xfrm>
          <a:prstGeom prst="rect">
            <a:avLst/>
          </a:prstGeom>
          <a:solidFill>
            <a:srgbClr val="FFFFFF"/>
          </a:solidFill>
          <a:ln w="9525">
            <a:solidFill>
              <a:srgbClr val="D0D4DA"/>
            </a:solidFill>
          </a:ln>
          <a:effectLst/>
        </p:spPr>
        <p:txBody>
          <a:bodyPr rtlCol="0" anchor="ctr"/>
          <a:lstStyle/>
          <a:p>
            <a:pPr algn="ctr"/>
            <a:endParaRPr/>
          </a:p>
        </p:txBody>
      </p:sp>
      <p:sp>
        <p:nvSpPr>
          <p:cNvPr id="689" name="TextBox 690"/>
          <p:cNvSpPr txBox="1"/>
          <p:nvPr/>
        </p:nvSpPr>
        <p:spPr>
          <a:xfrm>
            <a:off x="3593592" y="2185416"/>
            <a:ext cx="2276856" cy="512064"/>
          </a:xfrm>
          <a:prstGeom prst="rect">
            <a:avLst/>
          </a:prstGeom>
          <a:noFill/>
        </p:spPr>
        <p:txBody>
          <a:bodyPr wrap="square" lIns="36576" tIns="0" rIns="36576" bIns="0" anchor="ctr"/>
          <a:lstStyle/>
          <a:p>
            <a:pPr algn="l">
              <a:lnSpc>
                <a:spcPct val="110000"/>
              </a:lnSpc>
              <a:spcAft>
                <a:spcPts val="0"/>
              </a:spcAft>
            </a:pPr>
            <a:r>
              <a:rPr sz="1200" b="1">
                <a:solidFill>
                  <a:srgbClr val="1F6F3D"/>
                </a:solidFill>
                <a:latin typeface="Calibri"/>
                <a:ea typeface="맑은 고딕"/>
                <a:cs typeface="Calibri"/>
              </a:rPr>
              <a:t>약 1.3백만 톤 (+53%)</a:t>
            </a:r>
          </a:p>
        </p:txBody>
      </p:sp>
      <p:sp>
        <p:nvSpPr>
          <p:cNvPr id="691" name="Rectangle 692"/>
          <p:cNvSpPr/>
          <p:nvPr/>
        </p:nvSpPr>
        <p:spPr>
          <a:xfrm>
            <a:off x="502920" y="2697480"/>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693" name="TextBox 694"/>
          <p:cNvSpPr txBox="1"/>
          <p:nvPr/>
        </p:nvSpPr>
        <p:spPr>
          <a:xfrm>
            <a:off x="576072" y="2697480"/>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로테르담 (2025)</a:t>
            </a:r>
          </a:p>
        </p:txBody>
      </p:sp>
      <p:sp>
        <p:nvSpPr>
          <p:cNvPr id="695" name="Rectangle 696"/>
          <p:cNvSpPr/>
          <p:nvPr/>
        </p:nvSpPr>
        <p:spPr>
          <a:xfrm>
            <a:off x="3520440" y="2697480"/>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697" name="TextBox 698"/>
          <p:cNvSpPr txBox="1"/>
          <p:nvPr/>
        </p:nvSpPr>
        <p:spPr>
          <a:xfrm>
            <a:off x="3593592" y="2697480"/>
            <a:ext cx="22768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약 63.5만 톤</a:t>
            </a:r>
          </a:p>
        </p:txBody>
      </p:sp>
      <p:sp>
        <p:nvSpPr>
          <p:cNvPr id="699" name="Rectangle 700"/>
          <p:cNvSpPr/>
          <p:nvPr/>
        </p:nvSpPr>
        <p:spPr>
          <a:xfrm>
            <a:off x="502920" y="3099816"/>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701" name="TextBox 702"/>
          <p:cNvSpPr txBox="1"/>
          <p:nvPr/>
        </p:nvSpPr>
        <p:spPr>
          <a:xfrm>
            <a:off x="576072" y="3099816"/>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글로벌 UCO 공급량</a:t>
            </a:r>
          </a:p>
        </p:txBody>
      </p:sp>
      <p:sp>
        <p:nvSpPr>
          <p:cNvPr id="703" name="Rectangle 704"/>
          <p:cNvSpPr/>
          <p:nvPr/>
        </p:nvSpPr>
        <p:spPr>
          <a:xfrm>
            <a:off x="3520440" y="3099816"/>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705" name="TextBox 706"/>
          <p:cNvSpPr txBox="1"/>
          <p:nvPr/>
        </p:nvSpPr>
        <p:spPr>
          <a:xfrm>
            <a:off x="3593592" y="3099816"/>
            <a:ext cx="22768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1,100–1,200만 톤</a:t>
            </a:r>
          </a:p>
        </p:txBody>
      </p:sp>
      <p:sp>
        <p:nvSpPr>
          <p:cNvPr id="707" name="Rectangle 708"/>
          <p:cNvSpPr/>
          <p:nvPr/>
        </p:nvSpPr>
        <p:spPr>
          <a:xfrm>
            <a:off x="502920" y="3502152"/>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709" name="TextBox 710"/>
          <p:cNvSpPr txBox="1"/>
          <p:nvPr/>
        </p:nvSpPr>
        <p:spPr>
          <a:xfrm>
            <a:off x="576072" y="3502152"/>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그중 마린 바이오디젤용</a:t>
            </a:r>
          </a:p>
        </p:txBody>
      </p:sp>
      <p:sp>
        <p:nvSpPr>
          <p:cNvPr id="711" name="Rectangle 712"/>
          <p:cNvSpPr/>
          <p:nvPr/>
        </p:nvSpPr>
        <p:spPr>
          <a:xfrm>
            <a:off x="3520440" y="3502152"/>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713" name="TextBox 714"/>
          <p:cNvSpPr txBox="1"/>
          <p:nvPr/>
        </p:nvSpPr>
        <p:spPr>
          <a:xfrm>
            <a:off x="3593592" y="3502152"/>
            <a:ext cx="2276856" cy="402336"/>
          </a:xfrm>
          <a:prstGeom prst="rect">
            <a:avLst/>
          </a:prstGeom>
          <a:noFill/>
        </p:spPr>
        <p:txBody>
          <a:bodyPr wrap="square" lIns="36576" tIns="0" rIns="36576" bIns="0" anchor="ctr"/>
          <a:lstStyle/>
          <a:p>
            <a:pPr algn="l">
              <a:lnSpc>
                <a:spcPct val="110000"/>
              </a:lnSpc>
              <a:spcAft>
                <a:spcPts val="0"/>
              </a:spcAft>
            </a:pPr>
            <a:r>
              <a:rPr sz="1200" b="1">
                <a:solidFill>
                  <a:srgbClr val="C00000"/>
                </a:solidFill>
                <a:latin typeface="Calibri"/>
                <a:ea typeface="맑은 고딕"/>
                <a:cs typeface="Calibri"/>
              </a:rPr>
              <a:t>약 37만 톤에 불과</a:t>
            </a:r>
          </a:p>
        </p:txBody>
      </p:sp>
      <p:sp>
        <p:nvSpPr>
          <p:cNvPr id="715" name="Rectangle 716"/>
          <p:cNvSpPr/>
          <p:nvPr/>
        </p:nvSpPr>
        <p:spPr>
          <a:xfrm>
            <a:off x="502920" y="3904488"/>
            <a:ext cx="3017520" cy="402336"/>
          </a:xfrm>
          <a:prstGeom prst="rect">
            <a:avLst/>
          </a:prstGeom>
          <a:solidFill>
            <a:srgbClr val="FFFFFF"/>
          </a:solidFill>
          <a:ln w="9525">
            <a:solidFill>
              <a:srgbClr val="D0D4DA"/>
            </a:solidFill>
          </a:ln>
          <a:effectLst/>
        </p:spPr>
        <p:txBody>
          <a:bodyPr rtlCol="0" anchor="ctr"/>
          <a:lstStyle/>
          <a:p>
            <a:pPr algn="ctr"/>
            <a:endParaRPr/>
          </a:p>
        </p:txBody>
      </p:sp>
      <p:sp>
        <p:nvSpPr>
          <p:cNvPr id="717" name="TextBox 718"/>
          <p:cNvSpPr txBox="1"/>
          <p:nvPr/>
        </p:nvSpPr>
        <p:spPr>
          <a:xfrm>
            <a:off x="576072" y="3904488"/>
            <a:ext cx="28712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VLSFO 대비 프리미엄</a:t>
            </a:r>
          </a:p>
        </p:txBody>
      </p:sp>
      <p:sp>
        <p:nvSpPr>
          <p:cNvPr id="719" name="Rectangle 720"/>
          <p:cNvSpPr/>
          <p:nvPr/>
        </p:nvSpPr>
        <p:spPr>
          <a:xfrm>
            <a:off x="3520440" y="3904488"/>
            <a:ext cx="2423160" cy="402336"/>
          </a:xfrm>
          <a:prstGeom prst="rect">
            <a:avLst/>
          </a:prstGeom>
          <a:solidFill>
            <a:srgbClr val="FFFFFF"/>
          </a:solidFill>
          <a:ln w="9525">
            <a:solidFill>
              <a:srgbClr val="D0D4DA"/>
            </a:solidFill>
          </a:ln>
          <a:effectLst/>
        </p:spPr>
        <p:txBody>
          <a:bodyPr rtlCol="0" anchor="ctr"/>
          <a:lstStyle/>
          <a:p>
            <a:pPr algn="ctr"/>
            <a:endParaRPr/>
          </a:p>
        </p:txBody>
      </p:sp>
      <p:sp>
        <p:nvSpPr>
          <p:cNvPr id="721" name="TextBox 722"/>
          <p:cNvSpPr txBox="1"/>
          <p:nvPr/>
        </p:nvSpPr>
        <p:spPr>
          <a:xfrm>
            <a:off x="3593592" y="3904488"/>
            <a:ext cx="22768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약 $200/t 대 구조적 유지</a:t>
            </a:r>
          </a:p>
        </p:txBody>
      </p:sp>
      <p:sp>
        <p:nvSpPr>
          <p:cNvPr id="723" name="TextBox 724"/>
          <p:cNvSpPr txBox="1"/>
          <p:nvPr/>
        </p:nvSpPr>
        <p:spPr>
          <a:xfrm>
            <a:off x="502920" y="4480560"/>
            <a:ext cx="5440680" cy="54864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 SSA 문서 내 서문은 1.36백만 톤, FAQ 31은 1.33백만 톤으로 표기 — 본 장은 “약 1.3백만 톤”으로 통일했습니다.</a:t>
            </a:r>
          </a:p>
        </p:txBody>
      </p:sp>
      <p:sp>
        <p:nvSpPr>
          <p:cNvPr id="725" name="Rectangle 726"/>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727" name="TextBox 728"/>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수요를 끌고 가는 것은 IMO가 아니라 EU</a:t>
            </a:r>
          </a:p>
        </p:txBody>
      </p:sp>
      <p:sp>
        <p:nvSpPr>
          <p:cNvPr id="729" name="TextBox 730"/>
          <p:cNvSpPr txBox="1"/>
          <p:nvPr/>
        </p:nvSpPr>
        <p:spPr>
          <a:xfrm>
            <a:off x="6245352" y="1783080"/>
            <a:ext cx="5440680" cy="201168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FuelEU Maritime가 2025년 1월 발효하면서 벙커 구매가 가격 최적화에서 컴플라이언스 조달로 이동했습니다.</a:t>
            </a:r>
          </a:p>
          <a:p>
            <a:pPr algn="l">
              <a:lnSpc>
                <a:spcPct val="125000"/>
              </a:lnSpc>
              <a:spcAft>
                <a:spcPts val="700"/>
              </a:spcAft>
            </a:pPr>
            <a:r>
              <a:rPr sz="1200" b="0">
                <a:solidFill>
                  <a:srgbClr val="1A1A1A"/>
                </a:solidFill>
                <a:latin typeface="Calibri"/>
                <a:ea typeface="맑은 고딕"/>
                <a:cs typeface="Calibri"/>
              </a:rPr>
              <a:t>반면 IMO의 넷제로 프레임워크(NZF)는 2025년 10월 연기되어 단기 수요에 미치는 영향이 제한적입니다.</a:t>
            </a:r>
          </a:p>
          <a:p>
            <a:pPr algn="l">
              <a:lnSpc>
                <a:spcPct val="125000"/>
              </a:lnSpc>
              <a:spcAft>
                <a:spcPts val="0"/>
              </a:spcAft>
            </a:pPr>
            <a:r>
              <a:rPr sz="1200" b="0">
                <a:solidFill>
                  <a:srgbClr val="1A1A1A"/>
                </a:solidFill>
                <a:latin typeface="Calibri"/>
                <a:ea typeface="맑은 고딕"/>
                <a:cs typeface="Calibri"/>
              </a:rPr>
              <a:t>항공 SAF와 같은 원료를 놓고 경쟁하면서 인증 UCOME 확보 경쟁과 가격 변동성이 커졌습니다.</a:t>
            </a:r>
          </a:p>
        </p:txBody>
      </p:sp>
      <p:sp>
        <p:nvSpPr>
          <p:cNvPr id="731" name="Rectangle 732"/>
          <p:cNvSpPr/>
          <p:nvPr/>
        </p:nvSpPr>
        <p:spPr>
          <a:xfrm>
            <a:off x="6245352" y="3977640"/>
            <a:ext cx="5440680" cy="777240"/>
          </a:xfrm>
          <a:prstGeom prst="rect">
            <a:avLst/>
          </a:prstGeom>
          <a:solidFill>
            <a:srgbClr val="EFEFEF"/>
          </a:solidFill>
          <a:ln>
            <a:noFill/>
          </a:ln>
          <a:effectLst/>
        </p:spPr>
        <p:txBody>
          <a:bodyPr rtlCol="0" anchor="ctr"/>
          <a:lstStyle/>
          <a:p>
            <a:pPr algn="ctr"/>
            <a:endParaRPr/>
          </a:p>
        </p:txBody>
      </p:sp>
      <p:sp>
        <p:nvSpPr>
          <p:cNvPr id="733" name="TextBox 734"/>
          <p:cNvSpPr txBox="1"/>
          <p:nvPr/>
        </p:nvSpPr>
        <p:spPr>
          <a:xfrm>
            <a:off x="6428232" y="3977640"/>
            <a:ext cx="5074920" cy="77724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APAC이 2025년 최대 바이오 벙커링 지역으로 로테르담을 추월했습니다.</a:t>
            </a:r>
          </a:p>
        </p:txBody>
      </p:sp>
      <p:sp>
        <p:nvSpPr>
          <p:cNvPr id="735" name="TextBox 736"/>
          <p:cNvSpPr txBox="1"/>
          <p:nvPr/>
        </p:nvSpPr>
        <p:spPr>
          <a:xfrm>
            <a:off x="6245352" y="4892040"/>
            <a:ext cx="5440680" cy="45720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Zhoushan은 2026년 3월 13일 중국 본토 최초로 현지 블렌딩을 시작했습니다.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 name="Rectangle 73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739" name="TextBox 740"/>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바이오연료의 기술·운항 리스크</a:t>
            </a:r>
          </a:p>
        </p:txBody>
      </p:sp>
      <p:sp>
        <p:nvSpPr>
          <p:cNvPr id="741" name="Rectangle 74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743" name="TextBox 74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주의해야 할 9가지</a:t>
            </a:r>
          </a:p>
        </p:txBody>
      </p:sp>
      <p:sp>
        <p:nvSpPr>
          <p:cNvPr id="745" name="Rectangle 746"/>
          <p:cNvSpPr/>
          <p:nvPr/>
        </p:nvSpPr>
        <p:spPr>
          <a:xfrm>
            <a:off x="502920" y="1783080"/>
            <a:ext cx="1554480" cy="384048"/>
          </a:xfrm>
          <a:prstGeom prst="rect">
            <a:avLst/>
          </a:prstGeom>
          <a:solidFill>
            <a:srgbClr val="172A4A"/>
          </a:solidFill>
          <a:ln>
            <a:noFill/>
          </a:ln>
          <a:effectLst/>
        </p:spPr>
        <p:txBody>
          <a:bodyPr rtlCol="0" anchor="ctr"/>
          <a:lstStyle/>
          <a:p>
            <a:pPr algn="ctr"/>
            <a:endParaRPr/>
          </a:p>
        </p:txBody>
      </p:sp>
      <p:sp>
        <p:nvSpPr>
          <p:cNvPr id="747" name="TextBox 748"/>
          <p:cNvSpPr txBox="1"/>
          <p:nvPr/>
        </p:nvSpPr>
        <p:spPr>
          <a:xfrm>
            <a:off x="576072" y="1783080"/>
            <a:ext cx="140817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항목</a:t>
            </a:r>
          </a:p>
        </p:txBody>
      </p:sp>
      <p:sp>
        <p:nvSpPr>
          <p:cNvPr id="749" name="Rectangle 750"/>
          <p:cNvSpPr/>
          <p:nvPr/>
        </p:nvSpPr>
        <p:spPr>
          <a:xfrm>
            <a:off x="2057400" y="1783080"/>
            <a:ext cx="3886200" cy="384048"/>
          </a:xfrm>
          <a:prstGeom prst="rect">
            <a:avLst/>
          </a:prstGeom>
          <a:solidFill>
            <a:srgbClr val="172A4A"/>
          </a:solidFill>
          <a:ln>
            <a:noFill/>
          </a:ln>
          <a:effectLst/>
        </p:spPr>
        <p:txBody>
          <a:bodyPr rtlCol="0" anchor="ctr"/>
          <a:lstStyle/>
          <a:p>
            <a:pPr algn="ctr"/>
            <a:endParaRPr/>
          </a:p>
        </p:txBody>
      </p:sp>
      <p:sp>
        <p:nvSpPr>
          <p:cNvPr id="751" name="TextBox 752"/>
          <p:cNvSpPr txBox="1"/>
          <p:nvPr/>
        </p:nvSpPr>
        <p:spPr>
          <a:xfrm>
            <a:off x="2130552" y="1783080"/>
            <a:ext cx="373989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내용</a:t>
            </a:r>
          </a:p>
        </p:txBody>
      </p:sp>
      <p:sp>
        <p:nvSpPr>
          <p:cNvPr id="753" name="Rectangle 754"/>
          <p:cNvSpPr/>
          <p:nvPr/>
        </p:nvSpPr>
        <p:spPr>
          <a:xfrm>
            <a:off x="502920" y="2167128"/>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55" name="TextBox 756"/>
          <p:cNvSpPr txBox="1"/>
          <p:nvPr/>
        </p:nvSpPr>
        <p:spPr>
          <a:xfrm>
            <a:off x="576072" y="2167128"/>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저장 열화</a:t>
            </a:r>
          </a:p>
        </p:txBody>
      </p:sp>
      <p:sp>
        <p:nvSpPr>
          <p:cNvPr id="757" name="Rectangle 758"/>
          <p:cNvSpPr/>
          <p:nvPr/>
        </p:nvSpPr>
        <p:spPr>
          <a:xfrm>
            <a:off x="2057400" y="2167128"/>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59" name="TextBox 760"/>
          <p:cNvSpPr txBox="1"/>
          <p:nvPr/>
        </p:nvSpPr>
        <p:spPr>
          <a:xfrm>
            <a:off x="2130552" y="2167128"/>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기한 내 사용하지 않으면 슬러지 생성</a:t>
            </a:r>
          </a:p>
        </p:txBody>
      </p:sp>
      <p:sp>
        <p:nvSpPr>
          <p:cNvPr id="761" name="Rectangle 762"/>
          <p:cNvSpPr/>
          <p:nvPr/>
        </p:nvSpPr>
        <p:spPr>
          <a:xfrm>
            <a:off x="502920" y="2551176"/>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63" name="TextBox 764"/>
          <p:cNvSpPr txBox="1"/>
          <p:nvPr/>
        </p:nvSpPr>
        <p:spPr>
          <a:xfrm>
            <a:off x="576072" y="2551176"/>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저온 왁싱</a:t>
            </a:r>
          </a:p>
        </p:txBody>
      </p:sp>
      <p:sp>
        <p:nvSpPr>
          <p:cNvPr id="765" name="Rectangle 766"/>
          <p:cNvSpPr/>
          <p:nvPr/>
        </p:nvSpPr>
        <p:spPr>
          <a:xfrm>
            <a:off x="2057400" y="2551176"/>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67" name="TextBox 768"/>
          <p:cNvSpPr txBox="1"/>
          <p:nvPr/>
        </p:nvSpPr>
        <p:spPr>
          <a:xfrm>
            <a:off x="2130552" y="2551176"/>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한랭지 항해 시 탱크 내 왁스 생성 — 가열 용량 확인</a:t>
            </a:r>
          </a:p>
        </p:txBody>
      </p:sp>
      <p:sp>
        <p:nvSpPr>
          <p:cNvPr id="769" name="Rectangle 770"/>
          <p:cNvSpPr/>
          <p:nvPr/>
        </p:nvSpPr>
        <p:spPr>
          <a:xfrm>
            <a:off x="502920" y="2935224"/>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71" name="TextBox 772"/>
          <p:cNvSpPr txBox="1"/>
          <p:nvPr/>
        </p:nvSpPr>
        <p:spPr>
          <a:xfrm>
            <a:off x="576072" y="2935224"/>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미생물 증식</a:t>
            </a:r>
          </a:p>
        </p:txBody>
      </p:sp>
      <p:sp>
        <p:nvSpPr>
          <p:cNvPr id="773" name="Rectangle 774"/>
          <p:cNvSpPr/>
          <p:nvPr/>
        </p:nvSpPr>
        <p:spPr>
          <a:xfrm>
            <a:off x="2057400" y="2935224"/>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75" name="TextBox 776"/>
          <p:cNvSpPr txBox="1"/>
          <p:nvPr/>
        </p:nvSpPr>
        <p:spPr>
          <a:xfrm>
            <a:off x="2130552" y="2935224"/>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수분·고산소로 바이오필름 형성</a:t>
            </a:r>
          </a:p>
        </p:txBody>
      </p:sp>
      <p:sp>
        <p:nvSpPr>
          <p:cNvPr id="777" name="Rectangle 778"/>
          <p:cNvSpPr/>
          <p:nvPr/>
        </p:nvSpPr>
        <p:spPr>
          <a:xfrm>
            <a:off x="502920" y="3319272"/>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79" name="TextBox 780"/>
          <p:cNvSpPr txBox="1"/>
          <p:nvPr/>
        </p:nvSpPr>
        <p:spPr>
          <a:xfrm>
            <a:off x="576072" y="3319272"/>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호환성</a:t>
            </a:r>
          </a:p>
        </p:txBody>
      </p:sp>
      <p:sp>
        <p:nvSpPr>
          <p:cNvPr id="781" name="Rectangle 782"/>
          <p:cNvSpPr/>
          <p:nvPr/>
        </p:nvSpPr>
        <p:spPr>
          <a:xfrm>
            <a:off x="2057400" y="3319272"/>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83" name="TextBox 784"/>
          <p:cNvSpPr txBox="1"/>
          <p:nvPr/>
        </p:nvSpPr>
        <p:spPr>
          <a:xfrm>
            <a:off x="2130552" y="3319272"/>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다른 연료와 혼합 시 불안정 — 탱크 세정 권장</a:t>
            </a:r>
          </a:p>
        </p:txBody>
      </p:sp>
      <p:sp>
        <p:nvSpPr>
          <p:cNvPr id="785" name="Rectangle 786"/>
          <p:cNvSpPr/>
          <p:nvPr/>
        </p:nvSpPr>
        <p:spPr>
          <a:xfrm>
            <a:off x="502920" y="3703320"/>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87" name="TextBox 788"/>
          <p:cNvSpPr txBox="1"/>
          <p:nvPr/>
        </p:nvSpPr>
        <p:spPr>
          <a:xfrm>
            <a:off x="576072" y="3703320"/>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부식</a:t>
            </a:r>
          </a:p>
        </p:txBody>
      </p:sp>
      <p:sp>
        <p:nvSpPr>
          <p:cNvPr id="789" name="Rectangle 790"/>
          <p:cNvSpPr/>
          <p:nvPr/>
        </p:nvSpPr>
        <p:spPr>
          <a:xfrm>
            <a:off x="2057400" y="3703320"/>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91" name="TextBox 792"/>
          <p:cNvSpPr txBox="1"/>
          <p:nvPr/>
        </p:nvSpPr>
        <p:spPr>
          <a:xfrm>
            <a:off x="2130552" y="3703320"/>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자동산화가 부식성을 증폭</a:t>
            </a:r>
          </a:p>
        </p:txBody>
      </p:sp>
      <p:sp>
        <p:nvSpPr>
          <p:cNvPr id="793" name="Rectangle 794"/>
          <p:cNvSpPr/>
          <p:nvPr/>
        </p:nvSpPr>
        <p:spPr>
          <a:xfrm>
            <a:off x="502920" y="4087368"/>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95" name="TextBox 796"/>
          <p:cNvSpPr txBox="1"/>
          <p:nvPr/>
        </p:nvSpPr>
        <p:spPr>
          <a:xfrm>
            <a:off x="576072" y="4087368"/>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씰·개스킷 열화</a:t>
            </a:r>
          </a:p>
        </p:txBody>
      </p:sp>
      <p:sp>
        <p:nvSpPr>
          <p:cNvPr id="797" name="Rectangle 798"/>
          <p:cNvSpPr/>
          <p:nvPr/>
        </p:nvSpPr>
        <p:spPr>
          <a:xfrm>
            <a:off x="2057400" y="4087368"/>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99" name="TextBox 800"/>
          <p:cNvSpPr txBox="1"/>
          <p:nvPr/>
        </p:nvSpPr>
        <p:spPr>
          <a:xfrm>
            <a:off x="2130552" y="4087368"/>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고무 재질 손상 — 연료계통 재질 검증 필요</a:t>
            </a:r>
          </a:p>
        </p:txBody>
      </p:sp>
      <p:sp>
        <p:nvSpPr>
          <p:cNvPr id="801" name="Rectangle 802"/>
          <p:cNvSpPr/>
          <p:nvPr/>
        </p:nvSpPr>
        <p:spPr>
          <a:xfrm>
            <a:off x="502920" y="4471416"/>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803" name="TextBox 804"/>
          <p:cNvSpPr txBox="1"/>
          <p:nvPr/>
        </p:nvSpPr>
        <p:spPr>
          <a:xfrm>
            <a:off x="576072" y="4471416"/>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윤활유</a:t>
            </a:r>
          </a:p>
        </p:txBody>
      </p:sp>
      <p:sp>
        <p:nvSpPr>
          <p:cNvPr id="805" name="Rectangle 806"/>
          <p:cNvSpPr/>
          <p:nvPr/>
        </p:nvSpPr>
        <p:spPr>
          <a:xfrm>
            <a:off x="2057400" y="4471416"/>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807" name="TextBox 808"/>
          <p:cNvSpPr txBox="1"/>
          <p:nvPr/>
        </p:nvSpPr>
        <p:spPr>
          <a:xfrm>
            <a:off x="2130552" y="4471416"/>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엔진에 따라 다른 윤활유가 필요할 수 있음</a:t>
            </a:r>
          </a:p>
        </p:txBody>
      </p:sp>
      <p:sp>
        <p:nvSpPr>
          <p:cNvPr id="809" name="Rectangle 810"/>
          <p:cNvSpPr/>
          <p:nvPr/>
        </p:nvSpPr>
        <p:spPr>
          <a:xfrm>
            <a:off x="502920" y="4855464"/>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811" name="TextBox 812"/>
          <p:cNvSpPr txBox="1"/>
          <p:nvPr/>
        </p:nvSpPr>
        <p:spPr>
          <a:xfrm>
            <a:off x="576072" y="4855464"/>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용제성 필터 막힘</a:t>
            </a:r>
          </a:p>
        </p:txBody>
      </p:sp>
      <p:sp>
        <p:nvSpPr>
          <p:cNvPr id="813" name="Rectangle 814"/>
          <p:cNvSpPr/>
          <p:nvPr/>
        </p:nvSpPr>
        <p:spPr>
          <a:xfrm>
            <a:off x="2057400" y="4855464"/>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815" name="TextBox 816"/>
          <p:cNvSpPr txBox="1"/>
          <p:nvPr/>
        </p:nvSpPr>
        <p:spPr>
          <a:xfrm>
            <a:off x="2130552" y="4855464"/>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기존 탱크 퇴적물을 들어내 필터를 막음</a:t>
            </a:r>
          </a:p>
        </p:txBody>
      </p:sp>
      <p:sp>
        <p:nvSpPr>
          <p:cNvPr id="817" name="Rectangle 818"/>
          <p:cNvSpPr/>
          <p:nvPr/>
        </p:nvSpPr>
        <p:spPr>
          <a:xfrm>
            <a:off x="502920" y="5239512"/>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819" name="TextBox 820"/>
          <p:cNvSpPr txBox="1"/>
          <p:nvPr/>
        </p:nvSpPr>
        <p:spPr>
          <a:xfrm>
            <a:off x="576072" y="5239512"/>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발열량·점도</a:t>
            </a:r>
          </a:p>
        </p:txBody>
      </p:sp>
      <p:sp>
        <p:nvSpPr>
          <p:cNvPr id="821" name="Rectangle 822"/>
          <p:cNvSpPr/>
          <p:nvPr/>
        </p:nvSpPr>
        <p:spPr>
          <a:xfrm>
            <a:off x="2057400" y="5239512"/>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823" name="TextBox 824"/>
          <p:cNvSpPr txBox="1"/>
          <p:nvPr/>
        </p:nvSpPr>
        <p:spPr>
          <a:xfrm>
            <a:off x="2130552" y="5239512"/>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동일 항해에 더 많은 연료 — 펌프 용량 한계</a:t>
            </a:r>
          </a:p>
        </p:txBody>
      </p:sp>
      <p:sp>
        <p:nvSpPr>
          <p:cNvPr id="825" name="Rectangle 826"/>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827" name="TextBox 828"/>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저장 관리 — 모니터링 4대 지표</a:t>
            </a:r>
          </a:p>
        </p:txBody>
      </p:sp>
      <p:sp>
        <p:nvSpPr>
          <p:cNvPr id="829" name="Rectangle 830"/>
          <p:cNvSpPr/>
          <p:nvPr/>
        </p:nvSpPr>
        <p:spPr>
          <a:xfrm>
            <a:off x="6245352" y="1783080"/>
            <a:ext cx="2103120" cy="402336"/>
          </a:xfrm>
          <a:prstGeom prst="rect">
            <a:avLst/>
          </a:prstGeom>
          <a:solidFill>
            <a:srgbClr val="172A4A"/>
          </a:solidFill>
          <a:ln>
            <a:noFill/>
          </a:ln>
          <a:effectLst/>
        </p:spPr>
        <p:txBody>
          <a:bodyPr rtlCol="0" anchor="ctr"/>
          <a:lstStyle/>
          <a:p>
            <a:pPr algn="ctr"/>
            <a:endParaRPr/>
          </a:p>
        </p:txBody>
      </p:sp>
      <p:sp>
        <p:nvSpPr>
          <p:cNvPr id="831" name="TextBox 832"/>
          <p:cNvSpPr txBox="1"/>
          <p:nvPr/>
        </p:nvSpPr>
        <p:spPr>
          <a:xfrm>
            <a:off x="6318504" y="1783080"/>
            <a:ext cx="195681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지표</a:t>
            </a:r>
          </a:p>
        </p:txBody>
      </p:sp>
      <p:sp>
        <p:nvSpPr>
          <p:cNvPr id="833" name="Rectangle 834"/>
          <p:cNvSpPr/>
          <p:nvPr/>
        </p:nvSpPr>
        <p:spPr>
          <a:xfrm>
            <a:off x="8348472" y="1783080"/>
            <a:ext cx="3337560" cy="402336"/>
          </a:xfrm>
          <a:prstGeom prst="rect">
            <a:avLst/>
          </a:prstGeom>
          <a:solidFill>
            <a:srgbClr val="172A4A"/>
          </a:solidFill>
          <a:ln>
            <a:noFill/>
          </a:ln>
          <a:effectLst/>
        </p:spPr>
        <p:txBody>
          <a:bodyPr rtlCol="0" anchor="ctr"/>
          <a:lstStyle/>
          <a:p>
            <a:pPr algn="ctr"/>
            <a:endParaRPr/>
          </a:p>
        </p:txBody>
      </p:sp>
      <p:sp>
        <p:nvSpPr>
          <p:cNvPr id="835" name="TextBox 836"/>
          <p:cNvSpPr txBox="1"/>
          <p:nvPr/>
        </p:nvSpPr>
        <p:spPr>
          <a:xfrm>
            <a:off x="8421624" y="1783080"/>
            <a:ext cx="319125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의미</a:t>
            </a:r>
          </a:p>
        </p:txBody>
      </p:sp>
      <p:sp>
        <p:nvSpPr>
          <p:cNvPr id="837" name="Rectangle 838"/>
          <p:cNvSpPr/>
          <p:nvPr/>
        </p:nvSpPr>
        <p:spPr>
          <a:xfrm>
            <a:off x="6245352" y="2185416"/>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39" name="TextBox 840"/>
          <p:cNvSpPr txBox="1"/>
          <p:nvPr/>
        </p:nvSpPr>
        <p:spPr>
          <a:xfrm>
            <a:off x="6318504" y="2185416"/>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산화안정성</a:t>
            </a:r>
          </a:p>
        </p:txBody>
      </p:sp>
      <p:sp>
        <p:nvSpPr>
          <p:cNvPr id="841" name="Rectangle 842"/>
          <p:cNvSpPr/>
          <p:nvPr/>
        </p:nvSpPr>
        <p:spPr>
          <a:xfrm>
            <a:off x="8348472" y="2185416"/>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43" name="TextBox 844"/>
          <p:cNvSpPr txBox="1"/>
          <p:nvPr/>
        </p:nvSpPr>
        <p:spPr>
          <a:xfrm>
            <a:off x="8421624" y="2185416"/>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열화 여부의 가장 직접적인 지표</a:t>
            </a:r>
          </a:p>
        </p:txBody>
      </p:sp>
      <p:sp>
        <p:nvSpPr>
          <p:cNvPr id="845" name="Rectangle 846"/>
          <p:cNvSpPr/>
          <p:nvPr/>
        </p:nvSpPr>
        <p:spPr>
          <a:xfrm>
            <a:off x="6245352" y="2587752"/>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47" name="TextBox 848"/>
          <p:cNvSpPr txBox="1"/>
          <p:nvPr/>
        </p:nvSpPr>
        <p:spPr>
          <a:xfrm>
            <a:off x="6318504" y="2587752"/>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FAME 함량</a:t>
            </a:r>
          </a:p>
        </p:txBody>
      </p:sp>
      <p:sp>
        <p:nvSpPr>
          <p:cNvPr id="849" name="Rectangle 850"/>
          <p:cNvSpPr/>
          <p:nvPr/>
        </p:nvSpPr>
        <p:spPr>
          <a:xfrm>
            <a:off x="8348472" y="2587752"/>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51" name="TextBox 852"/>
          <p:cNvSpPr txBox="1"/>
          <p:nvPr/>
        </p:nvSpPr>
        <p:spPr>
          <a:xfrm>
            <a:off x="8421624" y="2587752"/>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에스테르 분해·희석 시 감소</a:t>
            </a:r>
          </a:p>
        </p:txBody>
      </p:sp>
      <p:sp>
        <p:nvSpPr>
          <p:cNvPr id="853" name="Rectangle 854"/>
          <p:cNvSpPr/>
          <p:nvPr/>
        </p:nvSpPr>
        <p:spPr>
          <a:xfrm>
            <a:off x="6245352" y="2990088"/>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55" name="TextBox 856"/>
          <p:cNvSpPr txBox="1"/>
          <p:nvPr/>
        </p:nvSpPr>
        <p:spPr>
          <a:xfrm>
            <a:off x="6318504" y="2990088"/>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산가 (Acid value)</a:t>
            </a:r>
          </a:p>
        </p:txBody>
      </p:sp>
      <p:sp>
        <p:nvSpPr>
          <p:cNvPr id="857" name="Rectangle 858"/>
          <p:cNvSpPr/>
          <p:nvPr/>
        </p:nvSpPr>
        <p:spPr>
          <a:xfrm>
            <a:off x="8348472" y="2990088"/>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59" name="TextBox 860"/>
          <p:cNvSpPr txBox="1"/>
          <p:nvPr/>
        </p:nvSpPr>
        <p:spPr>
          <a:xfrm>
            <a:off x="8421624" y="2990088"/>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유리지방산 생성으로 상승</a:t>
            </a:r>
          </a:p>
        </p:txBody>
      </p:sp>
      <p:sp>
        <p:nvSpPr>
          <p:cNvPr id="861" name="Rectangle 862"/>
          <p:cNvSpPr/>
          <p:nvPr/>
        </p:nvSpPr>
        <p:spPr>
          <a:xfrm>
            <a:off x="6245352" y="3392424"/>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63" name="TextBox 864"/>
          <p:cNvSpPr txBox="1"/>
          <p:nvPr/>
        </p:nvSpPr>
        <p:spPr>
          <a:xfrm>
            <a:off x="6318504" y="3392424"/>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수분</a:t>
            </a:r>
          </a:p>
        </p:txBody>
      </p:sp>
      <p:sp>
        <p:nvSpPr>
          <p:cNvPr id="865" name="Rectangle 866"/>
          <p:cNvSpPr/>
          <p:nvPr/>
        </p:nvSpPr>
        <p:spPr>
          <a:xfrm>
            <a:off x="8348472" y="3392424"/>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67" name="TextBox 868"/>
          <p:cNvSpPr txBox="1"/>
          <p:nvPr/>
        </p:nvSpPr>
        <p:spPr>
          <a:xfrm>
            <a:off x="8421624" y="3392424"/>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흡습·결로로 증가, 산화를 가속</a:t>
            </a:r>
          </a:p>
        </p:txBody>
      </p:sp>
      <p:sp>
        <p:nvSpPr>
          <p:cNvPr id="869" name="TextBox 870"/>
          <p:cNvSpPr txBox="1"/>
          <p:nvPr/>
        </p:nvSpPr>
        <p:spPr>
          <a:xfrm>
            <a:off x="6245352" y="3931920"/>
            <a:ext cx="5440680" cy="114300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운영 원칙은 간단합니다 — Pour Point보다 약 10°C 높게 유지, 3개월 내 소모, 장기 보관 시 정기 재분석.</a:t>
            </a:r>
          </a:p>
          <a:p>
            <a:pPr algn="l">
              <a:lnSpc>
                <a:spcPct val="125000"/>
              </a:lnSpc>
              <a:spcAft>
                <a:spcPts val="0"/>
              </a:spcAft>
            </a:pPr>
            <a:r>
              <a:rPr sz="1200" b="0">
                <a:solidFill>
                  <a:srgbClr val="1A1A1A"/>
                </a:solidFill>
                <a:latin typeface="Calibri"/>
                <a:ea typeface="맑은 고딕"/>
                <a:cs typeface="Calibri"/>
              </a:rPr>
              <a:t>GCMD Project LOTUS는 B24를 선상에서 6개월 보관했을 때 산가가 상승했으나 ISO 8217 한도 내였음을 확인했습니다.</a:t>
            </a:r>
          </a:p>
        </p:txBody>
      </p:sp>
      <p:sp>
        <p:nvSpPr>
          <p:cNvPr id="871" name="Rectangle 872"/>
          <p:cNvSpPr/>
          <p:nvPr/>
        </p:nvSpPr>
        <p:spPr>
          <a:xfrm>
            <a:off x="6245352" y="5166360"/>
            <a:ext cx="5440680" cy="566928"/>
          </a:xfrm>
          <a:prstGeom prst="rect">
            <a:avLst/>
          </a:prstGeom>
          <a:solidFill>
            <a:srgbClr val="EFEFEF"/>
          </a:solidFill>
          <a:ln>
            <a:noFill/>
          </a:ln>
          <a:effectLst/>
        </p:spPr>
        <p:txBody>
          <a:bodyPr rtlCol="0" anchor="ctr"/>
          <a:lstStyle/>
          <a:p>
            <a:pPr algn="ctr"/>
            <a:endParaRPr/>
          </a:p>
        </p:txBody>
      </p:sp>
      <p:sp>
        <p:nvSpPr>
          <p:cNvPr id="873" name="TextBox 874"/>
          <p:cNvSpPr txBox="1"/>
          <p:nvPr/>
        </p:nvSpPr>
        <p:spPr>
          <a:xfrm>
            <a:off x="6428232" y="5166360"/>
            <a:ext cx="5074920" cy="566928"/>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Fresh in, fresh out — 재고 회전이 최고의 방어책.</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Rectangle 876"/>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877" name="TextBox 878"/>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규제 캘린더 — IMO와 EU를 한 장으로</a:t>
            </a:r>
          </a:p>
        </p:txBody>
      </p:sp>
      <p:sp>
        <p:nvSpPr>
          <p:cNvPr id="879" name="Rectangle 880"/>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881" name="TextBox 882"/>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IMO</a:t>
            </a:r>
          </a:p>
        </p:txBody>
      </p:sp>
      <p:sp>
        <p:nvSpPr>
          <p:cNvPr id="883" name="Rectangle 884"/>
          <p:cNvSpPr/>
          <p:nvPr/>
        </p:nvSpPr>
        <p:spPr>
          <a:xfrm>
            <a:off x="502920" y="1783080"/>
            <a:ext cx="1417320" cy="384048"/>
          </a:xfrm>
          <a:prstGeom prst="rect">
            <a:avLst/>
          </a:prstGeom>
          <a:solidFill>
            <a:srgbClr val="172A4A"/>
          </a:solidFill>
          <a:ln>
            <a:noFill/>
          </a:ln>
          <a:effectLst/>
        </p:spPr>
        <p:txBody>
          <a:bodyPr rtlCol="0" anchor="ctr"/>
          <a:lstStyle/>
          <a:p>
            <a:pPr algn="ctr"/>
            <a:endParaRPr/>
          </a:p>
        </p:txBody>
      </p:sp>
      <p:sp>
        <p:nvSpPr>
          <p:cNvPr id="885" name="TextBox 886"/>
          <p:cNvSpPr txBox="1"/>
          <p:nvPr/>
        </p:nvSpPr>
        <p:spPr>
          <a:xfrm>
            <a:off x="576072" y="1783080"/>
            <a:ext cx="127101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시점</a:t>
            </a:r>
          </a:p>
        </p:txBody>
      </p:sp>
      <p:sp>
        <p:nvSpPr>
          <p:cNvPr id="887" name="Rectangle 888"/>
          <p:cNvSpPr/>
          <p:nvPr/>
        </p:nvSpPr>
        <p:spPr>
          <a:xfrm>
            <a:off x="1920240" y="1783080"/>
            <a:ext cx="4023360" cy="384048"/>
          </a:xfrm>
          <a:prstGeom prst="rect">
            <a:avLst/>
          </a:prstGeom>
          <a:solidFill>
            <a:srgbClr val="172A4A"/>
          </a:solidFill>
          <a:ln>
            <a:noFill/>
          </a:ln>
          <a:effectLst/>
        </p:spPr>
        <p:txBody>
          <a:bodyPr rtlCol="0" anchor="ctr"/>
          <a:lstStyle/>
          <a:p>
            <a:pPr algn="ctr"/>
            <a:endParaRPr/>
          </a:p>
        </p:txBody>
      </p:sp>
      <p:sp>
        <p:nvSpPr>
          <p:cNvPr id="889" name="TextBox 890"/>
          <p:cNvSpPr txBox="1"/>
          <p:nvPr/>
        </p:nvSpPr>
        <p:spPr>
          <a:xfrm>
            <a:off x="1993392" y="1783080"/>
            <a:ext cx="387705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내용</a:t>
            </a:r>
          </a:p>
        </p:txBody>
      </p:sp>
      <p:sp>
        <p:nvSpPr>
          <p:cNvPr id="891" name="Rectangle 892"/>
          <p:cNvSpPr/>
          <p:nvPr/>
        </p:nvSpPr>
        <p:spPr>
          <a:xfrm>
            <a:off x="502920" y="2167128"/>
            <a:ext cx="1417320" cy="512064"/>
          </a:xfrm>
          <a:prstGeom prst="rect">
            <a:avLst/>
          </a:prstGeom>
          <a:solidFill>
            <a:srgbClr val="FFFFFF"/>
          </a:solidFill>
          <a:ln w="9525">
            <a:solidFill>
              <a:srgbClr val="D0D4DA"/>
            </a:solidFill>
          </a:ln>
          <a:effectLst/>
        </p:spPr>
        <p:txBody>
          <a:bodyPr rtlCol="0" anchor="ctr"/>
          <a:lstStyle/>
          <a:p>
            <a:pPr algn="ctr"/>
            <a:endParaRPr/>
          </a:p>
        </p:txBody>
      </p:sp>
      <p:sp>
        <p:nvSpPr>
          <p:cNvPr id="893" name="TextBox 894"/>
          <p:cNvSpPr txBox="1"/>
          <p:nvPr/>
        </p:nvSpPr>
        <p:spPr>
          <a:xfrm>
            <a:off x="576072" y="2167128"/>
            <a:ext cx="127101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시행 중</a:t>
            </a:r>
          </a:p>
        </p:txBody>
      </p:sp>
      <p:sp>
        <p:nvSpPr>
          <p:cNvPr id="895" name="Rectangle 896"/>
          <p:cNvSpPr/>
          <p:nvPr/>
        </p:nvSpPr>
        <p:spPr>
          <a:xfrm>
            <a:off x="1920240" y="2167128"/>
            <a:ext cx="4023360" cy="512064"/>
          </a:xfrm>
          <a:prstGeom prst="rect">
            <a:avLst/>
          </a:prstGeom>
          <a:solidFill>
            <a:srgbClr val="FFFFFF"/>
          </a:solidFill>
          <a:ln w="9525">
            <a:solidFill>
              <a:srgbClr val="D0D4DA"/>
            </a:solidFill>
          </a:ln>
          <a:effectLst/>
        </p:spPr>
        <p:txBody>
          <a:bodyPr rtlCol="0" anchor="ctr"/>
          <a:lstStyle/>
          <a:p>
            <a:pPr algn="ctr"/>
            <a:endParaRPr/>
          </a:p>
        </p:txBody>
      </p:sp>
      <p:sp>
        <p:nvSpPr>
          <p:cNvPr id="897" name="TextBox 898"/>
          <p:cNvSpPr txBox="1"/>
          <p:nvPr/>
        </p:nvSpPr>
        <p:spPr>
          <a:xfrm>
            <a:off x="1993392" y="2167128"/>
            <a:ext cx="387705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MEPC.1/Circ.905 — DCS·CII·SEEMP에서 바이오연료 Cf 산정</a:t>
            </a:r>
          </a:p>
        </p:txBody>
      </p:sp>
      <p:sp>
        <p:nvSpPr>
          <p:cNvPr id="899" name="Rectangle 900"/>
          <p:cNvSpPr/>
          <p:nvPr/>
        </p:nvSpPr>
        <p:spPr>
          <a:xfrm>
            <a:off x="502920" y="2679192"/>
            <a:ext cx="1417320" cy="512064"/>
          </a:xfrm>
          <a:prstGeom prst="rect">
            <a:avLst/>
          </a:prstGeom>
          <a:solidFill>
            <a:srgbClr val="FFFFFF"/>
          </a:solidFill>
          <a:ln w="9525">
            <a:solidFill>
              <a:srgbClr val="D0D4DA"/>
            </a:solidFill>
          </a:ln>
          <a:effectLst/>
        </p:spPr>
        <p:txBody>
          <a:bodyPr rtlCol="0" anchor="ctr"/>
          <a:lstStyle/>
          <a:p>
            <a:pPr algn="ctr"/>
            <a:endParaRPr/>
          </a:p>
        </p:txBody>
      </p:sp>
      <p:sp>
        <p:nvSpPr>
          <p:cNvPr id="901" name="TextBox 902"/>
          <p:cNvSpPr txBox="1"/>
          <p:nvPr/>
        </p:nvSpPr>
        <p:spPr>
          <a:xfrm>
            <a:off x="576072" y="2679192"/>
            <a:ext cx="127101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시행 중</a:t>
            </a:r>
          </a:p>
        </p:txBody>
      </p:sp>
      <p:sp>
        <p:nvSpPr>
          <p:cNvPr id="903" name="Rectangle 904"/>
          <p:cNvSpPr/>
          <p:nvPr/>
        </p:nvSpPr>
        <p:spPr>
          <a:xfrm>
            <a:off x="1920240" y="2679192"/>
            <a:ext cx="4023360" cy="512064"/>
          </a:xfrm>
          <a:prstGeom prst="rect">
            <a:avLst/>
          </a:prstGeom>
          <a:solidFill>
            <a:srgbClr val="FFFFFF"/>
          </a:solidFill>
          <a:ln w="9525">
            <a:solidFill>
              <a:srgbClr val="D0D4DA"/>
            </a:solidFill>
          </a:ln>
          <a:effectLst/>
        </p:spPr>
        <p:txBody>
          <a:bodyPr rtlCol="0" anchor="ctr"/>
          <a:lstStyle/>
          <a:p>
            <a:pPr algn="ctr"/>
            <a:endParaRPr/>
          </a:p>
        </p:txBody>
      </p:sp>
      <p:sp>
        <p:nvSpPr>
          <p:cNvPr id="905" name="TextBox 906"/>
          <p:cNvSpPr txBox="1"/>
          <p:nvPr/>
        </p:nvSpPr>
        <p:spPr>
          <a:xfrm>
            <a:off x="1993392" y="2679192"/>
            <a:ext cx="387705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≤B30은 “석유계”로 간주 (NOx Reg.18.3.1), 일반 벙커선 운송 가능</a:t>
            </a:r>
          </a:p>
        </p:txBody>
      </p:sp>
      <p:sp>
        <p:nvSpPr>
          <p:cNvPr id="907" name="Rectangle 908"/>
          <p:cNvSpPr/>
          <p:nvPr/>
        </p:nvSpPr>
        <p:spPr>
          <a:xfrm>
            <a:off x="502920" y="3191256"/>
            <a:ext cx="1417320" cy="438912"/>
          </a:xfrm>
          <a:prstGeom prst="rect">
            <a:avLst/>
          </a:prstGeom>
          <a:solidFill>
            <a:srgbClr val="FFFFFF"/>
          </a:solidFill>
          <a:ln w="9525">
            <a:solidFill>
              <a:srgbClr val="D0D4DA"/>
            </a:solidFill>
          </a:ln>
          <a:effectLst/>
        </p:spPr>
        <p:txBody>
          <a:bodyPr rtlCol="0" anchor="ctr"/>
          <a:lstStyle/>
          <a:p>
            <a:pPr algn="ctr"/>
            <a:endParaRPr/>
          </a:p>
        </p:txBody>
      </p:sp>
      <p:sp>
        <p:nvSpPr>
          <p:cNvPr id="909" name="TextBox 910"/>
          <p:cNvSpPr txBox="1"/>
          <p:nvPr/>
        </p:nvSpPr>
        <p:spPr>
          <a:xfrm>
            <a:off x="576072" y="3191256"/>
            <a:ext cx="1271016" cy="438912"/>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시행 중</a:t>
            </a:r>
          </a:p>
        </p:txBody>
      </p:sp>
      <p:sp>
        <p:nvSpPr>
          <p:cNvPr id="911" name="Rectangle 912"/>
          <p:cNvSpPr/>
          <p:nvPr/>
        </p:nvSpPr>
        <p:spPr>
          <a:xfrm>
            <a:off x="1920240" y="3191256"/>
            <a:ext cx="4023360" cy="438912"/>
          </a:xfrm>
          <a:prstGeom prst="rect">
            <a:avLst/>
          </a:prstGeom>
          <a:solidFill>
            <a:srgbClr val="FFFFFF"/>
          </a:solidFill>
          <a:ln w="9525">
            <a:solidFill>
              <a:srgbClr val="D0D4DA"/>
            </a:solidFill>
          </a:ln>
          <a:effectLst/>
        </p:spPr>
        <p:txBody>
          <a:bodyPr rtlCol="0" anchor="ctr"/>
          <a:lstStyle/>
          <a:p>
            <a:pPr algn="ctr"/>
            <a:endParaRPr/>
          </a:p>
        </p:txBody>
      </p:sp>
      <p:sp>
        <p:nvSpPr>
          <p:cNvPr id="913" name="TextBox 914"/>
          <p:cNvSpPr txBox="1"/>
          <p:nvPr/>
        </p:nvSpPr>
        <p:spPr>
          <a:xfrm>
            <a:off x="1993392" y="3191256"/>
            <a:ext cx="3877056" cy="438912"/>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인증 스킴은 ISCC·RSB — PoS를 BDN과 함께 수령</a:t>
            </a:r>
          </a:p>
        </p:txBody>
      </p:sp>
      <p:sp>
        <p:nvSpPr>
          <p:cNvPr id="915" name="Rectangle 916"/>
          <p:cNvSpPr/>
          <p:nvPr/>
        </p:nvSpPr>
        <p:spPr>
          <a:xfrm>
            <a:off x="502920" y="3630168"/>
            <a:ext cx="1417320" cy="512064"/>
          </a:xfrm>
          <a:prstGeom prst="rect">
            <a:avLst/>
          </a:prstGeom>
          <a:solidFill>
            <a:srgbClr val="FFFFFF"/>
          </a:solidFill>
          <a:ln w="9525">
            <a:solidFill>
              <a:srgbClr val="D0D4DA"/>
            </a:solidFill>
          </a:ln>
          <a:effectLst/>
        </p:spPr>
        <p:txBody>
          <a:bodyPr rtlCol="0" anchor="ctr"/>
          <a:lstStyle/>
          <a:p>
            <a:pPr algn="ctr"/>
            <a:endParaRPr/>
          </a:p>
        </p:txBody>
      </p:sp>
      <p:sp>
        <p:nvSpPr>
          <p:cNvPr id="917" name="TextBox 918"/>
          <p:cNvSpPr txBox="1"/>
          <p:nvPr/>
        </p:nvSpPr>
        <p:spPr>
          <a:xfrm>
            <a:off x="576072" y="3630168"/>
            <a:ext cx="1271016" cy="512064"/>
          </a:xfrm>
          <a:prstGeom prst="rect">
            <a:avLst/>
          </a:prstGeom>
          <a:noFill/>
        </p:spPr>
        <p:txBody>
          <a:bodyPr wrap="square" lIns="36576" tIns="0" rIns="36576" bIns="0" anchor="ctr"/>
          <a:lstStyle/>
          <a:p>
            <a:pPr algn="l">
              <a:lnSpc>
                <a:spcPct val="110000"/>
              </a:lnSpc>
              <a:spcAft>
                <a:spcPts val="0"/>
              </a:spcAft>
            </a:pPr>
            <a:r>
              <a:rPr sz="1100" b="1">
                <a:solidFill>
                  <a:srgbClr val="C00000"/>
                </a:solidFill>
                <a:latin typeface="Calibri"/>
                <a:ea typeface="맑은 고딕"/>
                <a:cs typeface="Calibri"/>
              </a:rPr>
              <a:t>2027-01-01</a:t>
            </a:r>
          </a:p>
        </p:txBody>
      </p:sp>
      <p:sp>
        <p:nvSpPr>
          <p:cNvPr id="919" name="Rectangle 920"/>
          <p:cNvSpPr/>
          <p:nvPr/>
        </p:nvSpPr>
        <p:spPr>
          <a:xfrm>
            <a:off x="1920240" y="3630168"/>
            <a:ext cx="4023360" cy="512064"/>
          </a:xfrm>
          <a:prstGeom prst="rect">
            <a:avLst/>
          </a:prstGeom>
          <a:solidFill>
            <a:srgbClr val="FFFFFF"/>
          </a:solidFill>
          <a:ln w="9525">
            <a:solidFill>
              <a:srgbClr val="D0D4DA"/>
            </a:solidFill>
          </a:ln>
          <a:effectLst/>
        </p:spPr>
        <p:txBody>
          <a:bodyPr rtlCol="0" anchor="ctr"/>
          <a:lstStyle/>
          <a:p>
            <a:pPr algn="ctr"/>
            <a:endParaRPr/>
          </a:p>
        </p:txBody>
      </p:sp>
      <p:sp>
        <p:nvSpPr>
          <p:cNvPr id="921" name="TextBox 922"/>
          <p:cNvSpPr txBox="1"/>
          <p:nvPr/>
        </p:nvSpPr>
        <p:spPr>
          <a:xfrm>
            <a:off x="1993392" y="3630168"/>
            <a:ext cx="3877056" cy="512064"/>
          </a:xfrm>
          <a:prstGeom prst="rect">
            <a:avLst/>
          </a:prstGeom>
          <a:noFill/>
        </p:spPr>
        <p:txBody>
          <a:bodyPr wrap="square" lIns="36576" tIns="0" rIns="36576" bIns="0" anchor="ctr"/>
          <a:lstStyle/>
          <a:p>
            <a:pPr algn="l">
              <a:lnSpc>
                <a:spcPct val="110000"/>
              </a:lnSpc>
              <a:spcAft>
                <a:spcPts val="0"/>
              </a:spcAft>
            </a:pPr>
            <a:r>
              <a:rPr sz="1100" b="1">
                <a:solidFill>
                  <a:srgbClr val="C00000"/>
                </a:solidFill>
                <a:latin typeface="Calibri"/>
                <a:ea typeface="맑은 고딕"/>
                <a:cs typeface="Calibri"/>
              </a:rPr>
              <a:t>Circ.905 Rev.1 — Cf를 에너지가중에서 질량가중으로 변경</a:t>
            </a:r>
          </a:p>
        </p:txBody>
      </p:sp>
      <p:sp>
        <p:nvSpPr>
          <p:cNvPr id="923" name="Rectangle 924"/>
          <p:cNvSpPr/>
          <p:nvPr/>
        </p:nvSpPr>
        <p:spPr>
          <a:xfrm>
            <a:off x="502920" y="4142232"/>
            <a:ext cx="1417320" cy="438912"/>
          </a:xfrm>
          <a:prstGeom prst="rect">
            <a:avLst/>
          </a:prstGeom>
          <a:solidFill>
            <a:srgbClr val="FFFFFF"/>
          </a:solidFill>
          <a:ln w="9525">
            <a:solidFill>
              <a:srgbClr val="D0D4DA"/>
            </a:solidFill>
          </a:ln>
          <a:effectLst/>
        </p:spPr>
        <p:txBody>
          <a:bodyPr rtlCol="0" anchor="ctr"/>
          <a:lstStyle/>
          <a:p>
            <a:pPr algn="ctr"/>
            <a:endParaRPr/>
          </a:p>
        </p:txBody>
      </p:sp>
      <p:sp>
        <p:nvSpPr>
          <p:cNvPr id="925" name="TextBox 926"/>
          <p:cNvSpPr txBox="1"/>
          <p:nvPr/>
        </p:nvSpPr>
        <p:spPr>
          <a:xfrm>
            <a:off x="576072" y="4142232"/>
            <a:ext cx="1271016" cy="438912"/>
          </a:xfrm>
          <a:prstGeom prst="rect">
            <a:avLst/>
          </a:prstGeom>
          <a:noFill/>
        </p:spPr>
        <p:txBody>
          <a:bodyPr wrap="square" lIns="36576" tIns="0" rIns="36576" bIns="0" anchor="ctr"/>
          <a:lstStyle/>
          <a:p>
            <a:pPr algn="l">
              <a:lnSpc>
                <a:spcPct val="110000"/>
              </a:lnSpc>
              <a:spcAft>
                <a:spcPts val="0"/>
              </a:spcAft>
            </a:pPr>
            <a:r>
              <a:rPr sz="1100" b="1">
                <a:solidFill>
                  <a:srgbClr val="C00000"/>
                </a:solidFill>
                <a:latin typeface="Calibri"/>
                <a:ea typeface="맑은 고딕"/>
                <a:cs typeface="Calibri"/>
              </a:rPr>
              <a:t>2027-01-01</a:t>
            </a:r>
          </a:p>
        </p:txBody>
      </p:sp>
      <p:sp>
        <p:nvSpPr>
          <p:cNvPr id="927" name="Rectangle 928"/>
          <p:cNvSpPr/>
          <p:nvPr/>
        </p:nvSpPr>
        <p:spPr>
          <a:xfrm>
            <a:off x="1920240" y="4142232"/>
            <a:ext cx="4023360" cy="438912"/>
          </a:xfrm>
          <a:prstGeom prst="rect">
            <a:avLst/>
          </a:prstGeom>
          <a:solidFill>
            <a:srgbClr val="FFFFFF"/>
          </a:solidFill>
          <a:ln w="9525">
            <a:solidFill>
              <a:srgbClr val="D0D4DA"/>
            </a:solidFill>
          </a:ln>
          <a:effectLst/>
        </p:spPr>
        <p:txBody>
          <a:bodyPr rtlCol="0" anchor="ctr"/>
          <a:lstStyle/>
          <a:p>
            <a:pPr algn="ctr"/>
            <a:endParaRPr/>
          </a:p>
        </p:txBody>
      </p:sp>
      <p:sp>
        <p:nvSpPr>
          <p:cNvPr id="929" name="TextBox 930"/>
          <p:cNvSpPr txBox="1"/>
          <p:nvPr/>
        </p:nvSpPr>
        <p:spPr>
          <a:xfrm>
            <a:off x="1993392" y="4142232"/>
            <a:ext cx="3877056" cy="438912"/>
          </a:xfrm>
          <a:prstGeom prst="rect">
            <a:avLst/>
          </a:prstGeom>
          <a:noFill/>
        </p:spPr>
        <p:txBody>
          <a:bodyPr wrap="square" lIns="36576" tIns="0" rIns="36576" bIns="0" anchor="ctr"/>
          <a:lstStyle/>
          <a:p>
            <a:pPr algn="l">
              <a:lnSpc>
                <a:spcPct val="110000"/>
              </a:lnSpc>
              <a:spcAft>
                <a:spcPts val="0"/>
              </a:spcAft>
            </a:pPr>
            <a:r>
              <a:rPr sz="1100" b="1">
                <a:solidFill>
                  <a:srgbClr val="C00000"/>
                </a:solidFill>
                <a:latin typeface="Calibri"/>
                <a:ea typeface="맑은 고딕"/>
                <a:cs typeface="Calibri"/>
              </a:rPr>
              <a:t>비인증 바이오 성분은 화석연료 등가로 취급</a:t>
            </a:r>
          </a:p>
        </p:txBody>
      </p:sp>
      <p:sp>
        <p:nvSpPr>
          <p:cNvPr id="931" name="Rectangle 93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933" name="TextBox 93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EU</a:t>
            </a:r>
          </a:p>
        </p:txBody>
      </p:sp>
      <p:sp>
        <p:nvSpPr>
          <p:cNvPr id="935" name="Rectangle 936"/>
          <p:cNvSpPr/>
          <p:nvPr/>
        </p:nvSpPr>
        <p:spPr>
          <a:xfrm>
            <a:off x="6245352" y="1783080"/>
            <a:ext cx="1417320" cy="384048"/>
          </a:xfrm>
          <a:prstGeom prst="rect">
            <a:avLst/>
          </a:prstGeom>
          <a:solidFill>
            <a:srgbClr val="172A4A"/>
          </a:solidFill>
          <a:ln>
            <a:noFill/>
          </a:ln>
          <a:effectLst/>
        </p:spPr>
        <p:txBody>
          <a:bodyPr rtlCol="0" anchor="ctr"/>
          <a:lstStyle/>
          <a:p>
            <a:pPr algn="ctr"/>
            <a:endParaRPr/>
          </a:p>
        </p:txBody>
      </p:sp>
      <p:sp>
        <p:nvSpPr>
          <p:cNvPr id="937" name="TextBox 938"/>
          <p:cNvSpPr txBox="1"/>
          <p:nvPr/>
        </p:nvSpPr>
        <p:spPr>
          <a:xfrm>
            <a:off x="6318504" y="1783080"/>
            <a:ext cx="127101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시점</a:t>
            </a:r>
          </a:p>
        </p:txBody>
      </p:sp>
      <p:sp>
        <p:nvSpPr>
          <p:cNvPr id="939" name="Rectangle 940"/>
          <p:cNvSpPr/>
          <p:nvPr/>
        </p:nvSpPr>
        <p:spPr>
          <a:xfrm>
            <a:off x="7662672" y="1783080"/>
            <a:ext cx="4023360" cy="384048"/>
          </a:xfrm>
          <a:prstGeom prst="rect">
            <a:avLst/>
          </a:prstGeom>
          <a:solidFill>
            <a:srgbClr val="172A4A"/>
          </a:solidFill>
          <a:ln>
            <a:noFill/>
          </a:ln>
          <a:effectLst/>
        </p:spPr>
        <p:txBody>
          <a:bodyPr rtlCol="0" anchor="ctr"/>
          <a:lstStyle/>
          <a:p>
            <a:pPr algn="ctr"/>
            <a:endParaRPr/>
          </a:p>
        </p:txBody>
      </p:sp>
      <p:sp>
        <p:nvSpPr>
          <p:cNvPr id="941" name="TextBox 942"/>
          <p:cNvSpPr txBox="1"/>
          <p:nvPr/>
        </p:nvSpPr>
        <p:spPr>
          <a:xfrm>
            <a:off x="7735824" y="1783080"/>
            <a:ext cx="387705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내용</a:t>
            </a:r>
          </a:p>
        </p:txBody>
      </p:sp>
      <p:sp>
        <p:nvSpPr>
          <p:cNvPr id="943" name="Rectangle 944"/>
          <p:cNvSpPr/>
          <p:nvPr/>
        </p:nvSpPr>
        <p:spPr>
          <a:xfrm>
            <a:off x="6245352" y="2167128"/>
            <a:ext cx="1417320" cy="512064"/>
          </a:xfrm>
          <a:prstGeom prst="rect">
            <a:avLst/>
          </a:prstGeom>
          <a:solidFill>
            <a:srgbClr val="FFFFFF"/>
          </a:solidFill>
          <a:ln w="9525">
            <a:solidFill>
              <a:srgbClr val="D0D4DA"/>
            </a:solidFill>
          </a:ln>
          <a:effectLst/>
        </p:spPr>
        <p:txBody>
          <a:bodyPr rtlCol="0" anchor="ctr"/>
          <a:lstStyle/>
          <a:p>
            <a:pPr algn="ctr"/>
            <a:endParaRPr/>
          </a:p>
        </p:txBody>
      </p:sp>
      <p:sp>
        <p:nvSpPr>
          <p:cNvPr id="945" name="TextBox 946"/>
          <p:cNvSpPr txBox="1"/>
          <p:nvPr/>
        </p:nvSpPr>
        <p:spPr>
          <a:xfrm>
            <a:off x="6318504" y="2167128"/>
            <a:ext cx="127101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2025–2029</a:t>
            </a:r>
          </a:p>
        </p:txBody>
      </p:sp>
      <p:sp>
        <p:nvSpPr>
          <p:cNvPr id="947" name="Rectangle 948"/>
          <p:cNvSpPr/>
          <p:nvPr/>
        </p:nvSpPr>
        <p:spPr>
          <a:xfrm>
            <a:off x="7662672" y="2167128"/>
            <a:ext cx="4023360" cy="512064"/>
          </a:xfrm>
          <a:prstGeom prst="rect">
            <a:avLst/>
          </a:prstGeom>
          <a:solidFill>
            <a:srgbClr val="FFFFFF"/>
          </a:solidFill>
          <a:ln w="9525">
            <a:solidFill>
              <a:srgbClr val="D0D4DA"/>
            </a:solidFill>
          </a:ln>
          <a:effectLst/>
        </p:spPr>
        <p:txBody>
          <a:bodyPr rtlCol="0" anchor="ctr"/>
          <a:lstStyle/>
          <a:p>
            <a:pPr algn="ctr"/>
            <a:endParaRPr/>
          </a:p>
        </p:txBody>
      </p:sp>
      <p:sp>
        <p:nvSpPr>
          <p:cNvPr id="949" name="TextBox 950"/>
          <p:cNvSpPr txBox="1"/>
          <p:nvPr/>
        </p:nvSpPr>
        <p:spPr>
          <a:xfrm>
            <a:off x="7735824" y="2167128"/>
            <a:ext cx="387705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FuelEU — WtW GHG 집약도 −2% (5,000GT 이상, EU/EEA 기항)</a:t>
            </a:r>
          </a:p>
        </p:txBody>
      </p:sp>
      <p:sp>
        <p:nvSpPr>
          <p:cNvPr id="951" name="Rectangle 952"/>
          <p:cNvSpPr/>
          <p:nvPr/>
        </p:nvSpPr>
        <p:spPr>
          <a:xfrm>
            <a:off x="6245352" y="2679192"/>
            <a:ext cx="1417320" cy="438912"/>
          </a:xfrm>
          <a:prstGeom prst="rect">
            <a:avLst/>
          </a:prstGeom>
          <a:solidFill>
            <a:srgbClr val="FFFFFF"/>
          </a:solidFill>
          <a:ln w="9525">
            <a:solidFill>
              <a:srgbClr val="D0D4DA"/>
            </a:solidFill>
          </a:ln>
          <a:effectLst/>
        </p:spPr>
        <p:txBody>
          <a:bodyPr rtlCol="0" anchor="ctr"/>
          <a:lstStyle/>
          <a:p>
            <a:pPr algn="ctr"/>
            <a:endParaRPr/>
          </a:p>
        </p:txBody>
      </p:sp>
      <p:sp>
        <p:nvSpPr>
          <p:cNvPr id="953" name="TextBox 954"/>
          <p:cNvSpPr txBox="1"/>
          <p:nvPr/>
        </p:nvSpPr>
        <p:spPr>
          <a:xfrm>
            <a:off x="6318504" y="2679192"/>
            <a:ext cx="1271016" cy="438912"/>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2026</a:t>
            </a:r>
          </a:p>
        </p:txBody>
      </p:sp>
      <p:sp>
        <p:nvSpPr>
          <p:cNvPr id="955" name="Rectangle 956"/>
          <p:cNvSpPr/>
          <p:nvPr/>
        </p:nvSpPr>
        <p:spPr>
          <a:xfrm>
            <a:off x="7662672" y="2679192"/>
            <a:ext cx="4023360" cy="438912"/>
          </a:xfrm>
          <a:prstGeom prst="rect">
            <a:avLst/>
          </a:prstGeom>
          <a:solidFill>
            <a:srgbClr val="FFFFFF"/>
          </a:solidFill>
          <a:ln w="9525">
            <a:solidFill>
              <a:srgbClr val="D0D4DA"/>
            </a:solidFill>
          </a:ln>
          <a:effectLst/>
        </p:spPr>
        <p:txBody>
          <a:bodyPr rtlCol="0" anchor="ctr"/>
          <a:lstStyle/>
          <a:p>
            <a:pPr algn="ctr"/>
            <a:endParaRPr/>
          </a:p>
        </p:txBody>
      </p:sp>
      <p:sp>
        <p:nvSpPr>
          <p:cNvPr id="957" name="TextBox 958"/>
          <p:cNvSpPr txBox="1"/>
          <p:nvPr/>
        </p:nvSpPr>
        <p:spPr>
          <a:xfrm>
            <a:off x="7735824" y="2679192"/>
            <a:ext cx="3877056" cy="438912"/>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EU ETS 대상에 CH₄·N₂O 포함</a:t>
            </a:r>
          </a:p>
        </p:txBody>
      </p:sp>
      <p:sp>
        <p:nvSpPr>
          <p:cNvPr id="959" name="Rectangle 960"/>
          <p:cNvSpPr/>
          <p:nvPr/>
        </p:nvSpPr>
        <p:spPr>
          <a:xfrm>
            <a:off x="6245352" y="3118104"/>
            <a:ext cx="1417320" cy="384048"/>
          </a:xfrm>
          <a:prstGeom prst="rect">
            <a:avLst/>
          </a:prstGeom>
          <a:solidFill>
            <a:srgbClr val="FFFFFF"/>
          </a:solidFill>
          <a:ln w="9525">
            <a:solidFill>
              <a:srgbClr val="D0D4DA"/>
            </a:solidFill>
          </a:ln>
          <a:effectLst/>
        </p:spPr>
        <p:txBody>
          <a:bodyPr rtlCol="0" anchor="ctr"/>
          <a:lstStyle/>
          <a:p>
            <a:pPr algn="ctr"/>
            <a:endParaRPr/>
          </a:p>
        </p:txBody>
      </p:sp>
      <p:sp>
        <p:nvSpPr>
          <p:cNvPr id="961" name="TextBox 962"/>
          <p:cNvSpPr txBox="1"/>
          <p:nvPr/>
        </p:nvSpPr>
        <p:spPr>
          <a:xfrm>
            <a:off x="6318504" y="3118104"/>
            <a:ext cx="127101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2027</a:t>
            </a:r>
          </a:p>
        </p:txBody>
      </p:sp>
      <p:sp>
        <p:nvSpPr>
          <p:cNvPr id="963" name="Rectangle 964"/>
          <p:cNvSpPr/>
          <p:nvPr/>
        </p:nvSpPr>
        <p:spPr>
          <a:xfrm>
            <a:off x="7662672" y="3118104"/>
            <a:ext cx="4023360" cy="384048"/>
          </a:xfrm>
          <a:prstGeom prst="rect">
            <a:avLst/>
          </a:prstGeom>
          <a:solidFill>
            <a:srgbClr val="FFFFFF"/>
          </a:solidFill>
          <a:ln w="9525">
            <a:solidFill>
              <a:srgbClr val="D0D4DA"/>
            </a:solidFill>
          </a:ln>
          <a:effectLst/>
        </p:spPr>
        <p:txBody>
          <a:bodyPr rtlCol="0" anchor="ctr"/>
          <a:lstStyle/>
          <a:p>
            <a:pPr algn="ctr"/>
            <a:endParaRPr/>
          </a:p>
        </p:txBody>
      </p:sp>
      <p:sp>
        <p:nvSpPr>
          <p:cNvPr id="965" name="TextBox 966"/>
          <p:cNvSpPr txBox="1"/>
          <p:nvPr/>
        </p:nvSpPr>
        <p:spPr>
          <a:xfrm>
            <a:off x="7735824" y="3118104"/>
            <a:ext cx="387705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2026년 배출분 100% 제출</a:t>
            </a:r>
          </a:p>
        </p:txBody>
      </p:sp>
      <p:sp>
        <p:nvSpPr>
          <p:cNvPr id="967" name="Rectangle 968"/>
          <p:cNvSpPr/>
          <p:nvPr/>
        </p:nvSpPr>
        <p:spPr>
          <a:xfrm>
            <a:off x="6245352" y="3502152"/>
            <a:ext cx="1417320" cy="438912"/>
          </a:xfrm>
          <a:prstGeom prst="rect">
            <a:avLst/>
          </a:prstGeom>
          <a:solidFill>
            <a:srgbClr val="FFFFFF"/>
          </a:solidFill>
          <a:ln w="9525">
            <a:solidFill>
              <a:srgbClr val="D0D4DA"/>
            </a:solidFill>
          </a:ln>
          <a:effectLst/>
        </p:spPr>
        <p:txBody>
          <a:bodyPr rtlCol="0" anchor="ctr"/>
          <a:lstStyle/>
          <a:p>
            <a:pPr algn="ctr"/>
            <a:endParaRPr/>
          </a:p>
        </p:txBody>
      </p:sp>
      <p:sp>
        <p:nvSpPr>
          <p:cNvPr id="969" name="TextBox 970"/>
          <p:cNvSpPr txBox="1"/>
          <p:nvPr/>
        </p:nvSpPr>
        <p:spPr>
          <a:xfrm>
            <a:off x="6318504" y="3502152"/>
            <a:ext cx="1271016" cy="438912"/>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2030 이후</a:t>
            </a:r>
          </a:p>
        </p:txBody>
      </p:sp>
      <p:sp>
        <p:nvSpPr>
          <p:cNvPr id="971" name="Rectangle 972"/>
          <p:cNvSpPr/>
          <p:nvPr/>
        </p:nvSpPr>
        <p:spPr>
          <a:xfrm>
            <a:off x="7662672" y="3502152"/>
            <a:ext cx="4023360" cy="438912"/>
          </a:xfrm>
          <a:prstGeom prst="rect">
            <a:avLst/>
          </a:prstGeom>
          <a:solidFill>
            <a:srgbClr val="FFFFFF"/>
          </a:solidFill>
          <a:ln w="9525">
            <a:solidFill>
              <a:srgbClr val="D0D4DA"/>
            </a:solidFill>
          </a:ln>
          <a:effectLst/>
        </p:spPr>
        <p:txBody>
          <a:bodyPr rtlCol="0" anchor="ctr"/>
          <a:lstStyle/>
          <a:p>
            <a:pPr algn="ctr"/>
            <a:endParaRPr/>
          </a:p>
        </p:txBody>
      </p:sp>
      <p:sp>
        <p:nvSpPr>
          <p:cNvPr id="973" name="TextBox 974"/>
          <p:cNvSpPr txBox="1"/>
          <p:nvPr/>
        </p:nvSpPr>
        <p:spPr>
          <a:xfrm>
            <a:off x="7735824" y="3502152"/>
            <a:ext cx="3877056" cy="438912"/>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−6% → 2035 −14.5% → 2040 −31% → 2050 −80%</a:t>
            </a:r>
          </a:p>
        </p:txBody>
      </p:sp>
      <p:sp>
        <p:nvSpPr>
          <p:cNvPr id="975" name="Rectangle 976"/>
          <p:cNvSpPr/>
          <p:nvPr/>
        </p:nvSpPr>
        <p:spPr>
          <a:xfrm>
            <a:off x="6245352" y="3941064"/>
            <a:ext cx="1417320" cy="438912"/>
          </a:xfrm>
          <a:prstGeom prst="rect">
            <a:avLst/>
          </a:prstGeom>
          <a:solidFill>
            <a:srgbClr val="FFFFFF"/>
          </a:solidFill>
          <a:ln w="9525">
            <a:solidFill>
              <a:srgbClr val="D0D4DA"/>
            </a:solidFill>
          </a:ln>
          <a:effectLst/>
        </p:spPr>
        <p:txBody>
          <a:bodyPr rtlCol="0" anchor="ctr"/>
          <a:lstStyle/>
          <a:p>
            <a:pPr algn="ctr"/>
            <a:endParaRPr/>
          </a:p>
        </p:txBody>
      </p:sp>
      <p:sp>
        <p:nvSpPr>
          <p:cNvPr id="977" name="TextBox 978"/>
          <p:cNvSpPr txBox="1"/>
          <p:nvPr/>
        </p:nvSpPr>
        <p:spPr>
          <a:xfrm>
            <a:off x="6318504" y="3941064"/>
            <a:ext cx="1271016" cy="438912"/>
          </a:xfrm>
          <a:prstGeom prst="rect">
            <a:avLst/>
          </a:prstGeom>
          <a:noFill/>
        </p:spPr>
        <p:txBody>
          <a:bodyPr wrap="square" lIns="36576" tIns="0" rIns="36576" bIns="0" anchor="ctr"/>
          <a:lstStyle/>
          <a:p>
            <a:pPr algn="l">
              <a:lnSpc>
                <a:spcPct val="110000"/>
              </a:lnSpc>
              <a:spcAft>
                <a:spcPts val="0"/>
              </a:spcAft>
            </a:pPr>
            <a:r>
              <a:rPr sz="1100" b="1">
                <a:solidFill>
                  <a:srgbClr val="1F6F3D"/>
                </a:solidFill>
                <a:latin typeface="Calibri"/>
                <a:ea typeface="맑은 고딕"/>
                <a:cs typeface="Calibri"/>
              </a:rPr>
              <a:t>상시</a:t>
            </a:r>
          </a:p>
        </p:txBody>
      </p:sp>
      <p:sp>
        <p:nvSpPr>
          <p:cNvPr id="979" name="Rectangle 980"/>
          <p:cNvSpPr/>
          <p:nvPr/>
        </p:nvSpPr>
        <p:spPr>
          <a:xfrm>
            <a:off x="7662672" y="3941064"/>
            <a:ext cx="4023360" cy="438912"/>
          </a:xfrm>
          <a:prstGeom prst="rect">
            <a:avLst/>
          </a:prstGeom>
          <a:solidFill>
            <a:srgbClr val="FFFFFF"/>
          </a:solidFill>
          <a:ln w="9525">
            <a:solidFill>
              <a:srgbClr val="D0D4DA"/>
            </a:solidFill>
          </a:ln>
          <a:effectLst/>
        </p:spPr>
        <p:txBody>
          <a:bodyPr rtlCol="0" anchor="ctr"/>
          <a:lstStyle/>
          <a:p>
            <a:pPr algn="ctr"/>
            <a:endParaRPr/>
          </a:p>
        </p:txBody>
      </p:sp>
      <p:sp>
        <p:nvSpPr>
          <p:cNvPr id="981" name="TextBox 982"/>
          <p:cNvSpPr txBox="1"/>
          <p:nvPr/>
        </p:nvSpPr>
        <p:spPr>
          <a:xfrm>
            <a:off x="7735824" y="3941064"/>
            <a:ext cx="3877056" cy="438912"/>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RED III 65% 감축 미달 바이오는 화석 등가 처리</a:t>
            </a:r>
          </a:p>
        </p:txBody>
      </p:sp>
      <p:sp>
        <p:nvSpPr>
          <p:cNvPr id="983" name="Rectangle 984"/>
          <p:cNvSpPr/>
          <p:nvPr/>
        </p:nvSpPr>
        <p:spPr>
          <a:xfrm>
            <a:off x="502920" y="4846320"/>
            <a:ext cx="11183112" cy="640080"/>
          </a:xfrm>
          <a:prstGeom prst="rect">
            <a:avLst/>
          </a:prstGeom>
          <a:solidFill>
            <a:srgbClr val="EFEFEF"/>
          </a:solidFill>
          <a:ln>
            <a:noFill/>
          </a:ln>
          <a:effectLst/>
        </p:spPr>
        <p:txBody>
          <a:bodyPr rtlCol="0" anchor="ctr"/>
          <a:lstStyle/>
          <a:p>
            <a:pPr algn="ctr"/>
            <a:endParaRPr/>
          </a:p>
        </p:txBody>
      </p:sp>
      <p:sp>
        <p:nvSpPr>
          <p:cNvPr id="985" name="TextBox 986"/>
          <p:cNvSpPr txBox="1"/>
          <p:nvPr/>
        </p:nvSpPr>
        <p:spPr>
          <a:xfrm>
            <a:off x="685800" y="4846320"/>
            <a:ext cx="10817352" cy="64008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EU ETS는 TtW(gCO₂e/t), FuelEU는 WtW(gCO₂e/MJ) — 두 규제의 배출계수는 서로 다릅니다.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 name="Rectangle 98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989" name="TextBox 990"/>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표준·시험과 non-FAME 게이트</a:t>
            </a:r>
          </a:p>
        </p:txBody>
      </p:sp>
      <p:sp>
        <p:nvSpPr>
          <p:cNvPr id="991" name="Rectangle 99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993" name="TextBox 99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어떤 표준을 같이 봐야 하나</a:t>
            </a:r>
          </a:p>
        </p:txBody>
      </p:sp>
      <p:sp>
        <p:nvSpPr>
          <p:cNvPr id="995" name="Rectangle 996"/>
          <p:cNvSpPr/>
          <p:nvPr/>
        </p:nvSpPr>
        <p:spPr>
          <a:xfrm>
            <a:off x="502920" y="1783080"/>
            <a:ext cx="1920240" cy="402336"/>
          </a:xfrm>
          <a:prstGeom prst="rect">
            <a:avLst/>
          </a:prstGeom>
          <a:solidFill>
            <a:srgbClr val="172A4A"/>
          </a:solidFill>
          <a:ln>
            <a:noFill/>
          </a:ln>
          <a:effectLst/>
        </p:spPr>
        <p:txBody>
          <a:bodyPr rtlCol="0" anchor="ctr"/>
          <a:lstStyle/>
          <a:p>
            <a:pPr algn="ctr"/>
            <a:endParaRPr/>
          </a:p>
        </p:txBody>
      </p:sp>
      <p:sp>
        <p:nvSpPr>
          <p:cNvPr id="997" name="TextBox 998"/>
          <p:cNvSpPr txBox="1"/>
          <p:nvPr/>
        </p:nvSpPr>
        <p:spPr>
          <a:xfrm>
            <a:off x="576072" y="1783080"/>
            <a:ext cx="177393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표준</a:t>
            </a:r>
          </a:p>
        </p:txBody>
      </p:sp>
      <p:sp>
        <p:nvSpPr>
          <p:cNvPr id="999" name="Rectangle 1000"/>
          <p:cNvSpPr/>
          <p:nvPr/>
        </p:nvSpPr>
        <p:spPr>
          <a:xfrm>
            <a:off x="2423160" y="1783080"/>
            <a:ext cx="3520440" cy="402336"/>
          </a:xfrm>
          <a:prstGeom prst="rect">
            <a:avLst/>
          </a:prstGeom>
          <a:solidFill>
            <a:srgbClr val="172A4A"/>
          </a:solidFill>
          <a:ln>
            <a:noFill/>
          </a:ln>
          <a:effectLst/>
        </p:spPr>
        <p:txBody>
          <a:bodyPr rtlCol="0" anchor="ctr"/>
          <a:lstStyle/>
          <a:p>
            <a:pPr algn="ctr"/>
            <a:endParaRPr/>
          </a:p>
        </p:txBody>
      </p:sp>
      <p:sp>
        <p:nvSpPr>
          <p:cNvPr id="1001" name="TextBox 1002"/>
          <p:cNvSpPr txBox="1"/>
          <p:nvPr/>
        </p:nvSpPr>
        <p:spPr>
          <a:xfrm>
            <a:off x="2496312" y="1783080"/>
            <a:ext cx="3374136" cy="40233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역할</a:t>
            </a:r>
          </a:p>
        </p:txBody>
      </p:sp>
      <p:sp>
        <p:nvSpPr>
          <p:cNvPr id="1003" name="Rectangle 1004"/>
          <p:cNvSpPr/>
          <p:nvPr/>
        </p:nvSpPr>
        <p:spPr>
          <a:xfrm>
            <a:off x="502920" y="2185416"/>
            <a:ext cx="1920240" cy="402336"/>
          </a:xfrm>
          <a:prstGeom prst="rect">
            <a:avLst/>
          </a:prstGeom>
          <a:solidFill>
            <a:srgbClr val="FFFFFF"/>
          </a:solidFill>
          <a:ln w="9525">
            <a:solidFill>
              <a:srgbClr val="D0D4DA"/>
            </a:solidFill>
          </a:ln>
          <a:effectLst/>
        </p:spPr>
        <p:txBody>
          <a:bodyPr rtlCol="0" anchor="ctr"/>
          <a:lstStyle/>
          <a:p>
            <a:pPr algn="ctr"/>
            <a:endParaRPr/>
          </a:p>
        </p:txBody>
      </p:sp>
      <p:sp>
        <p:nvSpPr>
          <p:cNvPr id="1005" name="TextBox 1006"/>
          <p:cNvSpPr txBox="1"/>
          <p:nvPr/>
        </p:nvSpPr>
        <p:spPr>
          <a:xfrm>
            <a:off x="576072" y="2185416"/>
            <a:ext cx="177393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ISO 8217:2024</a:t>
            </a:r>
          </a:p>
        </p:txBody>
      </p:sp>
      <p:sp>
        <p:nvSpPr>
          <p:cNvPr id="1007" name="Rectangle 1008"/>
          <p:cNvSpPr/>
          <p:nvPr/>
        </p:nvSpPr>
        <p:spPr>
          <a:xfrm>
            <a:off x="2423160" y="2185416"/>
            <a:ext cx="3520440" cy="402336"/>
          </a:xfrm>
          <a:prstGeom prst="rect">
            <a:avLst/>
          </a:prstGeom>
          <a:solidFill>
            <a:srgbClr val="FFFFFF"/>
          </a:solidFill>
          <a:ln w="9525">
            <a:solidFill>
              <a:srgbClr val="D0D4DA"/>
            </a:solidFill>
          </a:ln>
          <a:effectLst/>
        </p:spPr>
        <p:txBody>
          <a:bodyPr rtlCol="0" anchor="ctr"/>
          <a:lstStyle/>
          <a:p>
            <a:pPr algn="ctr"/>
            <a:endParaRPr/>
          </a:p>
        </p:txBody>
      </p:sp>
      <p:sp>
        <p:nvSpPr>
          <p:cNvPr id="1009" name="TextBox 1010"/>
          <p:cNvSpPr txBox="1"/>
          <p:nvPr/>
        </p:nvSpPr>
        <p:spPr>
          <a:xfrm>
            <a:off x="2496312" y="2185416"/>
            <a:ext cx="3374136" cy="40233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마린연료 기본 규격 (4개 테이블 체계)</a:t>
            </a:r>
          </a:p>
        </p:txBody>
      </p:sp>
      <p:sp>
        <p:nvSpPr>
          <p:cNvPr id="1011" name="Rectangle 1012"/>
          <p:cNvSpPr/>
          <p:nvPr/>
        </p:nvSpPr>
        <p:spPr>
          <a:xfrm>
            <a:off x="502920" y="2587752"/>
            <a:ext cx="1920240" cy="438912"/>
          </a:xfrm>
          <a:prstGeom prst="rect">
            <a:avLst/>
          </a:prstGeom>
          <a:solidFill>
            <a:srgbClr val="FFFFFF"/>
          </a:solidFill>
          <a:ln w="9525">
            <a:solidFill>
              <a:srgbClr val="D0D4DA"/>
            </a:solidFill>
          </a:ln>
          <a:effectLst/>
        </p:spPr>
        <p:txBody>
          <a:bodyPr rtlCol="0" anchor="ctr"/>
          <a:lstStyle/>
          <a:p>
            <a:pPr algn="ctr"/>
            <a:endParaRPr/>
          </a:p>
        </p:txBody>
      </p:sp>
      <p:sp>
        <p:nvSpPr>
          <p:cNvPr id="1013" name="TextBox 1014"/>
          <p:cNvSpPr txBox="1"/>
          <p:nvPr/>
        </p:nvSpPr>
        <p:spPr>
          <a:xfrm>
            <a:off x="576072" y="2587752"/>
            <a:ext cx="17739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TR 140:2025</a:t>
            </a:r>
          </a:p>
        </p:txBody>
      </p:sp>
      <p:sp>
        <p:nvSpPr>
          <p:cNvPr id="1015" name="Rectangle 1016"/>
          <p:cNvSpPr/>
          <p:nvPr/>
        </p:nvSpPr>
        <p:spPr>
          <a:xfrm>
            <a:off x="2423160" y="2587752"/>
            <a:ext cx="3520440" cy="438912"/>
          </a:xfrm>
          <a:prstGeom prst="rect">
            <a:avLst/>
          </a:prstGeom>
          <a:solidFill>
            <a:srgbClr val="FFFFFF"/>
          </a:solidFill>
          <a:ln w="9525">
            <a:solidFill>
              <a:srgbClr val="D0D4DA"/>
            </a:solidFill>
          </a:ln>
          <a:effectLst/>
        </p:spPr>
        <p:txBody>
          <a:bodyPr rtlCol="0" anchor="ctr"/>
          <a:lstStyle/>
          <a:p>
            <a:pPr algn="ctr"/>
            <a:endParaRPr/>
          </a:p>
        </p:txBody>
      </p:sp>
      <p:sp>
        <p:nvSpPr>
          <p:cNvPr id="1017" name="TextBox 1018"/>
          <p:cNvSpPr txBox="1"/>
          <p:nvPr/>
        </p:nvSpPr>
        <p:spPr>
          <a:xfrm>
            <a:off x="2496312" y="2587752"/>
            <a:ext cx="33741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싱가포르 마린 바이오연료 — 추가 파라미터 보완</a:t>
            </a:r>
          </a:p>
        </p:txBody>
      </p:sp>
      <p:sp>
        <p:nvSpPr>
          <p:cNvPr id="1019" name="Rectangle 1020"/>
          <p:cNvSpPr/>
          <p:nvPr/>
        </p:nvSpPr>
        <p:spPr>
          <a:xfrm>
            <a:off x="502920" y="3026664"/>
            <a:ext cx="1920240" cy="512064"/>
          </a:xfrm>
          <a:prstGeom prst="rect">
            <a:avLst/>
          </a:prstGeom>
          <a:solidFill>
            <a:srgbClr val="FFFFFF"/>
          </a:solidFill>
          <a:ln w="9525">
            <a:solidFill>
              <a:srgbClr val="D0D4DA"/>
            </a:solidFill>
          </a:ln>
          <a:effectLst/>
        </p:spPr>
        <p:txBody>
          <a:bodyPr rtlCol="0" anchor="ctr"/>
          <a:lstStyle/>
          <a:p>
            <a:pPr algn="ctr"/>
            <a:endParaRPr/>
          </a:p>
        </p:txBody>
      </p:sp>
      <p:sp>
        <p:nvSpPr>
          <p:cNvPr id="1021" name="TextBox 1022"/>
          <p:cNvSpPr txBox="1"/>
          <p:nvPr/>
        </p:nvSpPr>
        <p:spPr>
          <a:xfrm>
            <a:off x="576072" y="3026664"/>
            <a:ext cx="1773936" cy="51206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EN 14214 / ASTM D6751</a:t>
            </a:r>
          </a:p>
        </p:txBody>
      </p:sp>
      <p:sp>
        <p:nvSpPr>
          <p:cNvPr id="1023" name="Rectangle 1024"/>
          <p:cNvSpPr/>
          <p:nvPr/>
        </p:nvSpPr>
        <p:spPr>
          <a:xfrm>
            <a:off x="2423160" y="3026664"/>
            <a:ext cx="3520440" cy="512064"/>
          </a:xfrm>
          <a:prstGeom prst="rect">
            <a:avLst/>
          </a:prstGeom>
          <a:solidFill>
            <a:srgbClr val="FFFFFF"/>
          </a:solidFill>
          <a:ln w="9525">
            <a:solidFill>
              <a:srgbClr val="D0D4DA"/>
            </a:solidFill>
          </a:ln>
          <a:effectLst/>
        </p:spPr>
        <p:txBody>
          <a:bodyPr rtlCol="0" anchor="ctr"/>
          <a:lstStyle/>
          <a:p>
            <a:pPr algn="ctr"/>
            <a:endParaRPr/>
          </a:p>
        </p:txBody>
      </p:sp>
      <p:sp>
        <p:nvSpPr>
          <p:cNvPr id="1025" name="TextBox 1026"/>
          <p:cNvSpPr txBox="1"/>
          <p:nvPr/>
        </p:nvSpPr>
        <p:spPr>
          <a:xfrm>
            <a:off x="2496312" y="3026664"/>
            <a:ext cx="3374136" cy="512064"/>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FAME 성분 기준 (황분·운점·CFPP 제외)</a:t>
            </a:r>
          </a:p>
        </p:txBody>
      </p:sp>
      <p:sp>
        <p:nvSpPr>
          <p:cNvPr id="1027" name="Rectangle 1028"/>
          <p:cNvSpPr/>
          <p:nvPr/>
        </p:nvSpPr>
        <p:spPr>
          <a:xfrm>
            <a:off x="502920" y="3538728"/>
            <a:ext cx="1920240" cy="438912"/>
          </a:xfrm>
          <a:prstGeom prst="rect">
            <a:avLst/>
          </a:prstGeom>
          <a:solidFill>
            <a:srgbClr val="FFFFFF"/>
          </a:solidFill>
          <a:ln w="9525">
            <a:solidFill>
              <a:srgbClr val="D0D4DA"/>
            </a:solidFill>
          </a:ln>
          <a:effectLst/>
        </p:spPr>
        <p:txBody>
          <a:bodyPr rtlCol="0" anchor="ctr"/>
          <a:lstStyle/>
          <a:p>
            <a:pPr algn="ctr"/>
            <a:endParaRPr/>
          </a:p>
        </p:txBody>
      </p:sp>
      <p:sp>
        <p:nvSpPr>
          <p:cNvPr id="1029" name="TextBox 1030"/>
          <p:cNvSpPr txBox="1"/>
          <p:nvPr/>
        </p:nvSpPr>
        <p:spPr>
          <a:xfrm>
            <a:off x="576072" y="3538728"/>
            <a:ext cx="17739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요오드가 (불포화도)</a:t>
            </a:r>
          </a:p>
        </p:txBody>
      </p:sp>
      <p:sp>
        <p:nvSpPr>
          <p:cNvPr id="1031" name="Rectangle 1032"/>
          <p:cNvSpPr/>
          <p:nvPr/>
        </p:nvSpPr>
        <p:spPr>
          <a:xfrm>
            <a:off x="2423160" y="3538728"/>
            <a:ext cx="3520440" cy="438912"/>
          </a:xfrm>
          <a:prstGeom prst="rect">
            <a:avLst/>
          </a:prstGeom>
          <a:solidFill>
            <a:srgbClr val="FFFFFF"/>
          </a:solidFill>
          <a:ln w="9525">
            <a:solidFill>
              <a:srgbClr val="D0D4DA"/>
            </a:solidFill>
          </a:ln>
          <a:effectLst/>
        </p:spPr>
        <p:txBody>
          <a:bodyPr rtlCol="0" anchor="ctr"/>
          <a:lstStyle/>
          <a:p>
            <a:pPr algn="ctr"/>
            <a:endParaRPr/>
          </a:p>
        </p:txBody>
      </p:sp>
      <p:sp>
        <p:nvSpPr>
          <p:cNvPr id="1033" name="TextBox 1034"/>
          <p:cNvSpPr txBox="1"/>
          <p:nvPr/>
        </p:nvSpPr>
        <p:spPr>
          <a:xfrm>
            <a:off x="2496312" y="3538728"/>
            <a:ext cx="3374136" cy="438912"/>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산화·중합·저장안정성에 직결 — 평가 권장</a:t>
            </a:r>
          </a:p>
        </p:txBody>
      </p:sp>
      <p:sp>
        <p:nvSpPr>
          <p:cNvPr id="1035" name="TextBox 1036"/>
          <p:cNvSpPr txBox="1"/>
          <p:nvPr/>
        </p:nvSpPr>
        <p:spPr>
          <a:xfrm>
            <a:off x="502920" y="3977640"/>
            <a:ext cx="5440680" cy="128016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B30은 FAME 30%가 아닙니다. EN 14214 준수 B100의 FAME가 최소 96.5%이므로 B30의 실제 FAME는 28.95%입니다.</a:t>
            </a:r>
          </a:p>
          <a:p>
            <a:pPr algn="l">
              <a:lnSpc>
                <a:spcPct val="125000"/>
              </a:lnSpc>
              <a:spcAft>
                <a:spcPts val="0"/>
              </a:spcAft>
            </a:pPr>
            <a:r>
              <a:rPr sz="1200" b="1">
                <a:solidFill>
                  <a:srgbClr val="172A4A"/>
                </a:solidFill>
                <a:latin typeface="Calibri"/>
                <a:ea typeface="맑은 고딕"/>
                <a:cs typeface="Calibri"/>
              </a:rPr>
              <a:t>EN 14214가 유일한 정답은 아닙니다 — 공급 제약으로 non-FAME 제품이 이미 유통 중입니다.</a:t>
            </a:r>
          </a:p>
        </p:txBody>
      </p:sp>
      <p:sp>
        <p:nvSpPr>
          <p:cNvPr id="1037" name="Rectangle 1038"/>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1039" name="TextBox 1040"/>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non-FAME 도입 시 6단계 검증 (HVO, CNSL, 열분해유 등)</a:t>
            </a:r>
          </a:p>
        </p:txBody>
      </p:sp>
      <p:sp>
        <p:nvSpPr>
          <p:cNvPr id="1041" name="Rectangle 1042"/>
          <p:cNvSpPr/>
          <p:nvPr/>
        </p:nvSpPr>
        <p:spPr>
          <a:xfrm>
            <a:off x="6245352" y="1783080"/>
            <a:ext cx="566928" cy="475488"/>
          </a:xfrm>
          <a:prstGeom prst="rect">
            <a:avLst/>
          </a:prstGeom>
          <a:solidFill>
            <a:srgbClr val="FFFFFF"/>
          </a:solidFill>
          <a:ln w="9525">
            <a:solidFill>
              <a:srgbClr val="D0D4DA"/>
            </a:solidFill>
          </a:ln>
          <a:effectLst/>
        </p:spPr>
        <p:txBody>
          <a:bodyPr rtlCol="0" anchor="ctr"/>
          <a:lstStyle/>
          <a:p>
            <a:pPr algn="ctr"/>
            <a:endParaRPr/>
          </a:p>
        </p:txBody>
      </p:sp>
      <p:sp>
        <p:nvSpPr>
          <p:cNvPr id="1043" name="TextBox 1044"/>
          <p:cNvSpPr txBox="1"/>
          <p:nvPr/>
        </p:nvSpPr>
        <p:spPr>
          <a:xfrm>
            <a:off x="6318504" y="1783080"/>
            <a:ext cx="420624" cy="47548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01</a:t>
            </a:r>
          </a:p>
        </p:txBody>
      </p:sp>
      <p:sp>
        <p:nvSpPr>
          <p:cNvPr id="1045" name="Rectangle 1046"/>
          <p:cNvSpPr/>
          <p:nvPr/>
        </p:nvSpPr>
        <p:spPr>
          <a:xfrm>
            <a:off x="6812280" y="1783080"/>
            <a:ext cx="4873752" cy="475488"/>
          </a:xfrm>
          <a:prstGeom prst="rect">
            <a:avLst/>
          </a:prstGeom>
          <a:solidFill>
            <a:srgbClr val="FFFFFF"/>
          </a:solidFill>
          <a:ln w="9525">
            <a:solidFill>
              <a:srgbClr val="D0D4DA"/>
            </a:solidFill>
          </a:ln>
          <a:effectLst/>
        </p:spPr>
        <p:txBody>
          <a:bodyPr rtlCol="0" anchor="ctr"/>
          <a:lstStyle/>
          <a:p>
            <a:pPr algn="ctr"/>
            <a:endParaRPr/>
          </a:p>
        </p:txBody>
      </p:sp>
      <p:sp>
        <p:nvSpPr>
          <p:cNvPr id="1047" name="TextBox 1048"/>
          <p:cNvSpPr txBox="1"/>
          <p:nvPr/>
        </p:nvSpPr>
        <p:spPr>
          <a:xfrm>
            <a:off x="6885432" y="1783080"/>
            <a:ext cx="4727448" cy="47548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문서 검토 및 평가</a:t>
            </a:r>
          </a:p>
        </p:txBody>
      </p:sp>
      <p:sp>
        <p:nvSpPr>
          <p:cNvPr id="1049" name="Rectangle 1050"/>
          <p:cNvSpPr/>
          <p:nvPr/>
        </p:nvSpPr>
        <p:spPr>
          <a:xfrm>
            <a:off x="6245352" y="2258568"/>
            <a:ext cx="566928" cy="475488"/>
          </a:xfrm>
          <a:prstGeom prst="rect">
            <a:avLst/>
          </a:prstGeom>
          <a:solidFill>
            <a:srgbClr val="FFFFFF"/>
          </a:solidFill>
          <a:ln w="9525">
            <a:solidFill>
              <a:srgbClr val="D0D4DA"/>
            </a:solidFill>
          </a:ln>
          <a:effectLst/>
        </p:spPr>
        <p:txBody>
          <a:bodyPr rtlCol="0" anchor="ctr"/>
          <a:lstStyle/>
          <a:p>
            <a:pPr algn="ctr"/>
            <a:endParaRPr/>
          </a:p>
        </p:txBody>
      </p:sp>
      <p:sp>
        <p:nvSpPr>
          <p:cNvPr id="1051" name="TextBox 1052"/>
          <p:cNvSpPr txBox="1"/>
          <p:nvPr/>
        </p:nvSpPr>
        <p:spPr>
          <a:xfrm>
            <a:off x="6318504" y="2258568"/>
            <a:ext cx="420624" cy="47548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02</a:t>
            </a:r>
          </a:p>
        </p:txBody>
      </p:sp>
      <p:sp>
        <p:nvSpPr>
          <p:cNvPr id="1053" name="Rectangle 1054"/>
          <p:cNvSpPr/>
          <p:nvPr/>
        </p:nvSpPr>
        <p:spPr>
          <a:xfrm>
            <a:off x="6812280" y="2258568"/>
            <a:ext cx="4873752" cy="475488"/>
          </a:xfrm>
          <a:prstGeom prst="rect">
            <a:avLst/>
          </a:prstGeom>
          <a:solidFill>
            <a:srgbClr val="FFFFFF"/>
          </a:solidFill>
          <a:ln w="9525">
            <a:solidFill>
              <a:srgbClr val="D0D4DA"/>
            </a:solidFill>
          </a:ln>
          <a:effectLst/>
        </p:spPr>
        <p:txBody>
          <a:bodyPr rtlCol="0" anchor="ctr"/>
          <a:lstStyle/>
          <a:p>
            <a:pPr algn="ctr"/>
            <a:endParaRPr/>
          </a:p>
        </p:txBody>
      </p:sp>
      <p:sp>
        <p:nvSpPr>
          <p:cNvPr id="1055" name="TextBox 1056"/>
          <p:cNvSpPr txBox="1"/>
          <p:nvPr/>
        </p:nvSpPr>
        <p:spPr>
          <a:xfrm>
            <a:off x="6885432" y="2258568"/>
            <a:ext cx="4727448" cy="47548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제품 성분 분석</a:t>
            </a:r>
          </a:p>
        </p:txBody>
      </p:sp>
      <p:sp>
        <p:nvSpPr>
          <p:cNvPr id="1057" name="Rectangle 1058"/>
          <p:cNvSpPr/>
          <p:nvPr/>
        </p:nvSpPr>
        <p:spPr>
          <a:xfrm>
            <a:off x="6245352" y="2734056"/>
            <a:ext cx="566928" cy="475488"/>
          </a:xfrm>
          <a:prstGeom prst="rect">
            <a:avLst/>
          </a:prstGeom>
          <a:solidFill>
            <a:srgbClr val="FFFFFF"/>
          </a:solidFill>
          <a:ln w="9525">
            <a:solidFill>
              <a:srgbClr val="D0D4DA"/>
            </a:solidFill>
          </a:ln>
          <a:effectLst/>
        </p:spPr>
        <p:txBody>
          <a:bodyPr rtlCol="0" anchor="ctr"/>
          <a:lstStyle/>
          <a:p>
            <a:pPr algn="ctr"/>
            <a:endParaRPr/>
          </a:p>
        </p:txBody>
      </p:sp>
      <p:sp>
        <p:nvSpPr>
          <p:cNvPr id="1059" name="TextBox 1060"/>
          <p:cNvSpPr txBox="1"/>
          <p:nvPr/>
        </p:nvSpPr>
        <p:spPr>
          <a:xfrm>
            <a:off x="6318504" y="2734056"/>
            <a:ext cx="420624" cy="47548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03</a:t>
            </a:r>
          </a:p>
        </p:txBody>
      </p:sp>
      <p:sp>
        <p:nvSpPr>
          <p:cNvPr id="1061" name="Rectangle 1062"/>
          <p:cNvSpPr/>
          <p:nvPr/>
        </p:nvSpPr>
        <p:spPr>
          <a:xfrm>
            <a:off x="6812280" y="2734056"/>
            <a:ext cx="4873752" cy="475488"/>
          </a:xfrm>
          <a:prstGeom prst="rect">
            <a:avLst/>
          </a:prstGeom>
          <a:solidFill>
            <a:srgbClr val="FFFFFF"/>
          </a:solidFill>
          <a:ln w="9525">
            <a:solidFill>
              <a:srgbClr val="D0D4DA"/>
            </a:solidFill>
          </a:ln>
          <a:effectLst/>
        </p:spPr>
        <p:txBody>
          <a:bodyPr rtlCol="0" anchor="ctr"/>
          <a:lstStyle/>
          <a:p>
            <a:pPr algn="ctr"/>
            <a:endParaRPr/>
          </a:p>
        </p:txBody>
      </p:sp>
      <p:sp>
        <p:nvSpPr>
          <p:cNvPr id="1063" name="TextBox 1064"/>
          <p:cNvSpPr txBox="1"/>
          <p:nvPr/>
        </p:nvSpPr>
        <p:spPr>
          <a:xfrm>
            <a:off x="6885432" y="2734056"/>
            <a:ext cx="4727448" cy="47548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사전 적합성 평가</a:t>
            </a:r>
          </a:p>
        </p:txBody>
      </p:sp>
      <p:sp>
        <p:nvSpPr>
          <p:cNvPr id="1065" name="Rectangle 1066"/>
          <p:cNvSpPr/>
          <p:nvPr/>
        </p:nvSpPr>
        <p:spPr>
          <a:xfrm>
            <a:off x="6245352" y="3209544"/>
            <a:ext cx="566928" cy="475488"/>
          </a:xfrm>
          <a:prstGeom prst="rect">
            <a:avLst/>
          </a:prstGeom>
          <a:solidFill>
            <a:srgbClr val="FFFFFF"/>
          </a:solidFill>
          <a:ln w="9525">
            <a:solidFill>
              <a:srgbClr val="D0D4DA"/>
            </a:solidFill>
          </a:ln>
          <a:effectLst/>
        </p:spPr>
        <p:txBody>
          <a:bodyPr rtlCol="0" anchor="ctr"/>
          <a:lstStyle/>
          <a:p>
            <a:pPr algn="ctr"/>
            <a:endParaRPr/>
          </a:p>
        </p:txBody>
      </p:sp>
      <p:sp>
        <p:nvSpPr>
          <p:cNvPr id="1067" name="TextBox 1068"/>
          <p:cNvSpPr txBox="1"/>
          <p:nvPr/>
        </p:nvSpPr>
        <p:spPr>
          <a:xfrm>
            <a:off x="6318504" y="3209544"/>
            <a:ext cx="420624" cy="47548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04</a:t>
            </a:r>
          </a:p>
        </p:txBody>
      </p:sp>
      <p:sp>
        <p:nvSpPr>
          <p:cNvPr id="1069" name="Rectangle 1070"/>
          <p:cNvSpPr/>
          <p:nvPr/>
        </p:nvSpPr>
        <p:spPr>
          <a:xfrm>
            <a:off x="6812280" y="3209544"/>
            <a:ext cx="4873752" cy="475488"/>
          </a:xfrm>
          <a:prstGeom prst="rect">
            <a:avLst/>
          </a:prstGeom>
          <a:solidFill>
            <a:srgbClr val="FFFFFF"/>
          </a:solidFill>
          <a:ln w="9525">
            <a:solidFill>
              <a:srgbClr val="D0D4DA"/>
            </a:solidFill>
          </a:ln>
          <a:effectLst/>
        </p:spPr>
        <p:txBody>
          <a:bodyPr rtlCol="0" anchor="ctr"/>
          <a:lstStyle/>
          <a:p>
            <a:pPr algn="ctr"/>
            <a:endParaRPr/>
          </a:p>
        </p:txBody>
      </p:sp>
      <p:sp>
        <p:nvSpPr>
          <p:cNvPr id="1071" name="TextBox 1072"/>
          <p:cNvSpPr txBox="1"/>
          <p:nvPr/>
        </p:nvSpPr>
        <p:spPr>
          <a:xfrm>
            <a:off x="6885432" y="3209544"/>
            <a:ext cx="4727448" cy="47548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해상 시운전 데이터 수집·검토</a:t>
            </a:r>
          </a:p>
        </p:txBody>
      </p:sp>
      <p:sp>
        <p:nvSpPr>
          <p:cNvPr id="1073" name="Rectangle 1074"/>
          <p:cNvSpPr/>
          <p:nvPr/>
        </p:nvSpPr>
        <p:spPr>
          <a:xfrm>
            <a:off x="6245352" y="3685032"/>
            <a:ext cx="566928" cy="475488"/>
          </a:xfrm>
          <a:prstGeom prst="rect">
            <a:avLst/>
          </a:prstGeom>
          <a:solidFill>
            <a:srgbClr val="FFFFFF"/>
          </a:solidFill>
          <a:ln w="9525">
            <a:solidFill>
              <a:srgbClr val="D0D4DA"/>
            </a:solidFill>
          </a:ln>
          <a:effectLst/>
        </p:spPr>
        <p:txBody>
          <a:bodyPr rtlCol="0" anchor="ctr"/>
          <a:lstStyle/>
          <a:p>
            <a:pPr algn="ctr"/>
            <a:endParaRPr/>
          </a:p>
        </p:txBody>
      </p:sp>
      <p:sp>
        <p:nvSpPr>
          <p:cNvPr id="1075" name="TextBox 1076"/>
          <p:cNvSpPr txBox="1"/>
          <p:nvPr/>
        </p:nvSpPr>
        <p:spPr>
          <a:xfrm>
            <a:off x="6318504" y="3685032"/>
            <a:ext cx="420624" cy="47548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05</a:t>
            </a:r>
          </a:p>
        </p:txBody>
      </p:sp>
      <p:sp>
        <p:nvSpPr>
          <p:cNvPr id="1077" name="Rectangle 1078"/>
          <p:cNvSpPr/>
          <p:nvPr/>
        </p:nvSpPr>
        <p:spPr>
          <a:xfrm>
            <a:off x="6812280" y="3685032"/>
            <a:ext cx="4873752" cy="475488"/>
          </a:xfrm>
          <a:prstGeom prst="rect">
            <a:avLst/>
          </a:prstGeom>
          <a:solidFill>
            <a:srgbClr val="FFFFFF"/>
          </a:solidFill>
          <a:ln w="9525">
            <a:solidFill>
              <a:srgbClr val="D0D4DA"/>
            </a:solidFill>
          </a:ln>
          <a:effectLst/>
        </p:spPr>
        <p:txBody>
          <a:bodyPr rtlCol="0" anchor="ctr"/>
          <a:lstStyle/>
          <a:p>
            <a:pPr algn="ctr"/>
            <a:endParaRPr/>
          </a:p>
        </p:txBody>
      </p:sp>
      <p:sp>
        <p:nvSpPr>
          <p:cNvPr id="1079" name="TextBox 1080"/>
          <p:cNvSpPr txBox="1"/>
          <p:nvPr/>
        </p:nvSpPr>
        <p:spPr>
          <a:xfrm>
            <a:off x="6885432" y="3685032"/>
            <a:ext cx="4727448" cy="47548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시운전 성능 최종 평가</a:t>
            </a:r>
          </a:p>
        </p:txBody>
      </p:sp>
      <p:sp>
        <p:nvSpPr>
          <p:cNvPr id="1081" name="Rectangle 1082"/>
          <p:cNvSpPr/>
          <p:nvPr/>
        </p:nvSpPr>
        <p:spPr>
          <a:xfrm>
            <a:off x="6245352" y="4160520"/>
            <a:ext cx="566928" cy="475488"/>
          </a:xfrm>
          <a:prstGeom prst="rect">
            <a:avLst/>
          </a:prstGeom>
          <a:solidFill>
            <a:srgbClr val="FFFFFF"/>
          </a:solidFill>
          <a:ln w="9525">
            <a:solidFill>
              <a:srgbClr val="D0D4DA"/>
            </a:solidFill>
          </a:ln>
          <a:effectLst/>
        </p:spPr>
        <p:txBody>
          <a:bodyPr rtlCol="0" anchor="ctr"/>
          <a:lstStyle/>
          <a:p>
            <a:pPr algn="ctr"/>
            <a:endParaRPr/>
          </a:p>
        </p:txBody>
      </p:sp>
      <p:sp>
        <p:nvSpPr>
          <p:cNvPr id="1083" name="TextBox 1084"/>
          <p:cNvSpPr txBox="1"/>
          <p:nvPr/>
        </p:nvSpPr>
        <p:spPr>
          <a:xfrm>
            <a:off x="6318504" y="4160520"/>
            <a:ext cx="420624" cy="47548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06</a:t>
            </a:r>
          </a:p>
        </p:txBody>
      </p:sp>
      <p:sp>
        <p:nvSpPr>
          <p:cNvPr id="1085" name="Rectangle 1086"/>
          <p:cNvSpPr/>
          <p:nvPr/>
        </p:nvSpPr>
        <p:spPr>
          <a:xfrm>
            <a:off x="6812280" y="4160520"/>
            <a:ext cx="4873752" cy="475488"/>
          </a:xfrm>
          <a:prstGeom prst="rect">
            <a:avLst/>
          </a:prstGeom>
          <a:solidFill>
            <a:srgbClr val="FFFFFF"/>
          </a:solidFill>
          <a:ln w="9525">
            <a:solidFill>
              <a:srgbClr val="D0D4DA"/>
            </a:solidFill>
          </a:ln>
          <a:effectLst/>
        </p:spPr>
        <p:txBody>
          <a:bodyPr rtlCol="0" anchor="ctr"/>
          <a:lstStyle/>
          <a:p>
            <a:pPr algn="ctr"/>
            <a:endParaRPr/>
          </a:p>
        </p:txBody>
      </p:sp>
      <p:sp>
        <p:nvSpPr>
          <p:cNvPr id="1087" name="TextBox 1088"/>
          <p:cNvSpPr txBox="1"/>
          <p:nvPr/>
        </p:nvSpPr>
        <p:spPr>
          <a:xfrm>
            <a:off x="6885432" y="4160520"/>
            <a:ext cx="4727448" cy="475488"/>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기관 내구성 중·장기 평가</a:t>
            </a:r>
          </a:p>
        </p:txBody>
      </p:sp>
      <p:sp>
        <p:nvSpPr>
          <p:cNvPr id="1089" name="Rectangle 1090"/>
          <p:cNvSpPr/>
          <p:nvPr/>
        </p:nvSpPr>
        <p:spPr>
          <a:xfrm>
            <a:off x="6245352" y="4754880"/>
            <a:ext cx="5440680" cy="777240"/>
          </a:xfrm>
          <a:prstGeom prst="rect">
            <a:avLst/>
          </a:prstGeom>
          <a:solidFill>
            <a:srgbClr val="EFEFEF"/>
          </a:solidFill>
          <a:ln>
            <a:noFill/>
          </a:ln>
          <a:effectLst/>
        </p:spPr>
        <p:txBody>
          <a:bodyPr rtlCol="0" anchor="ctr"/>
          <a:lstStyle/>
          <a:p>
            <a:pPr algn="ctr"/>
            <a:endParaRPr/>
          </a:p>
        </p:txBody>
      </p:sp>
      <p:sp>
        <p:nvSpPr>
          <p:cNvPr id="1091" name="TextBox 1092"/>
          <p:cNvSpPr txBox="1"/>
          <p:nvPr/>
        </p:nvSpPr>
        <p:spPr>
          <a:xfrm>
            <a:off x="6428232" y="475488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여기에 매도·매수 합의와 Flag·Class 승인, 그리고 OEM LONO가 반드시 더해져야 합니다.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Rectangle 109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095" name="TextBox 109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두 문서의 교집합 — 오늘 이 다섯 개만 잡으면 됩니다</a:t>
            </a:r>
          </a:p>
        </p:txBody>
      </p:sp>
      <p:sp>
        <p:nvSpPr>
          <p:cNvPr id="1097" name="Rectangle 1098"/>
          <p:cNvSpPr/>
          <p:nvPr/>
        </p:nvSpPr>
        <p:spPr>
          <a:xfrm>
            <a:off x="502920" y="1280160"/>
            <a:ext cx="2834640" cy="457200"/>
          </a:xfrm>
          <a:prstGeom prst="rect">
            <a:avLst/>
          </a:prstGeom>
          <a:solidFill>
            <a:srgbClr val="172A4A"/>
          </a:solidFill>
          <a:ln>
            <a:noFill/>
          </a:ln>
          <a:effectLst/>
        </p:spPr>
        <p:txBody>
          <a:bodyPr rtlCol="0" anchor="ctr"/>
          <a:lstStyle/>
          <a:p>
            <a:pPr algn="ctr"/>
            <a:endParaRPr/>
          </a:p>
        </p:txBody>
      </p:sp>
      <p:sp>
        <p:nvSpPr>
          <p:cNvPr id="1099" name="TextBox 1100"/>
          <p:cNvSpPr txBox="1"/>
          <p:nvPr/>
        </p:nvSpPr>
        <p:spPr>
          <a:xfrm>
            <a:off x="576072" y="1280160"/>
            <a:ext cx="2688336" cy="457200"/>
          </a:xfrm>
          <a:prstGeom prst="rect">
            <a:avLst/>
          </a:prstGeom>
          <a:noFill/>
        </p:spPr>
        <p:txBody>
          <a:bodyPr wrap="square" lIns="36576" tIns="0" rIns="36576" bIns="0" anchor="ctr"/>
          <a:lstStyle/>
          <a:p>
            <a:pPr algn="l">
              <a:lnSpc>
                <a:spcPct val="110000"/>
              </a:lnSpc>
              <a:spcAft>
                <a:spcPts val="0"/>
              </a:spcAft>
            </a:pPr>
            <a:r>
              <a:rPr sz="1050" b="1">
                <a:solidFill>
                  <a:srgbClr val="FFFFFF"/>
                </a:solidFill>
                <a:latin typeface="Calibri"/>
                <a:ea typeface="맑은 고딕"/>
                <a:cs typeface="Calibri"/>
              </a:rPr>
              <a:t>공통 논점</a:t>
            </a:r>
          </a:p>
        </p:txBody>
      </p:sp>
      <p:sp>
        <p:nvSpPr>
          <p:cNvPr id="1101" name="Rectangle 1102"/>
          <p:cNvSpPr/>
          <p:nvPr/>
        </p:nvSpPr>
        <p:spPr>
          <a:xfrm>
            <a:off x="3337560" y="1280160"/>
            <a:ext cx="3200400" cy="457200"/>
          </a:xfrm>
          <a:prstGeom prst="rect">
            <a:avLst/>
          </a:prstGeom>
          <a:solidFill>
            <a:srgbClr val="172A4A"/>
          </a:solidFill>
          <a:ln>
            <a:noFill/>
          </a:ln>
          <a:effectLst/>
        </p:spPr>
        <p:txBody>
          <a:bodyPr rtlCol="0" anchor="ctr"/>
          <a:lstStyle/>
          <a:p>
            <a:pPr algn="ctr"/>
            <a:endParaRPr/>
          </a:p>
        </p:txBody>
      </p:sp>
      <p:sp>
        <p:nvSpPr>
          <p:cNvPr id="1103" name="TextBox 1104"/>
          <p:cNvSpPr txBox="1"/>
          <p:nvPr/>
        </p:nvSpPr>
        <p:spPr>
          <a:xfrm>
            <a:off x="3410712" y="1280160"/>
            <a:ext cx="3054096" cy="457200"/>
          </a:xfrm>
          <a:prstGeom prst="rect">
            <a:avLst/>
          </a:prstGeom>
          <a:noFill/>
        </p:spPr>
        <p:txBody>
          <a:bodyPr wrap="square" lIns="36576" tIns="0" rIns="36576" bIns="0" anchor="ctr"/>
          <a:lstStyle/>
          <a:p>
            <a:pPr algn="l">
              <a:lnSpc>
                <a:spcPct val="110000"/>
              </a:lnSpc>
              <a:spcAft>
                <a:spcPts val="0"/>
              </a:spcAft>
            </a:pPr>
            <a:r>
              <a:rPr sz="1050" b="1">
                <a:solidFill>
                  <a:srgbClr val="FFFFFF"/>
                </a:solidFill>
                <a:latin typeface="Calibri"/>
                <a:ea typeface="맑은 고딕"/>
                <a:cs typeface="Calibri"/>
              </a:rPr>
              <a:t>Gard 근거</a:t>
            </a:r>
          </a:p>
        </p:txBody>
      </p:sp>
      <p:sp>
        <p:nvSpPr>
          <p:cNvPr id="1105" name="Rectangle 1106"/>
          <p:cNvSpPr/>
          <p:nvPr/>
        </p:nvSpPr>
        <p:spPr>
          <a:xfrm>
            <a:off x="6537960" y="1280160"/>
            <a:ext cx="3017520" cy="457200"/>
          </a:xfrm>
          <a:prstGeom prst="rect">
            <a:avLst/>
          </a:prstGeom>
          <a:solidFill>
            <a:srgbClr val="172A4A"/>
          </a:solidFill>
          <a:ln>
            <a:noFill/>
          </a:ln>
          <a:effectLst/>
        </p:spPr>
        <p:txBody>
          <a:bodyPr rtlCol="0" anchor="ctr"/>
          <a:lstStyle/>
          <a:p>
            <a:pPr algn="ctr"/>
            <a:endParaRPr/>
          </a:p>
        </p:txBody>
      </p:sp>
      <p:sp>
        <p:nvSpPr>
          <p:cNvPr id="1107" name="TextBox 1108"/>
          <p:cNvSpPr txBox="1"/>
          <p:nvPr/>
        </p:nvSpPr>
        <p:spPr>
          <a:xfrm>
            <a:off x="6611112" y="1280160"/>
            <a:ext cx="2871216" cy="457200"/>
          </a:xfrm>
          <a:prstGeom prst="rect">
            <a:avLst/>
          </a:prstGeom>
          <a:noFill/>
        </p:spPr>
        <p:txBody>
          <a:bodyPr wrap="square" lIns="36576" tIns="0" rIns="36576" bIns="0" anchor="ctr"/>
          <a:lstStyle/>
          <a:p>
            <a:pPr algn="l">
              <a:lnSpc>
                <a:spcPct val="110000"/>
              </a:lnSpc>
              <a:spcAft>
                <a:spcPts val="0"/>
              </a:spcAft>
            </a:pPr>
            <a:r>
              <a:rPr sz="1050" b="1">
                <a:solidFill>
                  <a:srgbClr val="FFFFFF"/>
                </a:solidFill>
                <a:latin typeface="Calibri"/>
                <a:ea typeface="맑은 고딕"/>
                <a:cs typeface="Calibri"/>
              </a:rPr>
              <a:t>SSA 근거</a:t>
            </a:r>
          </a:p>
        </p:txBody>
      </p:sp>
      <p:sp>
        <p:nvSpPr>
          <p:cNvPr id="1109" name="Rectangle 1110"/>
          <p:cNvSpPr/>
          <p:nvPr/>
        </p:nvSpPr>
        <p:spPr>
          <a:xfrm>
            <a:off x="9555480" y="1280160"/>
            <a:ext cx="2130552" cy="457200"/>
          </a:xfrm>
          <a:prstGeom prst="rect">
            <a:avLst/>
          </a:prstGeom>
          <a:solidFill>
            <a:srgbClr val="172A4A"/>
          </a:solidFill>
          <a:ln>
            <a:noFill/>
          </a:ln>
          <a:effectLst/>
        </p:spPr>
        <p:txBody>
          <a:bodyPr rtlCol="0" anchor="ctr"/>
          <a:lstStyle/>
          <a:p>
            <a:pPr algn="ctr"/>
            <a:endParaRPr/>
          </a:p>
        </p:txBody>
      </p:sp>
      <p:sp>
        <p:nvSpPr>
          <p:cNvPr id="1111" name="TextBox 1112"/>
          <p:cNvSpPr txBox="1"/>
          <p:nvPr/>
        </p:nvSpPr>
        <p:spPr>
          <a:xfrm>
            <a:off x="9628632" y="1280160"/>
            <a:ext cx="1984248" cy="457200"/>
          </a:xfrm>
          <a:prstGeom prst="rect">
            <a:avLst/>
          </a:prstGeom>
          <a:noFill/>
        </p:spPr>
        <p:txBody>
          <a:bodyPr wrap="square" lIns="36576" tIns="0" rIns="36576" bIns="0" anchor="ctr"/>
          <a:lstStyle/>
          <a:p>
            <a:pPr algn="l">
              <a:lnSpc>
                <a:spcPct val="110000"/>
              </a:lnSpc>
              <a:spcAft>
                <a:spcPts val="0"/>
              </a:spcAft>
            </a:pPr>
            <a:r>
              <a:rPr sz="1050" b="1">
                <a:solidFill>
                  <a:srgbClr val="FFFFFF"/>
                </a:solidFill>
                <a:latin typeface="Calibri"/>
                <a:ea typeface="맑은 고딕"/>
                <a:cs typeface="Calibri"/>
              </a:rPr>
              <a:t>시사점</a:t>
            </a:r>
          </a:p>
        </p:txBody>
      </p:sp>
      <p:sp>
        <p:nvSpPr>
          <p:cNvPr id="1113" name="Rectangle 1114"/>
          <p:cNvSpPr/>
          <p:nvPr/>
        </p:nvSpPr>
        <p:spPr>
          <a:xfrm>
            <a:off x="502920" y="1737360"/>
            <a:ext cx="2834640" cy="731520"/>
          </a:xfrm>
          <a:prstGeom prst="rect">
            <a:avLst/>
          </a:prstGeom>
          <a:solidFill>
            <a:srgbClr val="FFFFFF"/>
          </a:solidFill>
          <a:ln w="9525">
            <a:solidFill>
              <a:srgbClr val="D0D4DA"/>
            </a:solidFill>
          </a:ln>
          <a:effectLst/>
        </p:spPr>
        <p:txBody>
          <a:bodyPr rtlCol="0" anchor="ctr"/>
          <a:lstStyle/>
          <a:p>
            <a:pPr algn="ctr"/>
            <a:endParaRPr/>
          </a:p>
        </p:txBody>
      </p:sp>
      <p:sp>
        <p:nvSpPr>
          <p:cNvPr id="1115" name="TextBox 1116"/>
          <p:cNvSpPr txBox="1"/>
          <p:nvPr/>
        </p:nvSpPr>
        <p:spPr>
          <a:xfrm>
            <a:off x="576072" y="1737360"/>
            <a:ext cx="2688336" cy="731520"/>
          </a:xfrm>
          <a:prstGeom prst="rect">
            <a:avLst/>
          </a:prstGeom>
          <a:noFill/>
        </p:spPr>
        <p:txBody>
          <a:bodyPr wrap="square" lIns="36576" tIns="0" rIns="36576" bIns="0" anchor="ctr"/>
          <a:lstStyle/>
          <a:p>
            <a:pPr algn="l">
              <a:lnSpc>
                <a:spcPct val="110000"/>
              </a:lnSpc>
              <a:spcAft>
                <a:spcPts val="0"/>
              </a:spcAft>
            </a:pPr>
            <a:r>
              <a:rPr sz="1050" b="1">
                <a:solidFill>
                  <a:srgbClr val="172A4A"/>
                </a:solidFill>
                <a:latin typeface="Calibri"/>
                <a:ea typeface="맑은 고딕"/>
                <a:cs typeface="Calibri"/>
              </a:rPr>
              <a:t>규격 준수 ≠ 사용 적합성</a:t>
            </a:r>
          </a:p>
        </p:txBody>
      </p:sp>
      <p:sp>
        <p:nvSpPr>
          <p:cNvPr id="1117" name="Rectangle 1118"/>
          <p:cNvSpPr/>
          <p:nvPr/>
        </p:nvSpPr>
        <p:spPr>
          <a:xfrm>
            <a:off x="3337560" y="1737360"/>
            <a:ext cx="3200400" cy="731520"/>
          </a:xfrm>
          <a:prstGeom prst="rect">
            <a:avLst/>
          </a:prstGeom>
          <a:solidFill>
            <a:srgbClr val="FFFFFF"/>
          </a:solidFill>
          <a:ln w="9525">
            <a:solidFill>
              <a:srgbClr val="D0D4DA"/>
            </a:solidFill>
          </a:ln>
          <a:effectLst/>
        </p:spPr>
        <p:txBody>
          <a:bodyPr rtlCol="0" anchor="ctr"/>
          <a:lstStyle/>
          <a:p>
            <a:pPr algn="ctr"/>
            <a:endParaRPr/>
          </a:p>
        </p:txBody>
      </p:sp>
      <p:sp>
        <p:nvSpPr>
          <p:cNvPr id="1119" name="TextBox 1120"/>
          <p:cNvSpPr txBox="1"/>
          <p:nvPr/>
        </p:nvSpPr>
        <p:spPr>
          <a:xfrm>
            <a:off x="3410712" y="1737360"/>
            <a:ext cx="305409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Table 2 온스펙인데 문제 발생 40%, Clause 5·Annex B</a:t>
            </a:r>
          </a:p>
        </p:txBody>
      </p:sp>
      <p:sp>
        <p:nvSpPr>
          <p:cNvPr id="1121" name="Rectangle 1122"/>
          <p:cNvSpPr/>
          <p:nvPr/>
        </p:nvSpPr>
        <p:spPr>
          <a:xfrm>
            <a:off x="6537960" y="1737360"/>
            <a:ext cx="3017520" cy="731520"/>
          </a:xfrm>
          <a:prstGeom prst="rect">
            <a:avLst/>
          </a:prstGeom>
          <a:solidFill>
            <a:srgbClr val="FFFFFF"/>
          </a:solidFill>
          <a:ln w="9525">
            <a:solidFill>
              <a:srgbClr val="D0D4DA"/>
            </a:solidFill>
          </a:ln>
          <a:effectLst/>
        </p:spPr>
        <p:txBody>
          <a:bodyPr rtlCol="0" anchor="ctr"/>
          <a:lstStyle/>
          <a:p>
            <a:pPr algn="ctr"/>
            <a:endParaRPr/>
          </a:p>
        </p:txBody>
      </p:sp>
      <p:sp>
        <p:nvSpPr>
          <p:cNvPr id="1123" name="TextBox 1124"/>
          <p:cNvSpPr txBox="1"/>
          <p:nvPr/>
        </p:nvSpPr>
        <p:spPr>
          <a:xfrm>
            <a:off x="6611112" y="1737360"/>
            <a:ext cx="287121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ISO 8217:2024 + TR 140:2025 추가 파라미터·요오드가</a:t>
            </a:r>
          </a:p>
        </p:txBody>
      </p:sp>
      <p:sp>
        <p:nvSpPr>
          <p:cNvPr id="1125" name="Rectangle 1126"/>
          <p:cNvSpPr/>
          <p:nvPr/>
        </p:nvSpPr>
        <p:spPr>
          <a:xfrm>
            <a:off x="9555480" y="1737360"/>
            <a:ext cx="2130552" cy="731520"/>
          </a:xfrm>
          <a:prstGeom prst="rect">
            <a:avLst/>
          </a:prstGeom>
          <a:solidFill>
            <a:srgbClr val="FFFFFF"/>
          </a:solidFill>
          <a:ln w="9525">
            <a:solidFill>
              <a:srgbClr val="D0D4DA"/>
            </a:solidFill>
          </a:ln>
          <a:effectLst/>
        </p:spPr>
        <p:txBody>
          <a:bodyPr rtlCol="0" anchor="ctr"/>
          <a:lstStyle/>
          <a:p>
            <a:pPr algn="ctr"/>
            <a:endParaRPr/>
          </a:p>
        </p:txBody>
      </p:sp>
      <p:sp>
        <p:nvSpPr>
          <p:cNvPr id="1127" name="TextBox 1128"/>
          <p:cNvSpPr txBox="1"/>
          <p:nvPr/>
        </p:nvSpPr>
        <p:spPr>
          <a:xfrm>
            <a:off x="9628632" y="1737360"/>
            <a:ext cx="1984248" cy="731520"/>
          </a:xfrm>
          <a:prstGeom prst="rect">
            <a:avLst/>
          </a:prstGeom>
          <a:noFill/>
        </p:spPr>
        <p:txBody>
          <a:bodyPr wrap="square" lIns="36576" tIns="0" rIns="36576" bIns="0" anchor="ctr"/>
          <a:lstStyle/>
          <a:p>
            <a:pPr algn="l">
              <a:lnSpc>
                <a:spcPct val="110000"/>
              </a:lnSpc>
              <a:spcAft>
                <a:spcPts val="0"/>
              </a:spcAft>
            </a:pPr>
            <a:r>
              <a:rPr sz="1050" b="1">
                <a:solidFill>
                  <a:srgbClr val="1F6F3D"/>
                </a:solidFill>
                <a:latin typeface="Calibri"/>
                <a:ea typeface="맑은 고딕"/>
                <a:cs typeface="Calibri"/>
              </a:rPr>
              <a:t>구매 스펙을 한 줄로 끝내지 말 것</a:t>
            </a:r>
          </a:p>
        </p:txBody>
      </p:sp>
      <p:sp>
        <p:nvSpPr>
          <p:cNvPr id="1129" name="Rectangle 1130"/>
          <p:cNvSpPr/>
          <p:nvPr/>
        </p:nvSpPr>
        <p:spPr>
          <a:xfrm>
            <a:off x="502920" y="2468880"/>
            <a:ext cx="2834640" cy="731520"/>
          </a:xfrm>
          <a:prstGeom prst="rect">
            <a:avLst/>
          </a:prstGeom>
          <a:solidFill>
            <a:srgbClr val="FFFFFF"/>
          </a:solidFill>
          <a:ln w="9525">
            <a:solidFill>
              <a:srgbClr val="D0D4DA"/>
            </a:solidFill>
          </a:ln>
          <a:effectLst/>
        </p:spPr>
        <p:txBody>
          <a:bodyPr rtlCol="0" anchor="ctr"/>
          <a:lstStyle/>
          <a:p>
            <a:pPr algn="ctr"/>
            <a:endParaRPr/>
          </a:p>
        </p:txBody>
      </p:sp>
      <p:sp>
        <p:nvSpPr>
          <p:cNvPr id="1131" name="TextBox 1132"/>
          <p:cNvSpPr txBox="1"/>
          <p:nvPr/>
        </p:nvSpPr>
        <p:spPr>
          <a:xfrm>
            <a:off x="576072" y="2468880"/>
            <a:ext cx="2688336" cy="731520"/>
          </a:xfrm>
          <a:prstGeom prst="rect">
            <a:avLst/>
          </a:prstGeom>
          <a:noFill/>
        </p:spPr>
        <p:txBody>
          <a:bodyPr wrap="square" lIns="36576" tIns="0" rIns="36576" bIns="0" anchor="ctr"/>
          <a:lstStyle/>
          <a:p>
            <a:pPr algn="l">
              <a:lnSpc>
                <a:spcPct val="110000"/>
              </a:lnSpc>
              <a:spcAft>
                <a:spcPts val="0"/>
              </a:spcAft>
            </a:pPr>
            <a:r>
              <a:rPr sz="1050" b="1">
                <a:solidFill>
                  <a:srgbClr val="172A4A"/>
                </a:solidFill>
                <a:latin typeface="Calibri"/>
                <a:ea typeface="맑은 고딕"/>
                <a:cs typeface="Calibri"/>
              </a:rPr>
              <a:t>CNSL·non-FAME가 직접 연결</a:t>
            </a:r>
          </a:p>
        </p:txBody>
      </p:sp>
      <p:sp>
        <p:nvSpPr>
          <p:cNvPr id="1133" name="Rectangle 1134"/>
          <p:cNvSpPr/>
          <p:nvPr/>
        </p:nvSpPr>
        <p:spPr>
          <a:xfrm>
            <a:off x="3337560" y="2468880"/>
            <a:ext cx="3200400" cy="731520"/>
          </a:xfrm>
          <a:prstGeom prst="rect">
            <a:avLst/>
          </a:prstGeom>
          <a:solidFill>
            <a:srgbClr val="FFFFFF"/>
          </a:solidFill>
          <a:ln w="9525">
            <a:solidFill>
              <a:srgbClr val="D0D4DA"/>
            </a:solidFill>
          </a:ln>
          <a:effectLst/>
        </p:spPr>
        <p:txBody>
          <a:bodyPr rtlCol="0" anchor="ctr"/>
          <a:lstStyle/>
          <a:p>
            <a:pPr algn="ctr"/>
            <a:endParaRPr/>
          </a:p>
        </p:txBody>
      </p:sp>
      <p:sp>
        <p:nvSpPr>
          <p:cNvPr id="1135" name="TextBox 1136"/>
          <p:cNvSpPr txBox="1"/>
          <p:nvPr/>
        </p:nvSpPr>
        <p:spPr>
          <a:xfrm>
            <a:off x="3410712" y="2468880"/>
            <a:ext cx="305409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Case 3 — ULSFO+B30(CNSL)로 주기관 시동 실패</a:t>
            </a:r>
          </a:p>
        </p:txBody>
      </p:sp>
      <p:sp>
        <p:nvSpPr>
          <p:cNvPr id="1137" name="Rectangle 1138"/>
          <p:cNvSpPr/>
          <p:nvPr/>
        </p:nvSpPr>
        <p:spPr>
          <a:xfrm>
            <a:off x="6537960" y="2468880"/>
            <a:ext cx="3017520" cy="731520"/>
          </a:xfrm>
          <a:prstGeom prst="rect">
            <a:avLst/>
          </a:prstGeom>
          <a:solidFill>
            <a:srgbClr val="FFFFFF"/>
          </a:solidFill>
          <a:ln w="9525">
            <a:solidFill>
              <a:srgbClr val="D0D4DA"/>
            </a:solidFill>
          </a:ln>
          <a:effectLst/>
        </p:spPr>
        <p:txBody>
          <a:bodyPr rtlCol="0" anchor="ctr"/>
          <a:lstStyle/>
          <a:p>
            <a:pPr algn="ctr"/>
            <a:endParaRPr/>
          </a:p>
        </p:txBody>
      </p:sp>
      <p:sp>
        <p:nvSpPr>
          <p:cNvPr id="1139" name="TextBox 1140"/>
          <p:cNvSpPr txBox="1"/>
          <p:nvPr/>
        </p:nvSpPr>
        <p:spPr>
          <a:xfrm>
            <a:off x="6611112" y="2468880"/>
            <a:ext cx="287121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FAQ 28 — 허용되는 대안이나 6단계 검증 전제</a:t>
            </a:r>
          </a:p>
        </p:txBody>
      </p:sp>
      <p:sp>
        <p:nvSpPr>
          <p:cNvPr id="1141" name="Rectangle 1142"/>
          <p:cNvSpPr/>
          <p:nvPr/>
        </p:nvSpPr>
        <p:spPr>
          <a:xfrm>
            <a:off x="9555480" y="2468880"/>
            <a:ext cx="2130552" cy="731520"/>
          </a:xfrm>
          <a:prstGeom prst="rect">
            <a:avLst/>
          </a:prstGeom>
          <a:solidFill>
            <a:srgbClr val="FFFFFF"/>
          </a:solidFill>
          <a:ln w="9525">
            <a:solidFill>
              <a:srgbClr val="D0D4DA"/>
            </a:solidFill>
          </a:ln>
          <a:effectLst/>
        </p:spPr>
        <p:txBody>
          <a:bodyPr rtlCol="0" anchor="ctr"/>
          <a:lstStyle/>
          <a:p>
            <a:pPr algn="ctr"/>
            <a:endParaRPr/>
          </a:p>
        </p:txBody>
      </p:sp>
      <p:sp>
        <p:nvSpPr>
          <p:cNvPr id="1143" name="TextBox 1144"/>
          <p:cNvSpPr txBox="1"/>
          <p:nvPr/>
        </p:nvSpPr>
        <p:spPr>
          <a:xfrm>
            <a:off x="9628632" y="2468880"/>
            <a:ext cx="1984248" cy="731520"/>
          </a:xfrm>
          <a:prstGeom prst="rect">
            <a:avLst/>
          </a:prstGeom>
          <a:noFill/>
        </p:spPr>
        <p:txBody>
          <a:bodyPr wrap="square" lIns="36576" tIns="0" rIns="36576" bIns="0" anchor="ctr"/>
          <a:lstStyle/>
          <a:p>
            <a:pPr algn="l">
              <a:lnSpc>
                <a:spcPct val="110000"/>
              </a:lnSpc>
              <a:spcAft>
                <a:spcPts val="0"/>
              </a:spcAft>
            </a:pPr>
            <a:r>
              <a:rPr sz="1050" b="1">
                <a:solidFill>
                  <a:srgbClr val="1F6F3D"/>
                </a:solidFill>
                <a:latin typeface="Calibri"/>
                <a:ea typeface="맑은 고딕"/>
                <a:cs typeface="Calibri"/>
              </a:rPr>
              <a:t>수용 정책을 명시적으로 결정</a:t>
            </a:r>
          </a:p>
        </p:txBody>
      </p:sp>
      <p:sp>
        <p:nvSpPr>
          <p:cNvPr id="1145" name="Rectangle 1146"/>
          <p:cNvSpPr/>
          <p:nvPr/>
        </p:nvSpPr>
        <p:spPr>
          <a:xfrm>
            <a:off x="502920" y="3200400"/>
            <a:ext cx="2834640" cy="731520"/>
          </a:xfrm>
          <a:prstGeom prst="rect">
            <a:avLst/>
          </a:prstGeom>
          <a:solidFill>
            <a:srgbClr val="FFFFFF"/>
          </a:solidFill>
          <a:ln w="9525">
            <a:solidFill>
              <a:srgbClr val="D0D4DA"/>
            </a:solidFill>
          </a:ln>
          <a:effectLst/>
        </p:spPr>
        <p:txBody>
          <a:bodyPr rtlCol="0" anchor="ctr"/>
          <a:lstStyle/>
          <a:p>
            <a:pPr algn="ctr"/>
            <a:endParaRPr/>
          </a:p>
        </p:txBody>
      </p:sp>
      <p:sp>
        <p:nvSpPr>
          <p:cNvPr id="1147" name="TextBox 1148"/>
          <p:cNvSpPr txBox="1"/>
          <p:nvPr/>
        </p:nvSpPr>
        <p:spPr>
          <a:xfrm>
            <a:off x="576072" y="3200400"/>
            <a:ext cx="2688336" cy="731520"/>
          </a:xfrm>
          <a:prstGeom prst="rect">
            <a:avLst/>
          </a:prstGeom>
          <a:noFill/>
        </p:spPr>
        <p:txBody>
          <a:bodyPr wrap="square" lIns="36576" tIns="0" rIns="36576" bIns="0" anchor="ctr"/>
          <a:lstStyle/>
          <a:p>
            <a:pPr algn="l">
              <a:lnSpc>
                <a:spcPct val="110000"/>
              </a:lnSpc>
              <a:spcAft>
                <a:spcPts val="0"/>
              </a:spcAft>
            </a:pPr>
            <a:r>
              <a:rPr sz="1050" b="1">
                <a:solidFill>
                  <a:srgbClr val="172A4A"/>
                </a:solidFill>
                <a:latin typeface="Calibri"/>
                <a:ea typeface="맑은 고딕"/>
                <a:cs typeface="Calibri"/>
              </a:rPr>
              <a:t>저장 안정성</a:t>
            </a:r>
          </a:p>
        </p:txBody>
      </p:sp>
      <p:sp>
        <p:nvSpPr>
          <p:cNvPr id="1149" name="Rectangle 1150"/>
          <p:cNvSpPr/>
          <p:nvPr/>
        </p:nvSpPr>
        <p:spPr>
          <a:xfrm>
            <a:off x="3337560" y="3200400"/>
            <a:ext cx="3200400" cy="731520"/>
          </a:xfrm>
          <a:prstGeom prst="rect">
            <a:avLst/>
          </a:prstGeom>
          <a:solidFill>
            <a:srgbClr val="FFFFFF"/>
          </a:solidFill>
          <a:ln w="9525">
            <a:solidFill>
              <a:srgbClr val="D0D4DA"/>
            </a:solidFill>
          </a:ln>
          <a:effectLst/>
        </p:spPr>
        <p:txBody>
          <a:bodyPr rtlCol="0" anchor="ctr"/>
          <a:lstStyle/>
          <a:p>
            <a:pPr algn="ctr"/>
            <a:endParaRPr/>
          </a:p>
        </p:txBody>
      </p:sp>
      <p:sp>
        <p:nvSpPr>
          <p:cNvPr id="1151" name="TextBox 1152"/>
          <p:cNvSpPr txBox="1"/>
          <p:nvPr/>
        </p:nvSpPr>
        <p:spPr>
          <a:xfrm>
            <a:off x="3410712" y="3200400"/>
            <a:ext cx="305409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아라비아만 장기 정박 선박의 FAME 저장안정성 경고</a:t>
            </a:r>
          </a:p>
        </p:txBody>
      </p:sp>
      <p:sp>
        <p:nvSpPr>
          <p:cNvPr id="1153" name="Rectangle 1154"/>
          <p:cNvSpPr/>
          <p:nvPr/>
        </p:nvSpPr>
        <p:spPr>
          <a:xfrm>
            <a:off x="6537960" y="3200400"/>
            <a:ext cx="3017520" cy="731520"/>
          </a:xfrm>
          <a:prstGeom prst="rect">
            <a:avLst/>
          </a:prstGeom>
          <a:solidFill>
            <a:srgbClr val="FFFFFF"/>
          </a:solidFill>
          <a:ln w="9525">
            <a:solidFill>
              <a:srgbClr val="D0D4DA"/>
            </a:solidFill>
          </a:ln>
          <a:effectLst/>
        </p:spPr>
        <p:txBody>
          <a:bodyPr rtlCol="0" anchor="ctr"/>
          <a:lstStyle/>
          <a:p>
            <a:pPr algn="ctr"/>
            <a:endParaRPr/>
          </a:p>
        </p:txBody>
      </p:sp>
      <p:sp>
        <p:nvSpPr>
          <p:cNvPr id="1155" name="TextBox 1156"/>
          <p:cNvSpPr txBox="1"/>
          <p:nvPr/>
        </p:nvSpPr>
        <p:spPr>
          <a:xfrm>
            <a:off x="6611112" y="3200400"/>
            <a:ext cx="287121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3개월 내 사용, PP+10°C, 4대 지표 모니터링</a:t>
            </a:r>
          </a:p>
        </p:txBody>
      </p:sp>
      <p:sp>
        <p:nvSpPr>
          <p:cNvPr id="1157" name="Rectangle 1158"/>
          <p:cNvSpPr/>
          <p:nvPr/>
        </p:nvSpPr>
        <p:spPr>
          <a:xfrm>
            <a:off x="9555480" y="3200400"/>
            <a:ext cx="2130552" cy="731520"/>
          </a:xfrm>
          <a:prstGeom prst="rect">
            <a:avLst/>
          </a:prstGeom>
          <a:solidFill>
            <a:srgbClr val="FFFFFF"/>
          </a:solidFill>
          <a:ln w="9525">
            <a:solidFill>
              <a:srgbClr val="D0D4DA"/>
            </a:solidFill>
          </a:ln>
          <a:effectLst/>
        </p:spPr>
        <p:txBody>
          <a:bodyPr rtlCol="0" anchor="ctr"/>
          <a:lstStyle/>
          <a:p>
            <a:pPr algn="ctr"/>
            <a:endParaRPr/>
          </a:p>
        </p:txBody>
      </p:sp>
      <p:sp>
        <p:nvSpPr>
          <p:cNvPr id="1159" name="TextBox 1160"/>
          <p:cNvSpPr txBox="1"/>
          <p:nvPr/>
        </p:nvSpPr>
        <p:spPr>
          <a:xfrm>
            <a:off x="9628632" y="3200400"/>
            <a:ext cx="1984248" cy="731520"/>
          </a:xfrm>
          <a:prstGeom prst="rect">
            <a:avLst/>
          </a:prstGeom>
          <a:noFill/>
        </p:spPr>
        <p:txBody>
          <a:bodyPr wrap="square" lIns="36576" tIns="0" rIns="36576" bIns="0" anchor="ctr"/>
          <a:lstStyle/>
          <a:p>
            <a:pPr algn="l">
              <a:lnSpc>
                <a:spcPct val="110000"/>
              </a:lnSpc>
              <a:spcAft>
                <a:spcPts val="0"/>
              </a:spcAft>
            </a:pPr>
            <a:r>
              <a:rPr sz="1050" b="1">
                <a:solidFill>
                  <a:srgbClr val="1F6F3D"/>
                </a:solidFill>
                <a:latin typeface="Calibri"/>
                <a:ea typeface="맑은 고딕"/>
                <a:cs typeface="Calibri"/>
              </a:rPr>
              <a:t>탱크 FIFO·재분석 주기 신설</a:t>
            </a:r>
          </a:p>
        </p:txBody>
      </p:sp>
      <p:sp>
        <p:nvSpPr>
          <p:cNvPr id="1161" name="Rectangle 1162"/>
          <p:cNvSpPr/>
          <p:nvPr/>
        </p:nvSpPr>
        <p:spPr>
          <a:xfrm>
            <a:off x="502920" y="3931920"/>
            <a:ext cx="2834640" cy="731520"/>
          </a:xfrm>
          <a:prstGeom prst="rect">
            <a:avLst/>
          </a:prstGeom>
          <a:solidFill>
            <a:srgbClr val="FFFFFF"/>
          </a:solidFill>
          <a:ln w="9525">
            <a:solidFill>
              <a:srgbClr val="D0D4DA"/>
            </a:solidFill>
          </a:ln>
          <a:effectLst/>
        </p:spPr>
        <p:txBody>
          <a:bodyPr rtlCol="0" anchor="ctr"/>
          <a:lstStyle/>
          <a:p>
            <a:pPr algn="ctr"/>
            <a:endParaRPr/>
          </a:p>
        </p:txBody>
      </p:sp>
      <p:sp>
        <p:nvSpPr>
          <p:cNvPr id="1163" name="TextBox 1164"/>
          <p:cNvSpPr txBox="1"/>
          <p:nvPr/>
        </p:nvSpPr>
        <p:spPr>
          <a:xfrm>
            <a:off x="576072" y="3931920"/>
            <a:ext cx="2688336" cy="731520"/>
          </a:xfrm>
          <a:prstGeom prst="rect">
            <a:avLst/>
          </a:prstGeom>
          <a:noFill/>
        </p:spPr>
        <p:txBody>
          <a:bodyPr wrap="square" lIns="36576" tIns="0" rIns="36576" bIns="0" anchor="ctr"/>
          <a:lstStyle/>
          <a:p>
            <a:pPr algn="l">
              <a:lnSpc>
                <a:spcPct val="110000"/>
              </a:lnSpc>
              <a:spcAft>
                <a:spcPts val="0"/>
              </a:spcAft>
            </a:pPr>
            <a:r>
              <a:rPr sz="1050" b="1">
                <a:solidFill>
                  <a:srgbClr val="172A4A"/>
                </a:solidFill>
                <a:latin typeface="Calibri"/>
                <a:ea typeface="맑은 고딕"/>
                <a:cs typeface="Calibri"/>
              </a:rPr>
              <a:t>샘플·문서·계약</a:t>
            </a:r>
          </a:p>
        </p:txBody>
      </p:sp>
      <p:sp>
        <p:nvSpPr>
          <p:cNvPr id="1165" name="Rectangle 1166"/>
          <p:cNvSpPr/>
          <p:nvPr/>
        </p:nvSpPr>
        <p:spPr>
          <a:xfrm>
            <a:off x="3337560" y="3931920"/>
            <a:ext cx="3200400" cy="731520"/>
          </a:xfrm>
          <a:prstGeom prst="rect">
            <a:avLst/>
          </a:prstGeom>
          <a:solidFill>
            <a:srgbClr val="FFFFFF"/>
          </a:solidFill>
          <a:ln w="9525">
            <a:solidFill>
              <a:srgbClr val="D0D4DA"/>
            </a:solidFill>
          </a:ln>
          <a:effectLst/>
        </p:spPr>
        <p:txBody>
          <a:bodyPr rtlCol="0" anchor="ctr"/>
          <a:lstStyle/>
          <a:p>
            <a:pPr algn="ctr"/>
            <a:endParaRPr/>
          </a:p>
        </p:txBody>
      </p:sp>
      <p:sp>
        <p:nvSpPr>
          <p:cNvPr id="1167" name="TextBox 1168"/>
          <p:cNvSpPr txBox="1"/>
          <p:nvPr/>
        </p:nvSpPr>
        <p:spPr>
          <a:xfrm>
            <a:off x="3410712" y="3931920"/>
            <a:ext cx="305409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binding sample 불일치, 봉인 훼손, fingerprinting</a:t>
            </a:r>
          </a:p>
        </p:txBody>
      </p:sp>
      <p:sp>
        <p:nvSpPr>
          <p:cNvPr id="1169" name="Rectangle 1170"/>
          <p:cNvSpPr/>
          <p:nvPr/>
        </p:nvSpPr>
        <p:spPr>
          <a:xfrm>
            <a:off x="6537960" y="3931920"/>
            <a:ext cx="3017520" cy="731520"/>
          </a:xfrm>
          <a:prstGeom prst="rect">
            <a:avLst/>
          </a:prstGeom>
          <a:solidFill>
            <a:srgbClr val="FFFFFF"/>
          </a:solidFill>
          <a:ln w="9525">
            <a:solidFill>
              <a:srgbClr val="D0D4DA"/>
            </a:solidFill>
          </a:ln>
          <a:effectLst/>
        </p:spPr>
        <p:txBody>
          <a:bodyPr rtlCol="0" anchor="ctr"/>
          <a:lstStyle/>
          <a:p>
            <a:pPr algn="ctr"/>
            <a:endParaRPr/>
          </a:p>
        </p:txBody>
      </p:sp>
      <p:sp>
        <p:nvSpPr>
          <p:cNvPr id="1171" name="TextBox 1172"/>
          <p:cNvSpPr txBox="1"/>
          <p:nvPr/>
        </p:nvSpPr>
        <p:spPr>
          <a:xfrm>
            <a:off x="6611112" y="3931920"/>
            <a:ext cx="287121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BDN + PoS — PoS는 인도 후 약 30일 소요</a:t>
            </a:r>
          </a:p>
        </p:txBody>
      </p:sp>
      <p:sp>
        <p:nvSpPr>
          <p:cNvPr id="1173" name="Rectangle 1174"/>
          <p:cNvSpPr/>
          <p:nvPr/>
        </p:nvSpPr>
        <p:spPr>
          <a:xfrm>
            <a:off x="9555480" y="3931920"/>
            <a:ext cx="2130552" cy="731520"/>
          </a:xfrm>
          <a:prstGeom prst="rect">
            <a:avLst/>
          </a:prstGeom>
          <a:solidFill>
            <a:srgbClr val="FFFFFF"/>
          </a:solidFill>
          <a:ln w="9525">
            <a:solidFill>
              <a:srgbClr val="D0D4DA"/>
            </a:solidFill>
          </a:ln>
          <a:effectLst/>
        </p:spPr>
        <p:txBody>
          <a:bodyPr rtlCol="0" anchor="ctr"/>
          <a:lstStyle/>
          <a:p>
            <a:pPr algn="ctr"/>
            <a:endParaRPr/>
          </a:p>
        </p:txBody>
      </p:sp>
      <p:sp>
        <p:nvSpPr>
          <p:cNvPr id="1175" name="TextBox 1176"/>
          <p:cNvSpPr txBox="1"/>
          <p:nvPr/>
        </p:nvSpPr>
        <p:spPr>
          <a:xfrm>
            <a:off x="9628632" y="3931920"/>
            <a:ext cx="1984248" cy="731520"/>
          </a:xfrm>
          <a:prstGeom prst="rect">
            <a:avLst/>
          </a:prstGeom>
          <a:noFill/>
        </p:spPr>
        <p:txBody>
          <a:bodyPr wrap="square" lIns="36576" tIns="0" rIns="36576" bIns="0" anchor="ctr"/>
          <a:lstStyle/>
          <a:p>
            <a:pPr algn="l">
              <a:lnSpc>
                <a:spcPct val="110000"/>
              </a:lnSpc>
              <a:spcAft>
                <a:spcPts val="0"/>
              </a:spcAft>
            </a:pPr>
            <a:r>
              <a:rPr sz="1050" b="1">
                <a:solidFill>
                  <a:srgbClr val="1F6F3D"/>
                </a:solidFill>
                <a:latin typeface="Calibri"/>
                <a:ea typeface="맑은 고딕"/>
                <a:cs typeface="Calibri"/>
              </a:rPr>
              <a:t>계약 단계에서 함께 설계</a:t>
            </a:r>
          </a:p>
        </p:txBody>
      </p:sp>
      <p:sp>
        <p:nvSpPr>
          <p:cNvPr id="1177" name="Rectangle 1178"/>
          <p:cNvSpPr/>
          <p:nvPr/>
        </p:nvSpPr>
        <p:spPr>
          <a:xfrm>
            <a:off x="502920" y="4663440"/>
            <a:ext cx="2834640" cy="731520"/>
          </a:xfrm>
          <a:prstGeom prst="rect">
            <a:avLst/>
          </a:prstGeom>
          <a:solidFill>
            <a:srgbClr val="FFFFFF"/>
          </a:solidFill>
          <a:ln w="9525">
            <a:solidFill>
              <a:srgbClr val="D0D4DA"/>
            </a:solidFill>
          </a:ln>
          <a:effectLst/>
        </p:spPr>
        <p:txBody>
          <a:bodyPr rtlCol="0" anchor="ctr"/>
          <a:lstStyle/>
          <a:p>
            <a:pPr algn="ctr"/>
            <a:endParaRPr/>
          </a:p>
        </p:txBody>
      </p:sp>
      <p:sp>
        <p:nvSpPr>
          <p:cNvPr id="1179" name="TextBox 1180"/>
          <p:cNvSpPr txBox="1"/>
          <p:nvPr/>
        </p:nvSpPr>
        <p:spPr>
          <a:xfrm>
            <a:off x="576072" y="4663440"/>
            <a:ext cx="2688336" cy="731520"/>
          </a:xfrm>
          <a:prstGeom prst="rect">
            <a:avLst/>
          </a:prstGeom>
          <a:noFill/>
        </p:spPr>
        <p:txBody>
          <a:bodyPr wrap="square" lIns="36576" tIns="0" rIns="36576" bIns="0" anchor="ctr"/>
          <a:lstStyle/>
          <a:p>
            <a:pPr algn="l">
              <a:lnSpc>
                <a:spcPct val="110000"/>
              </a:lnSpc>
              <a:spcAft>
                <a:spcPts val="0"/>
              </a:spcAft>
            </a:pPr>
            <a:r>
              <a:rPr sz="1050" b="1">
                <a:solidFill>
                  <a:srgbClr val="172A4A"/>
                </a:solidFill>
                <a:latin typeface="Calibri"/>
                <a:ea typeface="맑은 고딕"/>
                <a:cs typeface="Calibri"/>
              </a:rPr>
              <a:t>규제 위반은 즉시 정지</a:t>
            </a:r>
          </a:p>
        </p:txBody>
      </p:sp>
      <p:sp>
        <p:nvSpPr>
          <p:cNvPr id="1181" name="Rectangle 1182"/>
          <p:cNvSpPr/>
          <p:nvPr/>
        </p:nvSpPr>
        <p:spPr>
          <a:xfrm>
            <a:off x="3337560" y="4663440"/>
            <a:ext cx="3200400" cy="731520"/>
          </a:xfrm>
          <a:prstGeom prst="rect">
            <a:avLst/>
          </a:prstGeom>
          <a:solidFill>
            <a:srgbClr val="FFFFFF"/>
          </a:solidFill>
          <a:ln w="9525">
            <a:solidFill>
              <a:srgbClr val="D0D4DA"/>
            </a:solidFill>
          </a:ln>
          <a:effectLst/>
        </p:spPr>
        <p:txBody>
          <a:bodyPr rtlCol="0" anchor="ctr"/>
          <a:lstStyle/>
          <a:p>
            <a:pPr algn="ctr"/>
            <a:endParaRPr/>
          </a:p>
        </p:txBody>
      </p:sp>
      <p:sp>
        <p:nvSpPr>
          <p:cNvPr id="1183" name="TextBox 1184"/>
          <p:cNvSpPr txBox="1"/>
          <p:nvPr/>
        </p:nvSpPr>
        <p:spPr>
          <a:xfrm>
            <a:off x="3410712" y="4663440"/>
            <a:ext cx="305409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황분 12.86%, 인화점 4.11%, 2026-01 SOLAS BDN</a:t>
            </a:r>
          </a:p>
        </p:txBody>
      </p:sp>
      <p:sp>
        <p:nvSpPr>
          <p:cNvPr id="1185" name="Rectangle 1186"/>
          <p:cNvSpPr/>
          <p:nvPr/>
        </p:nvSpPr>
        <p:spPr>
          <a:xfrm>
            <a:off x="6537960" y="4663440"/>
            <a:ext cx="3017520" cy="731520"/>
          </a:xfrm>
          <a:prstGeom prst="rect">
            <a:avLst/>
          </a:prstGeom>
          <a:solidFill>
            <a:srgbClr val="FFFFFF"/>
          </a:solidFill>
          <a:ln w="9525">
            <a:solidFill>
              <a:srgbClr val="D0D4DA"/>
            </a:solidFill>
          </a:ln>
          <a:effectLst/>
        </p:spPr>
        <p:txBody>
          <a:bodyPr rtlCol="0" anchor="ctr"/>
          <a:lstStyle/>
          <a:p>
            <a:pPr algn="ctr"/>
            <a:endParaRPr/>
          </a:p>
        </p:txBody>
      </p:sp>
      <p:sp>
        <p:nvSpPr>
          <p:cNvPr id="1187" name="TextBox 1188"/>
          <p:cNvSpPr txBox="1"/>
          <p:nvPr/>
        </p:nvSpPr>
        <p:spPr>
          <a:xfrm>
            <a:off x="6611112" y="4663440"/>
            <a:ext cx="2871216" cy="731520"/>
          </a:xfrm>
          <a:prstGeom prst="rect">
            <a:avLst/>
          </a:prstGeom>
          <a:noFill/>
        </p:spPr>
        <p:txBody>
          <a:bodyPr wrap="square" lIns="36576" tIns="0" rIns="36576" bIns="0" anchor="ctr"/>
          <a:lstStyle/>
          <a:p>
            <a:pPr algn="l">
              <a:lnSpc>
                <a:spcPct val="110000"/>
              </a:lnSpc>
              <a:spcAft>
                <a:spcPts val="0"/>
              </a:spcAft>
            </a:pPr>
            <a:r>
              <a:rPr sz="1050" b="0">
                <a:solidFill>
                  <a:srgbClr val="1A1A1A"/>
                </a:solidFill>
                <a:latin typeface="Calibri"/>
                <a:ea typeface="맑은 고딕"/>
                <a:cs typeface="Calibri"/>
              </a:rPr>
              <a:t>NOx 18.3.2, ≤B30 캐리지, Circ.905 Rev.1, FuelEU</a:t>
            </a:r>
          </a:p>
        </p:txBody>
      </p:sp>
      <p:sp>
        <p:nvSpPr>
          <p:cNvPr id="1189" name="Rectangle 1190"/>
          <p:cNvSpPr/>
          <p:nvPr/>
        </p:nvSpPr>
        <p:spPr>
          <a:xfrm>
            <a:off x="9555480" y="4663440"/>
            <a:ext cx="2130552" cy="731520"/>
          </a:xfrm>
          <a:prstGeom prst="rect">
            <a:avLst/>
          </a:prstGeom>
          <a:solidFill>
            <a:srgbClr val="FFFFFF"/>
          </a:solidFill>
          <a:ln w="9525">
            <a:solidFill>
              <a:srgbClr val="D0D4DA"/>
            </a:solidFill>
          </a:ln>
          <a:effectLst/>
        </p:spPr>
        <p:txBody>
          <a:bodyPr rtlCol="0" anchor="ctr"/>
          <a:lstStyle/>
          <a:p>
            <a:pPr algn="ctr"/>
            <a:endParaRPr/>
          </a:p>
        </p:txBody>
      </p:sp>
      <p:sp>
        <p:nvSpPr>
          <p:cNvPr id="1191" name="TextBox 1192"/>
          <p:cNvSpPr txBox="1"/>
          <p:nvPr/>
        </p:nvSpPr>
        <p:spPr>
          <a:xfrm>
            <a:off x="9628632" y="4663440"/>
            <a:ext cx="1984248" cy="731520"/>
          </a:xfrm>
          <a:prstGeom prst="rect">
            <a:avLst/>
          </a:prstGeom>
          <a:noFill/>
        </p:spPr>
        <p:txBody>
          <a:bodyPr wrap="square" lIns="36576" tIns="0" rIns="36576" bIns="0" anchor="ctr"/>
          <a:lstStyle/>
          <a:p>
            <a:pPr algn="l">
              <a:lnSpc>
                <a:spcPct val="110000"/>
              </a:lnSpc>
              <a:spcAft>
                <a:spcPts val="0"/>
              </a:spcAft>
            </a:pPr>
            <a:r>
              <a:rPr sz="1050" b="1">
                <a:solidFill>
                  <a:srgbClr val="1F6F3D"/>
                </a:solidFill>
                <a:latin typeface="Calibri"/>
                <a:ea typeface="맑은 고딕"/>
                <a:cs typeface="Calibri"/>
              </a:rPr>
              <a:t>규제 캘린더를 하나로 통합</a:t>
            </a:r>
          </a:p>
        </p:txBody>
      </p:sp>
      <p:sp>
        <p:nvSpPr>
          <p:cNvPr id="1193" name="Rectangle 1194"/>
          <p:cNvSpPr/>
          <p:nvPr/>
        </p:nvSpPr>
        <p:spPr>
          <a:xfrm>
            <a:off x="502920" y="5532120"/>
            <a:ext cx="11183112" cy="566928"/>
          </a:xfrm>
          <a:prstGeom prst="rect">
            <a:avLst/>
          </a:prstGeom>
          <a:solidFill>
            <a:srgbClr val="EFEFEF"/>
          </a:solidFill>
          <a:ln>
            <a:noFill/>
          </a:ln>
          <a:effectLst/>
        </p:spPr>
        <p:txBody>
          <a:bodyPr rtlCol="0" anchor="ctr"/>
          <a:lstStyle/>
          <a:p>
            <a:pPr algn="ctr"/>
            <a:endParaRPr/>
          </a:p>
        </p:txBody>
      </p:sp>
      <p:sp>
        <p:nvSpPr>
          <p:cNvPr id="1195" name="TextBox 1196"/>
          <p:cNvSpPr txBox="1"/>
          <p:nvPr/>
        </p:nvSpPr>
        <p:spPr>
          <a:xfrm>
            <a:off x="685800" y="5532120"/>
            <a:ext cx="10817352" cy="566928"/>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“스펙은 통과했는데 배가 섰다” — 그리고 바이오 전환이 그 리스크를 한 단계 더 키우고 있습니다.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7" name="Rectangle 119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199" name="TextBox 1200"/>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액션 플랜 — Now / Next / Later</a:t>
            </a:r>
          </a:p>
        </p:txBody>
      </p:sp>
      <p:sp>
        <p:nvSpPr>
          <p:cNvPr id="1201" name="Rectangle 120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1203" name="TextBox 120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Now — 0–1개월</a:t>
            </a:r>
          </a:p>
        </p:txBody>
      </p:sp>
      <p:sp>
        <p:nvSpPr>
          <p:cNvPr id="1205" name="Rectangle 1206"/>
          <p:cNvSpPr/>
          <p:nvPr/>
        </p:nvSpPr>
        <p:spPr>
          <a:xfrm>
            <a:off x="502920" y="1783080"/>
            <a:ext cx="3794760" cy="384048"/>
          </a:xfrm>
          <a:prstGeom prst="rect">
            <a:avLst/>
          </a:prstGeom>
          <a:solidFill>
            <a:srgbClr val="172A4A"/>
          </a:solidFill>
          <a:ln>
            <a:noFill/>
          </a:ln>
          <a:effectLst/>
        </p:spPr>
        <p:txBody>
          <a:bodyPr rtlCol="0" anchor="ctr"/>
          <a:lstStyle/>
          <a:p>
            <a:pPr algn="ctr"/>
            <a:endParaRPr/>
          </a:p>
        </p:txBody>
      </p:sp>
      <p:sp>
        <p:nvSpPr>
          <p:cNvPr id="1207" name="TextBox 1208"/>
          <p:cNvSpPr txBox="1"/>
          <p:nvPr/>
        </p:nvSpPr>
        <p:spPr>
          <a:xfrm>
            <a:off x="576072" y="1783080"/>
            <a:ext cx="364845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할 일</a:t>
            </a:r>
          </a:p>
        </p:txBody>
      </p:sp>
      <p:sp>
        <p:nvSpPr>
          <p:cNvPr id="1209" name="Rectangle 1210"/>
          <p:cNvSpPr/>
          <p:nvPr/>
        </p:nvSpPr>
        <p:spPr>
          <a:xfrm>
            <a:off x="4297680" y="1783080"/>
            <a:ext cx="1645920" cy="384048"/>
          </a:xfrm>
          <a:prstGeom prst="rect">
            <a:avLst/>
          </a:prstGeom>
          <a:solidFill>
            <a:srgbClr val="172A4A"/>
          </a:solidFill>
          <a:ln>
            <a:noFill/>
          </a:ln>
          <a:effectLst/>
        </p:spPr>
        <p:txBody>
          <a:bodyPr rtlCol="0" anchor="ctr"/>
          <a:lstStyle/>
          <a:p>
            <a:pPr algn="ctr"/>
            <a:endParaRPr/>
          </a:p>
        </p:txBody>
      </p:sp>
      <p:sp>
        <p:nvSpPr>
          <p:cNvPr id="1211" name="TextBox 1212"/>
          <p:cNvSpPr txBox="1"/>
          <p:nvPr/>
        </p:nvSpPr>
        <p:spPr>
          <a:xfrm>
            <a:off x="4370832" y="1783080"/>
            <a:ext cx="149961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담당</a:t>
            </a:r>
          </a:p>
        </p:txBody>
      </p:sp>
      <p:sp>
        <p:nvSpPr>
          <p:cNvPr id="1213" name="Rectangle 1214"/>
          <p:cNvSpPr/>
          <p:nvPr/>
        </p:nvSpPr>
        <p:spPr>
          <a:xfrm>
            <a:off x="502920" y="2167128"/>
            <a:ext cx="3794760" cy="457200"/>
          </a:xfrm>
          <a:prstGeom prst="rect">
            <a:avLst/>
          </a:prstGeom>
          <a:solidFill>
            <a:srgbClr val="FFFFFF"/>
          </a:solidFill>
          <a:ln w="9525">
            <a:solidFill>
              <a:srgbClr val="D0D4DA"/>
            </a:solidFill>
          </a:ln>
          <a:effectLst/>
        </p:spPr>
        <p:txBody>
          <a:bodyPr rtlCol="0" anchor="ctr"/>
          <a:lstStyle/>
          <a:p>
            <a:pPr algn="ctr"/>
            <a:endParaRPr/>
          </a:p>
        </p:txBody>
      </p:sp>
      <p:sp>
        <p:nvSpPr>
          <p:cNvPr id="1215" name="TextBox 1216"/>
          <p:cNvSpPr txBox="1"/>
          <p:nvPr/>
        </p:nvSpPr>
        <p:spPr>
          <a:xfrm>
            <a:off x="576072" y="2167128"/>
            <a:ext cx="364845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구매 스펙에 Clause 5·fingerprinting 명문화</a:t>
            </a:r>
          </a:p>
        </p:txBody>
      </p:sp>
      <p:sp>
        <p:nvSpPr>
          <p:cNvPr id="1217" name="Rectangle 1218"/>
          <p:cNvSpPr/>
          <p:nvPr/>
        </p:nvSpPr>
        <p:spPr>
          <a:xfrm>
            <a:off x="4297680" y="2167128"/>
            <a:ext cx="1645920" cy="457200"/>
          </a:xfrm>
          <a:prstGeom prst="rect">
            <a:avLst/>
          </a:prstGeom>
          <a:solidFill>
            <a:srgbClr val="FFFFFF"/>
          </a:solidFill>
          <a:ln w="9525">
            <a:solidFill>
              <a:srgbClr val="D0D4DA"/>
            </a:solidFill>
          </a:ln>
          <a:effectLst/>
        </p:spPr>
        <p:txBody>
          <a:bodyPr rtlCol="0" anchor="ctr"/>
          <a:lstStyle/>
          <a:p>
            <a:pPr algn="ctr"/>
            <a:endParaRPr/>
          </a:p>
        </p:txBody>
      </p:sp>
      <p:sp>
        <p:nvSpPr>
          <p:cNvPr id="1219" name="TextBox 1220"/>
          <p:cNvSpPr txBox="1"/>
          <p:nvPr/>
        </p:nvSpPr>
        <p:spPr>
          <a:xfrm>
            <a:off x="4370832" y="2167128"/>
            <a:ext cx="149961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구매·법무</a:t>
            </a:r>
          </a:p>
        </p:txBody>
      </p:sp>
      <p:sp>
        <p:nvSpPr>
          <p:cNvPr id="1221" name="Rectangle 1222"/>
          <p:cNvSpPr/>
          <p:nvPr/>
        </p:nvSpPr>
        <p:spPr>
          <a:xfrm>
            <a:off x="502920" y="2624328"/>
            <a:ext cx="3794760" cy="384048"/>
          </a:xfrm>
          <a:prstGeom prst="rect">
            <a:avLst/>
          </a:prstGeom>
          <a:solidFill>
            <a:srgbClr val="FFFFFF"/>
          </a:solidFill>
          <a:ln w="9525">
            <a:solidFill>
              <a:srgbClr val="D0D4DA"/>
            </a:solidFill>
          </a:ln>
          <a:effectLst/>
        </p:spPr>
        <p:txBody>
          <a:bodyPr rtlCol="0" anchor="ctr"/>
          <a:lstStyle/>
          <a:p>
            <a:pPr algn="ctr"/>
            <a:endParaRPr/>
          </a:p>
        </p:txBody>
      </p:sp>
      <p:sp>
        <p:nvSpPr>
          <p:cNvPr id="1223" name="TextBox 1224"/>
          <p:cNvSpPr txBox="1"/>
          <p:nvPr/>
        </p:nvSpPr>
        <p:spPr>
          <a:xfrm>
            <a:off x="576072" y="2624328"/>
            <a:ext cx="364845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매니폴드 샘플을 binding으로 협상</a:t>
            </a:r>
          </a:p>
        </p:txBody>
      </p:sp>
      <p:sp>
        <p:nvSpPr>
          <p:cNvPr id="1225" name="Rectangle 1226"/>
          <p:cNvSpPr/>
          <p:nvPr/>
        </p:nvSpPr>
        <p:spPr>
          <a:xfrm>
            <a:off x="4297680" y="2624328"/>
            <a:ext cx="1645920" cy="384048"/>
          </a:xfrm>
          <a:prstGeom prst="rect">
            <a:avLst/>
          </a:prstGeom>
          <a:solidFill>
            <a:srgbClr val="FFFFFF"/>
          </a:solidFill>
          <a:ln w="9525">
            <a:solidFill>
              <a:srgbClr val="D0D4DA"/>
            </a:solidFill>
          </a:ln>
          <a:effectLst/>
        </p:spPr>
        <p:txBody>
          <a:bodyPr rtlCol="0" anchor="ctr"/>
          <a:lstStyle/>
          <a:p>
            <a:pPr algn="ctr"/>
            <a:endParaRPr/>
          </a:p>
        </p:txBody>
      </p:sp>
      <p:sp>
        <p:nvSpPr>
          <p:cNvPr id="1227" name="TextBox 1228"/>
          <p:cNvSpPr txBox="1"/>
          <p:nvPr/>
        </p:nvSpPr>
        <p:spPr>
          <a:xfrm>
            <a:off x="4370832" y="2624328"/>
            <a:ext cx="149961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구매</a:t>
            </a:r>
          </a:p>
        </p:txBody>
      </p:sp>
      <p:sp>
        <p:nvSpPr>
          <p:cNvPr id="1229" name="Rectangle 1230"/>
          <p:cNvSpPr/>
          <p:nvPr/>
        </p:nvSpPr>
        <p:spPr>
          <a:xfrm>
            <a:off x="502920" y="3008376"/>
            <a:ext cx="3794760" cy="512064"/>
          </a:xfrm>
          <a:prstGeom prst="rect">
            <a:avLst/>
          </a:prstGeom>
          <a:solidFill>
            <a:srgbClr val="FFFFFF"/>
          </a:solidFill>
          <a:ln w="9525">
            <a:solidFill>
              <a:srgbClr val="D0D4DA"/>
            </a:solidFill>
          </a:ln>
          <a:effectLst/>
        </p:spPr>
        <p:txBody>
          <a:bodyPr rtlCol="0" anchor="ctr"/>
          <a:lstStyle/>
          <a:p>
            <a:pPr algn="ctr"/>
            <a:endParaRPr/>
          </a:p>
        </p:txBody>
      </p:sp>
      <p:sp>
        <p:nvSpPr>
          <p:cNvPr id="1231" name="TextBox 1232"/>
          <p:cNvSpPr txBox="1"/>
          <p:nvPr/>
        </p:nvSpPr>
        <p:spPr>
          <a:xfrm>
            <a:off x="576072" y="3008376"/>
            <a:ext cx="364845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선내 벙커 관리 지침 배포 (감시 파라미터·조기 신호)</a:t>
            </a:r>
          </a:p>
        </p:txBody>
      </p:sp>
      <p:sp>
        <p:nvSpPr>
          <p:cNvPr id="1233" name="Rectangle 1234"/>
          <p:cNvSpPr/>
          <p:nvPr/>
        </p:nvSpPr>
        <p:spPr>
          <a:xfrm>
            <a:off x="4297680" y="3008376"/>
            <a:ext cx="1645920" cy="512064"/>
          </a:xfrm>
          <a:prstGeom prst="rect">
            <a:avLst/>
          </a:prstGeom>
          <a:solidFill>
            <a:srgbClr val="FFFFFF"/>
          </a:solidFill>
          <a:ln w="9525">
            <a:solidFill>
              <a:srgbClr val="D0D4DA"/>
            </a:solidFill>
          </a:ln>
          <a:effectLst/>
        </p:spPr>
        <p:txBody>
          <a:bodyPr rtlCol="0" anchor="ctr"/>
          <a:lstStyle/>
          <a:p>
            <a:pPr algn="ctr"/>
            <a:endParaRPr/>
          </a:p>
        </p:txBody>
      </p:sp>
      <p:sp>
        <p:nvSpPr>
          <p:cNvPr id="1235" name="TextBox 1236"/>
          <p:cNvSpPr txBox="1"/>
          <p:nvPr/>
        </p:nvSpPr>
        <p:spPr>
          <a:xfrm>
            <a:off x="4370832" y="3008376"/>
            <a:ext cx="1499616" cy="512064"/>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기술</a:t>
            </a:r>
          </a:p>
        </p:txBody>
      </p:sp>
      <p:sp>
        <p:nvSpPr>
          <p:cNvPr id="1237" name="Rectangle 1238"/>
          <p:cNvSpPr/>
          <p:nvPr/>
        </p:nvSpPr>
        <p:spPr>
          <a:xfrm>
            <a:off x="502920" y="3520440"/>
            <a:ext cx="3794760" cy="457200"/>
          </a:xfrm>
          <a:prstGeom prst="rect">
            <a:avLst/>
          </a:prstGeom>
          <a:solidFill>
            <a:srgbClr val="FFFFFF"/>
          </a:solidFill>
          <a:ln w="9525">
            <a:solidFill>
              <a:srgbClr val="D0D4DA"/>
            </a:solidFill>
          </a:ln>
          <a:effectLst/>
        </p:spPr>
        <p:txBody>
          <a:bodyPr rtlCol="0" anchor="ctr"/>
          <a:lstStyle/>
          <a:p>
            <a:pPr algn="ctr"/>
            <a:endParaRPr/>
          </a:p>
        </p:txBody>
      </p:sp>
      <p:sp>
        <p:nvSpPr>
          <p:cNvPr id="1239" name="TextBox 1240"/>
          <p:cNvSpPr txBox="1"/>
          <p:nvPr/>
        </p:nvSpPr>
        <p:spPr>
          <a:xfrm>
            <a:off x="576072" y="3520440"/>
            <a:ext cx="364845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장기 정박 선박 바이오 블렌드 재고 점검</a:t>
            </a:r>
          </a:p>
        </p:txBody>
      </p:sp>
      <p:sp>
        <p:nvSpPr>
          <p:cNvPr id="1241" name="Rectangle 1242"/>
          <p:cNvSpPr/>
          <p:nvPr/>
        </p:nvSpPr>
        <p:spPr>
          <a:xfrm>
            <a:off x="4297680" y="3520440"/>
            <a:ext cx="1645920" cy="457200"/>
          </a:xfrm>
          <a:prstGeom prst="rect">
            <a:avLst/>
          </a:prstGeom>
          <a:solidFill>
            <a:srgbClr val="FFFFFF"/>
          </a:solidFill>
          <a:ln w="9525">
            <a:solidFill>
              <a:srgbClr val="D0D4DA"/>
            </a:solidFill>
          </a:ln>
          <a:effectLst/>
        </p:spPr>
        <p:txBody>
          <a:bodyPr rtlCol="0" anchor="ctr"/>
          <a:lstStyle/>
          <a:p>
            <a:pPr algn="ctr"/>
            <a:endParaRPr/>
          </a:p>
        </p:txBody>
      </p:sp>
      <p:sp>
        <p:nvSpPr>
          <p:cNvPr id="1243" name="TextBox 1244"/>
          <p:cNvSpPr txBox="1"/>
          <p:nvPr/>
        </p:nvSpPr>
        <p:spPr>
          <a:xfrm>
            <a:off x="4370832" y="3520440"/>
            <a:ext cx="149961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운항</a:t>
            </a:r>
          </a:p>
        </p:txBody>
      </p:sp>
      <p:sp>
        <p:nvSpPr>
          <p:cNvPr id="1245" name="Rectangle 1246"/>
          <p:cNvSpPr/>
          <p:nvPr/>
        </p:nvSpPr>
        <p:spPr>
          <a:xfrm>
            <a:off x="502920" y="4114800"/>
            <a:ext cx="5440680" cy="329184"/>
          </a:xfrm>
          <a:prstGeom prst="rect">
            <a:avLst/>
          </a:prstGeom>
          <a:solidFill>
            <a:srgbClr val="EFEFEF"/>
          </a:solidFill>
          <a:ln>
            <a:noFill/>
          </a:ln>
          <a:effectLst/>
        </p:spPr>
        <p:txBody>
          <a:bodyPr rtlCol="0" anchor="ctr"/>
          <a:lstStyle/>
          <a:p>
            <a:pPr algn="ctr"/>
            <a:endParaRPr/>
          </a:p>
        </p:txBody>
      </p:sp>
      <p:sp>
        <p:nvSpPr>
          <p:cNvPr id="1247" name="TextBox 1248"/>
          <p:cNvSpPr txBox="1"/>
          <p:nvPr/>
        </p:nvSpPr>
        <p:spPr>
          <a:xfrm>
            <a:off x="612648" y="411480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Next — 1–3개월</a:t>
            </a:r>
          </a:p>
        </p:txBody>
      </p:sp>
      <p:sp>
        <p:nvSpPr>
          <p:cNvPr id="1249" name="Rectangle 1250"/>
          <p:cNvSpPr/>
          <p:nvPr/>
        </p:nvSpPr>
        <p:spPr>
          <a:xfrm>
            <a:off x="502920" y="4572000"/>
            <a:ext cx="3794760" cy="384048"/>
          </a:xfrm>
          <a:prstGeom prst="rect">
            <a:avLst/>
          </a:prstGeom>
          <a:solidFill>
            <a:srgbClr val="172A4A"/>
          </a:solidFill>
          <a:ln>
            <a:noFill/>
          </a:ln>
          <a:effectLst/>
        </p:spPr>
        <p:txBody>
          <a:bodyPr rtlCol="0" anchor="ctr"/>
          <a:lstStyle/>
          <a:p>
            <a:pPr algn="ctr"/>
            <a:endParaRPr/>
          </a:p>
        </p:txBody>
      </p:sp>
      <p:sp>
        <p:nvSpPr>
          <p:cNvPr id="1251" name="TextBox 1252"/>
          <p:cNvSpPr txBox="1"/>
          <p:nvPr/>
        </p:nvSpPr>
        <p:spPr>
          <a:xfrm>
            <a:off x="576072" y="4572000"/>
            <a:ext cx="364845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할 일</a:t>
            </a:r>
          </a:p>
        </p:txBody>
      </p:sp>
      <p:sp>
        <p:nvSpPr>
          <p:cNvPr id="1253" name="Rectangle 1254"/>
          <p:cNvSpPr/>
          <p:nvPr/>
        </p:nvSpPr>
        <p:spPr>
          <a:xfrm>
            <a:off x="4297680" y="4572000"/>
            <a:ext cx="1645920" cy="384048"/>
          </a:xfrm>
          <a:prstGeom prst="rect">
            <a:avLst/>
          </a:prstGeom>
          <a:solidFill>
            <a:srgbClr val="172A4A"/>
          </a:solidFill>
          <a:ln>
            <a:noFill/>
          </a:ln>
          <a:effectLst/>
        </p:spPr>
        <p:txBody>
          <a:bodyPr rtlCol="0" anchor="ctr"/>
          <a:lstStyle/>
          <a:p>
            <a:pPr algn="ctr"/>
            <a:endParaRPr/>
          </a:p>
        </p:txBody>
      </p:sp>
      <p:sp>
        <p:nvSpPr>
          <p:cNvPr id="1255" name="TextBox 1256"/>
          <p:cNvSpPr txBox="1"/>
          <p:nvPr/>
        </p:nvSpPr>
        <p:spPr>
          <a:xfrm>
            <a:off x="4370832" y="4572000"/>
            <a:ext cx="149961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담당</a:t>
            </a:r>
          </a:p>
        </p:txBody>
      </p:sp>
      <p:sp>
        <p:nvSpPr>
          <p:cNvPr id="1257" name="Rectangle 1258"/>
          <p:cNvSpPr/>
          <p:nvPr/>
        </p:nvSpPr>
        <p:spPr>
          <a:xfrm>
            <a:off x="502920" y="4956048"/>
            <a:ext cx="3794760" cy="457200"/>
          </a:xfrm>
          <a:prstGeom prst="rect">
            <a:avLst/>
          </a:prstGeom>
          <a:solidFill>
            <a:srgbClr val="FFFFFF"/>
          </a:solidFill>
          <a:ln w="9525">
            <a:solidFill>
              <a:srgbClr val="D0D4DA"/>
            </a:solidFill>
          </a:ln>
          <a:effectLst/>
        </p:spPr>
        <p:txBody>
          <a:bodyPr rtlCol="0" anchor="ctr"/>
          <a:lstStyle/>
          <a:p>
            <a:pPr algn="ctr"/>
            <a:endParaRPr/>
          </a:p>
        </p:txBody>
      </p:sp>
      <p:sp>
        <p:nvSpPr>
          <p:cNvPr id="1259" name="TextBox 1260"/>
          <p:cNvSpPr txBox="1"/>
          <p:nvPr/>
        </p:nvSpPr>
        <p:spPr>
          <a:xfrm>
            <a:off x="576072" y="4956048"/>
            <a:ext cx="364845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바이오 탱크 FIFO 규정·정기 재분석 주기 신설</a:t>
            </a:r>
          </a:p>
        </p:txBody>
      </p:sp>
      <p:sp>
        <p:nvSpPr>
          <p:cNvPr id="1261" name="Rectangle 1262"/>
          <p:cNvSpPr/>
          <p:nvPr/>
        </p:nvSpPr>
        <p:spPr>
          <a:xfrm>
            <a:off x="4297680" y="4956048"/>
            <a:ext cx="1645920" cy="457200"/>
          </a:xfrm>
          <a:prstGeom prst="rect">
            <a:avLst/>
          </a:prstGeom>
          <a:solidFill>
            <a:srgbClr val="FFFFFF"/>
          </a:solidFill>
          <a:ln w="9525">
            <a:solidFill>
              <a:srgbClr val="D0D4DA"/>
            </a:solidFill>
          </a:ln>
          <a:effectLst/>
        </p:spPr>
        <p:txBody>
          <a:bodyPr rtlCol="0" anchor="ctr"/>
          <a:lstStyle/>
          <a:p>
            <a:pPr algn="ctr"/>
            <a:endParaRPr/>
          </a:p>
        </p:txBody>
      </p:sp>
      <p:sp>
        <p:nvSpPr>
          <p:cNvPr id="1263" name="TextBox 1264"/>
          <p:cNvSpPr txBox="1"/>
          <p:nvPr/>
        </p:nvSpPr>
        <p:spPr>
          <a:xfrm>
            <a:off x="4370832" y="4956048"/>
            <a:ext cx="149961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기술·운항</a:t>
            </a:r>
          </a:p>
        </p:txBody>
      </p:sp>
      <p:sp>
        <p:nvSpPr>
          <p:cNvPr id="1265" name="Rectangle 1266"/>
          <p:cNvSpPr/>
          <p:nvPr/>
        </p:nvSpPr>
        <p:spPr>
          <a:xfrm>
            <a:off x="502920" y="5413248"/>
            <a:ext cx="3794760" cy="384048"/>
          </a:xfrm>
          <a:prstGeom prst="rect">
            <a:avLst/>
          </a:prstGeom>
          <a:solidFill>
            <a:srgbClr val="FFFFFF"/>
          </a:solidFill>
          <a:ln w="9525">
            <a:solidFill>
              <a:srgbClr val="D0D4DA"/>
            </a:solidFill>
          </a:ln>
          <a:effectLst/>
        </p:spPr>
        <p:txBody>
          <a:bodyPr rtlCol="0" anchor="ctr"/>
          <a:lstStyle/>
          <a:p>
            <a:pPr algn="ctr"/>
            <a:endParaRPr/>
          </a:p>
        </p:txBody>
      </p:sp>
      <p:sp>
        <p:nvSpPr>
          <p:cNvPr id="1267" name="TextBox 1268"/>
          <p:cNvSpPr txBox="1"/>
          <p:nvPr/>
        </p:nvSpPr>
        <p:spPr>
          <a:xfrm>
            <a:off x="576072" y="5413248"/>
            <a:ext cx="364845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OEM LONO·Class 제출 서류 정비</a:t>
            </a:r>
          </a:p>
        </p:txBody>
      </p:sp>
      <p:sp>
        <p:nvSpPr>
          <p:cNvPr id="1269" name="Rectangle 1270"/>
          <p:cNvSpPr/>
          <p:nvPr/>
        </p:nvSpPr>
        <p:spPr>
          <a:xfrm>
            <a:off x="4297680" y="5413248"/>
            <a:ext cx="1645920" cy="384048"/>
          </a:xfrm>
          <a:prstGeom prst="rect">
            <a:avLst/>
          </a:prstGeom>
          <a:solidFill>
            <a:srgbClr val="FFFFFF"/>
          </a:solidFill>
          <a:ln w="9525">
            <a:solidFill>
              <a:srgbClr val="D0D4DA"/>
            </a:solidFill>
          </a:ln>
          <a:effectLst/>
        </p:spPr>
        <p:txBody>
          <a:bodyPr rtlCol="0" anchor="ctr"/>
          <a:lstStyle/>
          <a:p>
            <a:pPr algn="ctr"/>
            <a:endParaRPr/>
          </a:p>
        </p:txBody>
      </p:sp>
      <p:sp>
        <p:nvSpPr>
          <p:cNvPr id="1271" name="TextBox 1272"/>
          <p:cNvSpPr txBox="1"/>
          <p:nvPr/>
        </p:nvSpPr>
        <p:spPr>
          <a:xfrm>
            <a:off x="4370832" y="5413248"/>
            <a:ext cx="149961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기술</a:t>
            </a:r>
          </a:p>
        </p:txBody>
      </p:sp>
      <p:sp>
        <p:nvSpPr>
          <p:cNvPr id="1273" name="Rectangle 1274"/>
          <p:cNvSpPr/>
          <p:nvPr/>
        </p:nvSpPr>
        <p:spPr>
          <a:xfrm>
            <a:off x="502920" y="5797296"/>
            <a:ext cx="3794760" cy="457200"/>
          </a:xfrm>
          <a:prstGeom prst="rect">
            <a:avLst/>
          </a:prstGeom>
          <a:solidFill>
            <a:srgbClr val="FFFFFF"/>
          </a:solidFill>
          <a:ln w="9525">
            <a:solidFill>
              <a:srgbClr val="D0D4DA"/>
            </a:solidFill>
          </a:ln>
          <a:effectLst/>
        </p:spPr>
        <p:txBody>
          <a:bodyPr rtlCol="0" anchor="ctr"/>
          <a:lstStyle/>
          <a:p>
            <a:pPr algn="ctr"/>
            <a:endParaRPr/>
          </a:p>
        </p:txBody>
      </p:sp>
      <p:sp>
        <p:nvSpPr>
          <p:cNvPr id="1275" name="TextBox 1276"/>
          <p:cNvSpPr txBox="1"/>
          <p:nvPr/>
        </p:nvSpPr>
        <p:spPr>
          <a:xfrm>
            <a:off x="576072" y="5797296"/>
            <a:ext cx="364845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PoS 30일 리드타임을 반영한 보고 프로세스</a:t>
            </a:r>
          </a:p>
        </p:txBody>
      </p:sp>
      <p:sp>
        <p:nvSpPr>
          <p:cNvPr id="1277" name="Rectangle 1278"/>
          <p:cNvSpPr/>
          <p:nvPr/>
        </p:nvSpPr>
        <p:spPr>
          <a:xfrm>
            <a:off x="4297680" y="5797296"/>
            <a:ext cx="1645920" cy="457200"/>
          </a:xfrm>
          <a:prstGeom prst="rect">
            <a:avLst/>
          </a:prstGeom>
          <a:solidFill>
            <a:srgbClr val="FFFFFF"/>
          </a:solidFill>
          <a:ln w="9525">
            <a:solidFill>
              <a:srgbClr val="D0D4DA"/>
            </a:solidFill>
          </a:ln>
          <a:effectLst/>
        </p:spPr>
        <p:txBody>
          <a:bodyPr rtlCol="0" anchor="ctr"/>
          <a:lstStyle/>
          <a:p>
            <a:pPr algn="ctr"/>
            <a:endParaRPr/>
          </a:p>
        </p:txBody>
      </p:sp>
      <p:sp>
        <p:nvSpPr>
          <p:cNvPr id="1279" name="TextBox 1280"/>
          <p:cNvSpPr txBox="1"/>
          <p:nvPr/>
        </p:nvSpPr>
        <p:spPr>
          <a:xfrm>
            <a:off x="4370832" y="5797296"/>
            <a:ext cx="1499616" cy="457200"/>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컴플라이언스</a:t>
            </a:r>
          </a:p>
        </p:txBody>
      </p:sp>
      <p:sp>
        <p:nvSpPr>
          <p:cNvPr id="1281" name="Rectangle 128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1283" name="TextBox 128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Later — 3–12개월</a:t>
            </a:r>
          </a:p>
        </p:txBody>
      </p:sp>
      <p:sp>
        <p:nvSpPr>
          <p:cNvPr id="1285" name="Rectangle 1286"/>
          <p:cNvSpPr/>
          <p:nvPr/>
        </p:nvSpPr>
        <p:spPr>
          <a:xfrm>
            <a:off x="6245352" y="1783080"/>
            <a:ext cx="3794760" cy="402336"/>
          </a:xfrm>
          <a:prstGeom prst="rect">
            <a:avLst/>
          </a:prstGeom>
          <a:solidFill>
            <a:srgbClr val="172A4A"/>
          </a:solidFill>
          <a:ln>
            <a:noFill/>
          </a:ln>
          <a:effectLst/>
        </p:spPr>
        <p:txBody>
          <a:bodyPr rtlCol="0" anchor="ctr"/>
          <a:lstStyle/>
          <a:p>
            <a:pPr algn="ctr"/>
            <a:endParaRPr/>
          </a:p>
        </p:txBody>
      </p:sp>
      <p:sp>
        <p:nvSpPr>
          <p:cNvPr id="1287" name="TextBox 1288"/>
          <p:cNvSpPr txBox="1"/>
          <p:nvPr/>
        </p:nvSpPr>
        <p:spPr>
          <a:xfrm>
            <a:off x="6318504" y="1783080"/>
            <a:ext cx="3648456" cy="402336"/>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할 일</a:t>
            </a:r>
          </a:p>
        </p:txBody>
      </p:sp>
      <p:sp>
        <p:nvSpPr>
          <p:cNvPr id="1289" name="Rectangle 1290"/>
          <p:cNvSpPr/>
          <p:nvPr/>
        </p:nvSpPr>
        <p:spPr>
          <a:xfrm>
            <a:off x="10040112" y="1783080"/>
            <a:ext cx="1645920" cy="402336"/>
          </a:xfrm>
          <a:prstGeom prst="rect">
            <a:avLst/>
          </a:prstGeom>
          <a:solidFill>
            <a:srgbClr val="172A4A"/>
          </a:solidFill>
          <a:ln>
            <a:noFill/>
          </a:ln>
          <a:effectLst/>
        </p:spPr>
        <p:txBody>
          <a:bodyPr rtlCol="0" anchor="ctr"/>
          <a:lstStyle/>
          <a:p>
            <a:pPr algn="ctr"/>
            <a:endParaRPr/>
          </a:p>
        </p:txBody>
      </p:sp>
      <p:sp>
        <p:nvSpPr>
          <p:cNvPr id="1291" name="TextBox 1292"/>
          <p:cNvSpPr txBox="1"/>
          <p:nvPr/>
        </p:nvSpPr>
        <p:spPr>
          <a:xfrm>
            <a:off x="10113264" y="1783080"/>
            <a:ext cx="1499616" cy="402336"/>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담당</a:t>
            </a:r>
          </a:p>
        </p:txBody>
      </p:sp>
      <p:sp>
        <p:nvSpPr>
          <p:cNvPr id="1293" name="Rectangle 1294"/>
          <p:cNvSpPr/>
          <p:nvPr/>
        </p:nvSpPr>
        <p:spPr>
          <a:xfrm>
            <a:off x="6245352" y="2185416"/>
            <a:ext cx="3794760" cy="475488"/>
          </a:xfrm>
          <a:prstGeom prst="rect">
            <a:avLst/>
          </a:prstGeom>
          <a:solidFill>
            <a:srgbClr val="FFFFFF"/>
          </a:solidFill>
          <a:ln w="9525">
            <a:solidFill>
              <a:srgbClr val="D0D4DA"/>
            </a:solidFill>
          </a:ln>
          <a:effectLst/>
        </p:spPr>
        <p:txBody>
          <a:bodyPr rtlCol="0" anchor="ctr"/>
          <a:lstStyle/>
          <a:p>
            <a:pPr algn="ctr"/>
            <a:endParaRPr/>
          </a:p>
        </p:txBody>
      </p:sp>
      <p:sp>
        <p:nvSpPr>
          <p:cNvPr id="1295" name="TextBox 1296"/>
          <p:cNvSpPr txBox="1"/>
          <p:nvPr/>
        </p:nvSpPr>
        <p:spPr>
          <a:xfrm>
            <a:off x="6318504" y="2185416"/>
            <a:ext cx="3648456" cy="47548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Circ.905 Rev.1 대응 — DCS·SEEMP Part II/III 개정</a:t>
            </a:r>
          </a:p>
        </p:txBody>
      </p:sp>
      <p:sp>
        <p:nvSpPr>
          <p:cNvPr id="1297" name="Rectangle 1298"/>
          <p:cNvSpPr/>
          <p:nvPr/>
        </p:nvSpPr>
        <p:spPr>
          <a:xfrm>
            <a:off x="10040112" y="2185416"/>
            <a:ext cx="1645920" cy="475488"/>
          </a:xfrm>
          <a:prstGeom prst="rect">
            <a:avLst/>
          </a:prstGeom>
          <a:solidFill>
            <a:srgbClr val="FFFFFF"/>
          </a:solidFill>
          <a:ln w="9525">
            <a:solidFill>
              <a:srgbClr val="D0D4DA"/>
            </a:solidFill>
          </a:ln>
          <a:effectLst/>
        </p:spPr>
        <p:txBody>
          <a:bodyPr rtlCol="0" anchor="ctr"/>
          <a:lstStyle/>
          <a:p>
            <a:pPr algn="ctr"/>
            <a:endParaRPr/>
          </a:p>
        </p:txBody>
      </p:sp>
      <p:sp>
        <p:nvSpPr>
          <p:cNvPr id="1299" name="TextBox 1300"/>
          <p:cNvSpPr txBox="1"/>
          <p:nvPr/>
        </p:nvSpPr>
        <p:spPr>
          <a:xfrm>
            <a:off x="10113264" y="2185416"/>
            <a:ext cx="1499616" cy="47548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컴플라이언스</a:t>
            </a:r>
          </a:p>
        </p:txBody>
      </p:sp>
      <p:sp>
        <p:nvSpPr>
          <p:cNvPr id="1301" name="Rectangle 1302"/>
          <p:cNvSpPr/>
          <p:nvPr/>
        </p:nvSpPr>
        <p:spPr>
          <a:xfrm>
            <a:off x="6245352" y="2660904"/>
            <a:ext cx="3794760" cy="402336"/>
          </a:xfrm>
          <a:prstGeom prst="rect">
            <a:avLst/>
          </a:prstGeom>
          <a:solidFill>
            <a:srgbClr val="FFFFFF"/>
          </a:solidFill>
          <a:ln w="9525">
            <a:solidFill>
              <a:srgbClr val="D0D4DA"/>
            </a:solidFill>
          </a:ln>
          <a:effectLst/>
        </p:spPr>
        <p:txBody>
          <a:bodyPr rtlCol="0" anchor="ctr"/>
          <a:lstStyle/>
          <a:p>
            <a:pPr algn="ctr"/>
            <a:endParaRPr/>
          </a:p>
        </p:txBody>
      </p:sp>
      <p:sp>
        <p:nvSpPr>
          <p:cNvPr id="1303" name="TextBox 1304"/>
          <p:cNvSpPr txBox="1"/>
          <p:nvPr/>
        </p:nvSpPr>
        <p:spPr>
          <a:xfrm>
            <a:off x="6318504" y="2660904"/>
            <a:ext cx="3648456" cy="402336"/>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non-FAME 수용 정책 확정 및 문서화</a:t>
            </a:r>
          </a:p>
        </p:txBody>
      </p:sp>
      <p:sp>
        <p:nvSpPr>
          <p:cNvPr id="1305" name="Rectangle 1306"/>
          <p:cNvSpPr/>
          <p:nvPr/>
        </p:nvSpPr>
        <p:spPr>
          <a:xfrm>
            <a:off x="10040112" y="2660904"/>
            <a:ext cx="1645920" cy="402336"/>
          </a:xfrm>
          <a:prstGeom prst="rect">
            <a:avLst/>
          </a:prstGeom>
          <a:solidFill>
            <a:srgbClr val="FFFFFF"/>
          </a:solidFill>
          <a:ln w="9525">
            <a:solidFill>
              <a:srgbClr val="D0D4DA"/>
            </a:solidFill>
          </a:ln>
          <a:effectLst/>
        </p:spPr>
        <p:txBody>
          <a:bodyPr rtlCol="0" anchor="ctr"/>
          <a:lstStyle/>
          <a:p>
            <a:pPr algn="ctr"/>
            <a:endParaRPr/>
          </a:p>
        </p:txBody>
      </p:sp>
      <p:sp>
        <p:nvSpPr>
          <p:cNvPr id="1307" name="TextBox 1308"/>
          <p:cNvSpPr txBox="1"/>
          <p:nvPr/>
        </p:nvSpPr>
        <p:spPr>
          <a:xfrm>
            <a:off x="10113264" y="2660904"/>
            <a:ext cx="1499616" cy="402336"/>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기술·구매</a:t>
            </a:r>
          </a:p>
        </p:txBody>
      </p:sp>
      <p:sp>
        <p:nvSpPr>
          <p:cNvPr id="1309" name="Rectangle 1310"/>
          <p:cNvSpPr/>
          <p:nvPr/>
        </p:nvSpPr>
        <p:spPr>
          <a:xfrm>
            <a:off x="6245352" y="3063240"/>
            <a:ext cx="3794760" cy="402336"/>
          </a:xfrm>
          <a:prstGeom prst="rect">
            <a:avLst/>
          </a:prstGeom>
          <a:solidFill>
            <a:srgbClr val="FFFFFF"/>
          </a:solidFill>
          <a:ln w="9525">
            <a:solidFill>
              <a:srgbClr val="D0D4DA"/>
            </a:solidFill>
          </a:ln>
          <a:effectLst/>
        </p:spPr>
        <p:txBody>
          <a:bodyPr rtlCol="0" anchor="ctr"/>
          <a:lstStyle/>
          <a:p>
            <a:pPr algn="ctr"/>
            <a:endParaRPr/>
          </a:p>
        </p:txBody>
      </p:sp>
      <p:sp>
        <p:nvSpPr>
          <p:cNvPr id="1311" name="TextBox 1312"/>
          <p:cNvSpPr txBox="1"/>
          <p:nvPr/>
        </p:nvSpPr>
        <p:spPr>
          <a:xfrm>
            <a:off x="6318504" y="3063240"/>
            <a:ext cx="3648456" cy="402336"/>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용선·공급계약 표준안 개정</a:t>
            </a:r>
          </a:p>
        </p:txBody>
      </p:sp>
      <p:sp>
        <p:nvSpPr>
          <p:cNvPr id="1313" name="Rectangle 1314"/>
          <p:cNvSpPr/>
          <p:nvPr/>
        </p:nvSpPr>
        <p:spPr>
          <a:xfrm>
            <a:off x="10040112" y="3063240"/>
            <a:ext cx="1645920" cy="402336"/>
          </a:xfrm>
          <a:prstGeom prst="rect">
            <a:avLst/>
          </a:prstGeom>
          <a:solidFill>
            <a:srgbClr val="FFFFFF"/>
          </a:solidFill>
          <a:ln w="9525">
            <a:solidFill>
              <a:srgbClr val="D0D4DA"/>
            </a:solidFill>
          </a:ln>
          <a:effectLst/>
        </p:spPr>
        <p:txBody>
          <a:bodyPr rtlCol="0" anchor="ctr"/>
          <a:lstStyle/>
          <a:p>
            <a:pPr algn="ctr"/>
            <a:endParaRPr/>
          </a:p>
        </p:txBody>
      </p:sp>
      <p:sp>
        <p:nvSpPr>
          <p:cNvPr id="1315" name="TextBox 1316"/>
          <p:cNvSpPr txBox="1"/>
          <p:nvPr/>
        </p:nvSpPr>
        <p:spPr>
          <a:xfrm>
            <a:off x="10113264" y="3063240"/>
            <a:ext cx="1499616" cy="402336"/>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법무</a:t>
            </a:r>
          </a:p>
        </p:txBody>
      </p:sp>
      <p:sp>
        <p:nvSpPr>
          <p:cNvPr id="1317" name="Rectangle 1318"/>
          <p:cNvSpPr/>
          <p:nvPr/>
        </p:nvSpPr>
        <p:spPr>
          <a:xfrm>
            <a:off x="6245352" y="3465576"/>
            <a:ext cx="3794760" cy="475488"/>
          </a:xfrm>
          <a:prstGeom prst="rect">
            <a:avLst/>
          </a:prstGeom>
          <a:solidFill>
            <a:srgbClr val="FFFFFF"/>
          </a:solidFill>
          <a:ln w="9525">
            <a:solidFill>
              <a:srgbClr val="D0D4DA"/>
            </a:solidFill>
          </a:ln>
          <a:effectLst/>
        </p:spPr>
        <p:txBody>
          <a:bodyPr rtlCol="0" anchor="ctr"/>
          <a:lstStyle/>
          <a:p>
            <a:pPr algn="ctr"/>
            <a:endParaRPr/>
          </a:p>
        </p:txBody>
      </p:sp>
      <p:sp>
        <p:nvSpPr>
          <p:cNvPr id="1319" name="TextBox 1320"/>
          <p:cNvSpPr txBox="1"/>
          <p:nvPr/>
        </p:nvSpPr>
        <p:spPr>
          <a:xfrm>
            <a:off x="6318504" y="3465576"/>
            <a:ext cx="3648456" cy="47548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선원 교육 모듈 업데이트 (바이오 SOP 포함)</a:t>
            </a:r>
          </a:p>
        </p:txBody>
      </p:sp>
      <p:sp>
        <p:nvSpPr>
          <p:cNvPr id="1321" name="Rectangle 1322"/>
          <p:cNvSpPr/>
          <p:nvPr/>
        </p:nvSpPr>
        <p:spPr>
          <a:xfrm>
            <a:off x="10040112" y="3465576"/>
            <a:ext cx="1645920" cy="475488"/>
          </a:xfrm>
          <a:prstGeom prst="rect">
            <a:avLst/>
          </a:prstGeom>
          <a:solidFill>
            <a:srgbClr val="FFFFFF"/>
          </a:solidFill>
          <a:ln w="9525">
            <a:solidFill>
              <a:srgbClr val="D0D4DA"/>
            </a:solidFill>
          </a:ln>
          <a:effectLst/>
        </p:spPr>
        <p:txBody>
          <a:bodyPr rtlCol="0" anchor="ctr"/>
          <a:lstStyle/>
          <a:p>
            <a:pPr algn="ctr"/>
            <a:endParaRPr/>
          </a:p>
        </p:txBody>
      </p:sp>
      <p:sp>
        <p:nvSpPr>
          <p:cNvPr id="1323" name="TextBox 1324"/>
          <p:cNvSpPr txBox="1"/>
          <p:nvPr/>
        </p:nvSpPr>
        <p:spPr>
          <a:xfrm>
            <a:off x="10113264" y="3465576"/>
            <a:ext cx="1499616" cy="47548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HR·기술</a:t>
            </a:r>
          </a:p>
        </p:txBody>
      </p:sp>
      <p:sp>
        <p:nvSpPr>
          <p:cNvPr id="1325" name="Rectangle 1326"/>
          <p:cNvSpPr/>
          <p:nvPr/>
        </p:nvSpPr>
        <p:spPr>
          <a:xfrm>
            <a:off x="6245352" y="4069080"/>
            <a:ext cx="5440680" cy="777240"/>
          </a:xfrm>
          <a:prstGeom prst="rect">
            <a:avLst/>
          </a:prstGeom>
          <a:solidFill>
            <a:srgbClr val="EFEFEF"/>
          </a:solidFill>
          <a:ln>
            <a:noFill/>
          </a:ln>
          <a:effectLst/>
        </p:spPr>
        <p:txBody>
          <a:bodyPr rtlCol="0" anchor="ctr"/>
          <a:lstStyle/>
          <a:p>
            <a:pPr algn="ctr"/>
            <a:endParaRPr/>
          </a:p>
        </p:txBody>
      </p:sp>
      <p:sp>
        <p:nvSpPr>
          <p:cNvPr id="1327" name="TextBox 1328"/>
          <p:cNvSpPr txBox="1"/>
          <p:nvPr/>
        </p:nvSpPr>
        <p:spPr>
          <a:xfrm>
            <a:off x="6428232" y="4069080"/>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선원이 개인 경험에 의존해 대응하고 있다는 것이 Gard가 짚은 가장 현실적인 공백입니다.</a:t>
            </a:r>
          </a:p>
        </p:txBody>
      </p:sp>
      <p:sp>
        <p:nvSpPr>
          <p:cNvPr id="1329" name="TextBox 1330"/>
          <p:cNvSpPr txBox="1"/>
          <p:nvPr/>
        </p:nvSpPr>
        <p:spPr>
          <a:xfrm>
            <a:off x="6245352" y="4983480"/>
            <a:ext cx="5440680" cy="45720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 육상 기술부서의 구체적 지침이 가장 빠른 리스크 감소 수단입니다.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 name="Rectangle 133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333" name="TextBox 1334"/>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의사결정 요청 및 Q&amp;A</a:t>
            </a:r>
          </a:p>
        </p:txBody>
      </p:sp>
      <p:sp>
        <p:nvSpPr>
          <p:cNvPr id="1335" name="Rectangle 1336"/>
          <p:cNvSpPr/>
          <p:nvPr/>
        </p:nvSpPr>
        <p:spPr>
          <a:xfrm>
            <a:off x="502920" y="1325880"/>
            <a:ext cx="685800" cy="1051560"/>
          </a:xfrm>
          <a:prstGeom prst="rect">
            <a:avLst/>
          </a:prstGeom>
          <a:solidFill>
            <a:srgbClr val="FFFFFF"/>
          </a:solidFill>
          <a:ln w="9525">
            <a:solidFill>
              <a:srgbClr val="D0D4DA"/>
            </a:solidFill>
          </a:ln>
          <a:effectLst/>
        </p:spPr>
        <p:txBody>
          <a:bodyPr rtlCol="0" anchor="ctr"/>
          <a:lstStyle/>
          <a:p>
            <a:pPr algn="ctr"/>
            <a:endParaRPr/>
          </a:p>
        </p:txBody>
      </p:sp>
      <p:sp>
        <p:nvSpPr>
          <p:cNvPr id="1337" name="TextBox 1338"/>
          <p:cNvSpPr txBox="1"/>
          <p:nvPr/>
        </p:nvSpPr>
        <p:spPr>
          <a:xfrm>
            <a:off x="576072" y="1325880"/>
            <a:ext cx="539496" cy="105156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01</a:t>
            </a:r>
          </a:p>
        </p:txBody>
      </p:sp>
      <p:sp>
        <p:nvSpPr>
          <p:cNvPr id="1339" name="Rectangle 1340"/>
          <p:cNvSpPr/>
          <p:nvPr/>
        </p:nvSpPr>
        <p:spPr>
          <a:xfrm>
            <a:off x="1188720" y="1325880"/>
            <a:ext cx="4754880" cy="1051560"/>
          </a:xfrm>
          <a:prstGeom prst="rect">
            <a:avLst/>
          </a:prstGeom>
          <a:solidFill>
            <a:srgbClr val="FFFFFF"/>
          </a:solidFill>
          <a:ln w="9525">
            <a:solidFill>
              <a:srgbClr val="D0D4DA"/>
            </a:solidFill>
          </a:ln>
          <a:effectLst/>
        </p:spPr>
        <p:txBody>
          <a:bodyPr rtlCol="0" anchor="ctr"/>
          <a:lstStyle/>
          <a:p>
            <a:pPr algn="ctr"/>
            <a:endParaRPr/>
          </a:p>
        </p:txBody>
      </p:sp>
      <p:sp>
        <p:nvSpPr>
          <p:cNvPr id="1341" name="TextBox 1342"/>
          <p:cNvSpPr txBox="1"/>
          <p:nvPr/>
        </p:nvSpPr>
        <p:spPr>
          <a:xfrm>
            <a:off x="1261872" y="1325880"/>
            <a:ext cx="4608576" cy="105156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non-FAME 수용 여부</a:t>
            </a:r>
          </a:p>
        </p:txBody>
      </p:sp>
      <p:sp>
        <p:nvSpPr>
          <p:cNvPr id="1343" name="Rectangle 1344"/>
          <p:cNvSpPr/>
          <p:nvPr/>
        </p:nvSpPr>
        <p:spPr>
          <a:xfrm>
            <a:off x="5943600" y="1325880"/>
            <a:ext cx="5742432" cy="1051560"/>
          </a:xfrm>
          <a:prstGeom prst="rect">
            <a:avLst/>
          </a:prstGeom>
          <a:solidFill>
            <a:srgbClr val="FFFFFF"/>
          </a:solidFill>
          <a:ln w="9525">
            <a:solidFill>
              <a:srgbClr val="D0D4DA"/>
            </a:solidFill>
          </a:ln>
          <a:effectLst/>
        </p:spPr>
        <p:txBody>
          <a:bodyPr rtlCol="0" anchor="ctr"/>
          <a:lstStyle/>
          <a:p>
            <a:pPr algn="ctr"/>
            <a:endParaRPr/>
          </a:p>
        </p:txBody>
      </p:sp>
      <p:sp>
        <p:nvSpPr>
          <p:cNvPr id="1345" name="TextBox 1346"/>
          <p:cNvSpPr txBox="1"/>
          <p:nvPr/>
        </p:nvSpPr>
        <p:spPr>
          <a:xfrm>
            <a:off x="6016752" y="1325880"/>
            <a:ext cx="5596128" cy="105156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전면 금지 / 6단계 검증 통과 시 조건부 허용 / 건별 승인 — Gard 사례 3에서 실제 주기관 손상이 발생했습니다.</a:t>
            </a:r>
          </a:p>
        </p:txBody>
      </p:sp>
      <p:sp>
        <p:nvSpPr>
          <p:cNvPr id="1347" name="Rectangle 1348"/>
          <p:cNvSpPr/>
          <p:nvPr/>
        </p:nvSpPr>
        <p:spPr>
          <a:xfrm>
            <a:off x="502920" y="2377440"/>
            <a:ext cx="685800" cy="1051560"/>
          </a:xfrm>
          <a:prstGeom prst="rect">
            <a:avLst/>
          </a:prstGeom>
          <a:solidFill>
            <a:srgbClr val="FFFFFF"/>
          </a:solidFill>
          <a:ln w="9525">
            <a:solidFill>
              <a:srgbClr val="D0D4DA"/>
            </a:solidFill>
          </a:ln>
          <a:effectLst/>
        </p:spPr>
        <p:txBody>
          <a:bodyPr rtlCol="0" anchor="ctr"/>
          <a:lstStyle/>
          <a:p>
            <a:pPr algn="ctr"/>
            <a:endParaRPr/>
          </a:p>
        </p:txBody>
      </p:sp>
      <p:sp>
        <p:nvSpPr>
          <p:cNvPr id="1349" name="TextBox 1350"/>
          <p:cNvSpPr txBox="1"/>
          <p:nvPr/>
        </p:nvSpPr>
        <p:spPr>
          <a:xfrm>
            <a:off x="576072" y="2377440"/>
            <a:ext cx="539496" cy="105156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02</a:t>
            </a:r>
          </a:p>
        </p:txBody>
      </p:sp>
      <p:sp>
        <p:nvSpPr>
          <p:cNvPr id="1351" name="Rectangle 1352"/>
          <p:cNvSpPr/>
          <p:nvPr/>
        </p:nvSpPr>
        <p:spPr>
          <a:xfrm>
            <a:off x="1188720" y="2377440"/>
            <a:ext cx="4754880" cy="1051560"/>
          </a:xfrm>
          <a:prstGeom prst="rect">
            <a:avLst/>
          </a:prstGeom>
          <a:solidFill>
            <a:srgbClr val="FFFFFF"/>
          </a:solidFill>
          <a:ln w="9525">
            <a:solidFill>
              <a:srgbClr val="D0D4DA"/>
            </a:solidFill>
          </a:ln>
          <a:effectLst/>
        </p:spPr>
        <p:txBody>
          <a:bodyPr rtlCol="0" anchor="ctr"/>
          <a:lstStyle/>
          <a:p>
            <a:pPr algn="ctr"/>
            <a:endParaRPr/>
          </a:p>
        </p:txBody>
      </p:sp>
      <p:sp>
        <p:nvSpPr>
          <p:cNvPr id="1353" name="TextBox 1354"/>
          <p:cNvSpPr txBox="1"/>
          <p:nvPr/>
        </p:nvSpPr>
        <p:spPr>
          <a:xfrm>
            <a:off x="1261872" y="2377440"/>
            <a:ext cx="4608576" cy="105156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계약 조항 개정 착수 승인</a:t>
            </a:r>
          </a:p>
        </p:txBody>
      </p:sp>
      <p:sp>
        <p:nvSpPr>
          <p:cNvPr id="1355" name="Rectangle 1356"/>
          <p:cNvSpPr/>
          <p:nvPr/>
        </p:nvSpPr>
        <p:spPr>
          <a:xfrm>
            <a:off x="5943600" y="2377440"/>
            <a:ext cx="5742432" cy="1051560"/>
          </a:xfrm>
          <a:prstGeom prst="rect">
            <a:avLst/>
          </a:prstGeom>
          <a:solidFill>
            <a:srgbClr val="FFFFFF"/>
          </a:solidFill>
          <a:ln w="9525">
            <a:solidFill>
              <a:srgbClr val="D0D4DA"/>
            </a:solidFill>
          </a:ln>
          <a:effectLst/>
        </p:spPr>
        <p:txBody>
          <a:bodyPr rtlCol="0" anchor="ctr"/>
          <a:lstStyle/>
          <a:p>
            <a:pPr algn="ctr"/>
            <a:endParaRPr/>
          </a:p>
        </p:txBody>
      </p:sp>
      <p:sp>
        <p:nvSpPr>
          <p:cNvPr id="1357" name="TextBox 1358"/>
          <p:cNvSpPr txBox="1"/>
          <p:nvPr/>
        </p:nvSpPr>
        <p:spPr>
          <a:xfrm>
            <a:off x="6016752" y="2377440"/>
            <a:ext cx="5596128" cy="105156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binding sample을 매니폴드로, fingerprinting과 공동시험 프로토콜을 표준 조항으로 — 법무·구매 리소스 배정이 필요합니다.</a:t>
            </a:r>
          </a:p>
        </p:txBody>
      </p:sp>
      <p:sp>
        <p:nvSpPr>
          <p:cNvPr id="1359" name="Rectangle 1360"/>
          <p:cNvSpPr/>
          <p:nvPr/>
        </p:nvSpPr>
        <p:spPr>
          <a:xfrm>
            <a:off x="502920" y="3429000"/>
            <a:ext cx="685800" cy="1051560"/>
          </a:xfrm>
          <a:prstGeom prst="rect">
            <a:avLst/>
          </a:prstGeom>
          <a:solidFill>
            <a:srgbClr val="FFFFFF"/>
          </a:solidFill>
          <a:ln w="9525">
            <a:solidFill>
              <a:srgbClr val="D0D4DA"/>
            </a:solidFill>
          </a:ln>
          <a:effectLst/>
        </p:spPr>
        <p:txBody>
          <a:bodyPr rtlCol="0" anchor="ctr"/>
          <a:lstStyle/>
          <a:p>
            <a:pPr algn="ctr"/>
            <a:endParaRPr/>
          </a:p>
        </p:txBody>
      </p:sp>
      <p:sp>
        <p:nvSpPr>
          <p:cNvPr id="1361" name="TextBox 1362"/>
          <p:cNvSpPr txBox="1"/>
          <p:nvPr/>
        </p:nvSpPr>
        <p:spPr>
          <a:xfrm>
            <a:off x="576072" y="3429000"/>
            <a:ext cx="539496" cy="105156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03</a:t>
            </a:r>
          </a:p>
        </p:txBody>
      </p:sp>
      <p:sp>
        <p:nvSpPr>
          <p:cNvPr id="1363" name="Rectangle 1364"/>
          <p:cNvSpPr/>
          <p:nvPr/>
        </p:nvSpPr>
        <p:spPr>
          <a:xfrm>
            <a:off x="1188720" y="3429000"/>
            <a:ext cx="4754880" cy="1051560"/>
          </a:xfrm>
          <a:prstGeom prst="rect">
            <a:avLst/>
          </a:prstGeom>
          <a:solidFill>
            <a:srgbClr val="FFFFFF"/>
          </a:solidFill>
          <a:ln w="9525">
            <a:solidFill>
              <a:srgbClr val="D0D4DA"/>
            </a:solidFill>
          </a:ln>
          <a:effectLst/>
        </p:spPr>
        <p:txBody>
          <a:bodyPr rtlCol="0" anchor="ctr"/>
          <a:lstStyle/>
          <a:p>
            <a:pPr algn="ctr"/>
            <a:endParaRPr/>
          </a:p>
        </p:txBody>
      </p:sp>
      <p:sp>
        <p:nvSpPr>
          <p:cNvPr id="1365" name="TextBox 1366"/>
          <p:cNvSpPr txBox="1"/>
          <p:nvPr/>
        </p:nvSpPr>
        <p:spPr>
          <a:xfrm>
            <a:off x="1261872" y="3429000"/>
            <a:ext cx="4608576" cy="1051560"/>
          </a:xfrm>
          <a:prstGeom prst="rect">
            <a:avLst/>
          </a:prstGeom>
          <a:noFill/>
        </p:spPr>
        <p:txBody>
          <a:bodyPr wrap="square" lIns="36576" tIns="0" rIns="36576" bIns="0" anchor="ctr"/>
          <a:lstStyle/>
          <a:p>
            <a:pPr algn="l">
              <a:lnSpc>
                <a:spcPct val="110000"/>
              </a:lnSpc>
              <a:spcAft>
                <a:spcPts val="0"/>
              </a:spcAft>
            </a:pPr>
            <a:r>
              <a:rPr sz="1150" b="1">
                <a:solidFill>
                  <a:srgbClr val="172A4A"/>
                </a:solidFill>
                <a:latin typeface="Calibri"/>
                <a:ea typeface="맑은 고딕"/>
                <a:cs typeface="Calibri"/>
              </a:rPr>
              <a:t>Circ.905 Rev.1 오너십</a:t>
            </a:r>
          </a:p>
        </p:txBody>
      </p:sp>
      <p:sp>
        <p:nvSpPr>
          <p:cNvPr id="1367" name="Rectangle 1368"/>
          <p:cNvSpPr/>
          <p:nvPr/>
        </p:nvSpPr>
        <p:spPr>
          <a:xfrm>
            <a:off x="5943600" y="3429000"/>
            <a:ext cx="5742432" cy="1051560"/>
          </a:xfrm>
          <a:prstGeom prst="rect">
            <a:avLst/>
          </a:prstGeom>
          <a:solidFill>
            <a:srgbClr val="FFFFFF"/>
          </a:solidFill>
          <a:ln w="9525">
            <a:solidFill>
              <a:srgbClr val="D0D4DA"/>
            </a:solidFill>
          </a:ln>
          <a:effectLst/>
        </p:spPr>
        <p:txBody>
          <a:bodyPr rtlCol="0" anchor="ctr"/>
          <a:lstStyle/>
          <a:p>
            <a:pPr algn="ctr"/>
            <a:endParaRPr/>
          </a:p>
        </p:txBody>
      </p:sp>
      <p:sp>
        <p:nvSpPr>
          <p:cNvPr id="1369" name="TextBox 1370"/>
          <p:cNvSpPr txBox="1"/>
          <p:nvPr/>
        </p:nvSpPr>
        <p:spPr>
          <a:xfrm>
            <a:off x="6016752" y="3429000"/>
            <a:ext cx="5596128" cy="1051560"/>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Cf 질량가중 전환과 “비인증 바이오 = 화석 등가”는 CII 등급에 직접 영향 — 담당 부서와 착수 시점을 정해야 합니다.</a:t>
            </a:r>
          </a:p>
        </p:txBody>
      </p:sp>
      <p:sp>
        <p:nvSpPr>
          <p:cNvPr id="1371" name="Rectangle 1372"/>
          <p:cNvSpPr/>
          <p:nvPr/>
        </p:nvSpPr>
        <p:spPr>
          <a:xfrm>
            <a:off x="502920" y="4709160"/>
            <a:ext cx="11183112" cy="685800"/>
          </a:xfrm>
          <a:prstGeom prst="rect">
            <a:avLst/>
          </a:prstGeom>
          <a:solidFill>
            <a:srgbClr val="EFEFEF"/>
          </a:solidFill>
          <a:ln>
            <a:noFill/>
          </a:ln>
          <a:effectLst/>
        </p:spPr>
        <p:txBody>
          <a:bodyPr rtlCol="0" anchor="ctr"/>
          <a:lstStyle/>
          <a:p>
            <a:pPr algn="ctr"/>
            <a:endParaRPr/>
          </a:p>
        </p:txBody>
      </p:sp>
      <p:sp>
        <p:nvSpPr>
          <p:cNvPr id="1373" name="TextBox 1374"/>
          <p:cNvSpPr txBox="1"/>
          <p:nvPr/>
        </p:nvSpPr>
        <p:spPr>
          <a:xfrm>
            <a:off x="685800" y="4709160"/>
            <a:ext cx="10817352" cy="68580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불량 벙커의 공급과 사용을 막는 것은 선주와 용선자의 공동 책임이며, 가장 효과적인 방법입니다.</a:t>
            </a:r>
          </a:p>
        </p:txBody>
      </p:sp>
      <p:sp>
        <p:nvSpPr>
          <p:cNvPr id="1375" name="TextBox 1376"/>
          <p:cNvSpPr txBox="1"/>
          <p:nvPr/>
        </p:nvSpPr>
        <p:spPr>
          <a:xfrm>
            <a:off x="502920" y="5577840"/>
            <a:ext cx="11183112" cy="548640"/>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출처: Gard, Beyond Specification — Bunker Claims Insights in early 2026 (VPS 데이터 제공) / Singapore Shipping Association, FAQ on Bunkering of Biofuels in the Port of Singapore,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pPr>
      <a:bodyPr wrap="square" lIns="0" tIns="0" rIns="0" bIns="0" rtlCol="0" anchor="ctr"/>
      <a:lstStyle>
        <a:defPPr algn="l">
          <a:lnSpc>
            <a:spcPct val="160000"/>
          </a:lnSpc>
          <a:defRPr sz="2800" b="1" dirty="0">
            <a:solidFill>
              <a:schemeClr val="bg1"/>
            </a:solidFill>
            <a:latin typeface="Roboto"/>
            <a:ea typeface="Roboto"/>
            <a:cs typeface="Roboto"/>
            <a:sym typeface="Roboto"/>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2c0d03a-4a30-4ecd-86b9-2064bc46f2a0}" enabled="1" method="Standard" siteId="{5d0227ad-3bcc-4106-8cf3-16e735f3b4c4}" removed="0"/>
</clbl:labelList>
</file>

<file path=docProps/app.xml><?xml version="1.0" encoding="utf-8"?>
<Properties xmlns="http://schemas.openxmlformats.org/officeDocument/2006/extended-properties" xmlns:vt="http://schemas.openxmlformats.org/officeDocument/2006/docPropsVTypes">
  <TotalTime>285</TotalTime>
  <Words>2656</Words>
  <Application>Microsoft Office PowerPoint</Application>
  <PresentationFormat>와이드스크린</PresentationFormat>
  <Paragraphs>248</Paragraphs>
  <Slides>12</Slides>
  <Notes>11</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12</vt:i4>
      </vt:variant>
    </vt:vector>
  </HeadingPairs>
  <TitlesOfParts>
    <vt:vector size="19" baseType="lpstr">
      <vt:lpstr>Aptos</vt:lpstr>
      <vt:lpstr>Arial</vt:lpstr>
      <vt:lpstr>Calibri</vt:lpstr>
      <vt:lpstr>Oswald</vt:lpstr>
      <vt:lpstr>Roboto</vt:lpstr>
      <vt:lpstr>Office Theme</vt:lpstr>
      <vt:lpstr>1_Office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Jeong, Peter</cp:lastModifiedBy>
  <cp:revision>4</cp:revision>
  <dcterms:created xsi:type="dcterms:W3CDTF">2013-01-27T09:14:16Z</dcterms:created>
  <dcterms:modified xsi:type="dcterms:W3CDTF">2026-08-20T07:47:13Z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Classified as Internal - This content is proprietary information intended for employees and partners only.</vt:lpwstr>
  </property>
</Properties>
</file>