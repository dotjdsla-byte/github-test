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60" r:id="rId3"/>
    <p:sldId id="261" r:id="rId6"/>
    <p:sldId id="262" r:id="rId5"/>
    <p:sldId id="26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9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9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(Specialty Lubricants)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KLUBER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계약을 통해 마린 사업에 공급하고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클루버의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모기업은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프로이덴베르크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그룹으로 고성능 특수 윤활 마찰공학 솔루션 분야의 글로벌 리더 중 하나로 꼽힙니다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화학 사업부 산하에 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윤활유보다는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고하중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장기간 사용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까다로운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조건에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사용되는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고성능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그리스와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제품을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D335D-2D72-4446-831C-D70864706F5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7117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1575E-A842-96BE-8D22-CEBBB4578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DE1F3-A883-202E-8970-C30B2B06A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6B7DD-3D4F-072A-3E95-3C1A27AE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AB98-1C34-D83A-B9E5-3152A10D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B225E-025B-7121-6686-829F7FFF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42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4A76-94CF-0496-4CF5-B985AF87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C2285-16A0-C574-AD15-A0454D556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6A47-7279-0A03-F8E5-6405AC35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9B671-B716-436A-7CDE-B8C66ED6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BA87-E269-056E-2746-C7FC2DC7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63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F0C1-B6EE-A6F9-D908-B69F9D74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8B494-57E9-88EC-B1AC-D419CE09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382B0-7967-F2B7-B251-D196AD4D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000CA-8A66-C5DE-64DD-F0F04583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6B778-8CB8-0B89-DCD5-C1D3DDD5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80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8F6B-BB3E-CA60-8A2E-94EF1825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BCA9-5B15-2404-E743-E0630E5E1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61345-E96C-5CF1-96F3-668D3A505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989E7-1AB0-54BB-B9A3-11E8BC89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9D083-B49A-8ECE-1EB8-378FDE36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AE41-7922-1577-1C04-53EEED74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9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1926-8418-22A7-22EA-DEC85168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9D45C-2864-7F4F-2A3D-E27D4EE26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61401-AF3C-F676-8434-920164934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B0387-5F7B-AB7F-2E08-AC980C66F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5C32B-4B2D-71E6-E26F-77B2E63CE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6CDCD-E999-9630-F56F-AA1D4075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962C2-7912-3D90-466E-6C100699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E3CBB-05BE-6E07-91AB-7E24E4DB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80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6CFA-0767-0296-1169-5ACFEAE5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A9DEA-6C67-D7D3-C33E-D9434C45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E5864-B327-7030-82AC-4BF3261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CC588-F8AB-9928-00EE-F5F3E187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30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F9643-F2C5-44DA-E5ED-04279008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88642-0337-8A7F-5B7A-9B419263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AF61D-54AE-C6B1-24FA-421A9EB8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30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4B04-A2E9-8564-E20F-6C986088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1D624-9C61-25D9-DFBD-48E18378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C013A-1129-F3C3-9B7B-7E13CBA1E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E3A25-8ABF-FC61-4BE1-8324967B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EBF8A-60CA-3764-2B57-B4CD5599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28AC4-6E05-C1CF-0E20-B310EB4A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42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0F59-AED9-C611-322C-8635EA48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D9771-B6BA-85DA-24C9-BA8BDD4E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2D75D-6083-CDDB-6901-069D7CCB5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D4385-3375-A6B4-A40B-F53E986E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8EE36-80BE-D25F-A284-7164551E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08AD9-0BCD-38A9-F3A3-FF3A7605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1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AE55-56EB-F93C-870A-00B39B84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5746C-1750-49BC-4802-67A1772A1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D7EAB-EA38-6590-09DA-FA4A40298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9F0F-F92B-4981-E9AB-94FE9906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B6F08-4B70-C98D-261D-6EDDBA04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439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CA2B7-809E-46AA-B8FA-DDE13791D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74511-2BC3-F513-351B-C999D8AFC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1BB-1236-B2F1-FF5A-937BB002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0FE6-DA58-B8DB-8C0D-AE73B396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FCCA-0FF6-6E8B-C98E-F2C3E8CB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05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1505"/>
            <a:ext cx="12191960" cy="68558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2186" y="1687306"/>
            <a:ext cx="6803389" cy="3462487"/>
          </a:xfrm>
        </p:spPr>
        <p:txBody>
          <a:bodyPr anchor="ctr" anchorCtr="0">
            <a:normAutofit/>
          </a:bodyPr>
          <a:lstStyle>
            <a:lvl1pPr algn="l">
              <a:defRPr sz="7464" b="0" i="0" spc="-1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72186" y="6018653"/>
            <a:ext cx="6803389" cy="43088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466" b="0" i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  <a:lvl2pPr marL="456967" indent="0" algn="ctr">
              <a:buNone/>
              <a:defRPr sz="1999"/>
            </a:lvl2pPr>
            <a:lvl3pPr marL="913936" indent="0" algn="ctr">
              <a:buNone/>
              <a:defRPr sz="1799"/>
            </a:lvl3pPr>
            <a:lvl4pPr marL="1370904" indent="0" algn="ctr">
              <a:buNone/>
              <a:defRPr sz="1599"/>
            </a:lvl4pPr>
            <a:lvl5pPr marL="1827871" indent="0" algn="ctr">
              <a:buNone/>
              <a:defRPr sz="1599"/>
            </a:lvl5pPr>
            <a:lvl6pPr marL="2284839" indent="0" algn="ctr">
              <a:buNone/>
              <a:defRPr sz="1599"/>
            </a:lvl6pPr>
            <a:lvl7pPr marL="2741806" indent="0" algn="ctr">
              <a:buNone/>
              <a:defRPr sz="1599"/>
            </a:lvl7pPr>
            <a:lvl8pPr marL="3198773" indent="0" algn="ctr">
              <a:buNone/>
              <a:defRPr sz="1599"/>
            </a:lvl8pPr>
            <a:lvl9pPr marL="3655741" indent="0" algn="ctr">
              <a:buNone/>
              <a:defRPr sz="1599"/>
            </a:lvl9pPr>
          </a:lstStyle>
          <a:p>
            <a:r>
              <a:rPr lang="en-GB" noProof="0"/>
              <a:t>Click to add subtitle</a:t>
            </a:r>
          </a:p>
        </p:txBody>
      </p:sp>
      <p:pic>
        <p:nvPicPr>
          <p:cNvPr id="7" name="Bild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792" y="441115"/>
            <a:ext cx="1080707" cy="166211"/>
          </a:xfrm>
          <a:prstGeom prst="rect">
            <a:avLst/>
          </a:prstGeom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5" y="300005"/>
            <a:ext cx="1467267" cy="38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88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88C18A8-56E1-49E2-9C67-1F09264B0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88000" y="0"/>
            <a:ext cx="5904000" cy="6274800"/>
          </a:xfrm>
          <a:solidFill>
            <a:schemeClr val="accent3"/>
          </a:solidFill>
        </p:spPr>
        <p:txBody>
          <a:bodyPr bIns="1512000"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the desired image by using the </a:t>
            </a:r>
            <a:br>
              <a:rPr lang="en-US" dirty="0"/>
            </a:br>
            <a:r>
              <a:rPr lang="en-US" dirty="0"/>
              <a:t>mage icon and place the image </a:t>
            </a:r>
            <a:br>
              <a:rPr lang="en-US" dirty="0"/>
            </a:br>
            <a:r>
              <a:rPr lang="en-US" dirty="0"/>
              <a:t>in the background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7279ED-E4D9-4E9A-B2E8-5366E2D8A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939" y="369887"/>
            <a:ext cx="55080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err="1"/>
              <a:t>Content_image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7BEC98-4A5D-4148-B00B-69090D1166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2871" y="6473232"/>
            <a:ext cx="5187117" cy="32630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Klüber Lubrication München SE &amp; Co. KG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A94F2A-74B0-49CF-A95A-DB2C0B62D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800" y="6473233"/>
            <a:ext cx="129600" cy="326304"/>
          </a:xfrm>
          <a:prstGeom prst="rect">
            <a:avLst/>
          </a:prstGeom>
        </p:spPr>
        <p:txBody>
          <a:bodyPr/>
          <a:lstStyle/>
          <a:p>
            <a:fld id="{CE8BC875-646A-4093-A8EC-44AD128C5073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984104-FD04-43AC-92EF-9E03B70816E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8800" y="1216800"/>
            <a:ext cx="5508000" cy="4860000"/>
          </a:xfrm>
        </p:spPr>
        <p:txBody>
          <a:bodyPr tIns="0" rIns="0" bIns="0"/>
          <a:lstStyle>
            <a:lvl1pPr>
              <a:defRPr/>
            </a:lvl1pPr>
          </a:lstStyle>
          <a:p>
            <a:pPr lvl="0"/>
            <a:r>
              <a:rPr lang="de-DE" dirty="0"/>
              <a:t>First </a:t>
            </a:r>
            <a:r>
              <a:rPr lang="de-DE" dirty="0" err="1"/>
              <a:t>level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B63B619-8B47-48E8-A335-BC980BD9B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939" y="729887"/>
            <a:ext cx="5508000" cy="27438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/>
            </a:lvl1pPr>
          </a:lstStyle>
          <a:p>
            <a:pPr lvl="0"/>
            <a:r>
              <a:rPr lang="en-US" dirty="0"/>
              <a:t>Insert subtitle, delete if necessary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64D2680-09E7-4916-AA79-80430FDE9E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73744" y="3770097"/>
            <a:ext cx="3718257" cy="948833"/>
          </a:xfrm>
          <a:custGeom>
            <a:avLst/>
            <a:gdLst>
              <a:gd name="connsiteX0" fmla="*/ 340809 w 3718257"/>
              <a:gd name="connsiteY0" fmla="*/ 0 h 948833"/>
              <a:gd name="connsiteX1" fmla="*/ 1103594 w 3718257"/>
              <a:gd name="connsiteY1" fmla="*/ 0 h 948833"/>
              <a:gd name="connsiteX2" fmla="*/ 1266420 w 3718257"/>
              <a:gd name="connsiteY2" fmla="*/ 0 h 948833"/>
              <a:gd name="connsiteX3" fmla="*/ 1552252 w 3718257"/>
              <a:gd name="connsiteY3" fmla="*/ 0 h 948833"/>
              <a:gd name="connsiteX4" fmla="*/ 1851357 w 3718257"/>
              <a:gd name="connsiteY4" fmla="*/ 0 h 948833"/>
              <a:gd name="connsiteX5" fmla="*/ 1851357 w 3718257"/>
              <a:gd name="connsiteY5" fmla="*/ 2 h 948833"/>
              <a:gd name="connsiteX6" fmla="*/ 3718257 w 3718257"/>
              <a:gd name="connsiteY6" fmla="*/ 2 h 948833"/>
              <a:gd name="connsiteX7" fmla="*/ 3718257 w 3718257"/>
              <a:gd name="connsiteY7" fmla="*/ 948833 h 948833"/>
              <a:gd name="connsiteX8" fmla="*/ 1660857 w 3718257"/>
              <a:gd name="connsiteY8" fmla="*/ 948833 h 948833"/>
              <a:gd name="connsiteX9" fmla="*/ 1660857 w 3718257"/>
              <a:gd name="connsiteY9" fmla="*/ 948832 h 948833"/>
              <a:gd name="connsiteX10" fmla="*/ 1552252 w 3718257"/>
              <a:gd name="connsiteY10" fmla="*/ 948832 h 948833"/>
              <a:gd name="connsiteX11" fmla="*/ 1266420 w 3718257"/>
              <a:gd name="connsiteY11" fmla="*/ 948832 h 948833"/>
              <a:gd name="connsiteX12" fmla="*/ 1135318 w 3718257"/>
              <a:gd name="connsiteY12" fmla="*/ 948832 h 948833"/>
              <a:gd name="connsiteX13" fmla="*/ 1103594 w 3718257"/>
              <a:gd name="connsiteY13" fmla="*/ 948832 h 948833"/>
              <a:gd name="connsiteX14" fmla="*/ 0 w 3718257"/>
              <a:gd name="connsiteY14" fmla="*/ 948832 h 94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18257" h="948833">
                <a:moveTo>
                  <a:pt x="340809" y="0"/>
                </a:moveTo>
                <a:lnTo>
                  <a:pt x="1103594" y="0"/>
                </a:lnTo>
                <a:lnTo>
                  <a:pt x="1266420" y="0"/>
                </a:lnTo>
                <a:lnTo>
                  <a:pt x="1552252" y="0"/>
                </a:lnTo>
                <a:lnTo>
                  <a:pt x="1851357" y="0"/>
                </a:lnTo>
                <a:lnTo>
                  <a:pt x="1851357" y="2"/>
                </a:lnTo>
                <a:lnTo>
                  <a:pt x="3718257" y="2"/>
                </a:lnTo>
                <a:lnTo>
                  <a:pt x="3718257" y="948833"/>
                </a:lnTo>
                <a:lnTo>
                  <a:pt x="1660857" y="948833"/>
                </a:lnTo>
                <a:lnTo>
                  <a:pt x="1660857" y="948832"/>
                </a:lnTo>
                <a:lnTo>
                  <a:pt x="1552252" y="948832"/>
                </a:lnTo>
                <a:lnTo>
                  <a:pt x="1266420" y="948832"/>
                </a:lnTo>
                <a:lnTo>
                  <a:pt x="1135318" y="948832"/>
                </a:lnTo>
                <a:lnTo>
                  <a:pt x="1103594" y="948832"/>
                </a:lnTo>
                <a:lnTo>
                  <a:pt x="0" y="948832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98000" tIns="198000" rIns="396000" bIns="19800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 b="1"/>
            </a:lvl1pPr>
            <a:lvl2pPr algn="r">
              <a:spcAft>
                <a:spcPts val="0"/>
              </a:spcAft>
              <a:defRPr sz="1800"/>
            </a:lvl2pPr>
            <a:lvl3pPr algn="r">
              <a:spcAft>
                <a:spcPts val="0"/>
              </a:spcAft>
              <a:defRPr sz="1800"/>
            </a:lvl3pPr>
            <a:lvl4pPr algn="r">
              <a:spcAft>
                <a:spcPts val="0"/>
              </a:spcAft>
              <a:defRPr sz="1800"/>
            </a:lvl4pPr>
            <a:lvl5pPr algn="r">
              <a:spcAft>
                <a:spcPts val="0"/>
              </a:spcAft>
              <a:defRPr sz="1800"/>
            </a:lvl5pPr>
          </a:lstStyle>
          <a:p>
            <a:pPr lvl="0"/>
            <a:r>
              <a:rPr lang="de-DE" dirty="0"/>
              <a:t>Optional box;</a:t>
            </a:r>
            <a:br>
              <a:rPr lang="de-DE" dirty="0"/>
            </a:b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possible</a:t>
            </a:r>
          </a:p>
        </p:txBody>
      </p:sp>
    </p:spTree>
    <p:extLst>
      <p:ext uri="{BB962C8B-B14F-4D97-AF65-F5344CB8AC3E}">
        <p14:creationId xmlns:p14="http://schemas.microsoft.com/office/powerpoint/2010/main" val="12797491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CA593-7B5D-DFFD-27D4-A8A448FA82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6927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- This content is proprietary information intended for employees and partners only.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12331-834A-6FCC-2D96-E0A3E009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CD2FD-6194-2EDE-5823-0DD44887A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47B70-57E5-9C7E-CD37-92E087F291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85F1-F21F-2C31-6701-879EA2CF1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B6BF-33AB-82B1-625A-06F39F4D8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9375B-A5E7-4B22-AD04-AC9E69887F8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1643D-DD0F-3B13-D4CC-E50807F8FDE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6927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- This content is proprietary information intended for employees and partners only.</a:t>
            </a:r>
          </a:p>
        </p:txBody>
      </p:sp>
    </p:spTree>
    <p:extLst>
      <p:ext uri="{BB962C8B-B14F-4D97-AF65-F5344CB8AC3E}">
        <p14:creationId xmlns:p14="http://schemas.microsoft.com/office/powerpoint/2010/main" val="23414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88476D-3399-4606-94C5-653BCDFBA6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997" y="2116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30" imgH="528" progId="TCLayout.ActiveDocument.1">
                  <p:embed/>
                </p:oleObj>
              </mc:Choice>
              <mc:Fallback>
                <p:oleObj name="think-cell Slide" r:id="rId5" imgW="530" imgH="52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88476D-3399-4606-94C5-653BCDFBA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7" y="2116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EB037FC-F689-4001-9CAB-8BC95A2014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881" y="0"/>
            <a:ext cx="211601" cy="211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639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5E981B-CE1E-4EEE-82F6-26C3EA632BB8}"/>
              </a:ext>
            </a:extLst>
          </p:cNvPr>
          <p:cNvGrpSpPr>
            <a:grpSpLocks noChangeAspect="1"/>
          </p:cNvGrpSpPr>
          <p:nvPr/>
        </p:nvGrpSpPr>
        <p:grpSpPr>
          <a:xfrm>
            <a:off x="2095915" y="3850139"/>
            <a:ext cx="3950834" cy="652812"/>
            <a:chOff x="4338614" y="2798618"/>
            <a:chExt cx="14178017" cy="20481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004D63-68AF-4D3D-9659-EB8B4C750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111"/>
            <a:stretch/>
          </p:blipFill>
          <p:spPr>
            <a:xfrm>
              <a:off x="4338614" y="2798618"/>
              <a:ext cx="9072587" cy="204819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1AF00FD-213E-4140-9787-FD3AB1BAB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57716" y="2879453"/>
              <a:ext cx="4758915" cy="165015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A4E80E7-5895-4754-BEC5-7A839ED6BA3E}"/>
              </a:ext>
            </a:extLst>
          </p:cNvPr>
          <p:cNvSpPr txBox="1"/>
          <p:nvPr/>
        </p:nvSpPr>
        <p:spPr>
          <a:xfrm>
            <a:off x="757324" y="1426135"/>
            <a:ext cx="6657048" cy="307681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defTabSz="685675">
              <a:lnSpc>
                <a:spcPct val="100000"/>
              </a:lnSpc>
              <a:spcBef>
                <a:spcPts val="0"/>
              </a:spcBef>
              <a:buNone/>
              <a:defRPr sz="3600" b="0" i="0" spc="-19" baseline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99" b="0" i="0" u="none" strike="noStrike" kern="1200" cap="none" spc="-19" normalizeH="0" baseline="0" noProof="0" dirty="0">
                <a:ln>
                  <a:noFill/>
                </a:ln>
                <a:solidFill>
                  <a:srgbClr val="29588C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Wilhelmsen Greases Solution</a:t>
            </a:r>
          </a:p>
        </p:txBody>
      </p:sp>
    </p:spTree>
    <p:extLst>
      <p:ext uri="{BB962C8B-B14F-4D97-AF65-F5344CB8AC3E}">
        <p14:creationId xmlns:p14="http://schemas.microsoft.com/office/powerpoint/2010/main" val="25036766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Klüberbio AM 92-142  —  적점(Dropping Point) 시험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 개요 —  DIN ISO 2176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32120" cy="1463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그리스가 시험 조건에서 반고체 상태로부터 액체 상태로 전환되는 온도.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곧, 그리스가 구조를 유지하며 제 기능을 수행할 수 있는 최고 온도를 뜻합니다.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무기 증점제(Inorganic thickener)는 용융되지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832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3832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증점제 방식별 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269748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840480"/>
            <a:ext cx="25511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증점제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840480"/>
            <a:ext cx="123444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3840480"/>
            <a:ext cx="108813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840480"/>
            <a:ext cx="160020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840480"/>
            <a:ext cx="14538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Zn 부식 / 생분해성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51376"/>
            <a:ext cx="2697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151376"/>
            <a:ext cx="25511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무기 증점제 · Complex Soap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51376"/>
            <a:ext cx="1234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4151376"/>
            <a:ext cx="108813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4151376"/>
            <a:ext cx="1600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151376"/>
            <a:ext cx="14538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제약 있음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62272"/>
            <a:ext cx="2697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462272"/>
            <a:ext cx="25511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Calcium Single Soap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462272"/>
            <a:ext cx="1234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4462272"/>
            <a:ext cx="108813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462272"/>
            <a:ext cx="1600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462272"/>
            <a:ext cx="14538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양호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73168"/>
            <a:ext cx="2697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773168"/>
            <a:ext cx="25511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Hybrid Thickener  (AM 92-142)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773168"/>
            <a:ext cx="1234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4773168"/>
            <a:ext cx="108813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773168"/>
            <a:ext cx="1600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4773168"/>
            <a:ext cx="14538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양호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1783080"/>
            <a:ext cx="5532120" cy="137160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911096"/>
            <a:ext cx="5532120" cy="11430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72A4A"/>
                </a:solidFill>
                <a:latin typeface="맑은 고딕"/>
                <a:ea typeface="맑은 고딕"/>
                <a:cs typeface="맑은 고딕"/>
              </a:rPr>
              <a:t>&gt; 170 °C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Dropping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319272"/>
            <a:ext cx="553212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Solution : Hybrid Thickener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Calcium single soap 기반 하이브리드 증점제 — 높은 적점과 생분해성을 함께 확보</a:t>
            </a:r>
          </a:p>
        </p:txBody>
      </p:sp>
      <p:pic>
        <p:nvPicPr>
          <p:cNvPr id="39" name="Picture 38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233672"/>
            <a:ext cx="1743162" cy="16916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55080" y="6016752"/>
            <a:ext cx="5532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동적 와이어로프 운용 시 고온에서도 피막 유지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Klüberbio AM 92-142  —  부착력 / Throw-off Resistance 시험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 조건 —  회전 2,000 rpm · 120초 · 70 °C</a:t>
            </a:r>
          </a:p>
        </p:txBody>
      </p:sp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783080"/>
            <a:ext cx="4434840" cy="17505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57599"/>
            <a:ext cx="5532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Disk specimen 에 도포된 그리스의 비산 저항 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690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0690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잔존 그리스량 (Residual grease weight, mg/cm²)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26280"/>
            <a:ext cx="278892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526280"/>
            <a:ext cx="264261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526280"/>
            <a:ext cx="137160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4526280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잔존량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526280"/>
            <a:ext cx="1371600" cy="310896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526280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37176"/>
            <a:ext cx="2788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837176"/>
            <a:ext cx="264261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Klüberbio AM 92-142  (EAL)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837176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4837176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12.2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837176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837176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약 10배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48072"/>
            <a:ext cx="2788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5148072"/>
            <a:ext cx="264261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Competitor grease (Mineral oil)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514807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5148072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514807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5148072"/>
            <a:ext cx="122529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68696"/>
            <a:ext cx="5532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높은 잔존 그리스량 → 로프 보호력 우수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비산 시 위험</a:t>
            </a:r>
          </a:p>
        </p:txBody>
      </p:sp>
      <p:pic>
        <p:nvPicPr>
          <p:cNvPr id="32" name="Picture 31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2651760" cy="1751162"/>
          </a:xfrm>
          <a:prstGeom prst="rect">
            <a:avLst/>
          </a:prstGeom>
        </p:spPr>
      </p:pic>
      <p:pic>
        <p:nvPicPr>
          <p:cNvPr id="33" name="Picture 32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783080"/>
            <a:ext cx="2651760" cy="163997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55080" y="3566160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조종실 전면 유리에 그리스 낙하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시야 방해 → 안전 위험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566160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브레이크 디스크로 그리스 비산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제동 성능 저하 우려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80560"/>
            <a:ext cx="5532120" cy="86868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480560"/>
            <a:ext cx="5166360" cy="868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비부착성 그리스는 로프를 보호하지 못할 뿐 아니라, 주변 설비로 튀어 안전 문제로 이어집니다.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Klüberbio AM 92-142  —  −60 °C 굴곡 스트립(Bending Strip) 시험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Classified as Internal - This content is proprietary information intended for employees and partners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53212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저온에서 그리스는 건조 · 경화되는 경향이 있고,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이로 인해 윤활 피막이 부착력을 잃게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74320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시험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00400"/>
            <a:ext cx="384048" cy="38404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498348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두께 1 mm 윤활 피막을 얇은 금속판에 코팅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75888"/>
            <a:ext cx="384048" cy="38404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7588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75888"/>
            <a:ext cx="498348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원하는 저온으로 24시간 냉각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51376"/>
            <a:ext cx="384048" cy="384048"/>
          </a:xfrm>
          <a:prstGeom prst="rect">
            <a:avLst/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51376"/>
            <a:ext cx="498348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시험 샘플을 실린더에 감아 굴곡 부여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00600"/>
            <a:ext cx="5532120" cy="7772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516636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피막이 손상되거나 벗겨지지 않는 한, 시험 온도까지 윤활 기능을 유지합니다.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60720"/>
            <a:ext cx="55321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6F3D"/>
                </a:solidFill>
                <a:latin typeface="맑은 고딕"/>
                <a:ea typeface="맑은 고딕"/>
                <a:cs typeface="맑은 고딕"/>
              </a:rPr>
              <a:t>유동점(Pour Point)  −30 °C  —  저온 환경 운용에 유리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325880"/>
            <a:ext cx="5532120" cy="329184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325880"/>
            <a:ext cx="534924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−60 °C 저온 굴곡 시험 결과</a:t>
            </a:r>
          </a:p>
        </p:txBody>
      </p:sp>
      <p:pic>
        <p:nvPicPr>
          <p:cNvPr id="24" name="Picture 23" descr="image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2651760" cy="1409519"/>
          </a:xfrm>
          <a:prstGeom prst="rect">
            <a:avLst/>
          </a:prstGeom>
        </p:spPr>
      </p:pic>
      <p:pic>
        <p:nvPicPr>
          <p:cNvPr id="25" name="Picture 24" descr="image1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783080"/>
            <a:ext cx="2651760" cy="140951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80" y="3300984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코팅 금속판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균열 · 박리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300984"/>
            <a:ext cx="265176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실린더 굴곡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부착 상태 유지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169664"/>
            <a:ext cx="5532120" cy="91440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169664"/>
            <a:ext cx="5166360" cy="9144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−60 °C 에서 24시간 냉각 후 굴곡을 주어도 피막이 갈라지거나 벗겨지지 않았습니다.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Xpb9CwQv6sNW5niAPF2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c0d03a-4a30-4ecd-86b9-2064bc46f2a0}" enabled="1" method="Standard" siteId="{5d0227ad-3bcc-4106-8cf3-16e735f3b4c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366</Words>
  <Application>Microsoft Office PowerPoint</Application>
  <PresentationFormat>와이드스크린</PresentationFormat>
  <Paragraphs>59</Paragraphs>
  <Slides>4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Office Theme</vt:lpstr>
      <vt:lpstr>2_Office Theme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Jeong, Peter</cp:lastModifiedBy>
  <cp:revision>15</cp:revision>
  <dcterms:created xsi:type="dcterms:W3CDTF">2026-08-18T03:02:19Z</dcterms:created>
  <dcterms:modified xsi:type="dcterms:W3CDTF">2026-08-19T02:30:11Z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Classified as Internal - This content is proprietary information intended for employees and partners only.</vt:lpwstr>
  </property>
</Properties>
</file>