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3D4A5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VLSFO</c:v>
                  </c:pt>
                  <c:pt idx="1">
                    <c:v>LSMGO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</c:v>
                </c:pt>
                <c:pt idx="1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E17B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3D4A5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VLSFO</c:v>
                  </c:pt>
                  <c:pt idx="1">
                    <c:v>LSMGO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33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50" u="none">
                  <a:solidFill>
                    <a:srgbClr val="3D4A5C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B3A5C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3D4A5C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VLSFO 운항 이슈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5C"/>
              </a:solidFill>
              <a:effectLst/>
            </c:spPr>
          </c:dPt>
          <c:dPt>
            <c:idx val="1"/>
            <c:bubble3D val="0"/>
            <c:spPr>
              <a:solidFill>
                <a:srgbClr val="2E5C8A"/>
              </a:solidFill>
              <a:effectLst/>
            </c:spPr>
          </c:dPt>
          <c:dPt>
            <c:idx val="2"/>
            <c:bubble3D val="0"/>
            <c:spPr>
              <a:solidFill>
                <a:srgbClr val="6E93BF"/>
              </a:solidFill>
              <a:effectLst/>
            </c:spPr>
          </c:dPt>
          <c:dPt>
            <c:idx val="3"/>
            <c:bubble3D val="0"/>
            <c:spPr>
              <a:solidFill>
                <a:srgbClr val="E17B34"/>
              </a:solidFill>
              <a:effectLst/>
            </c:spPr>
          </c:dPt>
          <c:dPt>
            <c:idx val="4"/>
            <c:bubble3D val="0"/>
            <c:spPr>
              <a:solidFill>
                <a:srgbClr val="DDE4E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050" b="1" i="0" u="none" strike="noStrike">
                      <a:solidFill>
                        <a:srgbClr val="FFFFFF"/>
                      </a:solidFill>
                      <a:latin typeface="맑은 고딕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정유기 막힘</c:v>
                </c:pt>
                <c:pt idx="1">
                  <c:v>정유기 + 필터</c:v>
                </c:pt>
                <c:pt idx="2">
                  <c:v>필터 막힘</c:v>
                </c:pt>
                <c:pt idx="3">
                  <c:v>펌프 고착</c:v>
                </c:pt>
                <c:pt idx="4">
                  <c:v>기타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21</c:v>
                </c:pt>
                <c:pt idx="2">
                  <c:v>9</c:v>
                </c:pt>
                <c:pt idx="3">
                  <c:v>1</c:v>
                </c:pt>
                <c:pt idx="4">
                  <c:v>29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D4A5C"/>
              </a:solidFill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01의 목적은 '연료가 나빠졌다'는 인상이 아니라, 왜 서류상 합격한 연료가 실제로 문제를 일으키는지를 데이터로 보여주는 것입니다. 세 숫자(83% / 483ppm / 71%)를 먼저 던지고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 들어 VLSFO는 줄고 MGO가 늘었습니다. 두 연료를 합치면 83%입니다. 뒤에서 다루겠지만 MGO가 늘었다고 안심할 일은 아닙니다 — 슬라이드 8에서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슬라이드입니다. 부적합률 4.8%는 'ISO 8217 항목' 기준입니다. 네 항구 사례 모두 ISO 항목은 정상이었고, GC-MS 정밀 분석에서만 오염이 잡혔습니다. 즉 시험성적서가 깨끗하다는 것이 연료가 깨끗하다는 뜻은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항목 모두 한 해 사이에 나빠졌습니다. 중요한 건 상충 관계입니다 — 점도가 높아져 분리 온도를 올려야 하는데, CIMAC은 VLSFO가 열에 민감해서 장시간 고온 노출 시 불안정해진다고 경고합니다. 분리기 운전이 그만큼 좁은 창에서 이뤄져야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Section 01 전체의 논리 축입니다. 세 숫자가 각각 다른 지점을 가리킵니다 — 규격은 인도 시점, 실측은 공급 현실, 그리고 OEM이 실제로 요구하는 건 엔진 입구 7~15ppm입니다. 그 간극을 메우는 것이 본선의 연료 처리 시스템입니다.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01에서 가장 강한 카드입니다. 네 샘플 모두 벙커링 당일에는 ISO 한계 0.10% 아래였습니다. 그런데 1~5개월 뒤 최대 0.40%까지 올라갔습니다. 즉 '받을 때 합격'이 '쓸 때 안전'을 뜻하지 않습니다. 이것이 저장·관리가 시험성적서만큼 중요한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정유기와 필터는 연료 상태를 가장 먼저 알려주는 지표입니다. 슬러지 배출량이 늘거나 필터 차압이 빨리 오르면 그 자체가 경고 신호입니다. 엔진에서 증상이 보일 때는 이미 늦습니다.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MGO는 '깨끗한 연료'라는 인식이 있지만 운항 이슈의 67%가 필터 막힘입니다. 특히 인화점 미달 28%는 MARPOL·SOLAS상 60°C 최저 기준과 직결되는 안전 항목입니다. 바이오 혼합 MGO는 부적합률이 일반 MGO의 6배입니다.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01의 결론입니다. 분리기를 잘 돌리는 것은 필수지만, 분리기가 손댈 수 없는 영역이 분명히 존재한다는 것을 CIMAC이 직접 명시하고 있습니다. Section 02는 바로 이 영역을 다룹니다 — 분리기의 대체가 아니라, 분리기가 닿지 못하는 구간에 대한 보완입니다.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463040" y="-2011680"/>
            <a:ext cx="6583680" cy="6583680"/>
          </a:xfrm>
          <a:prstGeom prst="roundRect">
            <a:avLst>
              <a:gd name="adj" fmla="val 6944"/>
            </a:avLst>
          </a:prstGeom>
          <a:solidFill>
            <a:srgbClr val="1733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595360" y="3657600"/>
            <a:ext cx="5669280" cy="5669280"/>
          </a:xfrm>
          <a:prstGeom prst="roundRect">
            <a:avLst>
              <a:gd name="adj" fmla="val 8065"/>
            </a:avLst>
          </a:prstGeom>
          <a:solidFill>
            <a:srgbClr val="1733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2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SECTION 01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883664"/>
            <a:ext cx="877824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선박 연료,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무엇이 달라졌는가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66928" y="367588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VLSFO · MGO 품질 동향과 선상 대응 — 2024~2025 실측 데이터 기반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315968"/>
            <a:ext cx="3200400" cy="1060704"/>
          </a:xfrm>
          <a:prstGeom prst="roundRect">
            <a:avLst>
              <a:gd name="adj" fmla="val 10345"/>
            </a:avLst>
          </a:prstGeom>
          <a:solidFill>
            <a:srgbClr val="17334F"/>
          </a:solidFill>
          <a:ln w="9525">
            <a:solidFill>
              <a:srgbClr val="2C4E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04672" y="4901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VLSFO + MGO 공급 비중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51376" y="4315968"/>
            <a:ext cx="3200400" cy="1060704"/>
          </a:xfrm>
          <a:prstGeom prst="roundRect">
            <a:avLst>
              <a:gd name="adj" fmla="val 10345"/>
            </a:avLst>
          </a:prstGeom>
          <a:solidFill>
            <a:srgbClr val="17334F"/>
          </a:solidFill>
          <a:ln w="9525">
            <a:solidFill>
              <a:srgbClr val="2C4E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483 ppm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389120" y="4901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 fines 실측 최대값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35824" y="4315968"/>
            <a:ext cx="3200400" cy="1060704"/>
          </a:xfrm>
          <a:prstGeom prst="roundRect">
            <a:avLst>
              <a:gd name="adj" fmla="val 10345"/>
            </a:avLst>
          </a:prstGeom>
          <a:solidFill>
            <a:srgbClr val="17334F"/>
          </a:solidFill>
          <a:ln w="9525">
            <a:solidFill>
              <a:srgbClr val="2C4E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44622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973568" y="4901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정유기 · 필터 관련 이슈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574243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Viswa Group, Global Fuel Characteristics 2024 / 2025 · CIMAC Guideline, Design and operation of fuel cleaning systems for diesel engines (2024-09 v2)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C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7C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 시장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지금 배에 들어오는 연료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5870448" cy="36758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731520" y="1792224"/>
          <a:ext cx="5541264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711696" y="1591056"/>
            <a:ext cx="4910328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31152" y="17190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VLSFO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96528" y="17190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55% → 50%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31152" y="208483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여전히 최다 공급 연료. 다만 비중은 줄고 있음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11696" y="2798064"/>
            <a:ext cx="4910328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31152" y="29260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LSMGO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96528" y="29260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29% → 33%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931152" y="329184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빠르게 늘어난 연료. 증가분을 그대로 흡수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11696" y="4005072"/>
            <a:ext cx="4910328" cy="1261872"/>
          </a:xfrm>
          <a:prstGeom prst="roundRect">
            <a:avLst>
              <a:gd name="adj" fmla="val 10145"/>
            </a:avLst>
          </a:prstGeom>
          <a:solidFill>
            <a:srgbClr val="1B3A5C"/>
          </a:solidFill>
          <a:ln w="9525">
            <a:solidFill>
              <a:srgbClr val="1B3A5C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31152" y="41696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8668512" y="4169664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6E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연료가 전체 공급의 대부분을 차지합니다.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6E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VLSFO와 MGO의 특성을 아는 것이 곧 연료 관리입니다.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6928" y="548640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Viswa Group, Global Fuel Characteristics 2024 · 2025 (공급 비중 기준)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 착시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합격증은 안전을 보증하지 않는다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3310128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922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PAPER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VLSFO 규격 부적합률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798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4.3% → 2025년 4.8%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숫자만 보면 20척 중 1척.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「대체로 문제없다」는 인상을 줍니다.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261104"/>
            <a:ext cx="2798064" cy="512064"/>
          </a:xfrm>
          <a:prstGeom prst="roundRect">
            <a:avLst>
              <a:gd name="adj" fmla="val 14286"/>
            </a:avLst>
          </a:prstGeom>
          <a:solidFill>
            <a:srgbClr val="FD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61104"/>
            <a:ext cx="26151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실제 손상은 계속 발생합니다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096512" y="1591056"/>
            <a:ext cx="7525512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52544" y="179222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GC-MS ACTUALLY FOUND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52544" y="20299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8217 항목은 전부 정상, 정밀 분석에서만 잡힌 오염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52544" y="2377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52544" y="261518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2024.12~2025.1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88736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산가 전량 1.5 초과 (항구 평균 0.6) · Ca 50~130 ppm (평균 13 ppm)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37776" y="237744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7척 — 연료펌프 · 정유기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52544" y="2944368"/>
            <a:ext cx="704088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52544" y="2999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Istanbul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52544" y="3236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88736" y="2999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스티렌 · DCPD 10,000 ppm 초과 · 유리지방산 1,000 ppm 초과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37776" y="299923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5척 — 주기 · 발전기 연료펌프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2544" y="3566160"/>
            <a:ext cx="704088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36210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Orleans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52544" y="385876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88736" y="36210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산성분 4,300 ppm · 인(P) 75~90 ppm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37776" y="362102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플런저 침식부식 · 강재 부식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52544" y="4187952"/>
            <a:ext cx="704088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2544" y="4242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Orleans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352544" y="44805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88736" y="42428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칼륨(K) 100~250 ppm · 알코올 4 wt% 초과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37776" y="424281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4척 — 터보차저 파울링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065776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5065776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“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8217은 「인도 시점」의 품질을 정의할 뿐, 「엔진 입구」에서 요구되는 품질을 정의하지 않습니다.</a:t>
            </a:r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 ”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66928" y="592531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Viswa Group 2025 (항구별 사례) · CIMAC Guideline 2024 §2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 원인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연료는 더 무거워지고 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2517572" cy="299923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792224"/>
            <a:ext cx="2078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VISCOSITY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011680"/>
            <a:ext cx="207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점도 @50°C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43230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6384" y="261518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86384" y="3072384"/>
            <a:ext cx="207866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16382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3346704"/>
            <a:ext cx="20786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172</a:t>
            </a:r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cSt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786384" y="3950208"/>
            <a:ext cx="2078660" cy="457200"/>
          </a:xfrm>
          <a:prstGeom prst="roundRect">
            <a:avLst>
              <a:gd name="adj" fmla="val 14000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950208"/>
            <a:ext cx="189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 온도를 더 높여야 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13684" y="1591056"/>
            <a:ext cx="2517572" cy="299923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33140" y="1792224"/>
            <a:ext cx="2078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DENSITY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3140" y="2011680"/>
            <a:ext cx="207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밀도 @15°C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3140" y="243230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33140" y="261518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947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33140" y="3072384"/>
            <a:ext cx="207866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3140" y="316382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33140" y="3346704"/>
            <a:ext cx="20786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951</a:t>
            </a:r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kg/m³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3633140" y="3950208"/>
            <a:ext cx="2078660" cy="457200"/>
          </a:xfrm>
          <a:prstGeom prst="roundRect">
            <a:avLst>
              <a:gd name="adj" fmla="val 14000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4580" y="3950208"/>
            <a:ext cx="189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· 고형분 분리가 더 어려움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0440" y="1591056"/>
            <a:ext cx="2517572" cy="299923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79896" y="1792224"/>
            <a:ext cx="2078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79896" y="2011680"/>
            <a:ext cx="207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잔류탄소분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79896" y="243230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79896" y="261518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479896" y="3072384"/>
            <a:ext cx="207866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9896" y="316382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79896" y="3346704"/>
            <a:ext cx="20786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6.61</a:t>
            </a:r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%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6479896" y="3950208"/>
            <a:ext cx="2078660" cy="457200"/>
          </a:xfrm>
          <a:prstGeom prst="roundRect">
            <a:avLst>
              <a:gd name="adj" fmla="val 14000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950208"/>
            <a:ext cx="189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연소 후 퇴적물 증가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07195" y="1591056"/>
            <a:ext cx="2517572" cy="299923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326651" y="1792224"/>
            <a:ext cx="2078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 + SI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26651" y="2011680"/>
            <a:ext cx="207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촉매 미분 평균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326651" y="243230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326651" y="2615184"/>
            <a:ext cx="2078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326651" y="3072384"/>
            <a:ext cx="207866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651" y="3163824"/>
            <a:ext cx="2078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326651" y="3346704"/>
            <a:ext cx="20786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ppm</a:t>
            </a:r>
            <a:endParaRPr lang="en-US" sz="3200" dirty="0"/>
          </a:p>
        </p:txBody>
      </p:sp>
      <p:sp>
        <p:nvSpPr>
          <p:cNvPr id="44" name="Shape 42"/>
          <p:cNvSpPr/>
          <p:nvPr/>
        </p:nvSpPr>
        <p:spPr>
          <a:xfrm>
            <a:off x="9326651" y="3950208"/>
            <a:ext cx="2078660" cy="457200"/>
          </a:xfrm>
          <a:prstGeom prst="roundRect">
            <a:avLst>
              <a:gd name="adj" fmla="val 14000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18091" y="3950208"/>
            <a:ext cx="1895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마모성 입자 부하 상승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6928" y="4791456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528" y="4791456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“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점도가 오르면 분리 온도를 더 올려야 합니다. 그런데 VLSFO는 과열되면 오히려 불안정해집니다.</a:t>
            </a:r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 ”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566928" y="570585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Viswa Group 2024 · 2025, VLSFO 전 세계 평균 (Table 1) · CIMAC Guideline 2024 §7.2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 원인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60 ppm 합격, 15 ppm 필요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3273552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79222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 DELIVERED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시점 규격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377440"/>
            <a:ext cx="2798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ppm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804672" y="3346704"/>
            <a:ext cx="2798064" cy="713232"/>
          </a:xfrm>
          <a:prstGeom prst="roundRect">
            <a:avLst>
              <a:gd name="adj" fmla="val 10256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346704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8217:2024 상한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(저점도 등급은 40~50 ppm)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95344" y="2798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7408" y="1591056"/>
            <a:ext cx="3273552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179222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 SUPPLIED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5152" y="20116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공급 최대값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45152" y="2377440"/>
            <a:ext cx="2798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483</a:t>
            </a:r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ppm</a:t>
            </a:r>
            <a:endParaRPr lang="en-US" sz="4800" dirty="0"/>
          </a:p>
        </p:txBody>
      </p:sp>
      <p:sp>
        <p:nvSpPr>
          <p:cNvPr id="17" name="Shape 15"/>
          <p:cNvSpPr/>
          <p:nvPr/>
        </p:nvSpPr>
        <p:spPr>
          <a:xfrm>
            <a:off x="4645152" y="3346704"/>
            <a:ext cx="2798064" cy="713232"/>
          </a:xfrm>
          <a:prstGeom prst="roundRect">
            <a:avLst>
              <a:gd name="adj" fmla="val 10256"/>
            </a:avLst>
          </a:prstGeom>
          <a:solidFill>
            <a:srgbClr val="FDECE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3346704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유럽 · ARA 실측 최대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 상한의 8배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35824" y="27980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C4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47888" y="1591056"/>
            <a:ext cx="3273552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85632" y="179222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ENGINE INLET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85632" y="201168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입구 요구치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85632" y="2377440"/>
            <a:ext cx="2798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7~15</a:t>
            </a:r>
            <a:pPr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ppm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8485632" y="3346704"/>
            <a:ext cx="2798064" cy="713232"/>
          </a:xfrm>
          <a:prstGeom prst="roundRect">
            <a:avLst>
              <a:gd name="adj" fmla="val 10256"/>
            </a:avLst>
          </a:prstGeom>
          <a:solidFill>
            <a:srgbClr val="E9F5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77072" y="3346704"/>
            <a:ext cx="26151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 OEM 권장 상한</a:t>
            </a:r>
            <a:endParaRPr lang="en-US" sz="10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CIMAC Guideline §6.3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70001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촉매 미분(Al+Si)은 모스 경도 8의 세라믹 입자입니다.  </a:t>
            </a:r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2행정</a:t>
            </a:r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라이너 · 피스톤링 · 링그루브 마모와 스커핑,  </a:t>
            </a:r>
            <a:pPr algn="ctr"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4행정</a:t>
            </a:r>
            <a:pPr algn="ctr" indent="0" marL="0">
              <a:buNone/>
            </a:pPr>
            <a:r>
              <a:rPr lang="en-US" sz="11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분사노즐 마모 → 불완전 연소 → 터보차저 퇴적으로 이어집니다.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084064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5084064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“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기준점은 벙커 매니폴드가 아니라 엔진 입구에 있습니다. 규격 합격은 출발점일 뿐입니다.</a:t>
            </a:r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 ”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66928" y="599846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CIMAC Guideline 2024 §6.3 · §14 (엔진 입구 목표: 점도 2~20 cSt, Al+Si 15 ppm 미만, 수분 0.3% V/V 미만) · Viswa Group 2025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 원인 ③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벙커링 당일 합격, 두 달 뒤 불합격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7004304" cy="3401568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084832"/>
          <a:ext cx="652881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98448"/>
                <a:gridCol w="1298448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샘플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벙커링 당일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발생 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경과 기간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VLSFO 01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개월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 → 불합격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VLSFO 02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개월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 → 불합격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VLSFO 03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개월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 → 불합격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3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VLSFO 05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0.30%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개월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합격 → 불합격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4672" y="2084832"/>
            <a:ext cx="6528816" cy="329184"/>
          </a:xfrm>
          <a:prstGeom prst="rect">
            <a:avLst/>
          </a:prstGeom>
          <a:solidFill>
            <a:srgbClr val="1B3A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20848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176272" y="20848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벙커링 당일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474720" y="20848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발생 시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73168" y="20848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경과 기간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53328" y="20848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17922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8217 TOTAL SEDIMENT LIMIT  0.10%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" y="4443984"/>
            <a:ext cx="6528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샘플이 벙커링 당일 규격을 통과했습니다.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90688" y="1591056"/>
            <a:ext cx="3831336" cy="3401568"/>
          </a:xfrm>
          <a:prstGeom prst="roundRect">
            <a:avLst>
              <a:gd name="adj" fmla="val 3763"/>
            </a:avLst>
          </a:prstGeom>
          <a:solidFill>
            <a:srgbClr val="1B3A5C"/>
          </a:solidFill>
          <a:ln w="9525">
            <a:solidFill>
              <a:srgbClr val="1B3A5C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028432" y="1810512"/>
            <a:ext cx="3355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중요한가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28432" y="2194560"/>
            <a:ext cx="3355848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시험성적서는 「그날」의 상태입니다.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D6E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VLSFO는 저장 중에도 계속 변합니다.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슬러징의 4대 원인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E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초기 침전물 과다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E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시간 경과에 따른 열화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E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블렌드 간 불호환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D6E0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오염물 혼입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VLSFO는 HSFO보다 열화에 취약하고 저장 수명이 짧습니다.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66928" y="5138928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5528" y="5138928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“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TSP · TSA 시험 결과는 VLSFO의 장기 안정성을 보증하지 않습니다.</a:t>
            </a:r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 ”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66928" y="605332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Viswa Group 2025, Table 3 (실제 문제 사례 샘플) · CIMAC Congress 2023, Paper No. 131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 현상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문제는 결국 정유기에서 터진다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5029200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841248" y="1773936"/>
          <a:ext cx="4480560" cy="29626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395728" y="26883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</a:t>
            </a:r>
            <a:pPr algn="ctr" indent="0" marL="0">
              <a:buNone/>
            </a:pPr>
            <a:r>
              <a:rPr lang="en-US" sz="20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2395728" y="31089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정유기·필터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852160" y="1591056"/>
            <a:ext cx="5769864" cy="3310128"/>
          </a:xfrm>
          <a:prstGeom prst="roundRect">
            <a:avLst>
              <a:gd name="adj" fmla="val 3867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08192" y="179222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IT MEANS ON BOARD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108192" y="202996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연료 문제는 엔진이 아니라 정화 장비에서 먼저 나타납니다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08192" y="2468880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24688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84848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정유기 막힘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741664" y="2414016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슬러지 부하가 분리 능력을 초과. 심하면 보울 손상까지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08192" y="2953512"/>
            <a:ext cx="52578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08192" y="3072384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08192" y="30723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784848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정유기 + 필터 동시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741664" y="3017520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불안정해진 연료가 계통 전체를 막는 단계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08192" y="3557016"/>
            <a:ext cx="52578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08192" y="3675888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EEF2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08192" y="367588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784848" y="3639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막힘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741664" y="3621024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왁스 석출 또는 응집된 아스팔텐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08192" y="4160520"/>
            <a:ext cx="5257800" cy="0"/>
          </a:xfrm>
          <a:prstGeom prst="line">
            <a:avLst/>
          </a:prstGeom>
          <a:noFill/>
          <a:ln w="9525">
            <a:solidFill>
              <a:srgbClr val="DFE5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4279392"/>
            <a:ext cx="566928" cy="274320"/>
          </a:xfrm>
          <a:prstGeom prst="roundRect">
            <a:avLst>
              <a:gd name="adj" fmla="val 20000"/>
            </a:avLst>
          </a:prstGeom>
          <a:solidFill>
            <a:srgbClr val="FD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427939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1%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784848" y="42428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연료펌프 고착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8741664" y="4224528"/>
            <a:ext cx="2624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늦게, 가장 비싸게 드러나는 증상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" y="5065776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5528" y="5065776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“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보고된 VLSFO 문제의 70%가 정유기 슬러징과 필터 막힘이었습니다.</a:t>
            </a:r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 ”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566928" y="592531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Viswa Group 2025, Figure 12 (VLSFO 운항 이슈 분포)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 사각지대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MGO는 안전지대가 아니다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3429914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792224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2E5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FILTER CHOKING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막힘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377440"/>
            <a:ext cx="295442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</a:t>
            </a:r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04672" y="3236976"/>
            <a:ext cx="2954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MGO 운항 이슈 중 최다.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오염물 혼입 또는 왁스 석출이 원인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0890" y="1591056"/>
            <a:ext cx="3429914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8634" y="1792224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FLASH POINT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8634" y="201168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인화점 미달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8634" y="2377440"/>
            <a:ext cx="295442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618634" y="3236976"/>
            <a:ext cx="2954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MGO 부적합 항목 2위.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품질이 아니라 화재 안전 문제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94853" y="1591056"/>
            <a:ext cx="3429914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32597" y="1792224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BIO-MGO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32597" y="2011680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바이오 혼합 MGO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32597" y="2377440"/>
            <a:ext cx="295442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pPr indent="0" marL="0">
              <a:buNone/>
            </a:pPr>
            <a:r>
              <a:rPr lang="en-US" sz="180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%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432597" y="3236976"/>
            <a:ext cx="2954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MGO 부적합률 3.0%의 6배.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BDN 표기와 실제 FAME 함량 불일치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297680"/>
            <a:ext cx="11057839" cy="640080"/>
          </a:xfrm>
          <a:prstGeom prst="roundRect">
            <a:avLst>
              <a:gd name="adj" fmla="val 20000"/>
            </a:avLst>
          </a:prstGeom>
          <a:solidFill>
            <a:srgbClr val="FDF2E9"/>
          </a:solidFill>
          <a:ln w="9525">
            <a:solidFill>
              <a:srgbClr val="FDF2E9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4297680"/>
            <a:ext cx="105091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MGO 부적합 항목 구성  </a:t>
            </a:r>
            <a:pPr indent="0" marL="0">
              <a:buNone/>
            </a:pPr>
            <a:r>
              <a:rPr lang="en-US" sz="105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유동점 31%  ·  인화점 28%  ·  황분 12%  ·  외관 9%  ·  수분 7%  ·  점도 6%  ·  총침전물 3%  ·  회분 2%  ·  윤활성 2%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5084064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" y="5084064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“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MGO 공급이 늘었다고 안심할 수 없습니다. 인화점 미달은 품질 문제가 아니라 안전 문제입니다.</a:t>
            </a:r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 ”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66928" y="594360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Viswa Group 2025, Figure 9 · Figure 16 (MGO 부적합 항목 및 운항 이슈 분포)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4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 경계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B3A5C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원심분리기가 하는 일, 하지 못하는 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6419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Classified as Internal - This content is proprietary information intended for employees and partners only.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DF1F8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922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WITHIN THE SCOPE OF FUEL CLEANING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기계적 정화로 처리되는 영역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4323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촉매 미분 (Al+Si)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CIMAC: 효율적인 정화 시스템이 유일하게 효과적인 방법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1821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3145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수분 (담수 · 해수)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438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입구 0.3% V/V 미만 유지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8953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침전물 · 응집 슬러지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151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충분히 큰 입자로 응집된 경우에 한함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407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CFR 규격 · 분리 온도 · 유량이 모두 맞을 때에 한합니다.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1591056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1B3A5C"/>
          </a:solidFill>
          <a:ln w="9525">
            <a:solidFill>
              <a:srgbClr val="1B3A5C"/>
            </a:solidFill>
            <a:prstDash val="solid"/>
          </a:ln>
          <a:effectLst>
            <a:outerShdw sx="100000" sy="100000" kx="0" ky="0" algn="bl" rotWithShape="0" blurRad="127000" dist="25400" dir="5400000">
              <a:srgbClr val="9BAAC4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9672" y="179222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OUTSIDE THE SCOPE OF FUEL CLEANING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9672" y="20299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기계적 정화로 처리되지 않는 영역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19672" y="246888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17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24323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 오염물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27249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CNSL · 유리지방산 · 스티렌 · 알코올 — 용해되어 있어 분리 불가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19672" y="318211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17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31455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경과 안정성 열화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85432" y="34381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중 진행. 받을 때의 시험 결과로는 예측되지 않음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19672" y="389534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17B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3858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블렌드 간 불호환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85432" y="41513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FC0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자체가 원인. CIMAC은 서로 다른 연료의 혼합을 권하지 않음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19672" y="44074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17B3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Section 02 에서 다룹니다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992624"/>
            <a:ext cx="11057839" cy="786384"/>
          </a:xfrm>
          <a:prstGeom prst="roundRect">
            <a:avLst>
              <a:gd name="adj" fmla="val 11628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" y="4992624"/>
            <a:ext cx="106006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“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분석으로 검출되지 않는 유해 물질은 어떤 연료 정화 시스템의 처리 범위 밖에 있습니다.</a:t>
            </a:r>
            <a:pPr algn="ctr" indent="0" marL="0">
              <a:buNone/>
            </a:pPr>
            <a:r>
              <a:rPr lang="en-US" sz="1700" b="1" dirty="0">
                <a:solidFill>
                  <a:srgbClr val="E17B34"/>
                </a:solidFill>
                <a:latin typeface="바탕" pitchFamily="34" charset="0"/>
                <a:ea typeface="바탕" pitchFamily="34" charset="-122"/>
                <a:cs typeface="바탕" pitchFamily="34" charset="-120"/>
              </a:rPr>
              <a:t> ”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66928" y="590702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4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CIMAC Guideline 2024 §6.3 · §6.4 · §7.2 — 인용문은 §6.4 원문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선박 연료 품질 동향 - Section 01</dc:title>
  <dc:subject>PptxGenJS Presentation</dc:subject>
  <dc:creator>Fuel Quality Training</dc:creator>
  <cp:lastModifiedBy>Fuel Quality Training</cp:lastModifiedBy>
  <cp:revision>1</cp:revision>
  <dcterms:created xsi:type="dcterms:W3CDTF">2026-08-05T05:51:54Z</dcterms:created>
  <dcterms:modified xsi:type="dcterms:W3CDTF">2026-08-05T05:51:54Z</dcterms:modified>
</cp:coreProperties>
</file>