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2024</c:v>
                </c:pt>
              </c:strCache>
            </c:strRef>
          </c:tx>
          <c:spPr>
            <a:solidFill>
              <a:srgbClr val="2E5C8A"/>
            </a:solidFill>
            <a:effectLst/>
          </c:spPr>
          <c:invertIfNegative val="0"/>
          <c:dLbls>
            <c:numFmt formatCode="0&quot;%&quot;" sourceLinked="0"/>
            <c:txPr>
              <a:bodyPr/>
              <a:lstStyle/>
              <a:p>
                <a:pPr>
                  <a:defRPr b="1" i="0" strike="noStrike" sz="1150" u="none">
                    <a:solidFill>
                      <a:srgbClr val="3D4A5C"/>
                    </a:solidFill>
                    <a:latin typeface="맑은 고딕"/>
                  </a:defRPr>
                </a:pPr>
              </a:p>
            </c:txPr>
            <c:showLegendKey val="0"/>
            <c:showVal val="1"/>
            <c:showCatName val="0"/>
            <c:showSerName val="0"/>
            <c:showPercent val="0"/>
            <c:showBubbleSize val="0"/>
            <c:showLeaderLines val="0"/>
          </c:dLbls>
          <c:cat>
            <c:multiLvlStrRef>
              <c:f>Sheet1!$A$2:$A$3</c:f>
              <c:multiLvlStrCache>
                <c:ptCount val="2"/>
                <c:lvl>
                  <c:pt idx="0">
                    <c:v>VLSFO</c:v>
                  </c:pt>
                  <c:pt idx="1">
                    <c:v>LSMGO</c:v>
                  </c:pt>
                </c:lvl>
              </c:multiLvlStrCache>
            </c:multiLvlStrRef>
          </c:cat>
          <c:val>
            <c:numRef>
              <c:f>Sheet1!$B$2:$B$3</c:f>
              <c:numCache>
                <c:formatCode>General</c:formatCode>
                <c:ptCount val="2"/>
                <c:pt idx="0">
                  <c:v>55</c:v>
                </c:pt>
                <c:pt idx="1">
                  <c:v>29</c:v>
                </c:pt>
              </c:numCache>
            </c:numRef>
          </c:val>
        </c:ser>
        <c:ser>
          <c:idx val="1"/>
          <c:order val="1"/>
          <c:tx>
            <c:strRef>
              <c:f>Sheet1!$C$1</c:f>
              <c:strCache>
                <c:ptCount val="1"/>
                <c:pt idx="0">
                  <c:v>2025</c:v>
                </c:pt>
              </c:strCache>
            </c:strRef>
          </c:tx>
          <c:spPr>
            <a:solidFill>
              <a:srgbClr val="E17B34"/>
            </a:solidFill>
            <a:effectLst/>
          </c:spPr>
          <c:invertIfNegative val="0"/>
          <c:dLbls>
            <c:numFmt formatCode="0&quot;%&quot;" sourceLinked="0"/>
            <c:txPr>
              <a:bodyPr/>
              <a:lstStyle/>
              <a:p>
                <a:pPr>
                  <a:defRPr b="1" i="0" strike="noStrike" sz="1150" u="none">
                    <a:solidFill>
                      <a:srgbClr val="3D4A5C"/>
                    </a:solidFill>
                    <a:latin typeface="맑은 고딕"/>
                  </a:defRPr>
                </a:pPr>
              </a:p>
            </c:txPr>
            <c:showLegendKey val="0"/>
            <c:showVal val="1"/>
            <c:showCatName val="0"/>
            <c:showSerName val="0"/>
            <c:showPercent val="0"/>
            <c:showBubbleSize val="0"/>
            <c:showLeaderLines val="0"/>
          </c:dLbls>
          <c:cat>
            <c:multiLvlStrRef>
              <c:f>Sheet1!$A$2:$A$3</c:f>
              <c:multiLvlStrCache>
                <c:ptCount val="2"/>
                <c:lvl>
                  <c:pt idx="0">
                    <c:v>VLSFO</c:v>
                  </c:pt>
                  <c:pt idx="1">
                    <c:v>LSMGO</c:v>
                  </c:pt>
                </c:lvl>
              </c:multiLvlStrCache>
            </c:multiLvlStrRef>
          </c:cat>
          <c:val>
            <c:numRef>
              <c:f>Sheet1!$C$2:$C$3</c:f>
              <c:numCache>
                <c:formatCode>General</c:formatCode>
                <c:ptCount val="2"/>
                <c:pt idx="0">
                  <c:v>50</c:v>
                </c:pt>
                <c:pt idx="1">
                  <c:v>33</c:v>
                </c:pt>
              </c:numCache>
            </c:numRef>
          </c:val>
        </c:ser>
        <c:dLbls>
          <c:numFmt formatCode="0&quot;%&quot;" sourceLinked="0"/>
          <c:txPr>
            <a:bodyPr/>
            <a:lstStyle/>
            <a:p>
              <a:pPr>
                <a:defRPr b="1" i="0" strike="noStrike" sz="1150" u="none">
                  <a:solidFill>
                    <a:srgbClr val="3D4A5C"/>
                  </a:solidFill>
                  <a:latin typeface="맑은 고딕"/>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1" i="0" u="none" strike="noStrike">
                <a:solidFill>
                  <a:srgbClr val="1B3A5C"/>
                </a:solidFill>
                <a:latin typeface="맑은 고딕"/>
              </a:defRPr>
            </a:pPr>
            <a:endParaRPr lang="en-US"/>
          </a:p>
        </c:txPr>
        <c:crossAx val="2094734552"/>
        <c:crosses val="autoZero"/>
        <c:auto val="1"/>
        <c:lblAlgn val="ctr"/>
        <c:noMultiLvlLbl val="1"/>
      </c:catAx>
      <c:valAx>
        <c:axId val="2094734552"/>
        <c:scaling>
          <c:orientation val="minMax"/>
          <c:max val="65"/>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3D4A5C"/>
              </a:solidFill>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VLSFO 운항 이슈</c:v>
                </c:pt>
              </c:strCache>
            </c:strRef>
          </c:tx>
          <c:spPr>
            <a:solidFill>
              <a:schemeClr val="accent1"/>
            </a:solidFill>
            <a:ln w="9525" cap="flat">
              <a:solidFill>
                <a:srgbClr val="F9F9F9"/>
              </a:solidFill>
              <a:prstDash val="solid"/>
              <a:round/>
            </a:ln>
            <a:effectLst/>
          </c:spPr>
          <c:dPt>
            <c:idx val="0"/>
            <c:bubble3D val="0"/>
            <c:spPr>
              <a:solidFill>
                <a:srgbClr val="1B3A5C"/>
              </a:solidFill>
              <a:effectLst/>
            </c:spPr>
          </c:dPt>
          <c:dPt>
            <c:idx val="1"/>
            <c:bubble3D val="0"/>
            <c:spPr>
              <a:solidFill>
                <a:srgbClr val="2E5C8A"/>
              </a:solidFill>
              <a:effectLst/>
            </c:spPr>
          </c:dPt>
          <c:dPt>
            <c:idx val="2"/>
            <c:bubble3D val="0"/>
            <c:spPr>
              <a:solidFill>
                <a:srgbClr val="6E93BF"/>
              </a:solidFill>
              <a:effectLst/>
            </c:spPr>
          </c:dPt>
          <c:dPt>
            <c:idx val="3"/>
            <c:bubble3D val="0"/>
            <c:spPr>
              <a:solidFill>
                <a:srgbClr val="E17B34"/>
              </a:solidFill>
              <a:effectLst/>
            </c:spPr>
          </c:dPt>
          <c:dPt>
            <c:idx val="4"/>
            <c:bubble3D val="0"/>
            <c:spPr>
              <a:solidFill>
                <a:srgbClr val="DDE4EF"/>
              </a:solidFill>
              <a:effectLst/>
            </c:spPr>
          </c:dPt>
          <c:dLbls>
            <c:dLbl>
              <c:idx val="0"/>
              <c:numFmt formatCode="0&quot;%&quot;" sourceLinked="0"/>
              <c:spPr/>
              <c:txPr>
                <a:bodyPr/>
                <a:lstStyle/>
                <a:p>
                  <a:pPr>
                    <a:defRPr sz="1050" b="1" i="0" u="none" strike="noStrike">
                      <a:solidFill>
                        <a:srgbClr val="FFFFFF"/>
                      </a:solidFill>
                      <a:latin typeface="맑은 고딕"/>
                    </a:defRPr>
                  </a:pPr>
                </a:p>
              </c:txPr>
              <c:showLegendKey val="0"/>
              <c:showVal val="1"/>
              <c:showCatName val="0"/>
              <c:showSerName val="0"/>
              <c:showPercent val="0"/>
              <c:showBubbleSize val="0"/>
            </c:dLbl>
            <c:dLbl>
              <c:idx val="1"/>
              <c:numFmt formatCode="0&quot;%&quot;" sourceLinked="0"/>
              <c:spPr/>
              <c:txPr>
                <a:bodyPr/>
                <a:lstStyle/>
                <a:p>
                  <a:pPr>
                    <a:defRPr sz="1050" b="1" i="0" u="none" strike="noStrike">
                      <a:solidFill>
                        <a:srgbClr val="FFFFFF"/>
                      </a:solidFill>
                      <a:latin typeface="맑은 고딕"/>
                    </a:defRPr>
                  </a:pPr>
                </a:p>
              </c:txPr>
              <c:showLegendKey val="0"/>
              <c:showVal val="1"/>
              <c:showCatName val="0"/>
              <c:showSerName val="0"/>
              <c:showPercent val="0"/>
              <c:showBubbleSize val="0"/>
            </c:dLbl>
            <c:dLbl>
              <c:idx val="2"/>
              <c:numFmt formatCode="0&quot;%&quot;" sourceLinked="0"/>
              <c:spPr/>
              <c:txPr>
                <a:bodyPr/>
                <a:lstStyle/>
                <a:p>
                  <a:pPr>
                    <a:defRPr sz="1050" b="1" i="0" u="none" strike="noStrike">
                      <a:solidFill>
                        <a:srgbClr val="FFFFFF"/>
                      </a:solidFill>
                      <a:latin typeface="맑은 고딕"/>
                    </a:defRPr>
                  </a:pPr>
                </a:p>
              </c:txPr>
              <c:showLegendKey val="0"/>
              <c:showVal val="1"/>
              <c:showCatName val="0"/>
              <c:showSerName val="0"/>
              <c:showPercent val="0"/>
              <c:showBubbleSize val="0"/>
            </c:dLbl>
            <c:dLbl>
              <c:idx val="3"/>
              <c:numFmt formatCode="0&quot;%&quot;" sourceLinked="0"/>
              <c:spPr/>
              <c:txPr>
                <a:bodyPr/>
                <a:lstStyle/>
                <a:p>
                  <a:pPr>
                    <a:defRPr sz="1050" b="1" i="0" u="none" strike="noStrike">
                      <a:solidFill>
                        <a:srgbClr val="FFFFFF"/>
                      </a:solidFill>
                      <a:latin typeface="맑은 고딕"/>
                    </a:defRPr>
                  </a:pPr>
                </a:p>
              </c:txPr>
              <c:showLegendKey val="0"/>
              <c:showVal val="1"/>
              <c:showCatName val="0"/>
              <c:showSerName val="0"/>
              <c:showPercent val="0"/>
              <c:showBubbleSize val="0"/>
            </c:dLbl>
            <c:dLbl>
              <c:idx val="4"/>
              <c:numFmt formatCode="0&quot;%&quot;" sourceLinked="0"/>
              <c:spPr/>
              <c:txPr>
                <a:bodyPr/>
                <a:lstStyle/>
                <a:p>
                  <a:pPr>
                    <a:defRPr sz="1050" b="1" i="0" u="none" strike="noStrike">
                      <a:solidFill>
                        <a:srgbClr val="FFFFFF"/>
                      </a:solidFill>
                      <a:latin typeface="맑은 고딕"/>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정유기 막힘</c:v>
                </c:pt>
                <c:pt idx="1">
                  <c:v>정유기 + 필터</c:v>
                </c:pt>
                <c:pt idx="2">
                  <c:v>필터 막힘</c:v>
                </c:pt>
                <c:pt idx="3">
                  <c:v>펌프 고착</c:v>
                </c:pt>
                <c:pt idx="4">
                  <c:v>기타</c:v>
                </c:pt>
              </c:strCache>
            </c:strRef>
          </c:cat>
          <c:val>
            <c:numRef>
              <c:f>Sheet1!$B$2:$B$6</c:f>
              <c:numCache>
                <c:ptCount val="5"/>
                <c:pt idx="0">
                  <c:v>40</c:v>
                </c:pt>
                <c:pt idx="1">
                  <c:v>21</c:v>
                </c:pt>
                <c:pt idx="2">
                  <c:v>9</c:v>
                </c:pt>
                <c:pt idx="3">
                  <c:v>1</c:v>
                </c:pt>
                <c:pt idx="4">
                  <c:v>29</c:v>
                </c:pt>
              </c:numCache>
            </c:numRef>
          </c:val>
        </c:ser>
        <c:firstSliceAng val="0"/>
        <c:holeSize val="62"/>
      </c:doughnutChart>
      <c:spPr>
        <a:noFill/>
        <a:ln>
          <a:noFill/>
        </a:ln>
        <a:effectLst/>
      </c:spPr>
    </c:plotArea>
    <c:legend>
      <c:legendPos val="b"/>
      <c:overlay val="0"/>
      <c:txPr>
        <a:bodyPr/>
        <a:lstStyle/>
        <a:p>
          <a:pPr>
            <a:defRPr sz="1000">
              <a:solidFill>
                <a:srgbClr val="3D4A5C"/>
              </a:solidFill>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01의 목적은 '연료가 나빠졌다'는 인상이 아니라, 왜 서류상 합격한 연료가 실제로 문제를 일으키는지를 데이터로 보여주는 것입니다. 세 숫자(83% / 483ppm / 71%)를 먼저 던지고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2025년 들어 VLSFO는 줄고 MGO가 늘었습니다. 두 연료를 합치면 83%입니다. 뒤에서 다루겠지만 MGO가 늘었다고 안심할 일은 아닙니다 — 슬라이드 8에서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슬라이드입니다. 부적합률 4.8%는 'ISO 8217 항목' 기준입니다. 네 항구 사례 모두 ISO 항목은 정상이었고, GC-MS 정밀 분석에서만 오염이 잡혔습니다. 즉 시험성적서가 깨끗하다는 것이 연료가 깨끗하다는 뜻은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항목 모두 한 해 사이에 나빠졌습니다. 중요한 건 상충 관계입니다 — 점도가 높아져 분리 온도를 올려야 하는데, CIMAC은 VLSFO가 열에 민감해서 장시간 고온 노출 시 불안정해진다고 경고합니다. 분리기 운전이 그만큼 좁은 창에서 이뤄져야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Section 01 전체의 논리 축입니다. 세 숫자가 각각 다른 지점을 가리킵니다 — 규격은 인도 시점, 실측은 공급 현실, 그리고 OEM이 실제로 요구하는 건 엔진 입구 7~15ppm입니다. 그 간극을 메우는 것이 본선의 연료 처리 시스템입니다.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01에서 가장 강한 카드입니다. 네 샘플 모두 벙커링 당일에는 ISO 한계 0.10% 아래였습니다. 그런데 1~5개월 뒤 최대 0.40%까지 올라갔습니다. 즉 '받을 때 합격'이 '쓸 때 안전'을 뜻하지 않습니다. 이것이 저장·관리가 시험성적서만큼 중요한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정유기와 필터는 연료 상태를 가장 먼저 알려주는 지표입니다. 슬러지 배출량이 늘거나 필터 차압이 빨리 오르면 그 자체가 경고 신호입니다. 엔진에서 증상이 보일 때는 이미 늦습니다.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MGO는 '깨끗한 연료'라는 인식이 있지만 운항 이슈의 67%가 필터 막힘입니다. 특히 인화점 미달 28%는 MARPOL·SOLAS상 60°C 최저 기준과 직결되는 안전 항목입니다. 바이오 혼합 MGO는 부적합률이 일반 MGO의 6배입니다.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01의 결론입니다. 분리기를 잘 돌리는 것은 필수지만, 분리기가 손댈 수 없는 영역이 분명히 존재한다는 것을 CIMAC이 직접 명시하고 있습니다. Section 02는 바로 이 영역을 다룹니다 — 분리기의 대체가 아니라, 분리기가 닿지 못하는 구간에 대한 보완입니다.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 관점을 바꿉니다. 지금까지 본 문제들은 흩어진 개별 사건이 아니라 하나의 계통에서 일어나는 일입니다. Well-to-Wake는 추출·정제·수송까지 포함하는 규제 보고의 틀입니다. 반면 Tank-to-Wake는 연료가 우리 탱크에 들어온 순간부터 배기가 굴뚝을 빠져나갈 때까지 — 즉 본선이 실제로 손댈 수 있는 구간입니다. Section 01에서 본 데이터가 이 세 단계에 각각 어디에 해당하는지 카드 하단에 표시했습니다.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01의 마지막 장입니다. 핵심은 손실이 단계마다 누적된다는 점입니다. 저장 중 열화로 슬러지가 되면 그 연료는 엔진에 도달조차 못 합니다. 연소가 나쁘면 매연이 열회수면에 쌓여 이후 모든 사이클의 효율을 떨어뜨립니다. 그래서 한 지점만 개선하는 것으로는 부족하고, Tank-to-Wake 전체를 하나로 관리해야 합니다. Section 02부터 각 단계를 순서대로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슬라이드 06에서 본 현상의 원인을 두 가지로 좁힙니다 — 시간과 온도입니다. 그리고 중요한 전환점이 여기입니다. TSP·TSA는 시료를 뽑은 그날의 침전물을 재는 시험이라 앞일을 말해주지 않습니다. Hot Spin Test는 원심분리 조건을 재현해 앞으로 얼마나 슬러지가 생길지를 미리 봅니다. 즉 사후 확인에서 사전 예측으로 넘어가는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여덟 개 항구에서 실제로 받은 RMG380으로 시험한 결과입니다. 여기서 정직하게 짚을 부분이 하나 있습니다 — Tuapse만 개선율이 16.67%로 낮은데, 이 시료는 분리온도가 40°C이고 점도 18.9, MCR 2.96으로 나머지와 성격이 다릅니다. 즉 이 첨가제는 아스팔텐이 많은 무거운 연료에서 효과가 크다는 뜻이고, 그것이 원래 겨냥하는 대상입니다.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메커니즘은 단순합니다. 아스팔텐이 뭉쳐서 큰 덩어리가 되면 침전하고 정유기와 필터를 막습니다. FPC는 입자를 미세하게 흩어놓아 애초에 뭉치지 않게 합니다. Section 01 슬라이드 09에서 분리기가 못 하는 일로 꼽은 '시간 경과 열화'와 '블렌드 간 불호환'이 바로 여기서 처리됩니다. 분리기를 대체하는 것이 아니라 분리기가 일할 수 있는 상태로 연료를 유지시켜 주는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왜 이런 일이 생기는지, 오른쪽은 그래서 본선에서 무엇이 망가지는지입니다. 플런저-배럴 공차가 수 마이크론이라는 점을 강조하십시오 — 유막이 그보다 얇아지는 순간 금속끼리 닿습니다.
[예상 질문] "공차가 수 µm인데 535 µm니 355 µm니 하는 게 무슨 의미가 있나?"
— 아주 좋은 질문이고 반드시 나옵니다. 답은 세 가지입니다.
1) 535 µm는 깊이도 틈새도 아닙니다. ISO 12156-1은 지름 6 mm 강구를 연료 속에서 강판에 60°C·200 g·50 Hz로 75분 문지른 뒤, 볼에 생긴 자국의 지름을 재는 시험입니다. 6,000 µm 볼에 생긴 535 µm 자국이니 볼 지름의 9% 수준입니다. 펌프 안에 535 µm짜리 치수는 없습니다. 참고로 구면 기하로 깊이를 환산하면 535 µm는 약 12 µm, 355 µm는 약 5 µm입니다 — 공차와 같은 자릿수입니다.
2) 더 중요한 것은 이 값이 치수가 아니라 지표라는 점입니다. 펌프 안에서 실제로 문제되는 것은 유막 두께 대 표면 거칠기이고, 둘 다 서브미크론입니다. HFRR은 그 유막을 연료가 만들어낼 수 있는지를 잽니다. '당신 펌프가 535 µm 닳는다'가 아니라 '이 연료는 보호막을 못 만든다'는 뜻입니다.
3) 520·460이라는 한계선은 공차에서 유도한 값이 아니라 실제 고장 이력에서 나온 값입니다. 연료분사장비 제조사들이 그 위에서 고장이 급증한다는 이유로 460 µm를 권고했고, ISO 8217은 선박용 증류유 기준으로 520 µm를 채택했습니다. 따라서 535 → 355의 의미는 '마모가 180 µm 줄었다'가 아니라 '고장이 몰려 있던 구간 밖으로 나왔다'입니다.
덧붙여, 이 ULSD는 다른 ISO 항목은 전부 만족한 정상 연료입니다. 슬라이드 03의 착시와 같은 구조이고, 원심분리기로는 535 µm를 단 1 µm도 낮출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막대 세 개가 전부입니다. 무처리 ULSD는 535 µm로 ISO 8217 520을 넘겨 부적합입니다. 100 ppm에서 396, 150 ppm에서 355로 떨어지고 두 규격 모두 통과합니다.
여기서 말을 정확히 하십시오. 이 시험은 연속적으로 좋아지는 양을 보여주는 것이 아니라 합격선을 넘느냐 마느냐를 보여줍니다. 355와 396의 41 µm 차이가 펌프 수명 차이로 직결된다고 말하면 과장입니다. 핵심은 두 값 모두 고장이 몰려 있던 구간 밖에 있다는 것입니다.
150 ppm 기준 감소율은 33.6%이고, 이 수치는 Lloyd's Register Product Verification Scheme 인증으로 공표된 34%와 일치합니다 — 사내 시험과 제3자 인증이 서로를 뒷받침합니다.
재질 주의는 실무에서 중요합니다. 투입 계통의 씰과 개스킷 재질을 먼저 확인해야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실무자를 움직이는 장입니다. 제품을 팔러 온 것이 아니라, 각자 배의 자료를 열어보게 만드는 것이 목적입니다.
먼저 상단 질문으로 시작하십시오. 스페어 교체 주기가 짧아졌다는 감각은 기관장이라면 대부분 갖고 있습니다. 다만 정직하게 짚어야 할 것이 있습니다 — 연료 전환 시 펌프가 뻑뻑해지는 현상은 대개 열충격과 점도 급변 때문이지 윤활성 때문이 아닙니다. 이 둘을 섞어 말하면 아는 사람에게 바로 걸립니다. 윤활성의 신호는 급성 증상이 아니라 마모가 누적되어 교체 주기가 서서히 짧아지는 것입니다.
핵심 메시지는 하나입니다. 촉매 미분, 수분, 슬러지는 배에서 눈으로 확인됩니다 — 필터 차압, 퓨리파이어 슬러지량, 육안 검사로 잡힙니다. 그런데 윤활성만은 본선에 아무 지표가 없습니다. 성적서가 돌아올 때는 이미 그 연료를 태운 뒤입니다. 그래서 사후 대응이 불가능하고 예방만 가능합니다.
STEP 02에서 EN 590의 460은 자동차용 분사장비 기준에서 나온 값이라는 점을 밝히십시오. 선박 주기관에 그대로 들이대면 과장입니다. 그래서 우리 숫자를 믿으라고 하지 말고, 본선 엔진 매뉴얼의 허용치를 직접 확인하시라고 하십시오. 본인이 찾은 숫자가 우리가 제시한 숫자보다 훨씬 강하게 작용합니다.
STEP 04는 일부러 비워 두었습니다. 스페어 단가는 선사마다 다르므로 각자 채우게 하십시오. 스스로 계산한 금액이 설득의 마지막 조각입니다.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rot="1200000">
            <a:off x="-1463040" y="-2011680"/>
            <a:ext cx="6583680" cy="6583680"/>
          </a:xfrm>
          <a:prstGeom prst="roundRect">
            <a:avLst>
              <a:gd name="adj" fmla="val 6944"/>
            </a:avLst>
          </a:prstGeom>
          <a:solidFill>
            <a:srgbClr val="17334F"/>
          </a:solidFill>
          <a:ln w="12700">
            <a:solidFill>
              <a:srgbClr val="333333"/>
            </a:solidFill>
            <a:prstDash val="solid"/>
          </a:ln>
        </p:spPr>
      </p:sp>
      <p:sp>
        <p:nvSpPr>
          <p:cNvPr id="3" name="Shape 1"/>
          <p:cNvSpPr/>
          <p:nvPr/>
        </p:nvSpPr>
        <p:spPr>
          <a:xfrm rot="1200000">
            <a:off x="8595360" y="3657600"/>
            <a:ext cx="5669280" cy="5669280"/>
          </a:xfrm>
          <a:prstGeom prst="roundRect">
            <a:avLst>
              <a:gd name="adj" fmla="val 8065"/>
            </a:avLst>
          </a:prstGeom>
          <a:solidFill>
            <a:srgbClr val="17334F"/>
          </a:solidFill>
          <a:ln w="12700">
            <a:solidFill>
              <a:srgbClr val="333333"/>
            </a:solidFill>
            <a:prstDash val="solid"/>
          </a:ln>
        </p:spPr>
      </p:sp>
      <p:sp>
        <p:nvSpPr>
          <p:cNvPr id="4" name="Text 2"/>
          <p:cNvSpPr/>
          <p:nvPr/>
        </p:nvSpPr>
        <p:spPr>
          <a:xfrm>
            <a:off x="566928" y="1481328"/>
            <a:ext cx="5486400" cy="274320"/>
          </a:xfrm>
          <a:prstGeom prst="rect">
            <a:avLst/>
          </a:prstGeom>
          <a:noFill/>
          <a:ln/>
        </p:spPr>
        <p:txBody>
          <a:bodyPr wrap="square" lIns="0" tIns="0" rIns="0" bIns="0" rtlCol="0" anchor="ctr"/>
          <a:lstStyle/>
          <a:p>
            <a:pPr indent="0" marL="0">
              <a:buNone/>
            </a:pPr>
            <a:r>
              <a:rPr lang="en-US" sz="1250" b="1" spc="320" kern="0" dirty="0">
                <a:solidFill>
                  <a:srgbClr val="E17B34"/>
                </a:solidFill>
                <a:latin typeface="맑은 고딕" pitchFamily="34" charset="0"/>
                <a:ea typeface="맑은 고딕" pitchFamily="34" charset="-122"/>
                <a:cs typeface="맑은 고딕" pitchFamily="34" charset="-120"/>
              </a:rPr>
              <a:t>SECTION 01</a:t>
            </a:r>
            <a:endParaRPr lang="en-US" sz="1250" dirty="0"/>
          </a:p>
        </p:txBody>
      </p:sp>
      <p:sp>
        <p:nvSpPr>
          <p:cNvPr id="5" name="Text 3"/>
          <p:cNvSpPr/>
          <p:nvPr/>
        </p:nvSpPr>
        <p:spPr>
          <a:xfrm>
            <a:off x="566928" y="1883664"/>
            <a:ext cx="8778240" cy="1700784"/>
          </a:xfrm>
          <a:prstGeom prst="rect">
            <a:avLst/>
          </a:prstGeom>
          <a:noFill/>
          <a:ln/>
        </p:spPr>
        <p:txBody>
          <a:bodyPr wrap="square" lIns="0" tIns="0" rIns="0" bIns="0" rtlCol="0" anchor="t"/>
          <a:lstStyle/>
          <a:p>
            <a:pPr indent="0" marL="0">
              <a:lnSpc>
                <a:spcPts val="5000"/>
              </a:lnSpc>
              <a:buNone/>
            </a:pPr>
            <a:r>
              <a:rPr lang="en-US" sz="4200" dirty="0">
                <a:solidFill>
                  <a:srgbClr val="FFFFFF"/>
                </a:solidFill>
                <a:latin typeface="바탕" pitchFamily="34" charset="0"/>
                <a:ea typeface="바탕" pitchFamily="34" charset="-122"/>
                <a:cs typeface="바탕" pitchFamily="34" charset="-120"/>
              </a:rPr>
              <a:t>선박 연료,</a:t>
            </a:r>
            <a:endParaRPr lang="en-US" sz="4200" dirty="0"/>
          </a:p>
          <a:p>
            <a:pPr indent="0" marL="0">
              <a:lnSpc>
                <a:spcPts val="5000"/>
              </a:lnSpc>
              <a:buNone/>
            </a:pPr>
            <a:r>
              <a:rPr lang="en-US" sz="4200" dirty="0">
                <a:solidFill>
                  <a:srgbClr val="FFFFFF"/>
                </a:solidFill>
                <a:latin typeface="바탕" pitchFamily="34" charset="0"/>
                <a:ea typeface="바탕" pitchFamily="34" charset="-122"/>
                <a:cs typeface="바탕" pitchFamily="34" charset="-120"/>
              </a:rPr>
              <a:t>무엇이 달라졌는가</a:t>
            </a:r>
            <a:endParaRPr lang="en-US" sz="4200" dirty="0"/>
          </a:p>
        </p:txBody>
      </p:sp>
      <p:sp>
        <p:nvSpPr>
          <p:cNvPr id="6" name="Text 4"/>
          <p:cNvSpPr/>
          <p:nvPr/>
        </p:nvSpPr>
        <p:spPr>
          <a:xfrm>
            <a:off x="566928" y="3675888"/>
            <a:ext cx="9144000" cy="310896"/>
          </a:xfrm>
          <a:prstGeom prst="rect">
            <a:avLst/>
          </a:prstGeom>
          <a:noFill/>
          <a:ln/>
        </p:spPr>
        <p:txBody>
          <a:bodyPr wrap="square" lIns="0" tIns="0" rIns="0" bIns="0" rtlCol="0" anchor="ctr"/>
          <a:lstStyle/>
          <a:p>
            <a:pPr indent="0" marL="0">
              <a:buNone/>
            </a:pPr>
            <a:r>
              <a:rPr lang="en-US" sz="1450" dirty="0">
                <a:solidFill>
                  <a:srgbClr val="AFC0D8"/>
                </a:solidFill>
                <a:latin typeface="맑은 고딕" pitchFamily="34" charset="0"/>
                <a:ea typeface="맑은 고딕" pitchFamily="34" charset="-122"/>
                <a:cs typeface="맑은 고딕" pitchFamily="34" charset="-120"/>
              </a:rPr>
              <a:t>VLSFO · MGO 품질 동향과 선상 대응 — 2024~2025 실측 데이터 기반</a:t>
            </a:r>
            <a:endParaRPr lang="en-US" sz="1450" dirty="0"/>
          </a:p>
        </p:txBody>
      </p:sp>
      <p:sp>
        <p:nvSpPr>
          <p:cNvPr id="7" name="Shape 5"/>
          <p:cNvSpPr/>
          <p:nvPr/>
        </p:nvSpPr>
        <p:spPr>
          <a:xfrm>
            <a:off x="566928" y="4315968"/>
            <a:ext cx="3200400" cy="1060704"/>
          </a:xfrm>
          <a:prstGeom prst="roundRect">
            <a:avLst>
              <a:gd name="adj" fmla="val 10345"/>
            </a:avLst>
          </a:prstGeom>
          <a:solidFill>
            <a:srgbClr val="17334F"/>
          </a:solidFill>
          <a:ln w="9525">
            <a:solidFill>
              <a:srgbClr val="2C4E70"/>
            </a:solidFill>
            <a:prstDash val="solid"/>
          </a:ln>
        </p:spPr>
      </p:sp>
      <p:sp>
        <p:nvSpPr>
          <p:cNvPr id="8" name="Text 6"/>
          <p:cNvSpPr/>
          <p:nvPr/>
        </p:nvSpPr>
        <p:spPr>
          <a:xfrm>
            <a:off x="804672" y="4462272"/>
            <a:ext cx="2743200" cy="457200"/>
          </a:xfrm>
          <a:prstGeom prst="rect">
            <a:avLst/>
          </a:prstGeom>
          <a:noFill/>
          <a:ln/>
        </p:spPr>
        <p:txBody>
          <a:bodyPr wrap="square" lIns="0" tIns="0" rIns="0" bIns="0" rtlCol="0" anchor="ctr"/>
          <a:lstStyle/>
          <a:p>
            <a:pPr indent="0" marL="0">
              <a:buNone/>
            </a:pPr>
            <a:r>
              <a:rPr lang="en-US" sz="2500" b="1" dirty="0">
                <a:solidFill>
                  <a:srgbClr val="E17B34"/>
                </a:solidFill>
                <a:latin typeface="맑은 고딕" pitchFamily="34" charset="0"/>
                <a:ea typeface="맑은 고딕" pitchFamily="34" charset="-122"/>
                <a:cs typeface="맑은 고딕" pitchFamily="34" charset="-120"/>
              </a:rPr>
              <a:t>83%</a:t>
            </a:r>
            <a:endParaRPr lang="en-US" sz="2500" dirty="0"/>
          </a:p>
        </p:txBody>
      </p:sp>
      <p:sp>
        <p:nvSpPr>
          <p:cNvPr id="9" name="Text 7"/>
          <p:cNvSpPr/>
          <p:nvPr/>
        </p:nvSpPr>
        <p:spPr>
          <a:xfrm>
            <a:off x="804672" y="4901184"/>
            <a:ext cx="2743200" cy="292608"/>
          </a:xfrm>
          <a:prstGeom prst="rect">
            <a:avLst/>
          </a:prstGeom>
          <a:noFill/>
          <a:ln/>
        </p:spPr>
        <p:txBody>
          <a:bodyPr wrap="square" lIns="0" tIns="0" rIns="0" bIns="0" rtlCol="0" anchor="ctr"/>
          <a:lstStyle/>
          <a:p>
            <a:pPr indent="0" marL="0">
              <a:buNone/>
            </a:pPr>
            <a:r>
              <a:rPr lang="en-US" sz="1050" dirty="0">
                <a:solidFill>
                  <a:srgbClr val="AFC0D8"/>
                </a:solidFill>
                <a:latin typeface="맑은 고딕" pitchFamily="34" charset="0"/>
                <a:ea typeface="맑은 고딕" pitchFamily="34" charset="-122"/>
                <a:cs typeface="맑은 고딕" pitchFamily="34" charset="-120"/>
              </a:rPr>
              <a:t>VLSFO + MGO 공급 비중</a:t>
            </a:r>
            <a:endParaRPr lang="en-US" sz="1050" dirty="0"/>
          </a:p>
        </p:txBody>
      </p:sp>
      <p:sp>
        <p:nvSpPr>
          <p:cNvPr id="10" name="Shape 8"/>
          <p:cNvSpPr/>
          <p:nvPr/>
        </p:nvSpPr>
        <p:spPr>
          <a:xfrm>
            <a:off x="4151376" y="4315968"/>
            <a:ext cx="3200400" cy="1060704"/>
          </a:xfrm>
          <a:prstGeom prst="roundRect">
            <a:avLst>
              <a:gd name="adj" fmla="val 10345"/>
            </a:avLst>
          </a:prstGeom>
          <a:solidFill>
            <a:srgbClr val="17334F"/>
          </a:solidFill>
          <a:ln w="9525">
            <a:solidFill>
              <a:srgbClr val="2C4E70"/>
            </a:solidFill>
            <a:prstDash val="solid"/>
          </a:ln>
        </p:spPr>
      </p:sp>
      <p:sp>
        <p:nvSpPr>
          <p:cNvPr id="11" name="Text 9"/>
          <p:cNvSpPr/>
          <p:nvPr/>
        </p:nvSpPr>
        <p:spPr>
          <a:xfrm>
            <a:off x="4389120" y="4462272"/>
            <a:ext cx="2743200" cy="457200"/>
          </a:xfrm>
          <a:prstGeom prst="rect">
            <a:avLst/>
          </a:prstGeom>
          <a:noFill/>
          <a:ln/>
        </p:spPr>
        <p:txBody>
          <a:bodyPr wrap="square" lIns="0" tIns="0" rIns="0" bIns="0" rtlCol="0" anchor="ctr"/>
          <a:lstStyle/>
          <a:p>
            <a:pPr indent="0" marL="0">
              <a:buNone/>
            </a:pPr>
            <a:r>
              <a:rPr lang="en-US" sz="2500" b="1" dirty="0">
                <a:solidFill>
                  <a:srgbClr val="E17B34"/>
                </a:solidFill>
                <a:latin typeface="맑은 고딕" pitchFamily="34" charset="0"/>
                <a:ea typeface="맑은 고딕" pitchFamily="34" charset="-122"/>
                <a:cs typeface="맑은 고딕" pitchFamily="34" charset="-120"/>
              </a:rPr>
              <a:t>483 ppm</a:t>
            </a:r>
            <a:endParaRPr lang="en-US" sz="2500" dirty="0"/>
          </a:p>
        </p:txBody>
      </p:sp>
      <p:sp>
        <p:nvSpPr>
          <p:cNvPr id="12" name="Text 10"/>
          <p:cNvSpPr/>
          <p:nvPr/>
        </p:nvSpPr>
        <p:spPr>
          <a:xfrm>
            <a:off x="4389120" y="4901184"/>
            <a:ext cx="2743200" cy="292608"/>
          </a:xfrm>
          <a:prstGeom prst="rect">
            <a:avLst/>
          </a:prstGeom>
          <a:noFill/>
          <a:ln/>
        </p:spPr>
        <p:txBody>
          <a:bodyPr wrap="square" lIns="0" tIns="0" rIns="0" bIns="0" rtlCol="0" anchor="ctr"/>
          <a:lstStyle/>
          <a:p>
            <a:pPr indent="0" marL="0">
              <a:buNone/>
            </a:pPr>
            <a:r>
              <a:rPr lang="en-US" sz="1050" dirty="0">
                <a:solidFill>
                  <a:srgbClr val="AFC0D8"/>
                </a:solidFill>
                <a:latin typeface="맑은 고딕" pitchFamily="34" charset="0"/>
                <a:ea typeface="맑은 고딕" pitchFamily="34" charset="-122"/>
                <a:cs typeface="맑은 고딕" pitchFamily="34" charset="-120"/>
              </a:rPr>
              <a:t>Cat fines 실측 최대값</a:t>
            </a:r>
            <a:endParaRPr lang="en-US" sz="1050" dirty="0"/>
          </a:p>
        </p:txBody>
      </p:sp>
      <p:sp>
        <p:nvSpPr>
          <p:cNvPr id="13" name="Shape 11"/>
          <p:cNvSpPr/>
          <p:nvPr/>
        </p:nvSpPr>
        <p:spPr>
          <a:xfrm>
            <a:off x="7735824" y="4315968"/>
            <a:ext cx="3200400" cy="1060704"/>
          </a:xfrm>
          <a:prstGeom prst="roundRect">
            <a:avLst>
              <a:gd name="adj" fmla="val 10345"/>
            </a:avLst>
          </a:prstGeom>
          <a:solidFill>
            <a:srgbClr val="17334F"/>
          </a:solidFill>
          <a:ln w="9525">
            <a:solidFill>
              <a:srgbClr val="2C4E70"/>
            </a:solidFill>
            <a:prstDash val="solid"/>
          </a:ln>
        </p:spPr>
      </p:sp>
      <p:sp>
        <p:nvSpPr>
          <p:cNvPr id="14" name="Text 12"/>
          <p:cNvSpPr/>
          <p:nvPr/>
        </p:nvSpPr>
        <p:spPr>
          <a:xfrm>
            <a:off x="7973568" y="4462272"/>
            <a:ext cx="2743200" cy="457200"/>
          </a:xfrm>
          <a:prstGeom prst="rect">
            <a:avLst/>
          </a:prstGeom>
          <a:noFill/>
          <a:ln/>
        </p:spPr>
        <p:txBody>
          <a:bodyPr wrap="square" lIns="0" tIns="0" rIns="0" bIns="0" rtlCol="0" anchor="ctr"/>
          <a:lstStyle/>
          <a:p>
            <a:pPr indent="0" marL="0">
              <a:buNone/>
            </a:pPr>
            <a:r>
              <a:rPr lang="en-US" sz="2500" b="1" dirty="0">
                <a:solidFill>
                  <a:srgbClr val="E17B34"/>
                </a:solidFill>
                <a:latin typeface="맑은 고딕" pitchFamily="34" charset="0"/>
                <a:ea typeface="맑은 고딕" pitchFamily="34" charset="-122"/>
                <a:cs typeface="맑은 고딕" pitchFamily="34" charset="-120"/>
              </a:rPr>
              <a:t>71%</a:t>
            </a:r>
            <a:endParaRPr lang="en-US" sz="2500" dirty="0"/>
          </a:p>
        </p:txBody>
      </p:sp>
      <p:sp>
        <p:nvSpPr>
          <p:cNvPr id="15" name="Text 13"/>
          <p:cNvSpPr/>
          <p:nvPr/>
        </p:nvSpPr>
        <p:spPr>
          <a:xfrm>
            <a:off x="7973568" y="4901184"/>
            <a:ext cx="2743200" cy="292608"/>
          </a:xfrm>
          <a:prstGeom prst="rect">
            <a:avLst/>
          </a:prstGeom>
          <a:noFill/>
          <a:ln/>
        </p:spPr>
        <p:txBody>
          <a:bodyPr wrap="square" lIns="0" tIns="0" rIns="0" bIns="0" rtlCol="0" anchor="ctr"/>
          <a:lstStyle/>
          <a:p>
            <a:pPr indent="0" marL="0">
              <a:buNone/>
            </a:pPr>
            <a:r>
              <a:rPr lang="en-US" sz="1050" dirty="0">
                <a:solidFill>
                  <a:srgbClr val="AFC0D8"/>
                </a:solidFill>
                <a:latin typeface="맑은 고딕" pitchFamily="34" charset="0"/>
                <a:ea typeface="맑은 고딕" pitchFamily="34" charset="-122"/>
                <a:cs typeface="맑은 고딕" pitchFamily="34" charset="-120"/>
              </a:rPr>
              <a:t>정유기 · 필터 관련 이슈</a:t>
            </a:r>
            <a:endParaRPr lang="en-US" sz="1050" dirty="0"/>
          </a:p>
        </p:txBody>
      </p:sp>
      <p:sp>
        <p:nvSpPr>
          <p:cNvPr id="16" name="Text 14"/>
          <p:cNvSpPr/>
          <p:nvPr/>
        </p:nvSpPr>
        <p:spPr>
          <a:xfrm>
            <a:off x="566928" y="5742432"/>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Viswa Group, Global Fuel Characteristics 2024 / 2025 · CIMAC Guideline, Design and operation of fuel cleaning systems for diesel engines (2024-09 v2)</a:t>
            </a:r>
            <a:endParaRPr lang="en-US" sz="850" dirty="0"/>
          </a:p>
        </p:txBody>
      </p:sp>
      <p:sp>
        <p:nvSpPr>
          <p:cNvPr id="17" name="Text 15"/>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6C7C93"/>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18" name="Text 16"/>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6C7C93"/>
                </a:solidFill>
                <a:latin typeface="맑은 고딕" pitchFamily="34" charset="0"/>
                <a:ea typeface="맑은 고딕" pitchFamily="34" charset="-122"/>
                <a:cs typeface="맑은 고딕" pitchFamily="34" charset="-120"/>
              </a:rPr>
              <a:t>01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01   시장 구조</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지금 배에 들어오는 연료</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02</a:t>
            </a:r>
            <a:endParaRPr lang="en-US" sz="950" dirty="0"/>
          </a:p>
        </p:txBody>
      </p:sp>
      <p:sp>
        <p:nvSpPr>
          <p:cNvPr id="6" name="Shape 4"/>
          <p:cNvSpPr/>
          <p:nvPr/>
        </p:nvSpPr>
        <p:spPr>
          <a:xfrm>
            <a:off x="566928" y="1591056"/>
            <a:ext cx="5870448" cy="3675888"/>
          </a:xfrm>
          <a:prstGeom prst="roundRect">
            <a:avLst>
              <a:gd name="adj" fmla="val 3483"/>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graphicFrame>
        <p:nvGraphicFramePr>
          <p:cNvPr id="7" name="Chart 0" descr=""/>
          <p:cNvGraphicFramePr/>
          <p:nvPr/>
        </p:nvGraphicFramePr>
        <p:xfrm>
          <a:off x="731520" y="1792224"/>
          <a:ext cx="5541264" cy="32918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711696" y="1591056"/>
            <a:ext cx="4910328" cy="1060704"/>
          </a:xfrm>
          <a:prstGeom prst="roundRect">
            <a:avLst>
              <a:gd name="adj" fmla="val 12069"/>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9" name="Text 6"/>
          <p:cNvSpPr/>
          <p:nvPr/>
        </p:nvSpPr>
        <p:spPr>
          <a:xfrm>
            <a:off x="6931152" y="1719072"/>
            <a:ext cx="2011680" cy="292608"/>
          </a:xfrm>
          <a:prstGeom prst="rect">
            <a:avLst/>
          </a:prstGeom>
          <a:noFill/>
          <a:ln/>
        </p:spPr>
        <p:txBody>
          <a:bodyPr wrap="square" lIns="0" tIns="0" rIns="0" bIns="0" rtlCol="0" anchor="ctr"/>
          <a:lstStyle/>
          <a:p>
            <a:pPr indent="0" marL="0">
              <a:buNone/>
            </a:pPr>
            <a:r>
              <a:rPr lang="en-US" sz="1300" b="1" dirty="0">
                <a:solidFill>
                  <a:srgbClr val="2E5C8A"/>
                </a:solidFill>
                <a:latin typeface="맑은 고딕" pitchFamily="34" charset="0"/>
                <a:ea typeface="맑은 고딕" pitchFamily="34" charset="-122"/>
                <a:cs typeface="맑은 고딕" pitchFamily="34" charset="-120"/>
              </a:rPr>
              <a:t>VLSFO</a:t>
            </a:r>
            <a:endParaRPr lang="en-US" sz="1300" dirty="0"/>
          </a:p>
        </p:txBody>
      </p:sp>
      <p:sp>
        <p:nvSpPr>
          <p:cNvPr id="10" name="Text 7"/>
          <p:cNvSpPr/>
          <p:nvPr/>
        </p:nvSpPr>
        <p:spPr>
          <a:xfrm>
            <a:off x="8796528" y="1719072"/>
            <a:ext cx="2651760" cy="292608"/>
          </a:xfrm>
          <a:prstGeom prst="rect">
            <a:avLst/>
          </a:prstGeom>
          <a:noFill/>
          <a:ln/>
        </p:spPr>
        <p:txBody>
          <a:bodyPr wrap="square" lIns="0" tIns="0" rIns="0" bIns="0" rtlCol="0" anchor="ctr"/>
          <a:lstStyle/>
          <a:p>
            <a:pPr algn="r" indent="0" marL="0">
              <a:buNone/>
            </a:pPr>
            <a:r>
              <a:rPr lang="en-US" sz="1400" b="1" dirty="0">
                <a:solidFill>
                  <a:srgbClr val="1B3A5C"/>
                </a:solidFill>
                <a:latin typeface="맑은 고딕" pitchFamily="34" charset="0"/>
                <a:ea typeface="맑은 고딕" pitchFamily="34" charset="-122"/>
                <a:cs typeface="맑은 고딕" pitchFamily="34" charset="-120"/>
              </a:rPr>
              <a:t>55% → 50%</a:t>
            </a:r>
            <a:endParaRPr lang="en-US" sz="1400" dirty="0"/>
          </a:p>
        </p:txBody>
      </p:sp>
      <p:sp>
        <p:nvSpPr>
          <p:cNvPr id="11" name="Text 8"/>
          <p:cNvSpPr/>
          <p:nvPr/>
        </p:nvSpPr>
        <p:spPr>
          <a:xfrm>
            <a:off x="6931152" y="2084832"/>
            <a:ext cx="4480560" cy="402336"/>
          </a:xfrm>
          <a:prstGeom prst="rect">
            <a:avLst/>
          </a:prstGeom>
          <a:noFill/>
          <a:ln/>
        </p:spPr>
        <p:txBody>
          <a:bodyPr wrap="square" lIns="0" tIns="0" rIns="0" bIns="0" rtlCol="0" anchor="t"/>
          <a:lstStyle/>
          <a:p>
            <a:pPr indent="0" marL="0">
              <a:buNone/>
            </a:pPr>
            <a:r>
              <a:rPr lang="en-US" sz="1100" dirty="0">
                <a:solidFill>
                  <a:srgbClr val="3D4A5C"/>
                </a:solidFill>
                <a:latin typeface="맑은 고딕" pitchFamily="34" charset="0"/>
                <a:ea typeface="맑은 고딕" pitchFamily="34" charset="-122"/>
                <a:cs typeface="맑은 고딕" pitchFamily="34" charset="-120"/>
              </a:rPr>
              <a:t>여전히 최다 공급 연료. 다만 비중은 줄고 있음</a:t>
            </a:r>
            <a:endParaRPr lang="en-US" sz="1100" dirty="0"/>
          </a:p>
        </p:txBody>
      </p:sp>
      <p:sp>
        <p:nvSpPr>
          <p:cNvPr id="12" name="Shape 9"/>
          <p:cNvSpPr/>
          <p:nvPr/>
        </p:nvSpPr>
        <p:spPr>
          <a:xfrm>
            <a:off x="6711696" y="2798064"/>
            <a:ext cx="4910328" cy="1060704"/>
          </a:xfrm>
          <a:prstGeom prst="roundRect">
            <a:avLst>
              <a:gd name="adj" fmla="val 12069"/>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3" name="Text 10"/>
          <p:cNvSpPr/>
          <p:nvPr/>
        </p:nvSpPr>
        <p:spPr>
          <a:xfrm>
            <a:off x="6931152" y="2926080"/>
            <a:ext cx="2011680" cy="292608"/>
          </a:xfrm>
          <a:prstGeom prst="rect">
            <a:avLst/>
          </a:prstGeom>
          <a:noFill/>
          <a:ln/>
        </p:spPr>
        <p:txBody>
          <a:bodyPr wrap="square" lIns="0" tIns="0" rIns="0" bIns="0" rtlCol="0" anchor="ctr"/>
          <a:lstStyle/>
          <a:p>
            <a:pPr indent="0" marL="0">
              <a:buNone/>
            </a:pPr>
            <a:r>
              <a:rPr lang="en-US" sz="1300" b="1" dirty="0">
                <a:solidFill>
                  <a:srgbClr val="E17B34"/>
                </a:solidFill>
                <a:latin typeface="맑은 고딕" pitchFamily="34" charset="0"/>
                <a:ea typeface="맑은 고딕" pitchFamily="34" charset="-122"/>
                <a:cs typeface="맑은 고딕" pitchFamily="34" charset="-120"/>
              </a:rPr>
              <a:t>LSMGO</a:t>
            </a:r>
            <a:endParaRPr lang="en-US" sz="1300" dirty="0"/>
          </a:p>
        </p:txBody>
      </p:sp>
      <p:sp>
        <p:nvSpPr>
          <p:cNvPr id="14" name="Text 11"/>
          <p:cNvSpPr/>
          <p:nvPr/>
        </p:nvSpPr>
        <p:spPr>
          <a:xfrm>
            <a:off x="8796528" y="2926080"/>
            <a:ext cx="2651760" cy="292608"/>
          </a:xfrm>
          <a:prstGeom prst="rect">
            <a:avLst/>
          </a:prstGeom>
          <a:noFill/>
          <a:ln/>
        </p:spPr>
        <p:txBody>
          <a:bodyPr wrap="square" lIns="0" tIns="0" rIns="0" bIns="0" rtlCol="0" anchor="ctr"/>
          <a:lstStyle/>
          <a:p>
            <a:pPr algn="r" indent="0" marL="0">
              <a:buNone/>
            </a:pPr>
            <a:r>
              <a:rPr lang="en-US" sz="1400" b="1" dirty="0">
                <a:solidFill>
                  <a:srgbClr val="1B3A5C"/>
                </a:solidFill>
                <a:latin typeface="맑은 고딕" pitchFamily="34" charset="0"/>
                <a:ea typeface="맑은 고딕" pitchFamily="34" charset="-122"/>
                <a:cs typeface="맑은 고딕" pitchFamily="34" charset="-120"/>
              </a:rPr>
              <a:t>29% → 33%</a:t>
            </a:r>
            <a:endParaRPr lang="en-US" sz="1400" dirty="0"/>
          </a:p>
        </p:txBody>
      </p:sp>
      <p:sp>
        <p:nvSpPr>
          <p:cNvPr id="15" name="Text 12"/>
          <p:cNvSpPr/>
          <p:nvPr/>
        </p:nvSpPr>
        <p:spPr>
          <a:xfrm>
            <a:off x="6931152" y="3291840"/>
            <a:ext cx="4480560" cy="402336"/>
          </a:xfrm>
          <a:prstGeom prst="rect">
            <a:avLst/>
          </a:prstGeom>
          <a:noFill/>
          <a:ln/>
        </p:spPr>
        <p:txBody>
          <a:bodyPr wrap="square" lIns="0" tIns="0" rIns="0" bIns="0" rtlCol="0" anchor="t"/>
          <a:lstStyle/>
          <a:p>
            <a:pPr indent="0" marL="0">
              <a:buNone/>
            </a:pPr>
            <a:r>
              <a:rPr lang="en-US" sz="1100" dirty="0">
                <a:solidFill>
                  <a:srgbClr val="3D4A5C"/>
                </a:solidFill>
                <a:latin typeface="맑은 고딕" pitchFamily="34" charset="0"/>
                <a:ea typeface="맑은 고딕" pitchFamily="34" charset="-122"/>
                <a:cs typeface="맑은 고딕" pitchFamily="34" charset="-120"/>
              </a:rPr>
              <a:t>가장 빠르게 늘어난 연료. 증가분을 그대로 흡수</a:t>
            </a:r>
            <a:endParaRPr lang="en-US" sz="1100" dirty="0"/>
          </a:p>
        </p:txBody>
      </p:sp>
      <p:sp>
        <p:nvSpPr>
          <p:cNvPr id="16" name="Shape 13"/>
          <p:cNvSpPr/>
          <p:nvPr/>
        </p:nvSpPr>
        <p:spPr>
          <a:xfrm>
            <a:off x="6711696" y="4005072"/>
            <a:ext cx="4910328" cy="1261872"/>
          </a:xfrm>
          <a:prstGeom prst="roundRect">
            <a:avLst>
              <a:gd name="adj" fmla="val 10145"/>
            </a:avLst>
          </a:prstGeom>
          <a:solidFill>
            <a:srgbClr val="1B3A5C"/>
          </a:solidFill>
          <a:ln w="9525">
            <a:solidFill>
              <a:srgbClr val="1B3A5C"/>
            </a:solidFill>
            <a:prstDash val="solid"/>
          </a:ln>
          <a:effectLst>
            <a:outerShdw sx="100000" sy="100000" kx="0" ky="0" algn="bl" rotWithShape="0" blurRad="127000" dist="25400" dir="5400000">
              <a:srgbClr val="9BAAC4">
                <a:alpha val="22000"/>
              </a:srgbClr>
            </a:outerShdw>
          </a:effectLst>
        </p:spPr>
      </p:sp>
      <p:sp>
        <p:nvSpPr>
          <p:cNvPr id="17" name="Text 14"/>
          <p:cNvSpPr/>
          <p:nvPr/>
        </p:nvSpPr>
        <p:spPr>
          <a:xfrm>
            <a:off x="6931152" y="4169664"/>
            <a:ext cx="1737360" cy="530352"/>
          </a:xfrm>
          <a:prstGeom prst="rect">
            <a:avLst/>
          </a:prstGeom>
          <a:noFill/>
          <a:ln/>
        </p:spPr>
        <p:txBody>
          <a:bodyPr wrap="square" lIns="0" tIns="0" rIns="0" bIns="0" rtlCol="0" anchor="ctr"/>
          <a:lstStyle/>
          <a:p>
            <a:pPr indent="0" marL="0">
              <a:buNone/>
            </a:pPr>
            <a:r>
              <a:rPr lang="en-US" sz="3200" b="1" dirty="0">
                <a:solidFill>
                  <a:srgbClr val="E17B34"/>
                </a:solidFill>
                <a:latin typeface="맑은 고딕" pitchFamily="34" charset="0"/>
                <a:ea typeface="맑은 고딕" pitchFamily="34" charset="-122"/>
                <a:cs typeface="맑은 고딕" pitchFamily="34" charset="-120"/>
              </a:rPr>
              <a:t>83%</a:t>
            </a:r>
            <a:endParaRPr lang="en-US" sz="3200" dirty="0"/>
          </a:p>
        </p:txBody>
      </p:sp>
      <p:sp>
        <p:nvSpPr>
          <p:cNvPr id="18" name="Text 15"/>
          <p:cNvSpPr/>
          <p:nvPr/>
        </p:nvSpPr>
        <p:spPr>
          <a:xfrm>
            <a:off x="8668512" y="4169664"/>
            <a:ext cx="2743200" cy="914400"/>
          </a:xfrm>
          <a:prstGeom prst="rect">
            <a:avLst/>
          </a:prstGeom>
          <a:noFill/>
          <a:ln/>
        </p:spPr>
        <p:txBody>
          <a:bodyPr wrap="square" lIns="0" tIns="0" rIns="0" bIns="0" rtlCol="0" anchor="ctr"/>
          <a:lstStyle/>
          <a:p>
            <a:pPr indent="0" marL="0">
              <a:lnSpc>
                <a:spcPts val="1600"/>
              </a:lnSpc>
              <a:buNone/>
            </a:pPr>
            <a:r>
              <a:rPr lang="en-US" sz="1050" dirty="0">
                <a:solidFill>
                  <a:srgbClr val="D6E0EE"/>
                </a:solidFill>
                <a:latin typeface="맑은 고딕" pitchFamily="34" charset="0"/>
                <a:ea typeface="맑은 고딕" pitchFamily="34" charset="-122"/>
                <a:cs typeface="맑은 고딕" pitchFamily="34" charset="-120"/>
              </a:rPr>
              <a:t>두 연료가 전체 공급의 대부분을 차지합니다.</a:t>
            </a:r>
            <a:endParaRPr lang="en-US" sz="1050" dirty="0"/>
          </a:p>
          <a:p>
            <a:pPr indent="0" marL="0">
              <a:lnSpc>
                <a:spcPts val="1600"/>
              </a:lnSpc>
              <a:buNone/>
            </a:pPr>
            <a:r>
              <a:rPr lang="en-US" sz="1050" dirty="0">
                <a:solidFill>
                  <a:srgbClr val="D6E0EE"/>
                </a:solidFill>
                <a:latin typeface="맑은 고딕" pitchFamily="34" charset="0"/>
                <a:ea typeface="맑은 고딕" pitchFamily="34" charset="-122"/>
                <a:cs typeface="맑은 고딕" pitchFamily="34" charset="-120"/>
              </a:rPr>
              <a:t>VLSFO와 MGO의 특성을 아는 것이 곧 연료 관리입니다.</a:t>
            </a:r>
            <a:endParaRPr lang="en-US" sz="1050" dirty="0"/>
          </a:p>
        </p:txBody>
      </p:sp>
      <p:sp>
        <p:nvSpPr>
          <p:cNvPr id="19" name="Text 16"/>
          <p:cNvSpPr/>
          <p:nvPr/>
        </p:nvSpPr>
        <p:spPr>
          <a:xfrm>
            <a:off x="566928" y="5486400"/>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Viswa Group, Global Fuel Characteristics 2024 · 2025 (공급 비중 기준)</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02   착시</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합격증은 안전을 보증하지 않는다</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03</a:t>
            </a:r>
            <a:endParaRPr lang="en-US" sz="950" dirty="0"/>
          </a:p>
        </p:txBody>
      </p:sp>
      <p:sp>
        <p:nvSpPr>
          <p:cNvPr id="6" name="Shape 4"/>
          <p:cNvSpPr/>
          <p:nvPr/>
        </p:nvSpPr>
        <p:spPr>
          <a:xfrm>
            <a:off x="566928" y="1591056"/>
            <a:ext cx="3310128" cy="3310128"/>
          </a:xfrm>
          <a:prstGeom prst="roundRect">
            <a:avLst>
              <a:gd name="adj" fmla="val 386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22960" y="1792224"/>
            <a:ext cx="2377440"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ON PAPER</a:t>
            </a:r>
            <a:endParaRPr lang="en-US" sz="950" dirty="0"/>
          </a:p>
        </p:txBody>
      </p:sp>
      <p:sp>
        <p:nvSpPr>
          <p:cNvPr id="8" name="Text 6"/>
          <p:cNvSpPr/>
          <p:nvPr/>
        </p:nvSpPr>
        <p:spPr>
          <a:xfrm>
            <a:off x="822960" y="2048256"/>
            <a:ext cx="2798064" cy="786384"/>
          </a:xfrm>
          <a:prstGeom prst="rect">
            <a:avLst/>
          </a:prstGeom>
          <a:noFill/>
          <a:ln/>
        </p:spPr>
        <p:txBody>
          <a:bodyPr wrap="square" lIns="0" tIns="0" rIns="0" bIns="0" rtlCol="0" anchor="ctr"/>
          <a:lstStyle/>
          <a:p>
            <a:pPr indent="0" marL="0">
              <a:buNone/>
            </a:pPr>
            <a:r>
              <a:rPr lang="en-US" sz="5000" b="1" dirty="0">
                <a:solidFill>
                  <a:srgbClr val="1B3A5C"/>
                </a:solidFill>
                <a:latin typeface="맑은 고딕" pitchFamily="34" charset="0"/>
                <a:ea typeface="맑은 고딕" pitchFamily="34" charset="-122"/>
                <a:cs typeface="맑은 고딕" pitchFamily="34" charset="-120"/>
              </a:rPr>
              <a:t>4.8%</a:t>
            </a:r>
            <a:endParaRPr lang="en-US" sz="5000" dirty="0"/>
          </a:p>
        </p:txBody>
      </p:sp>
      <p:sp>
        <p:nvSpPr>
          <p:cNvPr id="9" name="Text 7"/>
          <p:cNvSpPr/>
          <p:nvPr/>
        </p:nvSpPr>
        <p:spPr>
          <a:xfrm>
            <a:off x="822960" y="2852928"/>
            <a:ext cx="2798064" cy="256032"/>
          </a:xfrm>
          <a:prstGeom prst="rect">
            <a:avLst/>
          </a:prstGeom>
          <a:noFill/>
          <a:ln/>
        </p:spPr>
        <p:txBody>
          <a:bodyPr wrap="square" lIns="0" tIns="0" rIns="0" bIns="0" rtlCol="0" anchor="ctr"/>
          <a:lstStyle/>
          <a:p>
            <a:pPr indent="0" marL="0">
              <a:buNone/>
            </a:pPr>
            <a:r>
              <a:rPr lang="en-US" sz="1150" b="1" dirty="0">
                <a:solidFill>
                  <a:srgbClr val="3D4A5C"/>
                </a:solidFill>
                <a:latin typeface="맑은 고딕" pitchFamily="34" charset="0"/>
                <a:ea typeface="맑은 고딕" pitchFamily="34" charset="-122"/>
                <a:cs typeface="맑은 고딕" pitchFamily="34" charset="-120"/>
              </a:rPr>
              <a:t>2025년 VLSFO 규격 부적합률</a:t>
            </a:r>
            <a:endParaRPr lang="en-US" sz="1150" dirty="0"/>
          </a:p>
        </p:txBody>
      </p:sp>
      <p:sp>
        <p:nvSpPr>
          <p:cNvPr id="10" name="Text 8"/>
          <p:cNvSpPr/>
          <p:nvPr/>
        </p:nvSpPr>
        <p:spPr>
          <a:xfrm>
            <a:off x="822960" y="3200400"/>
            <a:ext cx="2798064" cy="914400"/>
          </a:xfrm>
          <a:prstGeom prst="rect">
            <a:avLst/>
          </a:prstGeom>
          <a:noFill/>
          <a:ln/>
        </p:spPr>
        <p:txBody>
          <a:bodyPr wrap="square" lIns="0" tIns="0" rIns="0" bIns="0" rtlCol="0" anchor="t"/>
          <a:lstStyle/>
          <a:p>
            <a:pPr indent="0" marL="0">
              <a:lnSpc>
                <a:spcPts val="1700"/>
              </a:lnSpc>
              <a:buNone/>
            </a:pPr>
            <a:r>
              <a:rPr lang="en-US" sz="1100" dirty="0">
                <a:solidFill>
                  <a:srgbClr val="3D4A5C"/>
                </a:solidFill>
                <a:latin typeface="맑은 고딕" pitchFamily="34" charset="0"/>
                <a:ea typeface="맑은 고딕" pitchFamily="34" charset="-122"/>
                <a:cs typeface="맑은 고딕" pitchFamily="34" charset="-120"/>
              </a:rPr>
              <a:t>2024년 4.3% → 2025년 4.8%</a:t>
            </a:r>
            <a:endParaRPr lang="en-US" sz="1100" dirty="0"/>
          </a:p>
          <a:p>
            <a:pPr indent="0" marL="0">
              <a:lnSpc>
                <a:spcPts val="1700"/>
              </a:lnSpc>
              <a:buNone/>
            </a:pPr>
            <a:r>
              <a:rPr lang="en-US" sz="1100" dirty="0">
                <a:solidFill>
                  <a:srgbClr val="3D4A5C"/>
                </a:solidFill>
                <a:latin typeface="맑은 고딕" pitchFamily="34" charset="0"/>
                <a:ea typeface="맑은 고딕" pitchFamily="34" charset="-122"/>
                <a:cs typeface="맑은 고딕" pitchFamily="34" charset="-120"/>
              </a:rPr>
              <a:t>숫자만 보면 20척 중 1척.</a:t>
            </a:r>
            <a:endParaRPr lang="en-US" sz="1100" dirty="0"/>
          </a:p>
          <a:p>
            <a:pPr indent="0" marL="0">
              <a:lnSpc>
                <a:spcPts val="1700"/>
              </a:lnSpc>
              <a:buNone/>
            </a:pPr>
            <a:r>
              <a:rPr lang="en-US" sz="1100" dirty="0">
                <a:solidFill>
                  <a:srgbClr val="3D4A5C"/>
                </a:solidFill>
                <a:latin typeface="맑은 고딕" pitchFamily="34" charset="0"/>
                <a:ea typeface="맑은 고딕" pitchFamily="34" charset="-122"/>
                <a:cs typeface="맑은 고딕" pitchFamily="34" charset="-120"/>
              </a:rPr>
              <a:t>「대체로 문제없다」는 인상을 줍니다.</a:t>
            </a:r>
            <a:endParaRPr lang="en-US" sz="1100" dirty="0"/>
          </a:p>
        </p:txBody>
      </p:sp>
      <p:sp>
        <p:nvSpPr>
          <p:cNvPr id="11" name="Shape 9"/>
          <p:cNvSpPr/>
          <p:nvPr/>
        </p:nvSpPr>
        <p:spPr>
          <a:xfrm>
            <a:off x="822960" y="4261104"/>
            <a:ext cx="2798064" cy="512064"/>
          </a:xfrm>
          <a:prstGeom prst="roundRect">
            <a:avLst>
              <a:gd name="adj" fmla="val 14286"/>
            </a:avLst>
          </a:prstGeom>
          <a:solidFill>
            <a:srgbClr val="FDF2E9"/>
          </a:solidFill>
          <a:ln w="12700">
            <a:solidFill>
              <a:srgbClr val="333333"/>
            </a:solidFill>
            <a:prstDash val="solid"/>
          </a:ln>
        </p:spPr>
      </p:sp>
      <p:sp>
        <p:nvSpPr>
          <p:cNvPr id="12" name="Text 10"/>
          <p:cNvSpPr/>
          <p:nvPr/>
        </p:nvSpPr>
        <p:spPr>
          <a:xfrm>
            <a:off x="914400" y="4261104"/>
            <a:ext cx="2615184" cy="512064"/>
          </a:xfrm>
          <a:prstGeom prst="rect">
            <a:avLst/>
          </a:prstGeom>
          <a:noFill/>
          <a:ln/>
        </p:spPr>
        <p:txBody>
          <a:bodyPr wrap="square" lIns="0" tIns="0" rIns="0" bIns="0" rtlCol="0" anchor="ctr"/>
          <a:lstStyle/>
          <a:p>
            <a:pPr algn="ctr" indent="0" marL="0">
              <a:buNone/>
            </a:pPr>
            <a:r>
              <a:rPr lang="en-US" sz="1050" b="1" dirty="0">
                <a:solidFill>
                  <a:srgbClr val="E17B34"/>
                </a:solidFill>
                <a:latin typeface="맑은 고딕" pitchFamily="34" charset="0"/>
                <a:ea typeface="맑은 고딕" pitchFamily="34" charset="-122"/>
                <a:cs typeface="맑은 고딕" pitchFamily="34" charset="-120"/>
              </a:rPr>
              <a:t>그런데 실제 손상은 계속 발생합니다</a:t>
            </a:r>
            <a:endParaRPr lang="en-US" sz="1050" dirty="0"/>
          </a:p>
        </p:txBody>
      </p:sp>
      <p:sp>
        <p:nvSpPr>
          <p:cNvPr id="13" name="Shape 11"/>
          <p:cNvSpPr/>
          <p:nvPr/>
        </p:nvSpPr>
        <p:spPr>
          <a:xfrm>
            <a:off x="4096512" y="1591056"/>
            <a:ext cx="7525512" cy="3310128"/>
          </a:xfrm>
          <a:prstGeom prst="roundRect">
            <a:avLst>
              <a:gd name="adj" fmla="val 386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4" name="Text 12"/>
          <p:cNvSpPr/>
          <p:nvPr/>
        </p:nvSpPr>
        <p:spPr>
          <a:xfrm>
            <a:off x="4352544" y="1792224"/>
            <a:ext cx="5486400"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WHAT GC-MS ACTUALLY FOUND</a:t>
            </a:r>
            <a:endParaRPr lang="en-US" sz="950" dirty="0"/>
          </a:p>
        </p:txBody>
      </p:sp>
      <p:sp>
        <p:nvSpPr>
          <p:cNvPr id="15" name="Text 13"/>
          <p:cNvSpPr/>
          <p:nvPr/>
        </p:nvSpPr>
        <p:spPr>
          <a:xfrm>
            <a:off x="4352544" y="2029968"/>
            <a:ext cx="7040880" cy="274320"/>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ISO 8217 항목은 전부 정상, 정밀 분석에서만 잡힌 오염</a:t>
            </a:r>
            <a:endParaRPr lang="en-US" sz="1300" dirty="0"/>
          </a:p>
        </p:txBody>
      </p:sp>
      <p:sp>
        <p:nvSpPr>
          <p:cNvPr id="16" name="Text 14"/>
          <p:cNvSpPr/>
          <p:nvPr/>
        </p:nvSpPr>
        <p:spPr>
          <a:xfrm>
            <a:off x="4352544" y="2377440"/>
            <a:ext cx="1463040" cy="237744"/>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ARA</a:t>
            </a:r>
            <a:endParaRPr lang="en-US" sz="1150" dirty="0"/>
          </a:p>
        </p:txBody>
      </p:sp>
      <p:sp>
        <p:nvSpPr>
          <p:cNvPr id="17" name="Text 15"/>
          <p:cNvSpPr/>
          <p:nvPr/>
        </p:nvSpPr>
        <p:spPr>
          <a:xfrm>
            <a:off x="4352544" y="2615184"/>
            <a:ext cx="1463040" cy="219456"/>
          </a:xfrm>
          <a:prstGeom prst="rect">
            <a:avLst/>
          </a:prstGeom>
          <a:noFill/>
          <a:ln/>
        </p:spPr>
        <p:txBody>
          <a:bodyPr wrap="square" lIns="0" tIns="0" rIns="0" bIns="0" rtlCol="0" anchor="ctr"/>
          <a:lstStyle/>
          <a:p>
            <a:pPr indent="0" marL="0">
              <a:buNone/>
            </a:pPr>
            <a:r>
              <a:rPr lang="en-US" sz="900" dirty="0">
                <a:solidFill>
                  <a:srgbClr val="8A94A6"/>
                </a:solidFill>
                <a:latin typeface="맑은 고딕" pitchFamily="34" charset="0"/>
                <a:ea typeface="맑은 고딕" pitchFamily="34" charset="-122"/>
                <a:cs typeface="맑은 고딕" pitchFamily="34" charset="-120"/>
              </a:rPr>
              <a:t>2024.12~2025.1</a:t>
            </a:r>
            <a:endParaRPr lang="en-US" sz="900" dirty="0"/>
          </a:p>
        </p:txBody>
      </p:sp>
      <p:sp>
        <p:nvSpPr>
          <p:cNvPr id="18" name="Text 16"/>
          <p:cNvSpPr/>
          <p:nvPr/>
        </p:nvSpPr>
        <p:spPr>
          <a:xfrm>
            <a:off x="5888736" y="2377440"/>
            <a:ext cx="3657600" cy="457200"/>
          </a:xfrm>
          <a:prstGeom prst="rect">
            <a:avLst/>
          </a:prstGeom>
          <a:noFill/>
          <a:ln/>
        </p:spPr>
        <p:txBody>
          <a:bodyPr wrap="square" lIns="0" tIns="0" rIns="0" bIns="0" rtlCol="0" anchor="ctr"/>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산가 전량 1.5 초과 (항구 평균 0.6) · Ca 50~130 ppm (평균 13 ppm)</a:t>
            </a:r>
            <a:endParaRPr lang="en-US" sz="1000" dirty="0"/>
          </a:p>
        </p:txBody>
      </p:sp>
      <p:sp>
        <p:nvSpPr>
          <p:cNvPr id="19" name="Text 17"/>
          <p:cNvSpPr/>
          <p:nvPr/>
        </p:nvSpPr>
        <p:spPr>
          <a:xfrm>
            <a:off x="9637776" y="2377440"/>
            <a:ext cx="1755648" cy="457200"/>
          </a:xfrm>
          <a:prstGeom prst="rect">
            <a:avLst/>
          </a:prstGeom>
          <a:noFill/>
          <a:ln/>
        </p:spPr>
        <p:txBody>
          <a:bodyPr wrap="square" lIns="0" tIns="0" rIns="0" bIns="0" rtlCol="0" anchor="ctr"/>
          <a:lstStyle/>
          <a:p>
            <a:pPr indent="0" marL="0">
              <a:lnSpc>
                <a:spcPts val="1400"/>
              </a:lnSpc>
              <a:buNone/>
            </a:pPr>
            <a:r>
              <a:rPr lang="en-US" sz="1000" b="1" dirty="0">
                <a:solidFill>
                  <a:srgbClr val="C0392B"/>
                </a:solidFill>
                <a:latin typeface="맑은 고딕" pitchFamily="34" charset="0"/>
                <a:ea typeface="맑은 고딕" pitchFamily="34" charset="-122"/>
                <a:cs typeface="맑은 고딕" pitchFamily="34" charset="-120"/>
              </a:rPr>
              <a:t>7척 — 연료펌프 · 정유기</a:t>
            </a:r>
            <a:endParaRPr lang="en-US" sz="1000" dirty="0"/>
          </a:p>
        </p:txBody>
      </p:sp>
      <p:sp>
        <p:nvSpPr>
          <p:cNvPr id="20" name="Shape 18"/>
          <p:cNvSpPr/>
          <p:nvPr/>
        </p:nvSpPr>
        <p:spPr>
          <a:xfrm>
            <a:off x="4352544" y="2944368"/>
            <a:ext cx="7040880" cy="0"/>
          </a:xfrm>
          <a:prstGeom prst="line">
            <a:avLst/>
          </a:prstGeom>
          <a:noFill/>
          <a:ln w="9525">
            <a:solidFill>
              <a:srgbClr val="DFE5F0"/>
            </a:solidFill>
            <a:prstDash val="solid"/>
          </a:ln>
        </p:spPr>
      </p:sp>
      <p:sp>
        <p:nvSpPr>
          <p:cNvPr id="21" name="Text 19"/>
          <p:cNvSpPr/>
          <p:nvPr/>
        </p:nvSpPr>
        <p:spPr>
          <a:xfrm>
            <a:off x="4352544" y="2999232"/>
            <a:ext cx="1463040" cy="237744"/>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Istanbul</a:t>
            </a:r>
            <a:endParaRPr lang="en-US" sz="1150" dirty="0"/>
          </a:p>
        </p:txBody>
      </p:sp>
      <p:sp>
        <p:nvSpPr>
          <p:cNvPr id="22" name="Text 20"/>
          <p:cNvSpPr/>
          <p:nvPr/>
        </p:nvSpPr>
        <p:spPr>
          <a:xfrm>
            <a:off x="4352544" y="3236976"/>
            <a:ext cx="1463040" cy="219456"/>
          </a:xfrm>
          <a:prstGeom prst="rect">
            <a:avLst/>
          </a:prstGeom>
          <a:noFill/>
          <a:ln/>
        </p:spPr>
        <p:txBody>
          <a:bodyPr wrap="square" lIns="0" tIns="0" rIns="0" bIns="0" rtlCol="0" anchor="ctr"/>
          <a:lstStyle/>
          <a:p>
            <a:pPr indent="0" marL="0">
              <a:buNone/>
            </a:pPr>
            <a:r>
              <a:rPr lang="en-US" sz="900" dirty="0">
                <a:solidFill>
                  <a:srgbClr val="8A94A6"/>
                </a:solidFill>
                <a:latin typeface="맑은 고딕" pitchFamily="34" charset="0"/>
                <a:ea typeface="맑은 고딕" pitchFamily="34" charset="-122"/>
                <a:cs typeface="맑은 고딕" pitchFamily="34" charset="-120"/>
              </a:rPr>
              <a:t>2025.4</a:t>
            </a:r>
            <a:endParaRPr lang="en-US" sz="900" dirty="0"/>
          </a:p>
        </p:txBody>
      </p:sp>
      <p:sp>
        <p:nvSpPr>
          <p:cNvPr id="23" name="Text 21"/>
          <p:cNvSpPr/>
          <p:nvPr/>
        </p:nvSpPr>
        <p:spPr>
          <a:xfrm>
            <a:off x="5888736" y="2999232"/>
            <a:ext cx="3657600" cy="457200"/>
          </a:xfrm>
          <a:prstGeom prst="rect">
            <a:avLst/>
          </a:prstGeom>
          <a:noFill/>
          <a:ln/>
        </p:spPr>
        <p:txBody>
          <a:bodyPr wrap="square" lIns="0" tIns="0" rIns="0" bIns="0" rtlCol="0" anchor="ctr"/>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스티렌 · DCPD 10,000 ppm 초과 · 유리지방산 1,000 ppm 초과</a:t>
            </a:r>
            <a:endParaRPr lang="en-US" sz="1000" dirty="0"/>
          </a:p>
        </p:txBody>
      </p:sp>
      <p:sp>
        <p:nvSpPr>
          <p:cNvPr id="24" name="Text 22"/>
          <p:cNvSpPr/>
          <p:nvPr/>
        </p:nvSpPr>
        <p:spPr>
          <a:xfrm>
            <a:off x="9637776" y="2999232"/>
            <a:ext cx="1755648" cy="457200"/>
          </a:xfrm>
          <a:prstGeom prst="rect">
            <a:avLst/>
          </a:prstGeom>
          <a:noFill/>
          <a:ln/>
        </p:spPr>
        <p:txBody>
          <a:bodyPr wrap="square" lIns="0" tIns="0" rIns="0" bIns="0" rtlCol="0" anchor="ctr"/>
          <a:lstStyle/>
          <a:p>
            <a:pPr indent="0" marL="0">
              <a:lnSpc>
                <a:spcPts val="1400"/>
              </a:lnSpc>
              <a:buNone/>
            </a:pPr>
            <a:r>
              <a:rPr lang="en-US" sz="1000" b="1" dirty="0">
                <a:solidFill>
                  <a:srgbClr val="C0392B"/>
                </a:solidFill>
                <a:latin typeface="맑은 고딕" pitchFamily="34" charset="0"/>
                <a:ea typeface="맑은 고딕" pitchFamily="34" charset="-122"/>
                <a:cs typeface="맑은 고딕" pitchFamily="34" charset="-120"/>
              </a:rPr>
              <a:t>5척 — 주기 · 발전기 연료펌프</a:t>
            </a:r>
            <a:endParaRPr lang="en-US" sz="1000" dirty="0"/>
          </a:p>
        </p:txBody>
      </p:sp>
      <p:sp>
        <p:nvSpPr>
          <p:cNvPr id="25" name="Shape 23"/>
          <p:cNvSpPr/>
          <p:nvPr/>
        </p:nvSpPr>
        <p:spPr>
          <a:xfrm>
            <a:off x="4352544" y="3566160"/>
            <a:ext cx="7040880" cy="0"/>
          </a:xfrm>
          <a:prstGeom prst="line">
            <a:avLst/>
          </a:prstGeom>
          <a:noFill/>
          <a:ln w="9525">
            <a:solidFill>
              <a:srgbClr val="DFE5F0"/>
            </a:solidFill>
            <a:prstDash val="solid"/>
          </a:ln>
        </p:spPr>
      </p:sp>
      <p:sp>
        <p:nvSpPr>
          <p:cNvPr id="26" name="Text 24"/>
          <p:cNvSpPr/>
          <p:nvPr/>
        </p:nvSpPr>
        <p:spPr>
          <a:xfrm>
            <a:off x="4352544" y="3621024"/>
            <a:ext cx="1463040" cy="237744"/>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New Orleans</a:t>
            </a:r>
            <a:endParaRPr lang="en-US" sz="1150" dirty="0"/>
          </a:p>
        </p:txBody>
      </p:sp>
      <p:sp>
        <p:nvSpPr>
          <p:cNvPr id="27" name="Text 25"/>
          <p:cNvSpPr/>
          <p:nvPr/>
        </p:nvSpPr>
        <p:spPr>
          <a:xfrm>
            <a:off x="4352544" y="3858768"/>
            <a:ext cx="1463040" cy="219456"/>
          </a:xfrm>
          <a:prstGeom prst="rect">
            <a:avLst/>
          </a:prstGeom>
          <a:noFill/>
          <a:ln/>
        </p:spPr>
        <p:txBody>
          <a:bodyPr wrap="square" lIns="0" tIns="0" rIns="0" bIns="0" rtlCol="0" anchor="ctr"/>
          <a:lstStyle/>
          <a:p>
            <a:pPr indent="0" marL="0">
              <a:buNone/>
            </a:pPr>
            <a:r>
              <a:rPr lang="en-US" sz="900" dirty="0">
                <a:solidFill>
                  <a:srgbClr val="8A94A6"/>
                </a:solidFill>
                <a:latin typeface="맑은 고딕" pitchFamily="34" charset="0"/>
                <a:ea typeface="맑은 고딕" pitchFamily="34" charset="-122"/>
                <a:cs typeface="맑은 고딕" pitchFamily="34" charset="-120"/>
              </a:rPr>
              <a:t>2025.4</a:t>
            </a:r>
            <a:endParaRPr lang="en-US" sz="900" dirty="0"/>
          </a:p>
        </p:txBody>
      </p:sp>
      <p:sp>
        <p:nvSpPr>
          <p:cNvPr id="28" name="Text 26"/>
          <p:cNvSpPr/>
          <p:nvPr/>
        </p:nvSpPr>
        <p:spPr>
          <a:xfrm>
            <a:off x="5888736" y="3621024"/>
            <a:ext cx="3657600" cy="457200"/>
          </a:xfrm>
          <a:prstGeom prst="rect">
            <a:avLst/>
          </a:prstGeom>
          <a:noFill/>
          <a:ln/>
        </p:spPr>
        <p:txBody>
          <a:bodyPr wrap="square" lIns="0" tIns="0" rIns="0" bIns="0" rtlCol="0" anchor="ctr"/>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총 산성분 4,300 ppm · 인(P) 75~90 ppm</a:t>
            </a:r>
            <a:endParaRPr lang="en-US" sz="1000" dirty="0"/>
          </a:p>
        </p:txBody>
      </p:sp>
      <p:sp>
        <p:nvSpPr>
          <p:cNvPr id="29" name="Text 27"/>
          <p:cNvSpPr/>
          <p:nvPr/>
        </p:nvSpPr>
        <p:spPr>
          <a:xfrm>
            <a:off x="9637776" y="3621024"/>
            <a:ext cx="1755648" cy="457200"/>
          </a:xfrm>
          <a:prstGeom prst="rect">
            <a:avLst/>
          </a:prstGeom>
          <a:noFill/>
          <a:ln/>
        </p:spPr>
        <p:txBody>
          <a:bodyPr wrap="square" lIns="0" tIns="0" rIns="0" bIns="0" rtlCol="0" anchor="ctr"/>
          <a:lstStyle/>
          <a:p>
            <a:pPr indent="0" marL="0">
              <a:lnSpc>
                <a:spcPts val="1400"/>
              </a:lnSpc>
              <a:buNone/>
            </a:pPr>
            <a:r>
              <a:rPr lang="en-US" sz="1000" b="1" dirty="0">
                <a:solidFill>
                  <a:srgbClr val="C0392B"/>
                </a:solidFill>
                <a:latin typeface="맑은 고딕" pitchFamily="34" charset="0"/>
                <a:ea typeface="맑은 고딕" pitchFamily="34" charset="-122"/>
                <a:cs typeface="맑은 고딕" pitchFamily="34" charset="-120"/>
              </a:rPr>
              <a:t>플런저 침식부식 · 강재 부식</a:t>
            </a:r>
            <a:endParaRPr lang="en-US" sz="1000" dirty="0"/>
          </a:p>
        </p:txBody>
      </p:sp>
      <p:sp>
        <p:nvSpPr>
          <p:cNvPr id="30" name="Shape 28"/>
          <p:cNvSpPr/>
          <p:nvPr/>
        </p:nvSpPr>
        <p:spPr>
          <a:xfrm>
            <a:off x="4352544" y="4187952"/>
            <a:ext cx="7040880" cy="0"/>
          </a:xfrm>
          <a:prstGeom prst="line">
            <a:avLst/>
          </a:prstGeom>
          <a:noFill/>
          <a:ln w="9525">
            <a:solidFill>
              <a:srgbClr val="DFE5F0"/>
            </a:solidFill>
            <a:prstDash val="solid"/>
          </a:ln>
        </p:spPr>
      </p:sp>
      <p:sp>
        <p:nvSpPr>
          <p:cNvPr id="31" name="Text 29"/>
          <p:cNvSpPr/>
          <p:nvPr/>
        </p:nvSpPr>
        <p:spPr>
          <a:xfrm>
            <a:off x="4352544" y="4242816"/>
            <a:ext cx="1463040" cy="237744"/>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New Orleans</a:t>
            </a:r>
            <a:endParaRPr lang="en-US" sz="1150" dirty="0"/>
          </a:p>
        </p:txBody>
      </p:sp>
      <p:sp>
        <p:nvSpPr>
          <p:cNvPr id="32" name="Text 30"/>
          <p:cNvSpPr/>
          <p:nvPr/>
        </p:nvSpPr>
        <p:spPr>
          <a:xfrm>
            <a:off x="4352544" y="4480560"/>
            <a:ext cx="1463040" cy="219456"/>
          </a:xfrm>
          <a:prstGeom prst="rect">
            <a:avLst/>
          </a:prstGeom>
          <a:noFill/>
          <a:ln/>
        </p:spPr>
        <p:txBody>
          <a:bodyPr wrap="square" lIns="0" tIns="0" rIns="0" bIns="0" rtlCol="0" anchor="ctr"/>
          <a:lstStyle/>
          <a:p>
            <a:pPr indent="0" marL="0">
              <a:buNone/>
            </a:pPr>
            <a:r>
              <a:rPr lang="en-US" sz="900" dirty="0">
                <a:solidFill>
                  <a:srgbClr val="8A94A6"/>
                </a:solidFill>
                <a:latin typeface="맑은 고딕" pitchFamily="34" charset="0"/>
                <a:ea typeface="맑은 고딕" pitchFamily="34" charset="-122"/>
                <a:cs typeface="맑은 고딕" pitchFamily="34" charset="-120"/>
              </a:rPr>
              <a:t>2025.10</a:t>
            </a:r>
            <a:endParaRPr lang="en-US" sz="900" dirty="0"/>
          </a:p>
        </p:txBody>
      </p:sp>
      <p:sp>
        <p:nvSpPr>
          <p:cNvPr id="33" name="Text 31"/>
          <p:cNvSpPr/>
          <p:nvPr/>
        </p:nvSpPr>
        <p:spPr>
          <a:xfrm>
            <a:off x="5888736" y="4242816"/>
            <a:ext cx="3657600" cy="457200"/>
          </a:xfrm>
          <a:prstGeom prst="rect">
            <a:avLst/>
          </a:prstGeom>
          <a:noFill/>
          <a:ln/>
        </p:spPr>
        <p:txBody>
          <a:bodyPr wrap="square" lIns="0" tIns="0" rIns="0" bIns="0" rtlCol="0" anchor="ctr"/>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칼륨(K) 100~250 ppm · 알코올 4 wt% 초과</a:t>
            </a:r>
            <a:endParaRPr lang="en-US" sz="1000" dirty="0"/>
          </a:p>
        </p:txBody>
      </p:sp>
      <p:sp>
        <p:nvSpPr>
          <p:cNvPr id="34" name="Text 32"/>
          <p:cNvSpPr/>
          <p:nvPr/>
        </p:nvSpPr>
        <p:spPr>
          <a:xfrm>
            <a:off x="9637776" y="4242816"/>
            <a:ext cx="1755648" cy="457200"/>
          </a:xfrm>
          <a:prstGeom prst="rect">
            <a:avLst/>
          </a:prstGeom>
          <a:noFill/>
          <a:ln/>
        </p:spPr>
        <p:txBody>
          <a:bodyPr wrap="square" lIns="0" tIns="0" rIns="0" bIns="0" rtlCol="0" anchor="ctr"/>
          <a:lstStyle/>
          <a:p>
            <a:pPr indent="0" marL="0">
              <a:lnSpc>
                <a:spcPts val="1400"/>
              </a:lnSpc>
              <a:buNone/>
            </a:pPr>
            <a:r>
              <a:rPr lang="en-US" sz="1000" b="1" dirty="0">
                <a:solidFill>
                  <a:srgbClr val="C0392B"/>
                </a:solidFill>
                <a:latin typeface="맑은 고딕" pitchFamily="34" charset="0"/>
                <a:ea typeface="맑은 고딕" pitchFamily="34" charset="-122"/>
                <a:cs typeface="맑은 고딕" pitchFamily="34" charset="-120"/>
              </a:rPr>
              <a:t>4척 — 터보차저 파울링</a:t>
            </a:r>
            <a:endParaRPr lang="en-US" sz="1000" dirty="0"/>
          </a:p>
        </p:txBody>
      </p:sp>
      <p:sp>
        <p:nvSpPr>
          <p:cNvPr id="35" name="Shape 33"/>
          <p:cNvSpPr/>
          <p:nvPr/>
        </p:nvSpPr>
        <p:spPr>
          <a:xfrm>
            <a:off x="566928" y="5065776"/>
            <a:ext cx="11057839" cy="786384"/>
          </a:xfrm>
          <a:prstGeom prst="roundRect">
            <a:avLst>
              <a:gd name="adj" fmla="val 11628"/>
            </a:avLst>
          </a:prstGeom>
          <a:solidFill>
            <a:srgbClr val="1B3A5C"/>
          </a:solidFill>
          <a:ln w="12700">
            <a:solidFill>
              <a:srgbClr val="1B3A5C"/>
            </a:solidFill>
            <a:prstDash val="solid"/>
          </a:ln>
        </p:spPr>
      </p:sp>
      <p:sp>
        <p:nvSpPr>
          <p:cNvPr id="36" name="Text 34"/>
          <p:cNvSpPr/>
          <p:nvPr/>
        </p:nvSpPr>
        <p:spPr>
          <a:xfrm>
            <a:off x="795528" y="5065776"/>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ISO 8217은 「인도 시점」의 품질을 정의할 뿐, 「엔진 입구」에서 요구되는 품질을 정의하지 않습니다.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37" name="Text 35"/>
          <p:cNvSpPr/>
          <p:nvPr/>
        </p:nvSpPr>
        <p:spPr>
          <a:xfrm>
            <a:off x="566928" y="5925312"/>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Viswa Group 2025 (항구별 사례) · CIMAC Guideline 2024 §2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03   원인 ①</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연료는 더 무거워지고 있다</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04</a:t>
            </a:r>
            <a:endParaRPr lang="en-US" sz="950" dirty="0"/>
          </a:p>
        </p:txBody>
      </p:sp>
      <p:sp>
        <p:nvSpPr>
          <p:cNvPr id="6" name="Shape 4"/>
          <p:cNvSpPr/>
          <p:nvPr/>
        </p:nvSpPr>
        <p:spPr>
          <a:xfrm>
            <a:off x="566928" y="1591056"/>
            <a:ext cx="2517572" cy="2999232"/>
          </a:xfrm>
          <a:prstGeom prst="roundRect">
            <a:avLst>
              <a:gd name="adj" fmla="val 5085"/>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786384" y="1792224"/>
            <a:ext cx="2078660"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VISCOSITY</a:t>
            </a:r>
            <a:endParaRPr lang="en-US" sz="950" dirty="0"/>
          </a:p>
        </p:txBody>
      </p:sp>
      <p:sp>
        <p:nvSpPr>
          <p:cNvPr id="8" name="Text 6"/>
          <p:cNvSpPr/>
          <p:nvPr/>
        </p:nvSpPr>
        <p:spPr>
          <a:xfrm>
            <a:off x="786384" y="2011680"/>
            <a:ext cx="2078660" cy="274320"/>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점도 @50°C</a:t>
            </a:r>
            <a:endParaRPr lang="en-US" sz="1300" dirty="0"/>
          </a:p>
        </p:txBody>
      </p:sp>
      <p:sp>
        <p:nvSpPr>
          <p:cNvPr id="9" name="Text 7"/>
          <p:cNvSpPr/>
          <p:nvPr/>
        </p:nvSpPr>
        <p:spPr>
          <a:xfrm>
            <a:off x="786384" y="2432304"/>
            <a:ext cx="2078660" cy="201168"/>
          </a:xfrm>
          <a:prstGeom prst="rect">
            <a:avLst/>
          </a:prstGeom>
          <a:noFill/>
          <a:ln/>
        </p:spPr>
        <p:txBody>
          <a:bodyPr wrap="square" lIns="0" tIns="0" rIns="0" bIns="0" rtlCol="0" anchor="ctr"/>
          <a:lstStyle/>
          <a:p>
            <a:pPr indent="0" marL="0">
              <a:buNone/>
            </a:pPr>
            <a:r>
              <a:rPr lang="en-US" sz="900" dirty="0">
                <a:solidFill>
                  <a:srgbClr val="8A94A6"/>
                </a:solidFill>
                <a:latin typeface="맑은 고딕" pitchFamily="34" charset="0"/>
                <a:ea typeface="맑은 고딕" pitchFamily="34" charset="-122"/>
                <a:cs typeface="맑은 고딕" pitchFamily="34" charset="-120"/>
              </a:rPr>
              <a:t>2024</a:t>
            </a:r>
            <a:endParaRPr lang="en-US" sz="900" dirty="0"/>
          </a:p>
        </p:txBody>
      </p:sp>
      <p:sp>
        <p:nvSpPr>
          <p:cNvPr id="10" name="Text 8"/>
          <p:cNvSpPr/>
          <p:nvPr/>
        </p:nvSpPr>
        <p:spPr>
          <a:xfrm>
            <a:off x="786384" y="2615184"/>
            <a:ext cx="2078660" cy="365760"/>
          </a:xfrm>
          <a:prstGeom prst="rect">
            <a:avLst/>
          </a:prstGeom>
          <a:noFill/>
          <a:ln/>
        </p:spPr>
        <p:txBody>
          <a:bodyPr wrap="square" lIns="0" tIns="0" rIns="0" bIns="0" rtlCol="0" anchor="ctr"/>
          <a:lstStyle/>
          <a:p>
            <a:pPr indent="0" marL="0">
              <a:buNone/>
            </a:pPr>
            <a:r>
              <a:rPr lang="en-US" sz="2000" dirty="0">
                <a:solidFill>
                  <a:srgbClr val="8A94A6"/>
                </a:solidFill>
                <a:latin typeface="맑은 고딕" pitchFamily="34" charset="0"/>
                <a:ea typeface="맑은 고딕" pitchFamily="34" charset="-122"/>
                <a:cs typeface="맑은 고딕" pitchFamily="34" charset="-120"/>
              </a:rPr>
              <a:t>155</a:t>
            </a:r>
            <a:endParaRPr lang="en-US" sz="2000" dirty="0"/>
          </a:p>
        </p:txBody>
      </p:sp>
      <p:sp>
        <p:nvSpPr>
          <p:cNvPr id="11" name="Shape 9"/>
          <p:cNvSpPr/>
          <p:nvPr/>
        </p:nvSpPr>
        <p:spPr>
          <a:xfrm>
            <a:off x="786384" y="3072384"/>
            <a:ext cx="2078660" cy="0"/>
          </a:xfrm>
          <a:prstGeom prst="line">
            <a:avLst/>
          </a:prstGeom>
          <a:noFill/>
          <a:ln w="9525">
            <a:solidFill>
              <a:srgbClr val="DFE5F0"/>
            </a:solidFill>
            <a:prstDash val="solid"/>
          </a:ln>
        </p:spPr>
      </p:sp>
      <p:sp>
        <p:nvSpPr>
          <p:cNvPr id="12" name="Text 10"/>
          <p:cNvSpPr/>
          <p:nvPr/>
        </p:nvSpPr>
        <p:spPr>
          <a:xfrm>
            <a:off x="786384" y="3163824"/>
            <a:ext cx="2078660" cy="201168"/>
          </a:xfrm>
          <a:prstGeom prst="rect">
            <a:avLst/>
          </a:prstGeom>
          <a:noFill/>
          <a:ln/>
        </p:spPr>
        <p:txBody>
          <a:bodyPr wrap="square" lIns="0" tIns="0" rIns="0" bIns="0" rtlCol="0" anchor="ctr"/>
          <a:lstStyle/>
          <a:p>
            <a:pPr indent="0" marL="0">
              <a:buNone/>
            </a:pPr>
            <a:r>
              <a:rPr lang="en-US" sz="900" b="1" dirty="0">
                <a:solidFill>
                  <a:srgbClr val="E17B34"/>
                </a:solidFill>
                <a:latin typeface="맑은 고딕" pitchFamily="34" charset="0"/>
                <a:ea typeface="맑은 고딕" pitchFamily="34" charset="-122"/>
                <a:cs typeface="맑은 고딕" pitchFamily="34" charset="-120"/>
              </a:rPr>
              <a:t>2025</a:t>
            </a:r>
            <a:endParaRPr lang="en-US" sz="900" dirty="0"/>
          </a:p>
        </p:txBody>
      </p:sp>
      <p:sp>
        <p:nvSpPr>
          <p:cNvPr id="13" name="Text 11"/>
          <p:cNvSpPr/>
          <p:nvPr/>
        </p:nvSpPr>
        <p:spPr>
          <a:xfrm>
            <a:off x="786384" y="3346704"/>
            <a:ext cx="2078660" cy="512064"/>
          </a:xfrm>
          <a:prstGeom prst="rect">
            <a:avLst/>
          </a:prstGeom>
          <a:noFill/>
          <a:ln/>
        </p:spPr>
        <p:txBody>
          <a:bodyPr wrap="square" lIns="0" tIns="0" rIns="0" bIns="0" rtlCol="0" anchor="ctr"/>
          <a:lstStyle/>
          <a:p>
            <a:pPr indent="0" marL="0">
              <a:buNone/>
            </a:pPr>
            <a:r>
              <a:rPr lang="en-US" sz="3200" b="1" dirty="0">
                <a:solidFill>
                  <a:srgbClr val="1B3A5C"/>
                </a:solidFill>
                <a:latin typeface="맑은 고딕" pitchFamily="34" charset="0"/>
                <a:ea typeface="맑은 고딕" pitchFamily="34" charset="-122"/>
                <a:cs typeface="맑은 고딕" pitchFamily="34" charset="-120"/>
              </a:rPr>
              <a:t>172</a:t>
            </a:r>
            <a:pPr indent="0" marL="0">
              <a:buNone/>
            </a:pPr>
            <a:r>
              <a:rPr lang="en-US" sz="1100" dirty="0">
                <a:solidFill>
                  <a:srgbClr val="8A94A6"/>
                </a:solidFill>
                <a:latin typeface="맑은 고딕" pitchFamily="34" charset="0"/>
                <a:ea typeface="맑은 고딕" pitchFamily="34" charset="-122"/>
                <a:cs typeface="맑은 고딕" pitchFamily="34" charset="-120"/>
              </a:rPr>
              <a:t>  cSt</a:t>
            </a:r>
            <a:endParaRPr lang="en-US" sz="3200" dirty="0"/>
          </a:p>
        </p:txBody>
      </p:sp>
      <p:sp>
        <p:nvSpPr>
          <p:cNvPr id="14" name="Shape 12"/>
          <p:cNvSpPr/>
          <p:nvPr/>
        </p:nvSpPr>
        <p:spPr>
          <a:xfrm>
            <a:off x="786384" y="3950208"/>
            <a:ext cx="2078660" cy="457200"/>
          </a:xfrm>
          <a:prstGeom prst="roundRect">
            <a:avLst>
              <a:gd name="adj" fmla="val 14000"/>
            </a:avLst>
          </a:prstGeom>
          <a:solidFill>
            <a:srgbClr val="EEF2F9"/>
          </a:solidFill>
          <a:ln w="12700">
            <a:solidFill>
              <a:srgbClr val="333333"/>
            </a:solidFill>
            <a:prstDash val="solid"/>
          </a:ln>
        </p:spPr>
      </p:sp>
      <p:sp>
        <p:nvSpPr>
          <p:cNvPr id="15" name="Text 13"/>
          <p:cNvSpPr/>
          <p:nvPr/>
        </p:nvSpPr>
        <p:spPr>
          <a:xfrm>
            <a:off x="877824" y="3950208"/>
            <a:ext cx="1895780" cy="457200"/>
          </a:xfrm>
          <a:prstGeom prst="rect">
            <a:avLst/>
          </a:prstGeom>
          <a:noFill/>
          <a:ln/>
        </p:spPr>
        <p:txBody>
          <a:bodyPr wrap="square" lIns="0" tIns="0" rIns="0" bIns="0" rtlCol="0" anchor="ctr"/>
          <a:lstStyle/>
          <a:p>
            <a:pPr algn="ctr" indent="0" marL="0">
              <a:buNone/>
            </a:pPr>
            <a:r>
              <a:rPr lang="en-US" sz="1000" dirty="0">
                <a:solidFill>
                  <a:srgbClr val="2E5C8A"/>
                </a:solidFill>
                <a:latin typeface="맑은 고딕" pitchFamily="34" charset="0"/>
                <a:ea typeface="맑은 고딕" pitchFamily="34" charset="-122"/>
                <a:cs typeface="맑은 고딕" pitchFamily="34" charset="-120"/>
              </a:rPr>
              <a:t>분리 온도를 더 높여야 함</a:t>
            </a:r>
            <a:endParaRPr lang="en-US" sz="1000" dirty="0"/>
          </a:p>
        </p:txBody>
      </p:sp>
      <p:sp>
        <p:nvSpPr>
          <p:cNvPr id="16" name="Shape 14"/>
          <p:cNvSpPr/>
          <p:nvPr/>
        </p:nvSpPr>
        <p:spPr>
          <a:xfrm>
            <a:off x="3413684" y="1591056"/>
            <a:ext cx="2517572" cy="2999232"/>
          </a:xfrm>
          <a:prstGeom prst="roundRect">
            <a:avLst>
              <a:gd name="adj" fmla="val 5085"/>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7" name="Text 15"/>
          <p:cNvSpPr/>
          <p:nvPr/>
        </p:nvSpPr>
        <p:spPr>
          <a:xfrm>
            <a:off x="3633140" y="1792224"/>
            <a:ext cx="2078660"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DENSITY</a:t>
            </a:r>
            <a:endParaRPr lang="en-US" sz="950" dirty="0"/>
          </a:p>
        </p:txBody>
      </p:sp>
      <p:sp>
        <p:nvSpPr>
          <p:cNvPr id="18" name="Text 16"/>
          <p:cNvSpPr/>
          <p:nvPr/>
        </p:nvSpPr>
        <p:spPr>
          <a:xfrm>
            <a:off x="3633140" y="2011680"/>
            <a:ext cx="2078660" cy="274320"/>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밀도 @15°C</a:t>
            </a:r>
            <a:endParaRPr lang="en-US" sz="1300" dirty="0"/>
          </a:p>
        </p:txBody>
      </p:sp>
      <p:sp>
        <p:nvSpPr>
          <p:cNvPr id="19" name="Text 17"/>
          <p:cNvSpPr/>
          <p:nvPr/>
        </p:nvSpPr>
        <p:spPr>
          <a:xfrm>
            <a:off x="3633140" y="2432304"/>
            <a:ext cx="2078660" cy="201168"/>
          </a:xfrm>
          <a:prstGeom prst="rect">
            <a:avLst/>
          </a:prstGeom>
          <a:noFill/>
          <a:ln/>
        </p:spPr>
        <p:txBody>
          <a:bodyPr wrap="square" lIns="0" tIns="0" rIns="0" bIns="0" rtlCol="0" anchor="ctr"/>
          <a:lstStyle/>
          <a:p>
            <a:pPr indent="0" marL="0">
              <a:buNone/>
            </a:pPr>
            <a:r>
              <a:rPr lang="en-US" sz="900" dirty="0">
                <a:solidFill>
                  <a:srgbClr val="8A94A6"/>
                </a:solidFill>
                <a:latin typeface="맑은 고딕" pitchFamily="34" charset="0"/>
                <a:ea typeface="맑은 고딕" pitchFamily="34" charset="-122"/>
                <a:cs typeface="맑은 고딕" pitchFamily="34" charset="-120"/>
              </a:rPr>
              <a:t>2024</a:t>
            </a:r>
            <a:endParaRPr lang="en-US" sz="900" dirty="0"/>
          </a:p>
        </p:txBody>
      </p:sp>
      <p:sp>
        <p:nvSpPr>
          <p:cNvPr id="20" name="Text 18"/>
          <p:cNvSpPr/>
          <p:nvPr/>
        </p:nvSpPr>
        <p:spPr>
          <a:xfrm>
            <a:off x="3633140" y="2615184"/>
            <a:ext cx="2078660" cy="365760"/>
          </a:xfrm>
          <a:prstGeom prst="rect">
            <a:avLst/>
          </a:prstGeom>
          <a:noFill/>
          <a:ln/>
        </p:spPr>
        <p:txBody>
          <a:bodyPr wrap="square" lIns="0" tIns="0" rIns="0" bIns="0" rtlCol="0" anchor="ctr"/>
          <a:lstStyle/>
          <a:p>
            <a:pPr indent="0" marL="0">
              <a:buNone/>
            </a:pPr>
            <a:r>
              <a:rPr lang="en-US" sz="2000" dirty="0">
                <a:solidFill>
                  <a:srgbClr val="8A94A6"/>
                </a:solidFill>
                <a:latin typeface="맑은 고딕" pitchFamily="34" charset="0"/>
                <a:ea typeface="맑은 고딕" pitchFamily="34" charset="-122"/>
                <a:cs typeface="맑은 고딕" pitchFamily="34" charset="-120"/>
              </a:rPr>
              <a:t>947</a:t>
            </a:r>
            <a:endParaRPr lang="en-US" sz="2000" dirty="0"/>
          </a:p>
        </p:txBody>
      </p:sp>
      <p:sp>
        <p:nvSpPr>
          <p:cNvPr id="21" name="Shape 19"/>
          <p:cNvSpPr/>
          <p:nvPr/>
        </p:nvSpPr>
        <p:spPr>
          <a:xfrm>
            <a:off x="3633140" y="3072384"/>
            <a:ext cx="2078660" cy="0"/>
          </a:xfrm>
          <a:prstGeom prst="line">
            <a:avLst/>
          </a:prstGeom>
          <a:noFill/>
          <a:ln w="9525">
            <a:solidFill>
              <a:srgbClr val="DFE5F0"/>
            </a:solidFill>
            <a:prstDash val="solid"/>
          </a:ln>
        </p:spPr>
      </p:sp>
      <p:sp>
        <p:nvSpPr>
          <p:cNvPr id="22" name="Text 20"/>
          <p:cNvSpPr/>
          <p:nvPr/>
        </p:nvSpPr>
        <p:spPr>
          <a:xfrm>
            <a:off x="3633140" y="3163824"/>
            <a:ext cx="2078660" cy="201168"/>
          </a:xfrm>
          <a:prstGeom prst="rect">
            <a:avLst/>
          </a:prstGeom>
          <a:noFill/>
          <a:ln/>
        </p:spPr>
        <p:txBody>
          <a:bodyPr wrap="square" lIns="0" tIns="0" rIns="0" bIns="0" rtlCol="0" anchor="ctr"/>
          <a:lstStyle/>
          <a:p>
            <a:pPr indent="0" marL="0">
              <a:buNone/>
            </a:pPr>
            <a:r>
              <a:rPr lang="en-US" sz="900" b="1" dirty="0">
                <a:solidFill>
                  <a:srgbClr val="E17B34"/>
                </a:solidFill>
                <a:latin typeface="맑은 고딕" pitchFamily="34" charset="0"/>
                <a:ea typeface="맑은 고딕" pitchFamily="34" charset="-122"/>
                <a:cs typeface="맑은 고딕" pitchFamily="34" charset="-120"/>
              </a:rPr>
              <a:t>2025</a:t>
            </a:r>
            <a:endParaRPr lang="en-US" sz="900" dirty="0"/>
          </a:p>
        </p:txBody>
      </p:sp>
      <p:sp>
        <p:nvSpPr>
          <p:cNvPr id="23" name="Text 21"/>
          <p:cNvSpPr/>
          <p:nvPr/>
        </p:nvSpPr>
        <p:spPr>
          <a:xfrm>
            <a:off x="3633140" y="3346704"/>
            <a:ext cx="2078660" cy="512064"/>
          </a:xfrm>
          <a:prstGeom prst="rect">
            <a:avLst/>
          </a:prstGeom>
          <a:noFill/>
          <a:ln/>
        </p:spPr>
        <p:txBody>
          <a:bodyPr wrap="square" lIns="0" tIns="0" rIns="0" bIns="0" rtlCol="0" anchor="ctr"/>
          <a:lstStyle/>
          <a:p>
            <a:pPr indent="0" marL="0">
              <a:buNone/>
            </a:pPr>
            <a:r>
              <a:rPr lang="en-US" sz="3200" b="1" dirty="0">
                <a:solidFill>
                  <a:srgbClr val="1B3A5C"/>
                </a:solidFill>
                <a:latin typeface="맑은 고딕" pitchFamily="34" charset="0"/>
                <a:ea typeface="맑은 고딕" pitchFamily="34" charset="-122"/>
                <a:cs typeface="맑은 고딕" pitchFamily="34" charset="-120"/>
              </a:rPr>
              <a:t>951</a:t>
            </a:r>
            <a:pPr indent="0" marL="0">
              <a:buNone/>
            </a:pPr>
            <a:r>
              <a:rPr lang="en-US" sz="1100" dirty="0">
                <a:solidFill>
                  <a:srgbClr val="8A94A6"/>
                </a:solidFill>
                <a:latin typeface="맑은 고딕" pitchFamily="34" charset="0"/>
                <a:ea typeface="맑은 고딕" pitchFamily="34" charset="-122"/>
                <a:cs typeface="맑은 고딕" pitchFamily="34" charset="-120"/>
              </a:rPr>
              <a:t>  kg/m³</a:t>
            </a:r>
            <a:endParaRPr lang="en-US" sz="3200" dirty="0"/>
          </a:p>
        </p:txBody>
      </p:sp>
      <p:sp>
        <p:nvSpPr>
          <p:cNvPr id="24" name="Shape 22"/>
          <p:cNvSpPr/>
          <p:nvPr/>
        </p:nvSpPr>
        <p:spPr>
          <a:xfrm>
            <a:off x="3633140" y="3950208"/>
            <a:ext cx="2078660" cy="457200"/>
          </a:xfrm>
          <a:prstGeom prst="roundRect">
            <a:avLst>
              <a:gd name="adj" fmla="val 14000"/>
            </a:avLst>
          </a:prstGeom>
          <a:solidFill>
            <a:srgbClr val="EEF2F9"/>
          </a:solidFill>
          <a:ln w="12700">
            <a:solidFill>
              <a:srgbClr val="333333"/>
            </a:solidFill>
            <a:prstDash val="solid"/>
          </a:ln>
        </p:spPr>
      </p:sp>
      <p:sp>
        <p:nvSpPr>
          <p:cNvPr id="25" name="Text 23"/>
          <p:cNvSpPr/>
          <p:nvPr/>
        </p:nvSpPr>
        <p:spPr>
          <a:xfrm>
            <a:off x="3724580" y="3950208"/>
            <a:ext cx="1895780" cy="457200"/>
          </a:xfrm>
          <a:prstGeom prst="rect">
            <a:avLst/>
          </a:prstGeom>
          <a:noFill/>
          <a:ln/>
        </p:spPr>
        <p:txBody>
          <a:bodyPr wrap="square" lIns="0" tIns="0" rIns="0" bIns="0" rtlCol="0" anchor="ctr"/>
          <a:lstStyle/>
          <a:p>
            <a:pPr algn="ctr" indent="0" marL="0">
              <a:buNone/>
            </a:pPr>
            <a:r>
              <a:rPr lang="en-US" sz="1000" dirty="0">
                <a:solidFill>
                  <a:srgbClr val="2E5C8A"/>
                </a:solidFill>
                <a:latin typeface="맑은 고딕" pitchFamily="34" charset="0"/>
                <a:ea typeface="맑은 고딕" pitchFamily="34" charset="-122"/>
                <a:cs typeface="맑은 고딕" pitchFamily="34" charset="-120"/>
              </a:rPr>
              <a:t>물 · 고형분 분리가 더 어려움</a:t>
            </a:r>
            <a:endParaRPr lang="en-US" sz="1000" dirty="0"/>
          </a:p>
        </p:txBody>
      </p:sp>
      <p:sp>
        <p:nvSpPr>
          <p:cNvPr id="26" name="Shape 24"/>
          <p:cNvSpPr/>
          <p:nvPr/>
        </p:nvSpPr>
        <p:spPr>
          <a:xfrm>
            <a:off x="6260440" y="1591056"/>
            <a:ext cx="2517572" cy="2999232"/>
          </a:xfrm>
          <a:prstGeom prst="roundRect">
            <a:avLst>
              <a:gd name="adj" fmla="val 5085"/>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27" name="Text 25"/>
          <p:cNvSpPr/>
          <p:nvPr/>
        </p:nvSpPr>
        <p:spPr>
          <a:xfrm>
            <a:off x="6479896" y="1792224"/>
            <a:ext cx="2078660"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MCR</a:t>
            </a:r>
            <a:endParaRPr lang="en-US" sz="950" dirty="0"/>
          </a:p>
        </p:txBody>
      </p:sp>
      <p:sp>
        <p:nvSpPr>
          <p:cNvPr id="28" name="Text 26"/>
          <p:cNvSpPr/>
          <p:nvPr/>
        </p:nvSpPr>
        <p:spPr>
          <a:xfrm>
            <a:off x="6479896" y="2011680"/>
            <a:ext cx="2078660" cy="274320"/>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잔류탄소분</a:t>
            </a:r>
            <a:endParaRPr lang="en-US" sz="1300" dirty="0"/>
          </a:p>
        </p:txBody>
      </p:sp>
      <p:sp>
        <p:nvSpPr>
          <p:cNvPr id="29" name="Text 27"/>
          <p:cNvSpPr/>
          <p:nvPr/>
        </p:nvSpPr>
        <p:spPr>
          <a:xfrm>
            <a:off x="6479896" y="2432304"/>
            <a:ext cx="2078660" cy="201168"/>
          </a:xfrm>
          <a:prstGeom prst="rect">
            <a:avLst/>
          </a:prstGeom>
          <a:noFill/>
          <a:ln/>
        </p:spPr>
        <p:txBody>
          <a:bodyPr wrap="square" lIns="0" tIns="0" rIns="0" bIns="0" rtlCol="0" anchor="ctr"/>
          <a:lstStyle/>
          <a:p>
            <a:pPr indent="0" marL="0">
              <a:buNone/>
            </a:pPr>
            <a:r>
              <a:rPr lang="en-US" sz="900" dirty="0">
                <a:solidFill>
                  <a:srgbClr val="8A94A6"/>
                </a:solidFill>
                <a:latin typeface="맑은 고딕" pitchFamily="34" charset="0"/>
                <a:ea typeface="맑은 고딕" pitchFamily="34" charset="-122"/>
                <a:cs typeface="맑은 고딕" pitchFamily="34" charset="-120"/>
              </a:rPr>
              <a:t>2024</a:t>
            </a:r>
            <a:endParaRPr lang="en-US" sz="900" dirty="0"/>
          </a:p>
        </p:txBody>
      </p:sp>
      <p:sp>
        <p:nvSpPr>
          <p:cNvPr id="30" name="Text 28"/>
          <p:cNvSpPr/>
          <p:nvPr/>
        </p:nvSpPr>
        <p:spPr>
          <a:xfrm>
            <a:off x="6479896" y="2615184"/>
            <a:ext cx="2078660" cy="365760"/>
          </a:xfrm>
          <a:prstGeom prst="rect">
            <a:avLst/>
          </a:prstGeom>
          <a:noFill/>
          <a:ln/>
        </p:spPr>
        <p:txBody>
          <a:bodyPr wrap="square" lIns="0" tIns="0" rIns="0" bIns="0" rtlCol="0" anchor="ctr"/>
          <a:lstStyle/>
          <a:p>
            <a:pPr indent="0" marL="0">
              <a:buNone/>
            </a:pPr>
            <a:r>
              <a:rPr lang="en-US" sz="2000" dirty="0">
                <a:solidFill>
                  <a:srgbClr val="8A94A6"/>
                </a:solidFill>
                <a:latin typeface="맑은 고딕" pitchFamily="34" charset="0"/>
                <a:ea typeface="맑은 고딕" pitchFamily="34" charset="-122"/>
                <a:cs typeface="맑은 고딕" pitchFamily="34" charset="-120"/>
              </a:rPr>
              <a:t>6.25</a:t>
            </a:r>
            <a:endParaRPr lang="en-US" sz="2000" dirty="0"/>
          </a:p>
        </p:txBody>
      </p:sp>
      <p:sp>
        <p:nvSpPr>
          <p:cNvPr id="31" name="Shape 29"/>
          <p:cNvSpPr/>
          <p:nvPr/>
        </p:nvSpPr>
        <p:spPr>
          <a:xfrm>
            <a:off x="6479896" y="3072384"/>
            <a:ext cx="2078660" cy="0"/>
          </a:xfrm>
          <a:prstGeom prst="line">
            <a:avLst/>
          </a:prstGeom>
          <a:noFill/>
          <a:ln w="9525">
            <a:solidFill>
              <a:srgbClr val="DFE5F0"/>
            </a:solidFill>
            <a:prstDash val="solid"/>
          </a:ln>
        </p:spPr>
      </p:sp>
      <p:sp>
        <p:nvSpPr>
          <p:cNvPr id="32" name="Text 30"/>
          <p:cNvSpPr/>
          <p:nvPr/>
        </p:nvSpPr>
        <p:spPr>
          <a:xfrm>
            <a:off x="6479896" y="3163824"/>
            <a:ext cx="2078660" cy="201168"/>
          </a:xfrm>
          <a:prstGeom prst="rect">
            <a:avLst/>
          </a:prstGeom>
          <a:noFill/>
          <a:ln/>
        </p:spPr>
        <p:txBody>
          <a:bodyPr wrap="square" lIns="0" tIns="0" rIns="0" bIns="0" rtlCol="0" anchor="ctr"/>
          <a:lstStyle/>
          <a:p>
            <a:pPr indent="0" marL="0">
              <a:buNone/>
            </a:pPr>
            <a:r>
              <a:rPr lang="en-US" sz="900" b="1" dirty="0">
                <a:solidFill>
                  <a:srgbClr val="E17B34"/>
                </a:solidFill>
                <a:latin typeface="맑은 고딕" pitchFamily="34" charset="0"/>
                <a:ea typeface="맑은 고딕" pitchFamily="34" charset="-122"/>
                <a:cs typeface="맑은 고딕" pitchFamily="34" charset="-120"/>
              </a:rPr>
              <a:t>2025</a:t>
            </a:r>
            <a:endParaRPr lang="en-US" sz="900" dirty="0"/>
          </a:p>
        </p:txBody>
      </p:sp>
      <p:sp>
        <p:nvSpPr>
          <p:cNvPr id="33" name="Text 31"/>
          <p:cNvSpPr/>
          <p:nvPr/>
        </p:nvSpPr>
        <p:spPr>
          <a:xfrm>
            <a:off x="6479896" y="3346704"/>
            <a:ext cx="2078660" cy="512064"/>
          </a:xfrm>
          <a:prstGeom prst="rect">
            <a:avLst/>
          </a:prstGeom>
          <a:noFill/>
          <a:ln/>
        </p:spPr>
        <p:txBody>
          <a:bodyPr wrap="square" lIns="0" tIns="0" rIns="0" bIns="0" rtlCol="0" anchor="ctr"/>
          <a:lstStyle/>
          <a:p>
            <a:pPr indent="0" marL="0">
              <a:buNone/>
            </a:pPr>
            <a:r>
              <a:rPr lang="en-US" sz="3200" b="1" dirty="0">
                <a:solidFill>
                  <a:srgbClr val="1B3A5C"/>
                </a:solidFill>
                <a:latin typeface="맑은 고딕" pitchFamily="34" charset="0"/>
                <a:ea typeface="맑은 고딕" pitchFamily="34" charset="-122"/>
                <a:cs typeface="맑은 고딕" pitchFamily="34" charset="-120"/>
              </a:rPr>
              <a:t>6.61</a:t>
            </a:r>
            <a:pPr indent="0" marL="0">
              <a:buNone/>
            </a:pPr>
            <a:r>
              <a:rPr lang="en-US" sz="1100" dirty="0">
                <a:solidFill>
                  <a:srgbClr val="8A94A6"/>
                </a:solidFill>
                <a:latin typeface="맑은 고딕" pitchFamily="34" charset="0"/>
                <a:ea typeface="맑은 고딕" pitchFamily="34" charset="-122"/>
                <a:cs typeface="맑은 고딕" pitchFamily="34" charset="-120"/>
              </a:rPr>
              <a:t>  %</a:t>
            </a:r>
            <a:endParaRPr lang="en-US" sz="3200" dirty="0"/>
          </a:p>
        </p:txBody>
      </p:sp>
      <p:sp>
        <p:nvSpPr>
          <p:cNvPr id="34" name="Shape 32"/>
          <p:cNvSpPr/>
          <p:nvPr/>
        </p:nvSpPr>
        <p:spPr>
          <a:xfrm>
            <a:off x="6479896" y="3950208"/>
            <a:ext cx="2078660" cy="457200"/>
          </a:xfrm>
          <a:prstGeom prst="roundRect">
            <a:avLst>
              <a:gd name="adj" fmla="val 14000"/>
            </a:avLst>
          </a:prstGeom>
          <a:solidFill>
            <a:srgbClr val="EEF2F9"/>
          </a:solidFill>
          <a:ln w="12700">
            <a:solidFill>
              <a:srgbClr val="333333"/>
            </a:solidFill>
            <a:prstDash val="solid"/>
          </a:ln>
        </p:spPr>
      </p:sp>
      <p:sp>
        <p:nvSpPr>
          <p:cNvPr id="35" name="Text 33"/>
          <p:cNvSpPr/>
          <p:nvPr/>
        </p:nvSpPr>
        <p:spPr>
          <a:xfrm>
            <a:off x="6571336" y="3950208"/>
            <a:ext cx="1895780" cy="457200"/>
          </a:xfrm>
          <a:prstGeom prst="rect">
            <a:avLst/>
          </a:prstGeom>
          <a:noFill/>
          <a:ln/>
        </p:spPr>
        <p:txBody>
          <a:bodyPr wrap="square" lIns="0" tIns="0" rIns="0" bIns="0" rtlCol="0" anchor="ctr"/>
          <a:lstStyle/>
          <a:p>
            <a:pPr algn="ctr" indent="0" marL="0">
              <a:buNone/>
            </a:pPr>
            <a:r>
              <a:rPr lang="en-US" sz="1000" dirty="0">
                <a:solidFill>
                  <a:srgbClr val="2E5C8A"/>
                </a:solidFill>
                <a:latin typeface="맑은 고딕" pitchFamily="34" charset="0"/>
                <a:ea typeface="맑은 고딕" pitchFamily="34" charset="-122"/>
                <a:cs typeface="맑은 고딕" pitchFamily="34" charset="-120"/>
              </a:rPr>
              <a:t>연소 후 퇴적물 증가</a:t>
            </a:r>
            <a:endParaRPr lang="en-US" sz="1000" dirty="0"/>
          </a:p>
        </p:txBody>
      </p:sp>
      <p:sp>
        <p:nvSpPr>
          <p:cNvPr id="36" name="Shape 34"/>
          <p:cNvSpPr/>
          <p:nvPr/>
        </p:nvSpPr>
        <p:spPr>
          <a:xfrm>
            <a:off x="9107195" y="1591056"/>
            <a:ext cx="2517572" cy="2999232"/>
          </a:xfrm>
          <a:prstGeom prst="roundRect">
            <a:avLst>
              <a:gd name="adj" fmla="val 5085"/>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37" name="Text 35"/>
          <p:cNvSpPr/>
          <p:nvPr/>
        </p:nvSpPr>
        <p:spPr>
          <a:xfrm>
            <a:off x="9326651" y="1792224"/>
            <a:ext cx="2078660"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AL + SI</a:t>
            </a:r>
            <a:endParaRPr lang="en-US" sz="950" dirty="0"/>
          </a:p>
        </p:txBody>
      </p:sp>
      <p:sp>
        <p:nvSpPr>
          <p:cNvPr id="38" name="Text 36"/>
          <p:cNvSpPr/>
          <p:nvPr/>
        </p:nvSpPr>
        <p:spPr>
          <a:xfrm>
            <a:off x="9326651" y="2011680"/>
            <a:ext cx="2078660" cy="274320"/>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촉매 미분 평균</a:t>
            </a:r>
            <a:endParaRPr lang="en-US" sz="1300" dirty="0"/>
          </a:p>
        </p:txBody>
      </p:sp>
      <p:sp>
        <p:nvSpPr>
          <p:cNvPr id="39" name="Text 37"/>
          <p:cNvSpPr/>
          <p:nvPr/>
        </p:nvSpPr>
        <p:spPr>
          <a:xfrm>
            <a:off x="9326651" y="2432304"/>
            <a:ext cx="2078660" cy="201168"/>
          </a:xfrm>
          <a:prstGeom prst="rect">
            <a:avLst/>
          </a:prstGeom>
          <a:noFill/>
          <a:ln/>
        </p:spPr>
        <p:txBody>
          <a:bodyPr wrap="square" lIns="0" tIns="0" rIns="0" bIns="0" rtlCol="0" anchor="ctr"/>
          <a:lstStyle/>
          <a:p>
            <a:pPr indent="0" marL="0">
              <a:buNone/>
            </a:pPr>
            <a:r>
              <a:rPr lang="en-US" sz="900" dirty="0">
                <a:solidFill>
                  <a:srgbClr val="8A94A6"/>
                </a:solidFill>
                <a:latin typeface="맑은 고딕" pitchFamily="34" charset="0"/>
                <a:ea typeface="맑은 고딕" pitchFamily="34" charset="-122"/>
                <a:cs typeface="맑은 고딕" pitchFamily="34" charset="-120"/>
              </a:rPr>
              <a:t>2024</a:t>
            </a:r>
            <a:endParaRPr lang="en-US" sz="900" dirty="0"/>
          </a:p>
        </p:txBody>
      </p:sp>
      <p:sp>
        <p:nvSpPr>
          <p:cNvPr id="40" name="Text 38"/>
          <p:cNvSpPr/>
          <p:nvPr/>
        </p:nvSpPr>
        <p:spPr>
          <a:xfrm>
            <a:off x="9326651" y="2615184"/>
            <a:ext cx="2078660" cy="365760"/>
          </a:xfrm>
          <a:prstGeom prst="rect">
            <a:avLst/>
          </a:prstGeom>
          <a:noFill/>
          <a:ln/>
        </p:spPr>
        <p:txBody>
          <a:bodyPr wrap="square" lIns="0" tIns="0" rIns="0" bIns="0" rtlCol="0" anchor="ctr"/>
          <a:lstStyle/>
          <a:p>
            <a:pPr indent="0" marL="0">
              <a:buNone/>
            </a:pPr>
            <a:r>
              <a:rPr lang="en-US" sz="2000" dirty="0">
                <a:solidFill>
                  <a:srgbClr val="8A94A6"/>
                </a:solidFill>
                <a:latin typeface="맑은 고딕" pitchFamily="34" charset="0"/>
                <a:ea typeface="맑은 고딕" pitchFamily="34" charset="-122"/>
                <a:cs typeface="맑은 고딕" pitchFamily="34" charset="-120"/>
              </a:rPr>
              <a:t>18</a:t>
            </a:r>
            <a:endParaRPr lang="en-US" sz="2000" dirty="0"/>
          </a:p>
        </p:txBody>
      </p:sp>
      <p:sp>
        <p:nvSpPr>
          <p:cNvPr id="41" name="Shape 39"/>
          <p:cNvSpPr/>
          <p:nvPr/>
        </p:nvSpPr>
        <p:spPr>
          <a:xfrm>
            <a:off x="9326651" y="3072384"/>
            <a:ext cx="2078660" cy="0"/>
          </a:xfrm>
          <a:prstGeom prst="line">
            <a:avLst/>
          </a:prstGeom>
          <a:noFill/>
          <a:ln w="9525">
            <a:solidFill>
              <a:srgbClr val="DFE5F0"/>
            </a:solidFill>
            <a:prstDash val="solid"/>
          </a:ln>
        </p:spPr>
      </p:sp>
      <p:sp>
        <p:nvSpPr>
          <p:cNvPr id="42" name="Text 40"/>
          <p:cNvSpPr/>
          <p:nvPr/>
        </p:nvSpPr>
        <p:spPr>
          <a:xfrm>
            <a:off x="9326651" y="3163824"/>
            <a:ext cx="2078660" cy="201168"/>
          </a:xfrm>
          <a:prstGeom prst="rect">
            <a:avLst/>
          </a:prstGeom>
          <a:noFill/>
          <a:ln/>
        </p:spPr>
        <p:txBody>
          <a:bodyPr wrap="square" lIns="0" tIns="0" rIns="0" bIns="0" rtlCol="0" anchor="ctr"/>
          <a:lstStyle/>
          <a:p>
            <a:pPr indent="0" marL="0">
              <a:buNone/>
            </a:pPr>
            <a:r>
              <a:rPr lang="en-US" sz="900" b="1" dirty="0">
                <a:solidFill>
                  <a:srgbClr val="E17B34"/>
                </a:solidFill>
                <a:latin typeface="맑은 고딕" pitchFamily="34" charset="0"/>
                <a:ea typeface="맑은 고딕" pitchFamily="34" charset="-122"/>
                <a:cs typeface="맑은 고딕" pitchFamily="34" charset="-120"/>
              </a:rPr>
              <a:t>2025</a:t>
            </a:r>
            <a:endParaRPr lang="en-US" sz="900" dirty="0"/>
          </a:p>
        </p:txBody>
      </p:sp>
      <p:sp>
        <p:nvSpPr>
          <p:cNvPr id="43" name="Text 41"/>
          <p:cNvSpPr/>
          <p:nvPr/>
        </p:nvSpPr>
        <p:spPr>
          <a:xfrm>
            <a:off x="9326651" y="3346704"/>
            <a:ext cx="2078660" cy="512064"/>
          </a:xfrm>
          <a:prstGeom prst="rect">
            <a:avLst/>
          </a:prstGeom>
          <a:noFill/>
          <a:ln/>
        </p:spPr>
        <p:txBody>
          <a:bodyPr wrap="square" lIns="0" tIns="0" rIns="0" bIns="0" rtlCol="0" anchor="ctr"/>
          <a:lstStyle/>
          <a:p>
            <a:pPr indent="0" marL="0">
              <a:buNone/>
            </a:pPr>
            <a:r>
              <a:rPr lang="en-US" sz="3200" b="1" dirty="0">
                <a:solidFill>
                  <a:srgbClr val="1B3A5C"/>
                </a:solidFill>
                <a:latin typeface="맑은 고딕" pitchFamily="34" charset="0"/>
                <a:ea typeface="맑은 고딕" pitchFamily="34" charset="-122"/>
                <a:cs typeface="맑은 고딕" pitchFamily="34" charset="-120"/>
              </a:rPr>
              <a:t>21</a:t>
            </a:r>
            <a:pPr indent="0" marL="0">
              <a:buNone/>
            </a:pPr>
            <a:r>
              <a:rPr lang="en-US" sz="1100" dirty="0">
                <a:solidFill>
                  <a:srgbClr val="8A94A6"/>
                </a:solidFill>
                <a:latin typeface="맑은 고딕" pitchFamily="34" charset="0"/>
                <a:ea typeface="맑은 고딕" pitchFamily="34" charset="-122"/>
                <a:cs typeface="맑은 고딕" pitchFamily="34" charset="-120"/>
              </a:rPr>
              <a:t>  ppm</a:t>
            </a:r>
            <a:endParaRPr lang="en-US" sz="3200" dirty="0"/>
          </a:p>
        </p:txBody>
      </p:sp>
      <p:sp>
        <p:nvSpPr>
          <p:cNvPr id="44" name="Shape 42"/>
          <p:cNvSpPr/>
          <p:nvPr/>
        </p:nvSpPr>
        <p:spPr>
          <a:xfrm>
            <a:off x="9326651" y="3950208"/>
            <a:ext cx="2078660" cy="457200"/>
          </a:xfrm>
          <a:prstGeom prst="roundRect">
            <a:avLst>
              <a:gd name="adj" fmla="val 14000"/>
            </a:avLst>
          </a:prstGeom>
          <a:solidFill>
            <a:srgbClr val="EEF2F9"/>
          </a:solidFill>
          <a:ln w="12700">
            <a:solidFill>
              <a:srgbClr val="333333"/>
            </a:solidFill>
            <a:prstDash val="solid"/>
          </a:ln>
        </p:spPr>
      </p:sp>
      <p:sp>
        <p:nvSpPr>
          <p:cNvPr id="45" name="Text 43"/>
          <p:cNvSpPr/>
          <p:nvPr/>
        </p:nvSpPr>
        <p:spPr>
          <a:xfrm>
            <a:off x="9418091" y="3950208"/>
            <a:ext cx="1895780" cy="457200"/>
          </a:xfrm>
          <a:prstGeom prst="rect">
            <a:avLst/>
          </a:prstGeom>
          <a:noFill/>
          <a:ln/>
        </p:spPr>
        <p:txBody>
          <a:bodyPr wrap="square" lIns="0" tIns="0" rIns="0" bIns="0" rtlCol="0" anchor="ctr"/>
          <a:lstStyle/>
          <a:p>
            <a:pPr algn="ctr" indent="0" marL="0">
              <a:buNone/>
            </a:pPr>
            <a:r>
              <a:rPr lang="en-US" sz="1000" dirty="0">
                <a:solidFill>
                  <a:srgbClr val="2E5C8A"/>
                </a:solidFill>
                <a:latin typeface="맑은 고딕" pitchFamily="34" charset="0"/>
                <a:ea typeface="맑은 고딕" pitchFamily="34" charset="-122"/>
                <a:cs typeface="맑은 고딕" pitchFamily="34" charset="-120"/>
              </a:rPr>
              <a:t>마모성 입자 부하 상승</a:t>
            </a:r>
            <a:endParaRPr lang="en-US" sz="1000" dirty="0"/>
          </a:p>
        </p:txBody>
      </p:sp>
      <p:sp>
        <p:nvSpPr>
          <p:cNvPr id="46" name="Shape 44"/>
          <p:cNvSpPr/>
          <p:nvPr/>
        </p:nvSpPr>
        <p:spPr>
          <a:xfrm>
            <a:off x="566928" y="4791456"/>
            <a:ext cx="11057839" cy="786384"/>
          </a:xfrm>
          <a:prstGeom prst="roundRect">
            <a:avLst>
              <a:gd name="adj" fmla="val 11628"/>
            </a:avLst>
          </a:prstGeom>
          <a:solidFill>
            <a:srgbClr val="1B3A5C"/>
          </a:solidFill>
          <a:ln w="12700">
            <a:solidFill>
              <a:srgbClr val="1B3A5C"/>
            </a:solidFill>
            <a:prstDash val="solid"/>
          </a:ln>
        </p:spPr>
      </p:sp>
      <p:sp>
        <p:nvSpPr>
          <p:cNvPr id="47" name="Text 45"/>
          <p:cNvSpPr/>
          <p:nvPr/>
        </p:nvSpPr>
        <p:spPr>
          <a:xfrm>
            <a:off x="795528" y="4791456"/>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점도가 오르면 분리 온도를 더 올려야 합니다. 그런데 VLSFO는 과열되면 오히려 불안정해집니다.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48" name="Text 46"/>
          <p:cNvSpPr/>
          <p:nvPr/>
        </p:nvSpPr>
        <p:spPr>
          <a:xfrm>
            <a:off x="566928" y="5705856"/>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Viswa Group 2024 · 2025, VLSFO 전 세계 평균 (Table 1) · CIMAC Guideline 2024 §7.2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04   원인 ②</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60 ppm 합격, 15 ppm 필요</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05</a:t>
            </a:r>
            <a:endParaRPr lang="en-US" sz="950" dirty="0"/>
          </a:p>
        </p:txBody>
      </p:sp>
      <p:sp>
        <p:nvSpPr>
          <p:cNvPr id="6" name="Shape 4"/>
          <p:cNvSpPr/>
          <p:nvPr/>
        </p:nvSpPr>
        <p:spPr>
          <a:xfrm>
            <a:off x="566928" y="1591056"/>
            <a:ext cx="3273552" cy="3017520"/>
          </a:xfrm>
          <a:prstGeom prst="roundRect">
            <a:avLst>
              <a:gd name="adj" fmla="val 42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04672" y="1792224"/>
            <a:ext cx="2798064"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AS DELIVERED</a:t>
            </a:r>
            <a:endParaRPr lang="en-US" sz="950" dirty="0"/>
          </a:p>
        </p:txBody>
      </p:sp>
      <p:sp>
        <p:nvSpPr>
          <p:cNvPr id="8" name="Text 6"/>
          <p:cNvSpPr/>
          <p:nvPr/>
        </p:nvSpPr>
        <p:spPr>
          <a:xfrm>
            <a:off x="804672" y="2011680"/>
            <a:ext cx="2798064" cy="274320"/>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인도 시점 규격</a:t>
            </a:r>
            <a:endParaRPr lang="en-US" sz="1300" dirty="0"/>
          </a:p>
        </p:txBody>
      </p:sp>
      <p:sp>
        <p:nvSpPr>
          <p:cNvPr id="9" name="Text 7"/>
          <p:cNvSpPr/>
          <p:nvPr/>
        </p:nvSpPr>
        <p:spPr>
          <a:xfrm>
            <a:off x="804672" y="2377440"/>
            <a:ext cx="2798064" cy="859536"/>
          </a:xfrm>
          <a:prstGeom prst="rect">
            <a:avLst/>
          </a:prstGeom>
          <a:noFill/>
          <a:ln/>
        </p:spPr>
        <p:txBody>
          <a:bodyPr wrap="square" lIns="0" tIns="0" rIns="0" bIns="0" rtlCol="0" anchor="ctr"/>
          <a:lstStyle/>
          <a:p>
            <a:pPr indent="0" marL="0">
              <a:buNone/>
            </a:pPr>
            <a:r>
              <a:rPr lang="en-US" sz="4800" b="1" dirty="0">
                <a:solidFill>
                  <a:srgbClr val="2E5C8A"/>
                </a:solidFill>
                <a:latin typeface="맑은 고딕" pitchFamily="34" charset="0"/>
                <a:ea typeface="맑은 고딕" pitchFamily="34" charset="-122"/>
                <a:cs typeface="맑은 고딕" pitchFamily="34" charset="-120"/>
              </a:rPr>
              <a:t>60</a:t>
            </a:r>
            <a:pPr indent="0" marL="0">
              <a:buNone/>
            </a:pPr>
            <a:r>
              <a:rPr lang="en-US" sz="1400" dirty="0">
                <a:solidFill>
                  <a:srgbClr val="8A94A6"/>
                </a:solidFill>
                <a:latin typeface="맑은 고딕" pitchFamily="34" charset="0"/>
                <a:ea typeface="맑은 고딕" pitchFamily="34" charset="-122"/>
                <a:cs typeface="맑은 고딕" pitchFamily="34" charset="-120"/>
              </a:rPr>
              <a:t> ppm</a:t>
            </a:r>
            <a:endParaRPr lang="en-US" sz="4800" dirty="0"/>
          </a:p>
        </p:txBody>
      </p:sp>
      <p:sp>
        <p:nvSpPr>
          <p:cNvPr id="10" name="Shape 8"/>
          <p:cNvSpPr/>
          <p:nvPr/>
        </p:nvSpPr>
        <p:spPr>
          <a:xfrm>
            <a:off x="804672" y="3346704"/>
            <a:ext cx="2798064" cy="713232"/>
          </a:xfrm>
          <a:prstGeom prst="roundRect">
            <a:avLst>
              <a:gd name="adj" fmla="val 10256"/>
            </a:avLst>
          </a:prstGeom>
          <a:solidFill>
            <a:srgbClr val="EEF2F9"/>
          </a:solidFill>
          <a:ln w="12700">
            <a:solidFill>
              <a:srgbClr val="333333"/>
            </a:solidFill>
            <a:prstDash val="solid"/>
          </a:ln>
        </p:spPr>
      </p:sp>
      <p:sp>
        <p:nvSpPr>
          <p:cNvPr id="11" name="Text 9"/>
          <p:cNvSpPr/>
          <p:nvPr/>
        </p:nvSpPr>
        <p:spPr>
          <a:xfrm>
            <a:off x="896112" y="3346704"/>
            <a:ext cx="2615184" cy="713232"/>
          </a:xfrm>
          <a:prstGeom prst="rect">
            <a:avLst/>
          </a:prstGeom>
          <a:noFill/>
          <a:ln/>
        </p:spPr>
        <p:txBody>
          <a:bodyPr wrap="square" lIns="0" tIns="0" rIns="0" bIns="0" rtlCol="0" anchor="ctr"/>
          <a:lstStyle/>
          <a:p>
            <a:pPr algn="ct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ISO 8217:2024 상한</a:t>
            </a:r>
            <a:endParaRPr lang="en-US" sz="1000" dirty="0"/>
          </a:p>
          <a:p>
            <a:pPr algn="ct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(저점도 등급은 40~50 ppm)</a:t>
            </a:r>
            <a:endParaRPr lang="en-US" sz="1000" dirty="0"/>
          </a:p>
        </p:txBody>
      </p:sp>
      <p:sp>
        <p:nvSpPr>
          <p:cNvPr id="12" name="Text 10"/>
          <p:cNvSpPr/>
          <p:nvPr/>
        </p:nvSpPr>
        <p:spPr>
          <a:xfrm>
            <a:off x="3895344" y="2798064"/>
            <a:ext cx="457200" cy="365760"/>
          </a:xfrm>
          <a:prstGeom prst="rect">
            <a:avLst/>
          </a:prstGeom>
          <a:noFill/>
          <a:ln/>
        </p:spPr>
        <p:txBody>
          <a:bodyPr wrap="square" lIns="0" tIns="0" rIns="0" bIns="0" rtlCol="0" anchor="ctr"/>
          <a:lstStyle/>
          <a:p>
            <a:pPr algn="ctr" indent="0" marL="0">
              <a:buNone/>
            </a:pPr>
            <a:r>
              <a:rPr lang="en-US" sz="1500" dirty="0">
                <a:solidFill>
                  <a:srgbClr val="B9C4D6"/>
                </a:solidFill>
                <a:latin typeface="맑은 고딕" pitchFamily="34" charset="0"/>
                <a:ea typeface="맑은 고딕" pitchFamily="34" charset="-122"/>
                <a:cs typeface="맑은 고딕" pitchFamily="34" charset="-120"/>
              </a:rPr>
              <a:t>▶</a:t>
            </a:r>
            <a:endParaRPr lang="en-US" sz="1500" dirty="0"/>
          </a:p>
        </p:txBody>
      </p:sp>
      <p:sp>
        <p:nvSpPr>
          <p:cNvPr id="13" name="Shape 11"/>
          <p:cNvSpPr/>
          <p:nvPr/>
        </p:nvSpPr>
        <p:spPr>
          <a:xfrm>
            <a:off x="4407408" y="1591056"/>
            <a:ext cx="3273552" cy="3017520"/>
          </a:xfrm>
          <a:prstGeom prst="roundRect">
            <a:avLst>
              <a:gd name="adj" fmla="val 42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4" name="Text 12"/>
          <p:cNvSpPr/>
          <p:nvPr/>
        </p:nvSpPr>
        <p:spPr>
          <a:xfrm>
            <a:off x="4645152" y="1792224"/>
            <a:ext cx="2798064" cy="219456"/>
          </a:xfrm>
          <a:prstGeom prst="rect">
            <a:avLst/>
          </a:prstGeom>
          <a:noFill/>
          <a:ln/>
        </p:spPr>
        <p:txBody>
          <a:bodyPr wrap="square" lIns="0" tIns="0" rIns="0" bIns="0" rtlCol="0" anchor="ctr"/>
          <a:lstStyle/>
          <a:p>
            <a:pPr indent="0" marL="0">
              <a:buNone/>
            </a:pPr>
            <a:r>
              <a:rPr lang="en-US" sz="950" b="1" spc="180" kern="0" dirty="0">
                <a:solidFill>
                  <a:srgbClr val="C0392B"/>
                </a:solidFill>
                <a:latin typeface="맑은 고딕" pitchFamily="34" charset="0"/>
                <a:ea typeface="맑은 고딕" pitchFamily="34" charset="-122"/>
                <a:cs typeface="맑은 고딕" pitchFamily="34" charset="-120"/>
              </a:rPr>
              <a:t>AS SUPPLIED</a:t>
            </a:r>
            <a:endParaRPr lang="en-US" sz="950" dirty="0"/>
          </a:p>
        </p:txBody>
      </p:sp>
      <p:sp>
        <p:nvSpPr>
          <p:cNvPr id="15" name="Text 13"/>
          <p:cNvSpPr/>
          <p:nvPr/>
        </p:nvSpPr>
        <p:spPr>
          <a:xfrm>
            <a:off x="4645152" y="2011680"/>
            <a:ext cx="2798064" cy="274320"/>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실제 공급 최대값</a:t>
            </a:r>
            <a:endParaRPr lang="en-US" sz="1300" dirty="0"/>
          </a:p>
        </p:txBody>
      </p:sp>
      <p:sp>
        <p:nvSpPr>
          <p:cNvPr id="16" name="Text 14"/>
          <p:cNvSpPr/>
          <p:nvPr/>
        </p:nvSpPr>
        <p:spPr>
          <a:xfrm>
            <a:off x="4645152" y="2377440"/>
            <a:ext cx="2798064" cy="859536"/>
          </a:xfrm>
          <a:prstGeom prst="rect">
            <a:avLst/>
          </a:prstGeom>
          <a:noFill/>
          <a:ln/>
        </p:spPr>
        <p:txBody>
          <a:bodyPr wrap="square" lIns="0" tIns="0" rIns="0" bIns="0" rtlCol="0" anchor="ctr"/>
          <a:lstStyle/>
          <a:p>
            <a:pPr indent="0" marL="0">
              <a:buNone/>
            </a:pPr>
            <a:r>
              <a:rPr lang="en-US" sz="4800" b="1" dirty="0">
                <a:solidFill>
                  <a:srgbClr val="C0392B"/>
                </a:solidFill>
                <a:latin typeface="맑은 고딕" pitchFamily="34" charset="0"/>
                <a:ea typeface="맑은 고딕" pitchFamily="34" charset="-122"/>
                <a:cs typeface="맑은 고딕" pitchFamily="34" charset="-120"/>
              </a:rPr>
              <a:t>483</a:t>
            </a:r>
            <a:pPr indent="0" marL="0">
              <a:buNone/>
            </a:pPr>
            <a:r>
              <a:rPr lang="en-US" sz="1400" dirty="0">
                <a:solidFill>
                  <a:srgbClr val="8A94A6"/>
                </a:solidFill>
                <a:latin typeface="맑은 고딕" pitchFamily="34" charset="0"/>
                <a:ea typeface="맑은 고딕" pitchFamily="34" charset="-122"/>
                <a:cs typeface="맑은 고딕" pitchFamily="34" charset="-120"/>
              </a:rPr>
              <a:t> ppm</a:t>
            </a:r>
            <a:endParaRPr lang="en-US" sz="4800" dirty="0"/>
          </a:p>
        </p:txBody>
      </p:sp>
      <p:sp>
        <p:nvSpPr>
          <p:cNvPr id="17" name="Shape 15"/>
          <p:cNvSpPr/>
          <p:nvPr/>
        </p:nvSpPr>
        <p:spPr>
          <a:xfrm>
            <a:off x="4645152" y="3346704"/>
            <a:ext cx="2798064" cy="713232"/>
          </a:xfrm>
          <a:prstGeom prst="roundRect">
            <a:avLst>
              <a:gd name="adj" fmla="val 10256"/>
            </a:avLst>
          </a:prstGeom>
          <a:solidFill>
            <a:srgbClr val="FDECEA"/>
          </a:solidFill>
          <a:ln w="12700">
            <a:solidFill>
              <a:srgbClr val="333333"/>
            </a:solidFill>
            <a:prstDash val="solid"/>
          </a:ln>
        </p:spPr>
      </p:sp>
      <p:sp>
        <p:nvSpPr>
          <p:cNvPr id="18" name="Text 16"/>
          <p:cNvSpPr/>
          <p:nvPr/>
        </p:nvSpPr>
        <p:spPr>
          <a:xfrm>
            <a:off x="4736592" y="3346704"/>
            <a:ext cx="2615184" cy="713232"/>
          </a:xfrm>
          <a:prstGeom prst="rect">
            <a:avLst/>
          </a:prstGeom>
          <a:noFill/>
          <a:ln/>
        </p:spPr>
        <p:txBody>
          <a:bodyPr wrap="square" lIns="0" tIns="0" rIns="0" bIns="0" rtlCol="0" anchor="ctr"/>
          <a:lstStyle/>
          <a:p>
            <a:pPr algn="ct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유럽 · ARA 실측 최대</a:t>
            </a:r>
            <a:endParaRPr lang="en-US" sz="1000" dirty="0"/>
          </a:p>
          <a:p>
            <a:pPr algn="ct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규격 상한의 8배</a:t>
            </a:r>
            <a:endParaRPr lang="en-US" sz="1000" dirty="0"/>
          </a:p>
        </p:txBody>
      </p:sp>
      <p:sp>
        <p:nvSpPr>
          <p:cNvPr id="19" name="Text 17"/>
          <p:cNvSpPr/>
          <p:nvPr/>
        </p:nvSpPr>
        <p:spPr>
          <a:xfrm>
            <a:off x="7735824" y="2798064"/>
            <a:ext cx="457200" cy="365760"/>
          </a:xfrm>
          <a:prstGeom prst="rect">
            <a:avLst/>
          </a:prstGeom>
          <a:noFill/>
          <a:ln/>
        </p:spPr>
        <p:txBody>
          <a:bodyPr wrap="square" lIns="0" tIns="0" rIns="0" bIns="0" rtlCol="0" anchor="ctr"/>
          <a:lstStyle/>
          <a:p>
            <a:pPr algn="ctr" indent="0" marL="0">
              <a:buNone/>
            </a:pPr>
            <a:r>
              <a:rPr lang="en-US" sz="1500" dirty="0">
                <a:solidFill>
                  <a:srgbClr val="B9C4D6"/>
                </a:solidFill>
                <a:latin typeface="맑은 고딕" pitchFamily="34" charset="0"/>
                <a:ea typeface="맑은 고딕" pitchFamily="34" charset="-122"/>
                <a:cs typeface="맑은 고딕" pitchFamily="34" charset="-120"/>
              </a:rPr>
              <a:t>▶</a:t>
            </a:r>
            <a:endParaRPr lang="en-US" sz="1500" dirty="0"/>
          </a:p>
        </p:txBody>
      </p:sp>
      <p:sp>
        <p:nvSpPr>
          <p:cNvPr id="20" name="Shape 18"/>
          <p:cNvSpPr/>
          <p:nvPr/>
        </p:nvSpPr>
        <p:spPr>
          <a:xfrm>
            <a:off x="8247888" y="1591056"/>
            <a:ext cx="3273552" cy="3017520"/>
          </a:xfrm>
          <a:prstGeom prst="roundRect">
            <a:avLst>
              <a:gd name="adj" fmla="val 42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21" name="Text 19"/>
          <p:cNvSpPr/>
          <p:nvPr/>
        </p:nvSpPr>
        <p:spPr>
          <a:xfrm>
            <a:off x="8485632" y="1792224"/>
            <a:ext cx="2798064" cy="219456"/>
          </a:xfrm>
          <a:prstGeom prst="rect">
            <a:avLst/>
          </a:prstGeom>
          <a:noFill/>
          <a:ln/>
        </p:spPr>
        <p:txBody>
          <a:bodyPr wrap="square" lIns="0" tIns="0" rIns="0" bIns="0" rtlCol="0" anchor="ctr"/>
          <a:lstStyle/>
          <a:p>
            <a:pPr indent="0" marL="0">
              <a:buNone/>
            </a:pPr>
            <a:r>
              <a:rPr lang="en-US" sz="950" b="1" spc="180" kern="0" dirty="0">
                <a:solidFill>
                  <a:srgbClr val="2E7D5B"/>
                </a:solidFill>
                <a:latin typeface="맑은 고딕" pitchFamily="34" charset="0"/>
                <a:ea typeface="맑은 고딕" pitchFamily="34" charset="-122"/>
                <a:cs typeface="맑은 고딕" pitchFamily="34" charset="-120"/>
              </a:rPr>
              <a:t>AT ENGINE INLET</a:t>
            </a:r>
            <a:endParaRPr lang="en-US" sz="950" dirty="0"/>
          </a:p>
        </p:txBody>
      </p:sp>
      <p:sp>
        <p:nvSpPr>
          <p:cNvPr id="22" name="Text 20"/>
          <p:cNvSpPr/>
          <p:nvPr/>
        </p:nvSpPr>
        <p:spPr>
          <a:xfrm>
            <a:off x="8485632" y="2011680"/>
            <a:ext cx="2798064" cy="274320"/>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엔진 입구 요구치</a:t>
            </a:r>
            <a:endParaRPr lang="en-US" sz="1300" dirty="0"/>
          </a:p>
        </p:txBody>
      </p:sp>
      <p:sp>
        <p:nvSpPr>
          <p:cNvPr id="23" name="Text 21"/>
          <p:cNvSpPr/>
          <p:nvPr/>
        </p:nvSpPr>
        <p:spPr>
          <a:xfrm>
            <a:off x="8485632" y="2377440"/>
            <a:ext cx="2798064" cy="859536"/>
          </a:xfrm>
          <a:prstGeom prst="rect">
            <a:avLst/>
          </a:prstGeom>
          <a:noFill/>
          <a:ln/>
        </p:spPr>
        <p:txBody>
          <a:bodyPr wrap="square" lIns="0" tIns="0" rIns="0" bIns="0" rtlCol="0" anchor="ctr"/>
          <a:lstStyle/>
          <a:p>
            <a:pPr indent="0" marL="0">
              <a:buNone/>
            </a:pPr>
            <a:r>
              <a:rPr lang="en-US" sz="4800" b="1" dirty="0">
                <a:solidFill>
                  <a:srgbClr val="2E7D5B"/>
                </a:solidFill>
                <a:latin typeface="맑은 고딕" pitchFamily="34" charset="0"/>
                <a:ea typeface="맑은 고딕" pitchFamily="34" charset="-122"/>
                <a:cs typeface="맑은 고딕" pitchFamily="34" charset="-120"/>
              </a:rPr>
              <a:t>7~15</a:t>
            </a:r>
            <a:pPr indent="0" marL="0">
              <a:buNone/>
            </a:pPr>
            <a:r>
              <a:rPr lang="en-US" sz="1400" dirty="0">
                <a:solidFill>
                  <a:srgbClr val="8A94A6"/>
                </a:solidFill>
                <a:latin typeface="맑은 고딕" pitchFamily="34" charset="0"/>
                <a:ea typeface="맑은 고딕" pitchFamily="34" charset="-122"/>
                <a:cs typeface="맑은 고딕" pitchFamily="34" charset="-120"/>
              </a:rPr>
              <a:t> ppm</a:t>
            </a:r>
            <a:endParaRPr lang="en-US" sz="4800" dirty="0"/>
          </a:p>
        </p:txBody>
      </p:sp>
      <p:sp>
        <p:nvSpPr>
          <p:cNvPr id="24" name="Shape 22"/>
          <p:cNvSpPr/>
          <p:nvPr/>
        </p:nvSpPr>
        <p:spPr>
          <a:xfrm>
            <a:off x="8485632" y="3346704"/>
            <a:ext cx="2798064" cy="713232"/>
          </a:xfrm>
          <a:prstGeom prst="roundRect">
            <a:avLst>
              <a:gd name="adj" fmla="val 10256"/>
            </a:avLst>
          </a:prstGeom>
          <a:solidFill>
            <a:srgbClr val="E9F5F0"/>
          </a:solidFill>
          <a:ln w="12700">
            <a:solidFill>
              <a:srgbClr val="333333"/>
            </a:solidFill>
            <a:prstDash val="solid"/>
          </a:ln>
        </p:spPr>
      </p:sp>
      <p:sp>
        <p:nvSpPr>
          <p:cNvPr id="25" name="Text 23"/>
          <p:cNvSpPr/>
          <p:nvPr/>
        </p:nvSpPr>
        <p:spPr>
          <a:xfrm>
            <a:off x="8577072" y="3346704"/>
            <a:ext cx="2615184" cy="713232"/>
          </a:xfrm>
          <a:prstGeom prst="rect">
            <a:avLst/>
          </a:prstGeom>
          <a:noFill/>
          <a:ln/>
        </p:spPr>
        <p:txBody>
          <a:bodyPr wrap="square" lIns="0" tIns="0" rIns="0" bIns="0" rtlCol="0" anchor="ctr"/>
          <a:lstStyle/>
          <a:p>
            <a:pPr algn="ct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다수 OEM 권장 상한</a:t>
            </a:r>
            <a:endParaRPr lang="en-US" sz="1000" dirty="0"/>
          </a:p>
          <a:p>
            <a:pPr algn="ct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CIMAC Guideline §6.3</a:t>
            </a:r>
            <a:endParaRPr lang="en-US" sz="1000" dirty="0"/>
          </a:p>
        </p:txBody>
      </p:sp>
      <p:sp>
        <p:nvSpPr>
          <p:cNvPr id="26" name="Text 24"/>
          <p:cNvSpPr/>
          <p:nvPr/>
        </p:nvSpPr>
        <p:spPr>
          <a:xfrm>
            <a:off x="566928" y="4700016"/>
            <a:ext cx="11057839" cy="310896"/>
          </a:xfrm>
          <a:prstGeom prst="rect">
            <a:avLst/>
          </a:prstGeom>
          <a:noFill/>
          <a:ln/>
        </p:spPr>
        <p:txBody>
          <a:bodyPr wrap="square" lIns="0" tIns="0" rIns="0" bIns="0" rtlCol="0" anchor="ctr"/>
          <a:lstStyle/>
          <a:p>
            <a:pPr algn="ctr" indent="0" marL="0">
              <a:buNone/>
            </a:pPr>
            <a:r>
              <a:rPr lang="en-US" sz="1100" dirty="0">
                <a:solidFill>
                  <a:srgbClr val="3D4A5C"/>
                </a:solidFill>
                <a:latin typeface="맑은 고딕" pitchFamily="34" charset="0"/>
                <a:ea typeface="맑은 고딕" pitchFamily="34" charset="-122"/>
                <a:cs typeface="맑은 고딕" pitchFamily="34" charset="-120"/>
              </a:rPr>
              <a:t>촉매 미분(Al+Si)은 모스 경도 8의 세라믹 입자입니다.  </a:t>
            </a:r>
            <a:pPr algn="ctr" indent="0" marL="0">
              <a:buNone/>
            </a:pPr>
            <a:r>
              <a:rPr lang="en-US" sz="1100" b="1" dirty="0">
                <a:solidFill>
                  <a:srgbClr val="1B3A5C"/>
                </a:solidFill>
                <a:latin typeface="맑은 고딕" pitchFamily="34" charset="0"/>
                <a:ea typeface="맑은 고딕" pitchFamily="34" charset="-122"/>
                <a:cs typeface="맑은 고딕" pitchFamily="34" charset="-120"/>
              </a:rPr>
              <a:t>2행정</a:t>
            </a:r>
            <a:pPr algn="ctr" indent="0" marL="0">
              <a:buNone/>
            </a:pPr>
            <a:r>
              <a:rPr lang="en-US" sz="1100" dirty="0">
                <a:solidFill>
                  <a:srgbClr val="3D4A5C"/>
                </a:solidFill>
                <a:latin typeface="맑은 고딕" pitchFamily="34" charset="0"/>
                <a:ea typeface="맑은 고딕" pitchFamily="34" charset="-122"/>
                <a:cs typeface="맑은 고딕" pitchFamily="34" charset="-120"/>
              </a:rPr>
              <a:t> 라이너 · 피스톤링 · 링그루브 마모와 스커핑,  </a:t>
            </a:r>
            <a:pPr algn="ctr" indent="0" marL="0">
              <a:buNone/>
            </a:pPr>
            <a:r>
              <a:rPr lang="en-US" sz="1100" b="1" dirty="0">
                <a:solidFill>
                  <a:srgbClr val="1B3A5C"/>
                </a:solidFill>
                <a:latin typeface="맑은 고딕" pitchFamily="34" charset="0"/>
                <a:ea typeface="맑은 고딕" pitchFamily="34" charset="-122"/>
                <a:cs typeface="맑은 고딕" pitchFamily="34" charset="-120"/>
              </a:rPr>
              <a:t>4행정</a:t>
            </a:r>
            <a:pPr algn="ctr" indent="0" marL="0">
              <a:buNone/>
            </a:pPr>
            <a:r>
              <a:rPr lang="en-US" sz="1100" dirty="0">
                <a:solidFill>
                  <a:srgbClr val="3D4A5C"/>
                </a:solidFill>
                <a:latin typeface="맑은 고딕" pitchFamily="34" charset="0"/>
                <a:ea typeface="맑은 고딕" pitchFamily="34" charset="-122"/>
                <a:cs typeface="맑은 고딕" pitchFamily="34" charset="-120"/>
              </a:rPr>
              <a:t> 분사노즐 마모 → 불완전 연소 → 터보차저 퇴적으로 이어집니다.</a:t>
            </a:r>
            <a:endParaRPr lang="en-US" sz="1100" dirty="0"/>
          </a:p>
        </p:txBody>
      </p:sp>
      <p:sp>
        <p:nvSpPr>
          <p:cNvPr id="27" name="Shape 25"/>
          <p:cNvSpPr/>
          <p:nvPr/>
        </p:nvSpPr>
        <p:spPr>
          <a:xfrm>
            <a:off x="566928" y="5084064"/>
            <a:ext cx="11057839" cy="786384"/>
          </a:xfrm>
          <a:prstGeom prst="roundRect">
            <a:avLst>
              <a:gd name="adj" fmla="val 11628"/>
            </a:avLst>
          </a:prstGeom>
          <a:solidFill>
            <a:srgbClr val="1B3A5C"/>
          </a:solidFill>
          <a:ln w="12700">
            <a:solidFill>
              <a:srgbClr val="1B3A5C"/>
            </a:solidFill>
            <a:prstDash val="solid"/>
          </a:ln>
        </p:spPr>
      </p:sp>
      <p:sp>
        <p:nvSpPr>
          <p:cNvPr id="28" name="Text 26"/>
          <p:cNvSpPr/>
          <p:nvPr/>
        </p:nvSpPr>
        <p:spPr>
          <a:xfrm>
            <a:off x="795528" y="5084064"/>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기준점은 벙커 매니폴드가 아니라 엔진 입구에 있습니다. 규격 합격은 출발점일 뿐입니다.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29" name="Text 27"/>
          <p:cNvSpPr/>
          <p:nvPr/>
        </p:nvSpPr>
        <p:spPr>
          <a:xfrm>
            <a:off x="566928" y="5998464"/>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CIMAC Guideline 2024 §6.3 · §14 (엔진 입구 목표: 점도 2~20 cSt, Al+Si 15 ppm 미만, 수분 0.3% V/V 미만) · Viswa Group 2025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05   원인 ③</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벙커링 당일 합격, 두 달 뒤 불합격</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06</a:t>
            </a:r>
            <a:endParaRPr lang="en-US" sz="950" dirty="0"/>
          </a:p>
        </p:txBody>
      </p:sp>
      <p:sp>
        <p:nvSpPr>
          <p:cNvPr id="6" name="Shape 4"/>
          <p:cNvSpPr/>
          <p:nvPr/>
        </p:nvSpPr>
        <p:spPr>
          <a:xfrm>
            <a:off x="566928" y="1591056"/>
            <a:ext cx="7004304" cy="3401568"/>
          </a:xfrm>
          <a:prstGeom prst="roundRect">
            <a:avLst>
              <a:gd name="adj" fmla="val 3763"/>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04672" y="2084832"/>
          <a:ext cx="6528816" cy="914400"/>
        </p:xfrm>
        <a:graphic>
          <a:graphicData uri="http://schemas.openxmlformats.org/drawingml/2006/table">
            <a:tbl>
              <a:tblPr/>
              <a:tblGrid>
                <a:gridCol w="1371600"/>
                <a:gridCol w="1298448"/>
                <a:gridCol w="1298448"/>
                <a:gridCol w="1280160"/>
                <a:gridCol w="1280160"/>
              </a:tblGrid>
              <a:tr h="329184">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샘플</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벙커링 당일</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문제 발생 시</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경과 기간</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판정</a:t>
                      </a:r>
                      <a:endParaRPr lang="en-US" sz="105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B3A5C"/>
                          </a:solidFill>
                          <a:latin typeface="맑은 고딕" pitchFamily="34" charset="0"/>
                          <a:ea typeface="맑은 고딕" pitchFamily="34" charset="-122"/>
                          <a:cs typeface="맑은 고딕" pitchFamily="34" charset="-120"/>
                        </a:rPr>
                        <a:t>VLSFO 01</a:t>
                      </a:r>
                      <a:endParaRPr lang="en-US" sz="11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7D5B"/>
                          </a:solidFill>
                          <a:latin typeface="맑은 고딕" pitchFamily="34" charset="0"/>
                          <a:ea typeface="맑은 고딕" pitchFamily="34" charset="-122"/>
                          <a:cs typeface="맑은 고딕" pitchFamily="34" charset="-120"/>
                        </a:rPr>
                        <a:t>0.08%</a:t>
                      </a:r>
                      <a:endParaRPr lang="en-US" sz="12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latin typeface="맑은 고딕" pitchFamily="34" charset="0"/>
                          <a:ea typeface="맑은 고딕" pitchFamily="34" charset="-122"/>
                          <a:cs typeface="맑은 고딕" pitchFamily="34" charset="-120"/>
                        </a:rPr>
                        <a:t>0.29%</a:t>
                      </a:r>
                      <a:endParaRPr lang="en-US" sz="12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A5C"/>
                          </a:solidFill>
                          <a:latin typeface="맑은 고딕" pitchFamily="34" charset="0"/>
                          <a:ea typeface="맑은 고딕" pitchFamily="34" charset="-122"/>
                          <a:cs typeface="맑은 고딕" pitchFamily="34" charset="-120"/>
                        </a:rPr>
                        <a:t>5 개월</a:t>
                      </a:r>
                      <a:endParaRPr lang="en-US" sz="11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4A5C"/>
                          </a:solidFill>
                          <a:latin typeface="맑은 고딕" pitchFamily="34" charset="0"/>
                          <a:ea typeface="맑은 고딕" pitchFamily="34" charset="-122"/>
                          <a:cs typeface="맑은 고딕" pitchFamily="34" charset="-120"/>
                        </a:rPr>
                        <a:t>합격 → 불합격</a:t>
                      </a:r>
                      <a:endParaRPr lang="en-US" sz="10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B3A5C"/>
                          </a:solidFill>
                          <a:latin typeface="맑은 고딕" pitchFamily="34" charset="0"/>
                          <a:ea typeface="맑은 고딕" pitchFamily="34" charset="-122"/>
                          <a:cs typeface="맑은 고딕" pitchFamily="34" charset="-120"/>
                        </a:rPr>
                        <a:t>VLSFO 02</a:t>
                      </a:r>
                      <a:endParaRPr lang="en-US" sz="11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7D5B"/>
                          </a:solidFill>
                          <a:latin typeface="맑은 고딕" pitchFamily="34" charset="0"/>
                          <a:ea typeface="맑은 고딕" pitchFamily="34" charset="-122"/>
                          <a:cs typeface="맑은 고딕" pitchFamily="34" charset="-120"/>
                        </a:rPr>
                        <a:t>0.05%</a:t>
                      </a:r>
                      <a:endParaRPr lang="en-US" sz="12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latin typeface="맑은 고딕" pitchFamily="34" charset="0"/>
                          <a:ea typeface="맑은 고딕" pitchFamily="34" charset="-122"/>
                          <a:cs typeface="맑은 고딕" pitchFamily="34" charset="-120"/>
                        </a:rPr>
                        <a:t>0.40%</a:t>
                      </a:r>
                      <a:endParaRPr lang="en-US" sz="12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A5C"/>
                          </a:solidFill>
                          <a:latin typeface="맑은 고딕" pitchFamily="34" charset="0"/>
                          <a:ea typeface="맑은 고딕" pitchFamily="34" charset="-122"/>
                          <a:cs typeface="맑은 고딕" pitchFamily="34" charset="-120"/>
                        </a:rPr>
                        <a:t>2 개월</a:t>
                      </a:r>
                      <a:endParaRPr lang="en-US" sz="11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4A5C"/>
                          </a:solidFill>
                          <a:latin typeface="맑은 고딕" pitchFamily="34" charset="0"/>
                          <a:ea typeface="맑은 고딕" pitchFamily="34" charset="-122"/>
                          <a:cs typeface="맑은 고딕" pitchFamily="34" charset="-120"/>
                        </a:rPr>
                        <a:t>합격 → 불합격</a:t>
                      </a:r>
                      <a:endParaRPr lang="en-US" sz="10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B3A5C"/>
                          </a:solidFill>
                          <a:latin typeface="맑은 고딕" pitchFamily="34" charset="0"/>
                          <a:ea typeface="맑은 고딕" pitchFamily="34" charset="-122"/>
                          <a:cs typeface="맑은 고딕" pitchFamily="34" charset="-120"/>
                        </a:rPr>
                        <a:t>VLSFO 03</a:t>
                      </a:r>
                      <a:endParaRPr lang="en-US" sz="11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7D5B"/>
                          </a:solidFill>
                          <a:latin typeface="맑은 고딕" pitchFamily="34" charset="0"/>
                          <a:ea typeface="맑은 고딕" pitchFamily="34" charset="-122"/>
                          <a:cs typeface="맑은 고딕" pitchFamily="34" charset="-120"/>
                        </a:rPr>
                        <a:t>0.03%</a:t>
                      </a:r>
                      <a:endParaRPr lang="en-US" sz="12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latin typeface="맑은 고딕" pitchFamily="34" charset="0"/>
                          <a:ea typeface="맑은 고딕" pitchFamily="34" charset="-122"/>
                          <a:cs typeface="맑은 고딕" pitchFamily="34" charset="-120"/>
                        </a:rPr>
                        <a:t>0.10%</a:t>
                      </a:r>
                      <a:endParaRPr lang="en-US" sz="12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A5C"/>
                          </a:solidFill>
                          <a:latin typeface="맑은 고딕" pitchFamily="34" charset="0"/>
                          <a:ea typeface="맑은 고딕" pitchFamily="34" charset="-122"/>
                          <a:cs typeface="맑은 고딕" pitchFamily="34" charset="-120"/>
                        </a:rPr>
                        <a:t>1 개월</a:t>
                      </a:r>
                      <a:endParaRPr lang="en-US" sz="11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4A5C"/>
                          </a:solidFill>
                          <a:latin typeface="맑은 고딕" pitchFamily="34" charset="0"/>
                          <a:ea typeface="맑은 고딕" pitchFamily="34" charset="-122"/>
                          <a:cs typeface="맑은 고딕" pitchFamily="34" charset="-120"/>
                        </a:rPr>
                        <a:t>합격 → 불합격</a:t>
                      </a:r>
                      <a:endParaRPr lang="en-US" sz="10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B3A5C"/>
                          </a:solidFill>
                          <a:latin typeface="맑은 고딕" pitchFamily="34" charset="0"/>
                          <a:ea typeface="맑은 고딕" pitchFamily="34" charset="-122"/>
                          <a:cs typeface="맑은 고딕" pitchFamily="34" charset="-120"/>
                        </a:rPr>
                        <a:t>VLSFO 05</a:t>
                      </a:r>
                      <a:endParaRPr lang="en-US" sz="11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7D5B"/>
                          </a:solidFill>
                          <a:latin typeface="맑은 고딕" pitchFamily="34" charset="0"/>
                          <a:ea typeface="맑은 고딕" pitchFamily="34" charset="-122"/>
                          <a:cs typeface="맑은 고딕" pitchFamily="34" charset="-120"/>
                        </a:rPr>
                        <a:t>0.04%</a:t>
                      </a:r>
                      <a:endParaRPr lang="en-US" sz="12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latin typeface="맑은 고딕" pitchFamily="34" charset="0"/>
                          <a:ea typeface="맑은 고딕" pitchFamily="34" charset="-122"/>
                          <a:cs typeface="맑은 고딕" pitchFamily="34" charset="-120"/>
                        </a:rPr>
                        <a:t>0.30%</a:t>
                      </a:r>
                      <a:endParaRPr lang="en-US" sz="12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D4A5C"/>
                          </a:solidFill>
                          <a:latin typeface="맑은 고딕" pitchFamily="34" charset="0"/>
                          <a:ea typeface="맑은 고딕" pitchFamily="34" charset="-122"/>
                          <a:cs typeface="맑은 고딕" pitchFamily="34" charset="-120"/>
                        </a:rPr>
                        <a:t>2 개월</a:t>
                      </a:r>
                      <a:endParaRPr lang="en-US" sz="11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3D4A5C"/>
                          </a:solidFill>
                          <a:latin typeface="맑은 고딕" pitchFamily="34" charset="0"/>
                          <a:ea typeface="맑은 고딕" pitchFamily="34" charset="-122"/>
                          <a:cs typeface="맑은 고딕" pitchFamily="34" charset="-120"/>
                        </a:rPr>
                        <a:t>합격 → 불합격</a:t>
                      </a:r>
                      <a:endParaRPr lang="en-US" sz="1000" dirty="0">
                        <a:latin typeface="맑은 고딕" charset="0"/>
                        <a:ea typeface="맑은 고딕" charset="0"/>
                        <a:cs typeface="맑은 고딕" charset="0"/>
                      </a:endParaRPr>
                    </a:p>
                  </a:txBody>
                  <a:tcPr marL="50800" marR="50800" marT="50800" marB="50800" anchor="ctr">
                    <a:lnL w="9525" cap="flat" cmpd="sng" algn="ctr">
                      <a:solidFill>
                        <a:srgbClr val="DFE5F0"/>
                      </a:solidFill>
                      <a:prstDash val="solid"/>
                      <a:round/>
                      <a:headEnd type="none" w="med" len="med"/>
                      <a:tailEnd type="none" w="med" len="med"/>
                    </a:lnL>
                    <a:lnR w="9525" cap="flat" cmpd="sng" algn="ctr">
                      <a:solidFill>
                        <a:srgbClr val="DFE5F0"/>
                      </a:solidFill>
                      <a:prstDash val="solid"/>
                      <a:round/>
                      <a:headEnd type="none" w="med" len="med"/>
                      <a:tailEnd type="none" w="med" len="med"/>
                    </a:lnR>
                    <a:lnT w="9525" cap="flat" cmpd="sng" algn="ctr">
                      <a:solidFill>
                        <a:srgbClr val="DFE5F0"/>
                      </a:solidFill>
                      <a:prstDash val="solid"/>
                      <a:round/>
                      <a:headEnd type="none" w="med" len="med"/>
                      <a:tailEnd type="none" w="med" len="med"/>
                    </a:lnT>
                    <a:lnB w="9525" cap="flat" cmpd="sng" algn="ctr">
                      <a:solidFill>
                        <a:srgbClr val="DFE5F0"/>
                      </a:solidFill>
                      <a:prstDash val="solid"/>
                      <a:round/>
                      <a:headEnd type="none" w="med" len="med"/>
                      <a:tailEnd type="none" w="med" len="med"/>
                    </a:lnB>
                    <a:solidFill>
                      <a:srgbClr val="FFFFFF"/>
                    </a:solidFill>
                  </a:tcPr>
                </a:tc>
              </a:tr>
            </a:tbl>
          </a:graphicData>
        </a:graphic>
      </p:graphicFrame>
      <p:sp>
        <p:nvSpPr>
          <p:cNvPr id="8" name="Shape 5"/>
          <p:cNvSpPr/>
          <p:nvPr/>
        </p:nvSpPr>
        <p:spPr>
          <a:xfrm>
            <a:off x="804672" y="2084832"/>
            <a:ext cx="6528816" cy="329184"/>
          </a:xfrm>
          <a:prstGeom prst="rect">
            <a:avLst/>
          </a:prstGeom>
          <a:solidFill>
            <a:srgbClr val="1B3A5C"/>
          </a:solidFill>
          <a:ln w="12700">
            <a:solidFill>
              <a:srgbClr val="333333"/>
            </a:solidFill>
            <a:prstDash val="solid"/>
          </a:ln>
        </p:spPr>
      </p:sp>
      <p:sp>
        <p:nvSpPr>
          <p:cNvPr id="9" name="Text 6"/>
          <p:cNvSpPr/>
          <p:nvPr/>
        </p:nvSpPr>
        <p:spPr>
          <a:xfrm>
            <a:off x="841248" y="2084832"/>
            <a:ext cx="1298448" cy="329184"/>
          </a:xfrm>
          <a:prstGeom prst="rect">
            <a:avLst/>
          </a:prstGeom>
          <a:noFill/>
          <a:ln/>
        </p:spPr>
        <p:txBody>
          <a:bodyPr wrap="square" lIns="0" tIns="0" rIns="0" bIns="0" rtlCol="0" anchor="ct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샘플</a:t>
            </a:r>
            <a:endParaRPr lang="en-US" sz="1050" dirty="0"/>
          </a:p>
        </p:txBody>
      </p:sp>
      <p:sp>
        <p:nvSpPr>
          <p:cNvPr id="10" name="Text 7"/>
          <p:cNvSpPr/>
          <p:nvPr/>
        </p:nvSpPr>
        <p:spPr>
          <a:xfrm>
            <a:off x="2176272" y="2084832"/>
            <a:ext cx="1298448"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벙커링 당일</a:t>
            </a:r>
            <a:endParaRPr lang="en-US" sz="1050" dirty="0"/>
          </a:p>
        </p:txBody>
      </p:sp>
      <p:sp>
        <p:nvSpPr>
          <p:cNvPr id="11" name="Text 8"/>
          <p:cNvSpPr/>
          <p:nvPr/>
        </p:nvSpPr>
        <p:spPr>
          <a:xfrm>
            <a:off x="3474720" y="2084832"/>
            <a:ext cx="1298448"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문제 발생 시</a:t>
            </a:r>
            <a:endParaRPr lang="en-US" sz="1050" dirty="0"/>
          </a:p>
        </p:txBody>
      </p:sp>
      <p:sp>
        <p:nvSpPr>
          <p:cNvPr id="12" name="Text 9"/>
          <p:cNvSpPr/>
          <p:nvPr/>
        </p:nvSpPr>
        <p:spPr>
          <a:xfrm>
            <a:off x="4773168" y="2084832"/>
            <a:ext cx="12801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경과 기간</a:t>
            </a:r>
            <a:endParaRPr lang="en-US" sz="1050" dirty="0"/>
          </a:p>
        </p:txBody>
      </p:sp>
      <p:sp>
        <p:nvSpPr>
          <p:cNvPr id="13" name="Text 10"/>
          <p:cNvSpPr/>
          <p:nvPr/>
        </p:nvSpPr>
        <p:spPr>
          <a:xfrm>
            <a:off x="6053328" y="2084832"/>
            <a:ext cx="128016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판정</a:t>
            </a:r>
            <a:endParaRPr lang="en-US" sz="1050" dirty="0"/>
          </a:p>
        </p:txBody>
      </p:sp>
      <p:sp>
        <p:nvSpPr>
          <p:cNvPr id="14" name="Text 11"/>
          <p:cNvSpPr/>
          <p:nvPr/>
        </p:nvSpPr>
        <p:spPr>
          <a:xfrm>
            <a:off x="804672" y="1792224"/>
            <a:ext cx="4937760"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ISO 8217 TOTAL SEDIMENT LIMIT  0.10%</a:t>
            </a:r>
            <a:endParaRPr lang="en-US" sz="950" dirty="0"/>
          </a:p>
        </p:txBody>
      </p:sp>
      <p:sp>
        <p:nvSpPr>
          <p:cNvPr id="15" name="Text 12"/>
          <p:cNvSpPr/>
          <p:nvPr/>
        </p:nvSpPr>
        <p:spPr>
          <a:xfrm>
            <a:off x="804672" y="4443984"/>
            <a:ext cx="6528816" cy="274320"/>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전 샘플이 벙커링 당일 규격을 통과했습니다.</a:t>
            </a:r>
            <a:endParaRPr lang="en-US" sz="1150" dirty="0"/>
          </a:p>
        </p:txBody>
      </p:sp>
      <p:sp>
        <p:nvSpPr>
          <p:cNvPr id="16" name="Shape 13"/>
          <p:cNvSpPr/>
          <p:nvPr/>
        </p:nvSpPr>
        <p:spPr>
          <a:xfrm>
            <a:off x="7790688" y="1591056"/>
            <a:ext cx="3831336" cy="3401568"/>
          </a:xfrm>
          <a:prstGeom prst="roundRect">
            <a:avLst>
              <a:gd name="adj" fmla="val 3763"/>
            </a:avLst>
          </a:prstGeom>
          <a:solidFill>
            <a:srgbClr val="1B3A5C"/>
          </a:solidFill>
          <a:ln w="9525">
            <a:solidFill>
              <a:srgbClr val="1B3A5C"/>
            </a:solidFill>
            <a:prstDash val="solid"/>
          </a:ln>
          <a:effectLst>
            <a:outerShdw sx="100000" sy="100000" kx="0" ky="0" algn="bl" rotWithShape="0" blurRad="127000" dist="25400" dir="5400000">
              <a:srgbClr val="9BAAC4">
                <a:alpha val="22000"/>
              </a:srgbClr>
            </a:outerShdw>
          </a:effectLst>
        </p:spPr>
      </p:sp>
      <p:sp>
        <p:nvSpPr>
          <p:cNvPr id="17" name="Text 14"/>
          <p:cNvSpPr/>
          <p:nvPr/>
        </p:nvSpPr>
        <p:spPr>
          <a:xfrm>
            <a:off x="8028432" y="1810512"/>
            <a:ext cx="3355848" cy="292608"/>
          </a:xfrm>
          <a:prstGeom prst="rect">
            <a:avLst/>
          </a:prstGeom>
          <a:noFill/>
          <a:ln/>
        </p:spPr>
        <p:txBody>
          <a:bodyPr wrap="square" lIns="0" tIns="0" rIns="0" bIns="0" rtlCol="0" anchor="ctr"/>
          <a:lstStyle/>
          <a:p>
            <a:pPr indent="0" marL="0">
              <a:buNone/>
            </a:pPr>
            <a:r>
              <a:rPr lang="en-US" sz="1300" b="1" dirty="0">
                <a:solidFill>
                  <a:srgbClr val="E17B34"/>
                </a:solidFill>
                <a:latin typeface="맑은 고딕" pitchFamily="34" charset="0"/>
                <a:ea typeface="맑은 고딕" pitchFamily="34" charset="-122"/>
                <a:cs typeface="맑은 고딕" pitchFamily="34" charset="-120"/>
              </a:rPr>
              <a:t>왜 중요한가</a:t>
            </a:r>
            <a:endParaRPr lang="en-US" sz="1300" dirty="0"/>
          </a:p>
        </p:txBody>
      </p:sp>
      <p:sp>
        <p:nvSpPr>
          <p:cNvPr id="18" name="Text 15"/>
          <p:cNvSpPr/>
          <p:nvPr/>
        </p:nvSpPr>
        <p:spPr>
          <a:xfrm>
            <a:off x="8028432" y="2194560"/>
            <a:ext cx="3355848" cy="2615184"/>
          </a:xfrm>
          <a:prstGeom prst="rect">
            <a:avLst/>
          </a:prstGeom>
          <a:noFill/>
          <a:ln/>
        </p:spPr>
        <p:txBody>
          <a:bodyPr wrap="square" lIns="0" tIns="0" rIns="0" bIns="0" rtlCol="0" anchor="t"/>
          <a:lstStyle/>
          <a:p>
            <a:pPr indent="0" marL="0">
              <a:lnSpc>
                <a:spcPts val="1700"/>
              </a:lnSpc>
              <a:buNone/>
            </a:pPr>
            <a:r>
              <a:rPr lang="en-US" sz="1150" b="1" dirty="0">
                <a:solidFill>
                  <a:srgbClr val="FFFFFF"/>
                </a:solidFill>
                <a:latin typeface="맑은 고딕" pitchFamily="34" charset="0"/>
                <a:ea typeface="맑은 고딕" pitchFamily="34" charset="-122"/>
                <a:cs typeface="맑은 고딕" pitchFamily="34" charset="-120"/>
              </a:rPr>
              <a:t>시험성적서는 「그날」의 상태입니다.</a:t>
            </a:r>
            <a:endParaRPr lang="en-US" sz="1150" dirty="0"/>
          </a:p>
          <a:p>
            <a:pPr indent="0" marL="0">
              <a:lnSpc>
                <a:spcPts val="1700"/>
              </a:lnSpc>
              <a:buNone/>
            </a:pPr>
            <a:r>
              <a:rPr lang="en-US" sz="1150" dirty="0">
                <a:solidFill>
                  <a:srgbClr val="D6E0EE"/>
                </a:solidFill>
                <a:latin typeface="맑은 고딕" pitchFamily="34" charset="0"/>
                <a:ea typeface="맑은 고딕" pitchFamily="34" charset="-122"/>
                <a:cs typeface="맑은 고딕" pitchFamily="34" charset="-120"/>
              </a:rPr>
              <a:t>VLSFO는 저장 중에도 계속 변합니다.</a:t>
            </a:r>
            <a:endParaRPr lang="en-US" sz="1150" dirty="0"/>
          </a:p>
          <a:p>
            <a:pPr indent="0" marL="0">
              <a:lnSpc>
                <a:spcPts val="1700"/>
              </a:lnSpc>
              <a:buNone/>
            </a:pPr>
            <a:r>
              <a:rPr lang="en-US" sz="600" dirty="0">
                <a:solidFill>
                  <a:srgbClr val="000000"/>
                </a:solidFill>
              </a:rPr>
              <a:t> </a:t>
            </a:r>
            <a:endParaRPr lang="en-US" sz="1150" dirty="0"/>
          </a:p>
          <a:p>
            <a:pPr indent="0" marL="0">
              <a:lnSpc>
                <a:spcPts val="1700"/>
              </a:lnSpc>
              <a:buNone/>
            </a:pPr>
            <a:r>
              <a:rPr lang="en-US" sz="1050" b="1" dirty="0">
                <a:solidFill>
                  <a:srgbClr val="E17B34"/>
                </a:solidFill>
                <a:latin typeface="맑은 고딕" pitchFamily="34" charset="0"/>
                <a:ea typeface="맑은 고딕" pitchFamily="34" charset="-122"/>
                <a:cs typeface="맑은 고딕" pitchFamily="34" charset="-120"/>
              </a:rPr>
              <a:t>슬러징의 4대 원인</a:t>
            </a:r>
            <a:endParaRPr lang="en-US" sz="1150" dirty="0"/>
          </a:p>
          <a:p>
            <a:pPr indent="0" marL="0">
              <a:lnSpc>
                <a:spcPts val="1700"/>
              </a:lnSpc>
              <a:buNone/>
            </a:pPr>
            <a:r>
              <a:rPr lang="en-US" sz="1050" dirty="0">
                <a:solidFill>
                  <a:srgbClr val="D6E0EE"/>
                </a:solidFill>
                <a:latin typeface="맑은 고딕" pitchFamily="34" charset="0"/>
                <a:ea typeface="맑은 고딕" pitchFamily="34" charset="-122"/>
                <a:cs typeface="맑은 고딕" pitchFamily="34" charset="-120"/>
              </a:rPr>
              <a:t>① 초기 침전물 과다</a:t>
            </a:r>
            <a:endParaRPr lang="en-US" sz="1150" dirty="0"/>
          </a:p>
          <a:p>
            <a:pPr indent="0" marL="0">
              <a:lnSpc>
                <a:spcPts val="1700"/>
              </a:lnSpc>
              <a:buNone/>
            </a:pPr>
            <a:r>
              <a:rPr lang="en-US" sz="1050" dirty="0">
                <a:solidFill>
                  <a:srgbClr val="D6E0EE"/>
                </a:solidFill>
                <a:latin typeface="맑은 고딕" pitchFamily="34" charset="0"/>
                <a:ea typeface="맑은 고딕" pitchFamily="34" charset="-122"/>
                <a:cs typeface="맑은 고딕" pitchFamily="34" charset="-120"/>
              </a:rPr>
              <a:t>② 시간 경과에 따른 열화</a:t>
            </a:r>
            <a:endParaRPr lang="en-US" sz="1150" dirty="0"/>
          </a:p>
          <a:p>
            <a:pPr indent="0" marL="0">
              <a:lnSpc>
                <a:spcPts val="1700"/>
              </a:lnSpc>
              <a:buNone/>
            </a:pPr>
            <a:r>
              <a:rPr lang="en-US" sz="1050" dirty="0">
                <a:solidFill>
                  <a:srgbClr val="D6E0EE"/>
                </a:solidFill>
                <a:latin typeface="맑은 고딕" pitchFamily="34" charset="0"/>
                <a:ea typeface="맑은 고딕" pitchFamily="34" charset="-122"/>
                <a:cs typeface="맑은 고딕" pitchFamily="34" charset="-120"/>
              </a:rPr>
              <a:t>③ 블렌드 간 불호환</a:t>
            </a:r>
            <a:endParaRPr lang="en-US" sz="1150" dirty="0"/>
          </a:p>
          <a:p>
            <a:pPr indent="0" marL="0">
              <a:lnSpc>
                <a:spcPts val="1700"/>
              </a:lnSpc>
              <a:buNone/>
            </a:pPr>
            <a:r>
              <a:rPr lang="en-US" sz="1050" dirty="0">
                <a:solidFill>
                  <a:srgbClr val="D6E0EE"/>
                </a:solidFill>
                <a:latin typeface="맑은 고딕" pitchFamily="34" charset="0"/>
                <a:ea typeface="맑은 고딕" pitchFamily="34" charset="-122"/>
                <a:cs typeface="맑은 고딕" pitchFamily="34" charset="-120"/>
              </a:rPr>
              <a:t>④ 오염물 혼입</a:t>
            </a:r>
            <a:endParaRPr lang="en-US" sz="1150" dirty="0"/>
          </a:p>
          <a:p>
            <a:pPr indent="0" marL="0">
              <a:lnSpc>
                <a:spcPts val="1700"/>
              </a:lnSpc>
              <a:buNone/>
            </a:pPr>
            <a:r>
              <a:rPr lang="en-US" sz="600" dirty="0">
                <a:solidFill>
                  <a:srgbClr val="000000"/>
                </a:solidFill>
              </a:rPr>
              <a:t> </a:t>
            </a:r>
            <a:endParaRPr lang="en-US" sz="1150" dirty="0"/>
          </a:p>
          <a:p>
            <a:pPr indent="0" marL="0">
              <a:lnSpc>
                <a:spcPts val="1700"/>
              </a:lnSpc>
              <a:buNone/>
            </a:pPr>
            <a:r>
              <a:rPr lang="en-US" sz="1050" i="1" dirty="0">
                <a:solidFill>
                  <a:srgbClr val="AFC0D8"/>
                </a:solidFill>
                <a:latin typeface="맑은 고딕" pitchFamily="34" charset="0"/>
                <a:ea typeface="맑은 고딕" pitchFamily="34" charset="-122"/>
                <a:cs typeface="맑은 고딕" pitchFamily="34" charset="-120"/>
              </a:rPr>
              <a:t>VLSFO는 HSFO보다 열화에 취약하고 저장 수명이 짧습니다.</a:t>
            </a:r>
            <a:endParaRPr lang="en-US" sz="1150" dirty="0"/>
          </a:p>
        </p:txBody>
      </p:sp>
      <p:sp>
        <p:nvSpPr>
          <p:cNvPr id="19" name="Shape 16"/>
          <p:cNvSpPr/>
          <p:nvPr/>
        </p:nvSpPr>
        <p:spPr>
          <a:xfrm>
            <a:off x="566928" y="5138928"/>
            <a:ext cx="11057839" cy="786384"/>
          </a:xfrm>
          <a:prstGeom prst="roundRect">
            <a:avLst>
              <a:gd name="adj" fmla="val 11628"/>
            </a:avLst>
          </a:prstGeom>
          <a:solidFill>
            <a:srgbClr val="1B3A5C"/>
          </a:solidFill>
          <a:ln w="12700">
            <a:solidFill>
              <a:srgbClr val="1B3A5C"/>
            </a:solidFill>
            <a:prstDash val="solid"/>
          </a:ln>
        </p:spPr>
      </p:sp>
      <p:sp>
        <p:nvSpPr>
          <p:cNvPr id="20" name="Text 17"/>
          <p:cNvSpPr/>
          <p:nvPr/>
        </p:nvSpPr>
        <p:spPr>
          <a:xfrm>
            <a:off x="795528" y="5138928"/>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TSP · TSA 시험 결과는 VLSFO의 장기 안정성을 보증하지 않습니다.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21" name="Text 18"/>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Viswa Group 2025, Table 3 (실제 문제 사례 샘플) · CIMAC Congress 2023, Paper No. 131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06   현상</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문제는 결국 정유기에서 터진다</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07</a:t>
            </a:r>
            <a:endParaRPr lang="en-US" sz="950" dirty="0"/>
          </a:p>
        </p:txBody>
      </p:sp>
      <p:sp>
        <p:nvSpPr>
          <p:cNvPr id="6" name="Shape 4"/>
          <p:cNvSpPr/>
          <p:nvPr/>
        </p:nvSpPr>
        <p:spPr>
          <a:xfrm>
            <a:off x="566928" y="1591056"/>
            <a:ext cx="5029200" cy="3310128"/>
          </a:xfrm>
          <a:prstGeom prst="roundRect">
            <a:avLst>
              <a:gd name="adj" fmla="val 386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graphicFrame>
        <p:nvGraphicFramePr>
          <p:cNvPr id="7" name="Chart 0" descr=""/>
          <p:cNvGraphicFramePr/>
          <p:nvPr/>
        </p:nvGraphicFramePr>
        <p:xfrm>
          <a:off x="841248" y="1773936"/>
          <a:ext cx="4480560" cy="2962656"/>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2395728" y="2688336"/>
            <a:ext cx="1371600" cy="457200"/>
          </a:xfrm>
          <a:prstGeom prst="rect">
            <a:avLst/>
          </a:prstGeom>
          <a:noFill/>
          <a:ln/>
        </p:spPr>
        <p:txBody>
          <a:bodyPr wrap="square" lIns="0" tIns="0" rIns="0" bIns="0" rtlCol="0" anchor="ctr"/>
          <a:lstStyle/>
          <a:p>
            <a:pPr algn="ctr" indent="0" marL="0">
              <a:buNone/>
            </a:pPr>
            <a:r>
              <a:rPr lang="en-US" sz="4000" b="1" dirty="0">
                <a:solidFill>
                  <a:srgbClr val="E17B34"/>
                </a:solidFill>
                <a:latin typeface="맑은 고딕" pitchFamily="34" charset="0"/>
                <a:ea typeface="맑은 고딕" pitchFamily="34" charset="-122"/>
                <a:cs typeface="맑은 고딕" pitchFamily="34" charset="-120"/>
              </a:rPr>
              <a:t>71</a:t>
            </a:r>
            <a:pPr algn="ctr" indent="0" marL="0">
              <a:buNone/>
            </a:pPr>
            <a:r>
              <a:rPr lang="en-US" sz="2000" b="1" dirty="0">
                <a:solidFill>
                  <a:srgbClr val="E17B34"/>
                </a:solidFill>
                <a:latin typeface="맑은 고딕" pitchFamily="34" charset="0"/>
                <a:ea typeface="맑은 고딕" pitchFamily="34" charset="-122"/>
                <a:cs typeface="맑은 고딕" pitchFamily="34" charset="-120"/>
              </a:rPr>
              <a:t>%</a:t>
            </a:r>
            <a:endParaRPr lang="en-US" sz="4000" dirty="0"/>
          </a:p>
        </p:txBody>
      </p:sp>
      <p:sp>
        <p:nvSpPr>
          <p:cNvPr id="9" name="Text 6"/>
          <p:cNvSpPr/>
          <p:nvPr/>
        </p:nvSpPr>
        <p:spPr>
          <a:xfrm>
            <a:off x="2395728" y="3108960"/>
            <a:ext cx="1371600" cy="219456"/>
          </a:xfrm>
          <a:prstGeom prst="rect">
            <a:avLst/>
          </a:prstGeom>
          <a:noFill/>
          <a:ln/>
        </p:spPr>
        <p:txBody>
          <a:bodyPr wrap="square" lIns="0" tIns="0" rIns="0" bIns="0" rtlCol="0" anchor="ctr"/>
          <a:lstStyle/>
          <a:p>
            <a:pPr algn="ctr" indent="0" marL="0">
              <a:buNone/>
            </a:pPr>
            <a:r>
              <a:rPr lang="en-US" sz="850" dirty="0">
                <a:solidFill>
                  <a:srgbClr val="3D4A5C"/>
                </a:solidFill>
                <a:latin typeface="맑은 고딕" pitchFamily="34" charset="0"/>
                <a:ea typeface="맑은 고딕" pitchFamily="34" charset="-122"/>
                <a:cs typeface="맑은 고딕" pitchFamily="34" charset="-120"/>
              </a:rPr>
              <a:t>정유기·필터</a:t>
            </a:r>
            <a:endParaRPr lang="en-US" sz="850" dirty="0"/>
          </a:p>
        </p:txBody>
      </p:sp>
      <p:sp>
        <p:nvSpPr>
          <p:cNvPr id="10" name="Shape 7"/>
          <p:cNvSpPr/>
          <p:nvPr/>
        </p:nvSpPr>
        <p:spPr>
          <a:xfrm>
            <a:off x="5852160" y="1591056"/>
            <a:ext cx="5769864" cy="3310128"/>
          </a:xfrm>
          <a:prstGeom prst="roundRect">
            <a:avLst>
              <a:gd name="adj" fmla="val 386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1" name="Text 8"/>
          <p:cNvSpPr/>
          <p:nvPr/>
        </p:nvSpPr>
        <p:spPr>
          <a:xfrm>
            <a:off x="6108192" y="1792224"/>
            <a:ext cx="4572000"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WHAT IT MEANS ON BOARD</a:t>
            </a:r>
            <a:endParaRPr lang="en-US" sz="950" dirty="0"/>
          </a:p>
        </p:txBody>
      </p:sp>
      <p:sp>
        <p:nvSpPr>
          <p:cNvPr id="12" name="Text 9"/>
          <p:cNvSpPr/>
          <p:nvPr/>
        </p:nvSpPr>
        <p:spPr>
          <a:xfrm>
            <a:off x="6108192" y="2029968"/>
            <a:ext cx="5257800" cy="292608"/>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연료 문제는 엔진이 아니라 정화 장비에서 먼저 나타납니다</a:t>
            </a:r>
            <a:endParaRPr lang="en-US" sz="1300" dirty="0"/>
          </a:p>
        </p:txBody>
      </p:sp>
      <p:sp>
        <p:nvSpPr>
          <p:cNvPr id="13" name="Shape 10"/>
          <p:cNvSpPr/>
          <p:nvPr/>
        </p:nvSpPr>
        <p:spPr>
          <a:xfrm>
            <a:off x="6108192" y="2468880"/>
            <a:ext cx="566928" cy="274320"/>
          </a:xfrm>
          <a:prstGeom prst="roundRect">
            <a:avLst>
              <a:gd name="adj" fmla="val 20000"/>
            </a:avLst>
          </a:prstGeom>
          <a:solidFill>
            <a:srgbClr val="EEF2F9"/>
          </a:solidFill>
          <a:ln w="12700">
            <a:solidFill>
              <a:srgbClr val="333333"/>
            </a:solidFill>
            <a:prstDash val="solid"/>
          </a:ln>
        </p:spPr>
      </p:sp>
      <p:sp>
        <p:nvSpPr>
          <p:cNvPr id="14" name="Text 11"/>
          <p:cNvSpPr/>
          <p:nvPr/>
        </p:nvSpPr>
        <p:spPr>
          <a:xfrm>
            <a:off x="6108192" y="2468880"/>
            <a:ext cx="566928" cy="274320"/>
          </a:xfrm>
          <a:prstGeom prst="rect">
            <a:avLst/>
          </a:prstGeom>
          <a:noFill/>
          <a:ln/>
        </p:spPr>
        <p:txBody>
          <a:bodyPr wrap="square" lIns="0" tIns="0" rIns="0" bIns="0" rtlCol="0" anchor="ctr"/>
          <a:lstStyle/>
          <a:p>
            <a:pPr algn="ctr" indent="0" marL="0">
              <a:buNone/>
            </a:pPr>
            <a:r>
              <a:rPr lang="en-US" sz="1050" b="1" dirty="0">
                <a:solidFill>
                  <a:srgbClr val="2E5C8A"/>
                </a:solidFill>
                <a:latin typeface="맑은 고딕" pitchFamily="34" charset="0"/>
                <a:ea typeface="맑은 고딕" pitchFamily="34" charset="-122"/>
                <a:cs typeface="맑은 고딕" pitchFamily="34" charset="-120"/>
              </a:rPr>
              <a:t>40%</a:t>
            </a:r>
            <a:endParaRPr lang="en-US" sz="1050" dirty="0"/>
          </a:p>
        </p:txBody>
      </p:sp>
      <p:sp>
        <p:nvSpPr>
          <p:cNvPr id="15" name="Text 12"/>
          <p:cNvSpPr/>
          <p:nvPr/>
        </p:nvSpPr>
        <p:spPr>
          <a:xfrm>
            <a:off x="6784848" y="2432304"/>
            <a:ext cx="1920240" cy="347472"/>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정유기 막힘</a:t>
            </a:r>
            <a:endParaRPr lang="en-US" sz="1150" dirty="0"/>
          </a:p>
        </p:txBody>
      </p:sp>
      <p:sp>
        <p:nvSpPr>
          <p:cNvPr id="16" name="Text 13"/>
          <p:cNvSpPr/>
          <p:nvPr/>
        </p:nvSpPr>
        <p:spPr>
          <a:xfrm>
            <a:off x="8741664" y="2414016"/>
            <a:ext cx="2624328" cy="402336"/>
          </a:xfrm>
          <a:prstGeom prst="rect">
            <a:avLst/>
          </a:prstGeom>
          <a:noFill/>
          <a:ln/>
        </p:spPr>
        <p:txBody>
          <a:bodyPr wrap="square" lIns="0" tIns="0" rIns="0" bIns="0" rtlCol="0" anchor="ctr"/>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슬러지 부하가 분리 능력을 초과. 심하면 보울 손상까지</a:t>
            </a:r>
            <a:endParaRPr lang="en-US" sz="1000" dirty="0"/>
          </a:p>
        </p:txBody>
      </p:sp>
      <p:sp>
        <p:nvSpPr>
          <p:cNvPr id="17" name="Shape 14"/>
          <p:cNvSpPr/>
          <p:nvPr/>
        </p:nvSpPr>
        <p:spPr>
          <a:xfrm>
            <a:off x="6108192" y="2953512"/>
            <a:ext cx="5257800" cy="0"/>
          </a:xfrm>
          <a:prstGeom prst="line">
            <a:avLst/>
          </a:prstGeom>
          <a:noFill/>
          <a:ln w="9525">
            <a:solidFill>
              <a:srgbClr val="DFE5F0"/>
            </a:solidFill>
            <a:prstDash val="solid"/>
          </a:ln>
        </p:spPr>
      </p:sp>
      <p:sp>
        <p:nvSpPr>
          <p:cNvPr id="18" name="Shape 15"/>
          <p:cNvSpPr/>
          <p:nvPr/>
        </p:nvSpPr>
        <p:spPr>
          <a:xfrm>
            <a:off x="6108192" y="3072384"/>
            <a:ext cx="566928" cy="274320"/>
          </a:xfrm>
          <a:prstGeom prst="roundRect">
            <a:avLst>
              <a:gd name="adj" fmla="val 20000"/>
            </a:avLst>
          </a:prstGeom>
          <a:solidFill>
            <a:srgbClr val="EEF2F9"/>
          </a:solidFill>
          <a:ln w="12700">
            <a:solidFill>
              <a:srgbClr val="333333"/>
            </a:solidFill>
            <a:prstDash val="solid"/>
          </a:ln>
        </p:spPr>
      </p:sp>
      <p:sp>
        <p:nvSpPr>
          <p:cNvPr id="19" name="Text 16"/>
          <p:cNvSpPr/>
          <p:nvPr/>
        </p:nvSpPr>
        <p:spPr>
          <a:xfrm>
            <a:off x="6108192" y="3072384"/>
            <a:ext cx="566928" cy="274320"/>
          </a:xfrm>
          <a:prstGeom prst="rect">
            <a:avLst/>
          </a:prstGeom>
          <a:noFill/>
          <a:ln/>
        </p:spPr>
        <p:txBody>
          <a:bodyPr wrap="square" lIns="0" tIns="0" rIns="0" bIns="0" rtlCol="0" anchor="ctr"/>
          <a:lstStyle/>
          <a:p>
            <a:pPr algn="ctr" indent="0" marL="0">
              <a:buNone/>
            </a:pPr>
            <a:r>
              <a:rPr lang="en-US" sz="1050" b="1" dirty="0">
                <a:solidFill>
                  <a:srgbClr val="2E5C8A"/>
                </a:solidFill>
                <a:latin typeface="맑은 고딕" pitchFamily="34" charset="0"/>
                <a:ea typeface="맑은 고딕" pitchFamily="34" charset="-122"/>
                <a:cs typeface="맑은 고딕" pitchFamily="34" charset="-120"/>
              </a:rPr>
              <a:t>21%</a:t>
            </a:r>
            <a:endParaRPr lang="en-US" sz="1050" dirty="0"/>
          </a:p>
        </p:txBody>
      </p:sp>
      <p:sp>
        <p:nvSpPr>
          <p:cNvPr id="20" name="Text 17"/>
          <p:cNvSpPr/>
          <p:nvPr/>
        </p:nvSpPr>
        <p:spPr>
          <a:xfrm>
            <a:off x="6784848" y="3035808"/>
            <a:ext cx="1920240" cy="347472"/>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정유기 + 필터 동시</a:t>
            </a:r>
            <a:endParaRPr lang="en-US" sz="1150" dirty="0"/>
          </a:p>
        </p:txBody>
      </p:sp>
      <p:sp>
        <p:nvSpPr>
          <p:cNvPr id="21" name="Text 18"/>
          <p:cNvSpPr/>
          <p:nvPr/>
        </p:nvSpPr>
        <p:spPr>
          <a:xfrm>
            <a:off x="8741664" y="3017520"/>
            <a:ext cx="2624328" cy="402336"/>
          </a:xfrm>
          <a:prstGeom prst="rect">
            <a:avLst/>
          </a:prstGeom>
          <a:noFill/>
          <a:ln/>
        </p:spPr>
        <p:txBody>
          <a:bodyPr wrap="square" lIns="0" tIns="0" rIns="0" bIns="0" rtlCol="0" anchor="ctr"/>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이미 불안정해진 연료가 계통 전체를 막는 단계</a:t>
            </a:r>
            <a:endParaRPr lang="en-US" sz="1000" dirty="0"/>
          </a:p>
        </p:txBody>
      </p:sp>
      <p:sp>
        <p:nvSpPr>
          <p:cNvPr id="22" name="Shape 19"/>
          <p:cNvSpPr/>
          <p:nvPr/>
        </p:nvSpPr>
        <p:spPr>
          <a:xfrm>
            <a:off x="6108192" y="3557016"/>
            <a:ext cx="5257800" cy="0"/>
          </a:xfrm>
          <a:prstGeom prst="line">
            <a:avLst/>
          </a:prstGeom>
          <a:noFill/>
          <a:ln w="9525">
            <a:solidFill>
              <a:srgbClr val="DFE5F0"/>
            </a:solidFill>
            <a:prstDash val="solid"/>
          </a:ln>
        </p:spPr>
      </p:sp>
      <p:sp>
        <p:nvSpPr>
          <p:cNvPr id="23" name="Shape 20"/>
          <p:cNvSpPr/>
          <p:nvPr/>
        </p:nvSpPr>
        <p:spPr>
          <a:xfrm>
            <a:off x="6108192" y="3675888"/>
            <a:ext cx="566928" cy="274320"/>
          </a:xfrm>
          <a:prstGeom prst="roundRect">
            <a:avLst>
              <a:gd name="adj" fmla="val 20000"/>
            </a:avLst>
          </a:prstGeom>
          <a:solidFill>
            <a:srgbClr val="EEF2F9"/>
          </a:solidFill>
          <a:ln w="12700">
            <a:solidFill>
              <a:srgbClr val="333333"/>
            </a:solidFill>
            <a:prstDash val="solid"/>
          </a:ln>
        </p:spPr>
      </p:sp>
      <p:sp>
        <p:nvSpPr>
          <p:cNvPr id="24" name="Text 21"/>
          <p:cNvSpPr/>
          <p:nvPr/>
        </p:nvSpPr>
        <p:spPr>
          <a:xfrm>
            <a:off x="6108192" y="3675888"/>
            <a:ext cx="566928" cy="274320"/>
          </a:xfrm>
          <a:prstGeom prst="rect">
            <a:avLst/>
          </a:prstGeom>
          <a:noFill/>
          <a:ln/>
        </p:spPr>
        <p:txBody>
          <a:bodyPr wrap="square" lIns="0" tIns="0" rIns="0" bIns="0" rtlCol="0" anchor="ctr"/>
          <a:lstStyle/>
          <a:p>
            <a:pPr algn="ctr" indent="0" marL="0">
              <a:buNone/>
            </a:pPr>
            <a:r>
              <a:rPr lang="en-US" sz="1050" b="1" dirty="0">
                <a:solidFill>
                  <a:srgbClr val="2E5C8A"/>
                </a:solidFill>
                <a:latin typeface="맑은 고딕" pitchFamily="34" charset="0"/>
                <a:ea typeface="맑은 고딕" pitchFamily="34" charset="-122"/>
                <a:cs typeface="맑은 고딕" pitchFamily="34" charset="-120"/>
              </a:rPr>
              <a:t>9%</a:t>
            </a:r>
            <a:endParaRPr lang="en-US" sz="1050" dirty="0"/>
          </a:p>
        </p:txBody>
      </p:sp>
      <p:sp>
        <p:nvSpPr>
          <p:cNvPr id="25" name="Text 22"/>
          <p:cNvSpPr/>
          <p:nvPr/>
        </p:nvSpPr>
        <p:spPr>
          <a:xfrm>
            <a:off x="6784848" y="3639312"/>
            <a:ext cx="1920240" cy="347472"/>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필터 막힘</a:t>
            </a:r>
            <a:endParaRPr lang="en-US" sz="1150" dirty="0"/>
          </a:p>
        </p:txBody>
      </p:sp>
      <p:sp>
        <p:nvSpPr>
          <p:cNvPr id="26" name="Text 23"/>
          <p:cNvSpPr/>
          <p:nvPr/>
        </p:nvSpPr>
        <p:spPr>
          <a:xfrm>
            <a:off x="8741664" y="3621024"/>
            <a:ext cx="2624328" cy="402336"/>
          </a:xfrm>
          <a:prstGeom prst="rect">
            <a:avLst/>
          </a:prstGeom>
          <a:noFill/>
          <a:ln/>
        </p:spPr>
        <p:txBody>
          <a:bodyPr wrap="square" lIns="0" tIns="0" rIns="0" bIns="0" rtlCol="0" anchor="ctr"/>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왁스 석출 또는 응집된 아스팔텐</a:t>
            </a:r>
            <a:endParaRPr lang="en-US" sz="1000" dirty="0"/>
          </a:p>
        </p:txBody>
      </p:sp>
      <p:sp>
        <p:nvSpPr>
          <p:cNvPr id="27" name="Shape 24"/>
          <p:cNvSpPr/>
          <p:nvPr/>
        </p:nvSpPr>
        <p:spPr>
          <a:xfrm>
            <a:off x="6108192" y="4160520"/>
            <a:ext cx="5257800" cy="0"/>
          </a:xfrm>
          <a:prstGeom prst="line">
            <a:avLst/>
          </a:prstGeom>
          <a:noFill/>
          <a:ln w="9525">
            <a:solidFill>
              <a:srgbClr val="DFE5F0"/>
            </a:solidFill>
            <a:prstDash val="solid"/>
          </a:ln>
        </p:spPr>
      </p:sp>
      <p:sp>
        <p:nvSpPr>
          <p:cNvPr id="28" name="Shape 25"/>
          <p:cNvSpPr/>
          <p:nvPr/>
        </p:nvSpPr>
        <p:spPr>
          <a:xfrm>
            <a:off x="6108192" y="4279392"/>
            <a:ext cx="566928" cy="274320"/>
          </a:xfrm>
          <a:prstGeom prst="roundRect">
            <a:avLst>
              <a:gd name="adj" fmla="val 20000"/>
            </a:avLst>
          </a:prstGeom>
          <a:solidFill>
            <a:srgbClr val="FDF2E9"/>
          </a:solidFill>
          <a:ln w="12700">
            <a:solidFill>
              <a:srgbClr val="333333"/>
            </a:solidFill>
            <a:prstDash val="solid"/>
          </a:ln>
        </p:spPr>
      </p:sp>
      <p:sp>
        <p:nvSpPr>
          <p:cNvPr id="29" name="Text 26"/>
          <p:cNvSpPr/>
          <p:nvPr/>
        </p:nvSpPr>
        <p:spPr>
          <a:xfrm>
            <a:off x="6108192" y="4279392"/>
            <a:ext cx="566928" cy="274320"/>
          </a:xfrm>
          <a:prstGeom prst="rect">
            <a:avLst/>
          </a:prstGeom>
          <a:noFill/>
          <a:ln/>
        </p:spPr>
        <p:txBody>
          <a:bodyPr wrap="square" lIns="0" tIns="0" rIns="0" bIns="0" rtlCol="0" anchor="ctr"/>
          <a:lstStyle/>
          <a:p>
            <a:pPr algn="ctr" indent="0" marL="0">
              <a:buNone/>
            </a:pPr>
            <a:r>
              <a:rPr lang="en-US" sz="1050" b="1" dirty="0">
                <a:solidFill>
                  <a:srgbClr val="E17B34"/>
                </a:solidFill>
                <a:latin typeface="맑은 고딕" pitchFamily="34" charset="0"/>
                <a:ea typeface="맑은 고딕" pitchFamily="34" charset="-122"/>
                <a:cs typeface="맑은 고딕" pitchFamily="34" charset="-120"/>
              </a:rPr>
              <a:t>1%</a:t>
            </a:r>
            <a:endParaRPr lang="en-US" sz="1050" dirty="0"/>
          </a:p>
        </p:txBody>
      </p:sp>
      <p:sp>
        <p:nvSpPr>
          <p:cNvPr id="30" name="Text 27"/>
          <p:cNvSpPr/>
          <p:nvPr/>
        </p:nvSpPr>
        <p:spPr>
          <a:xfrm>
            <a:off x="6784848" y="4242816"/>
            <a:ext cx="1920240" cy="347472"/>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연료펌프 고착</a:t>
            </a:r>
            <a:endParaRPr lang="en-US" sz="1150" dirty="0"/>
          </a:p>
        </p:txBody>
      </p:sp>
      <p:sp>
        <p:nvSpPr>
          <p:cNvPr id="31" name="Text 28"/>
          <p:cNvSpPr/>
          <p:nvPr/>
        </p:nvSpPr>
        <p:spPr>
          <a:xfrm>
            <a:off x="8741664" y="4224528"/>
            <a:ext cx="2624328" cy="402336"/>
          </a:xfrm>
          <a:prstGeom prst="rect">
            <a:avLst/>
          </a:prstGeom>
          <a:noFill/>
          <a:ln/>
        </p:spPr>
        <p:txBody>
          <a:bodyPr wrap="square" lIns="0" tIns="0" rIns="0" bIns="0" rtlCol="0" anchor="ctr"/>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가장 늦게, 가장 비싸게 드러나는 증상</a:t>
            </a:r>
            <a:endParaRPr lang="en-US" sz="1000" dirty="0"/>
          </a:p>
        </p:txBody>
      </p:sp>
      <p:sp>
        <p:nvSpPr>
          <p:cNvPr id="32" name="Shape 29"/>
          <p:cNvSpPr/>
          <p:nvPr/>
        </p:nvSpPr>
        <p:spPr>
          <a:xfrm>
            <a:off x="566928" y="5065776"/>
            <a:ext cx="11057839" cy="786384"/>
          </a:xfrm>
          <a:prstGeom prst="roundRect">
            <a:avLst>
              <a:gd name="adj" fmla="val 11628"/>
            </a:avLst>
          </a:prstGeom>
          <a:solidFill>
            <a:srgbClr val="1B3A5C"/>
          </a:solidFill>
          <a:ln w="12700">
            <a:solidFill>
              <a:srgbClr val="1B3A5C"/>
            </a:solidFill>
            <a:prstDash val="solid"/>
          </a:ln>
        </p:spPr>
      </p:sp>
      <p:sp>
        <p:nvSpPr>
          <p:cNvPr id="33" name="Text 30"/>
          <p:cNvSpPr/>
          <p:nvPr/>
        </p:nvSpPr>
        <p:spPr>
          <a:xfrm>
            <a:off x="795528" y="5065776"/>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2025년 보고된 VLSFO 문제의 70%가 정유기 슬러징과 필터 막힘이었습니다.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34" name="Text 31"/>
          <p:cNvSpPr/>
          <p:nvPr/>
        </p:nvSpPr>
        <p:spPr>
          <a:xfrm>
            <a:off x="566928" y="5925312"/>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Viswa Group 2025, Figure 12 (VLSFO 운항 이슈 분포)</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07   사각지대</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MGO는 안전지대가 아니다</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08</a:t>
            </a:r>
            <a:endParaRPr lang="en-US" sz="950" dirty="0"/>
          </a:p>
        </p:txBody>
      </p:sp>
      <p:sp>
        <p:nvSpPr>
          <p:cNvPr id="6" name="Shape 4"/>
          <p:cNvSpPr/>
          <p:nvPr/>
        </p:nvSpPr>
        <p:spPr>
          <a:xfrm>
            <a:off x="566928" y="1591056"/>
            <a:ext cx="3429914" cy="2560320"/>
          </a:xfrm>
          <a:prstGeom prst="roundRect">
            <a:avLst>
              <a:gd name="adj" fmla="val 5000"/>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04672" y="1792224"/>
            <a:ext cx="2954426"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FILTER CHOKING</a:t>
            </a:r>
            <a:endParaRPr lang="en-US" sz="950" dirty="0"/>
          </a:p>
        </p:txBody>
      </p:sp>
      <p:sp>
        <p:nvSpPr>
          <p:cNvPr id="8" name="Text 6"/>
          <p:cNvSpPr/>
          <p:nvPr/>
        </p:nvSpPr>
        <p:spPr>
          <a:xfrm>
            <a:off x="804672" y="2011680"/>
            <a:ext cx="2954426" cy="274320"/>
          </a:xfrm>
          <a:prstGeom prst="rect">
            <a:avLst/>
          </a:prstGeom>
          <a:noFill/>
          <a:ln/>
        </p:spPr>
        <p:txBody>
          <a:bodyPr wrap="square" lIns="0" tIns="0" rIns="0" bIns="0" rtlCol="0" anchor="ctr"/>
          <a:lstStyle/>
          <a:p>
            <a:pPr indent="0" marL="0">
              <a:buNone/>
            </a:pPr>
            <a:r>
              <a:rPr lang="en-US" sz="1350" b="1" dirty="0">
                <a:solidFill>
                  <a:srgbClr val="1B3A5C"/>
                </a:solidFill>
                <a:latin typeface="맑은 고딕" pitchFamily="34" charset="0"/>
                <a:ea typeface="맑은 고딕" pitchFamily="34" charset="-122"/>
                <a:cs typeface="맑은 고딕" pitchFamily="34" charset="-120"/>
              </a:rPr>
              <a:t>필터 막힘</a:t>
            </a:r>
            <a:endParaRPr lang="en-US" sz="1350" dirty="0"/>
          </a:p>
        </p:txBody>
      </p:sp>
      <p:sp>
        <p:nvSpPr>
          <p:cNvPr id="9" name="Text 7"/>
          <p:cNvSpPr/>
          <p:nvPr/>
        </p:nvSpPr>
        <p:spPr>
          <a:xfrm>
            <a:off x="804672" y="2377440"/>
            <a:ext cx="2954426" cy="786384"/>
          </a:xfrm>
          <a:prstGeom prst="rect">
            <a:avLst/>
          </a:prstGeom>
          <a:noFill/>
          <a:ln/>
        </p:spPr>
        <p:txBody>
          <a:bodyPr wrap="square" lIns="0" tIns="0" rIns="0" bIns="0" rtlCol="0" anchor="ctr"/>
          <a:lstStyle/>
          <a:p>
            <a:pPr indent="0" marL="0">
              <a:buNone/>
            </a:pPr>
            <a:r>
              <a:rPr lang="en-US" sz="4600" b="1" dirty="0">
                <a:solidFill>
                  <a:srgbClr val="1B3A5C"/>
                </a:solidFill>
                <a:latin typeface="맑은 고딕" pitchFamily="34" charset="0"/>
                <a:ea typeface="맑은 고딕" pitchFamily="34" charset="-122"/>
                <a:cs typeface="맑은 고딕" pitchFamily="34" charset="-120"/>
              </a:rPr>
              <a:t>67</a:t>
            </a:r>
            <a:pPr indent="0" marL="0">
              <a:buNone/>
            </a:pPr>
            <a:r>
              <a:rPr lang="en-US" sz="1800" b="1" dirty="0">
                <a:solidFill>
                  <a:srgbClr val="1B3A5C"/>
                </a:solidFill>
                <a:latin typeface="맑은 고딕" pitchFamily="34" charset="0"/>
                <a:ea typeface="맑은 고딕" pitchFamily="34" charset="-122"/>
                <a:cs typeface="맑은 고딕" pitchFamily="34" charset="-120"/>
              </a:rPr>
              <a:t>%</a:t>
            </a:r>
            <a:endParaRPr lang="en-US" sz="4600" dirty="0"/>
          </a:p>
        </p:txBody>
      </p:sp>
      <p:sp>
        <p:nvSpPr>
          <p:cNvPr id="10" name="Text 8"/>
          <p:cNvSpPr/>
          <p:nvPr/>
        </p:nvSpPr>
        <p:spPr>
          <a:xfrm>
            <a:off x="804672" y="3236976"/>
            <a:ext cx="2954426" cy="658368"/>
          </a:xfrm>
          <a:prstGeom prst="rect">
            <a:avLst/>
          </a:prstGeom>
          <a:noFill/>
          <a:ln/>
        </p:spPr>
        <p:txBody>
          <a:bodyPr wrap="square" lIns="0" tIns="0" rIns="0" bIns="0" rtlCol="0" anchor="t"/>
          <a:lstStyle/>
          <a:p>
            <a:pPr indent="0" marL="0">
              <a:lnSpc>
                <a:spcPts val="1600"/>
              </a:lnSpc>
              <a:buNone/>
            </a:pPr>
            <a:r>
              <a:rPr lang="en-US" sz="1050" dirty="0">
                <a:solidFill>
                  <a:srgbClr val="3D4A5C"/>
                </a:solidFill>
                <a:latin typeface="맑은 고딕" pitchFamily="34" charset="0"/>
                <a:ea typeface="맑은 고딕" pitchFamily="34" charset="-122"/>
                <a:cs typeface="맑은 고딕" pitchFamily="34" charset="-120"/>
              </a:rPr>
              <a:t>MGO 운항 이슈 중 최다.</a:t>
            </a:r>
            <a:endParaRPr lang="en-US" sz="1050" dirty="0"/>
          </a:p>
          <a:p>
            <a:pPr indent="0" marL="0">
              <a:lnSpc>
                <a:spcPts val="1600"/>
              </a:lnSpc>
              <a:buNone/>
            </a:pPr>
            <a:r>
              <a:rPr lang="en-US" sz="1050" dirty="0">
                <a:solidFill>
                  <a:srgbClr val="3D4A5C"/>
                </a:solidFill>
                <a:latin typeface="맑은 고딕" pitchFamily="34" charset="0"/>
                <a:ea typeface="맑은 고딕" pitchFamily="34" charset="-122"/>
                <a:cs typeface="맑은 고딕" pitchFamily="34" charset="-120"/>
              </a:rPr>
              <a:t>오염물 혼입 또는 왁스 석출이 원인</a:t>
            </a:r>
            <a:endParaRPr lang="en-US" sz="1050" dirty="0"/>
          </a:p>
        </p:txBody>
      </p:sp>
      <p:sp>
        <p:nvSpPr>
          <p:cNvPr id="11" name="Shape 9"/>
          <p:cNvSpPr/>
          <p:nvPr/>
        </p:nvSpPr>
        <p:spPr>
          <a:xfrm>
            <a:off x="4380890" y="1591056"/>
            <a:ext cx="3429914" cy="2560320"/>
          </a:xfrm>
          <a:prstGeom prst="roundRect">
            <a:avLst>
              <a:gd name="adj" fmla="val 5000"/>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2" name="Text 10"/>
          <p:cNvSpPr/>
          <p:nvPr/>
        </p:nvSpPr>
        <p:spPr>
          <a:xfrm>
            <a:off x="4618634" y="1792224"/>
            <a:ext cx="2954426" cy="219456"/>
          </a:xfrm>
          <a:prstGeom prst="rect">
            <a:avLst/>
          </a:prstGeom>
          <a:noFill/>
          <a:ln/>
        </p:spPr>
        <p:txBody>
          <a:bodyPr wrap="square" lIns="0" tIns="0" rIns="0" bIns="0" rtlCol="0" anchor="ctr"/>
          <a:lstStyle/>
          <a:p>
            <a:pPr indent="0" marL="0">
              <a:buNone/>
            </a:pPr>
            <a:r>
              <a:rPr lang="en-US" sz="950" b="1" spc="180" kern="0" dirty="0">
                <a:solidFill>
                  <a:srgbClr val="C0392B"/>
                </a:solidFill>
                <a:latin typeface="맑은 고딕" pitchFamily="34" charset="0"/>
                <a:ea typeface="맑은 고딕" pitchFamily="34" charset="-122"/>
                <a:cs typeface="맑은 고딕" pitchFamily="34" charset="-120"/>
              </a:rPr>
              <a:t>FLASH POINT</a:t>
            </a:r>
            <a:endParaRPr lang="en-US" sz="950" dirty="0"/>
          </a:p>
        </p:txBody>
      </p:sp>
      <p:sp>
        <p:nvSpPr>
          <p:cNvPr id="13" name="Text 11"/>
          <p:cNvSpPr/>
          <p:nvPr/>
        </p:nvSpPr>
        <p:spPr>
          <a:xfrm>
            <a:off x="4618634" y="2011680"/>
            <a:ext cx="2954426" cy="274320"/>
          </a:xfrm>
          <a:prstGeom prst="rect">
            <a:avLst/>
          </a:prstGeom>
          <a:noFill/>
          <a:ln/>
        </p:spPr>
        <p:txBody>
          <a:bodyPr wrap="square" lIns="0" tIns="0" rIns="0" bIns="0" rtlCol="0" anchor="ctr"/>
          <a:lstStyle/>
          <a:p>
            <a:pPr indent="0" marL="0">
              <a:buNone/>
            </a:pPr>
            <a:r>
              <a:rPr lang="en-US" sz="1350" b="1" dirty="0">
                <a:solidFill>
                  <a:srgbClr val="1B3A5C"/>
                </a:solidFill>
                <a:latin typeface="맑은 고딕" pitchFamily="34" charset="0"/>
                <a:ea typeface="맑은 고딕" pitchFamily="34" charset="-122"/>
                <a:cs typeface="맑은 고딕" pitchFamily="34" charset="-120"/>
              </a:rPr>
              <a:t>인화점 미달</a:t>
            </a:r>
            <a:endParaRPr lang="en-US" sz="1350" dirty="0"/>
          </a:p>
        </p:txBody>
      </p:sp>
      <p:sp>
        <p:nvSpPr>
          <p:cNvPr id="14" name="Text 12"/>
          <p:cNvSpPr/>
          <p:nvPr/>
        </p:nvSpPr>
        <p:spPr>
          <a:xfrm>
            <a:off x="4618634" y="2377440"/>
            <a:ext cx="2954426" cy="786384"/>
          </a:xfrm>
          <a:prstGeom prst="rect">
            <a:avLst/>
          </a:prstGeom>
          <a:noFill/>
          <a:ln/>
        </p:spPr>
        <p:txBody>
          <a:bodyPr wrap="square" lIns="0" tIns="0" rIns="0" bIns="0" rtlCol="0" anchor="ctr"/>
          <a:lstStyle/>
          <a:p>
            <a:pPr indent="0" marL="0">
              <a:buNone/>
            </a:pPr>
            <a:r>
              <a:rPr lang="en-US" sz="4600" b="1" dirty="0">
                <a:solidFill>
                  <a:srgbClr val="C0392B"/>
                </a:solidFill>
                <a:latin typeface="맑은 고딕" pitchFamily="34" charset="0"/>
                <a:ea typeface="맑은 고딕" pitchFamily="34" charset="-122"/>
                <a:cs typeface="맑은 고딕" pitchFamily="34" charset="-120"/>
              </a:rPr>
              <a:t>28</a:t>
            </a:r>
            <a:pPr indent="0" marL="0">
              <a:buNone/>
            </a:pPr>
            <a:r>
              <a:rPr lang="en-US" sz="1800" b="1" dirty="0">
                <a:solidFill>
                  <a:srgbClr val="C0392B"/>
                </a:solidFill>
                <a:latin typeface="맑은 고딕" pitchFamily="34" charset="0"/>
                <a:ea typeface="맑은 고딕" pitchFamily="34" charset="-122"/>
                <a:cs typeface="맑은 고딕" pitchFamily="34" charset="-120"/>
              </a:rPr>
              <a:t>%</a:t>
            </a:r>
            <a:endParaRPr lang="en-US" sz="4600" dirty="0"/>
          </a:p>
        </p:txBody>
      </p:sp>
      <p:sp>
        <p:nvSpPr>
          <p:cNvPr id="15" name="Text 13"/>
          <p:cNvSpPr/>
          <p:nvPr/>
        </p:nvSpPr>
        <p:spPr>
          <a:xfrm>
            <a:off x="4618634" y="3236976"/>
            <a:ext cx="2954426" cy="658368"/>
          </a:xfrm>
          <a:prstGeom prst="rect">
            <a:avLst/>
          </a:prstGeom>
          <a:noFill/>
          <a:ln/>
        </p:spPr>
        <p:txBody>
          <a:bodyPr wrap="square" lIns="0" tIns="0" rIns="0" bIns="0" rtlCol="0" anchor="t"/>
          <a:lstStyle/>
          <a:p>
            <a:pPr indent="0" marL="0">
              <a:lnSpc>
                <a:spcPts val="1600"/>
              </a:lnSpc>
              <a:buNone/>
            </a:pPr>
            <a:r>
              <a:rPr lang="en-US" sz="1050" dirty="0">
                <a:solidFill>
                  <a:srgbClr val="3D4A5C"/>
                </a:solidFill>
                <a:latin typeface="맑은 고딕" pitchFamily="34" charset="0"/>
                <a:ea typeface="맑은 고딕" pitchFamily="34" charset="-122"/>
                <a:cs typeface="맑은 고딕" pitchFamily="34" charset="-120"/>
              </a:rPr>
              <a:t>MGO 부적합 항목 2위.</a:t>
            </a:r>
            <a:endParaRPr lang="en-US" sz="1050" dirty="0"/>
          </a:p>
          <a:p>
            <a:pPr indent="0" marL="0">
              <a:lnSpc>
                <a:spcPts val="1600"/>
              </a:lnSpc>
              <a:buNone/>
            </a:pPr>
            <a:r>
              <a:rPr lang="en-US" sz="1050" dirty="0">
                <a:solidFill>
                  <a:srgbClr val="3D4A5C"/>
                </a:solidFill>
                <a:latin typeface="맑은 고딕" pitchFamily="34" charset="0"/>
                <a:ea typeface="맑은 고딕" pitchFamily="34" charset="-122"/>
                <a:cs typeface="맑은 고딕" pitchFamily="34" charset="-120"/>
              </a:rPr>
              <a:t>품질이 아니라 화재 안전 문제</a:t>
            </a:r>
            <a:endParaRPr lang="en-US" sz="1050" dirty="0"/>
          </a:p>
        </p:txBody>
      </p:sp>
      <p:sp>
        <p:nvSpPr>
          <p:cNvPr id="16" name="Shape 14"/>
          <p:cNvSpPr/>
          <p:nvPr/>
        </p:nvSpPr>
        <p:spPr>
          <a:xfrm>
            <a:off x="8194853" y="1591056"/>
            <a:ext cx="3429914" cy="2560320"/>
          </a:xfrm>
          <a:prstGeom prst="roundRect">
            <a:avLst>
              <a:gd name="adj" fmla="val 5000"/>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7" name="Text 15"/>
          <p:cNvSpPr/>
          <p:nvPr/>
        </p:nvSpPr>
        <p:spPr>
          <a:xfrm>
            <a:off x="8432597" y="1792224"/>
            <a:ext cx="2954426"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BIO-MGO</a:t>
            </a:r>
            <a:endParaRPr lang="en-US" sz="950" dirty="0"/>
          </a:p>
        </p:txBody>
      </p:sp>
      <p:sp>
        <p:nvSpPr>
          <p:cNvPr id="18" name="Text 16"/>
          <p:cNvSpPr/>
          <p:nvPr/>
        </p:nvSpPr>
        <p:spPr>
          <a:xfrm>
            <a:off x="8432597" y="2011680"/>
            <a:ext cx="2954426" cy="274320"/>
          </a:xfrm>
          <a:prstGeom prst="rect">
            <a:avLst/>
          </a:prstGeom>
          <a:noFill/>
          <a:ln/>
        </p:spPr>
        <p:txBody>
          <a:bodyPr wrap="square" lIns="0" tIns="0" rIns="0" bIns="0" rtlCol="0" anchor="ctr"/>
          <a:lstStyle/>
          <a:p>
            <a:pPr indent="0" marL="0">
              <a:buNone/>
            </a:pPr>
            <a:r>
              <a:rPr lang="en-US" sz="1350" b="1" dirty="0">
                <a:solidFill>
                  <a:srgbClr val="1B3A5C"/>
                </a:solidFill>
                <a:latin typeface="맑은 고딕" pitchFamily="34" charset="0"/>
                <a:ea typeface="맑은 고딕" pitchFamily="34" charset="-122"/>
                <a:cs typeface="맑은 고딕" pitchFamily="34" charset="-120"/>
              </a:rPr>
              <a:t>바이오 혼합 MGO</a:t>
            </a:r>
            <a:endParaRPr lang="en-US" sz="1350" dirty="0"/>
          </a:p>
        </p:txBody>
      </p:sp>
      <p:sp>
        <p:nvSpPr>
          <p:cNvPr id="19" name="Text 17"/>
          <p:cNvSpPr/>
          <p:nvPr/>
        </p:nvSpPr>
        <p:spPr>
          <a:xfrm>
            <a:off x="8432597" y="2377440"/>
            <a:ext cx="2954426" cy="786384"/>
          </a:xfrm>
          <a:prstGeom prst="rect">
            <a:avLst/>
          </a:prstGeom>
          <a:noFill/>
          <a:ln/>
        </p:spPr>
        <p:txBody>
          <a:bodyPr wrap="square" lIns="0" tIns="0" rIns="0" bIns="0" rtlCol="0" anchor="ctr"/>
          <a:lstStyle/>
          <a:p>
            <a:pPr indent="0" marL="0">
              <a:buNone/>
            </a:pPr>
            <a:r>
              <a:rPr lang="en-US" sz="4600" b="1" dirty="0">
                <a:solidFill>
                  <a:srgbClr val="E17B34"/>
                </a:solidFill>
                <a:latin typeface="맑은 고딕" pitchFamily="34" charset="0"/>
                <a:ea typeface="맑은 고딕" pitchFamily="34" charset="-122"/>
                <a:cs typeface="맑은 고딕" pitchFamily="34" charset="-120"/>
              </a:rPr>
              <a:t>19</a:t>
            </a:r>
            <a:pPr indent="0" marL="0">
              <a:buNone/>
            </a:pPr>
            <a:r>
              <a:rPr lang="en-US" sz="1800" b="1" dirty="0">
                <a:solidFill>
                  <a:srgbClr val="E17B34"/>
                </a:solidFill>
                <a:latin typeface="맑은 고딕" pitchFamily="34" charset="0"/>
                <a:ea typeface="맑은 고딕" pitchFamily="34" charset="-122"/>
                <a:cs typeface="맑은 고딕" pitchFamily="34" charset="-120"/>
              </a:rPr>
              <a:t>%</a:t>
            </a:r>
            <a:endParaRPr lang="en-US" sz="4600" dirty="0"/>
          </a:p>
        </p:txBody>
      </p:sp>
      <p:sp>
        <p:nvSpPr>
          <p:cNvPr id="20" name="Text 18"/>
          <p:cNvSpPr/>
          <p:nvPr/>
        </p:nvSpPr>
        <p:spPr>
          <a:xfrm>
            <a:off x="8432597" y="3236976"/>
            <a:ext cx="2954426" cy="658368"/>
          </a:xfrm>
          <a:prstGeom prst="rect">
            <a:avLst/>
          </a:prstGeom>
          <a:noFill/>
          <a:ln/>
        </p:spPr>
        <p:txBody>
          <a:bodyPr wrap="square" lIns="0" tIns="0" rIns="0" bIns="0" rtlCol="0" anchor="t"/>
          <a:lstStyle/>
          <a:p>
            <a:pPr indent="0" marL="0">
              <a:lnSpc>
                <a:spcPts val="1600"/>
              </a:lnSpc>
              <a:buNone/>
            </a:pPr>
            <a:r>
              <a:rPr lang="en-US" sz="1050" dirty="0">
                <a:solidFill>
                  <a:srgbClr val="3D4A5C"/>
                </a:solidFill>
                <a:latin typeface="맑은 고딕" pitchFamily="34" charset="0"/>
                <a:ea typeface="맑은 고딕" pitchFamily="34" charset="-122"/>
                <a:cs typeface="맑은 고딕" pitchFamily="34" charset="-120"/>
              </a:rPr>
              <a:t>일반 MGO 부적합률 3.0%의 6배.</a:t>
            </a:r>
            <a:endParaRPr lang="en-US" sz="1050" dirty="0"/>
          </a:p>
          <a:p>
            <a:pPr indent="0" marL="0">
              <a:lnSpc>
                <a:spcPts val="1600"/>
              </a:lnSpc>
              <a:buNone/>
            </a:pPr>
            <a:r>
              <a:rPr lang="en-US" sz="1050" dirty="0">
                <a:solidFill>
                  <a:srgbClr val="3D4A5C"/>
                </a:solidFill>
                <a:latin typeface="맑은 고딕" pitchFamily="34" charset="0"/>
                <a:ea typeface="맑은 고딕" pitchFamily="34" charset="-122"/>
                <a:cs typeface="맑은 고딕" pitchFamily="34" charset="-120"/>
              </a:rPr>
              <a:t>BDN 표기와 실제 FAME 함량 불일치</a:t>
            </a:r>
            <a:endParaRPr lang="en-US" sz="1050" dirty="0"/>
          </a:p>
        </p:txBody>
      </p:sp>
      <p:sp>
        <p:nvSpPr>
          <p:cNvPr id="21" name="Shape 19"/>
          <p:cNvSpPr/>
          <p:nvPr/>
        </p:nvSpPr>
        <p:spPr>
          <a:xfrm>
            <a:off x="566928" y="4297680"/>
            <a:ext cx="11057839" cy="640080"/>
          </a:xfrm>
          <a:prstGeom prst="roundRect">
            <a:avLst>
              <a:gd name="adj" fmla="val 20000"/>
            </a:avLst>
          </a:prstGeom>
          <a:solidFill>
            <a:srgbClr val="FDF2E9"/>
          </a:solidFill>
          <a:ln w="9525">
            <a:solidFill>
              <a:srgbClr val="FDF2E9"/>
            </a:solidFill>
            <a:prstDash val="solid"/>
          </a:ln>
          <a:effectLst>
            <a:outerShdw sx="100000" sy="100000" kx="0" ky="0" algn="bl" rotWithShape="0" blurRad="127000" dist="25400" dir="5400000">
              <a:srgbClr val="9BAAC4">
                <a:alpha val="22000"/>
              </a:srgbClr>
            </a:outerShdw>
          </a:effectLst>
        </p:spPr>
      </p:sp>
      <p:sp>
        <p:nvSpPr>
          <p:cNvPr id="22" name="Text 20"/>
          <p:cNvSpPr/>
          <p:nvPr/>
        </p:nvSpPr>
        <p:spPr>
          <a:xfrm>
            <a:off x="841248" y="4297680"/>
            <a:ext cx="10509199" cy="640080"/>
          </a:xfrm>
          <a:prstGeom prst="rect">
            <a:avLst/>
          </a:prstGeom>
          <a:noFill/>
          <a:ln/>
        </p:spPr>
        <p:txBody>
          <a:bodyPr wrap="square" lIns="0" tIns="0" rIns="0" bIns="0" rtlCol="0" anchor="ctr"/>
          <a:lstStyle/>
          <a:p>
            <a:pPr indent="0" marL="0">
              <a:buNone/>
            </a:pPr>
            <a:r>
              <a:rPr lang="en-US" sz="1050" b="1" dirty="0">
                <a:solidFill>
                  <a:srgbClr val="E17B34"/>
                </a:solidFill>
                <a:latin typeface="맑은 고딕" pitchFamily="34" charset="0"/>
                <a:ea typeface="맑은 고딕" pitchFamily="34" charset="-122"/>
                <a:cs typeface="맑은 고딕" pitchFamily="34" charset="-120"/>
              </a:rPr>
              <a:t>MGO 부적합 항목 구성  </a:t>
            </a:r>
            <a:pPr indent="0" marL="0">
              <a:buNone/>
            </a:pPr>
            <a:r>
              <a:rPr lang="en-US" sz="1050" dirty="0">
                <a:solidFill>
                  <a:srgbClr val="3D4A5C"/>
                </a:solidFill>
                <a:latin typeface="맑은 고딕" pitchFamily="34" charset="0"/>
                <a:ea typeface="맑은 고딕" pitchFamily="34" charset="-122"/>
                <a:cs typeface="맑은 고딕" pitchFamily="34" charset="-120"/>
              </a:rPr>
              <a:t>유동점 31%  ·  인화점 28%  ·  황분 12%  ·  외관 9%  ·  수분 7%  ·  점도 6%  ·  총침전물 3%  ·  회분 2%  ·  윤활성 2%</a:t>
            </a:r>
            <a:endParaRPr lang="en-US" sz="1050" dirty="0"/>
          </a:p>
        </p:txBody>
      </p:sp>
      <p:sp>
        <p:nvSpPr>
          <p:cNvPr id="23" name="Shape 21"/>
          <p:cNvSpPr/>
          <p:nvPr/>
        </p:nvSpPr>
        <p:spPr>
          <a:xfrm>
            <a:off x="566928" y="5084064"/>
            <a:ext cx="11057839" cy="786384"/>
          </a:xfrm>
          <a:prstGeom prst="roundRect">
            <a:avLst>
              <a:gd name="adj" fmla="val 11628"/>
            </a:avLst>
          </a:prstGeom>
          <a:solidFill>
            <a:srgbClr val="1B3A5C"/>
          </a:solidFill>
          <a:ln w="12700">
            <a:solidFill>
              <a:srgbClr val="1B3A5C"/>
            </a:solidFill>
            <a:prstDash val="solid"/>
          </a:ln>
        </p:spPr>
      </p:sp>
      <p:sp>
        <p:nvSpPr>
          <p:cNvPr id="24" name="Text 22"/>
          <p:cNvSpPr/>
          <p:nvPr/>
        </p:nvSpPr>
        <p:spPr>
          <a:xfrm>
            <a:off x="795528" y="5084064"/>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ECA 출입 시 연료 전환은 점도와 온도를 급격히 흔듭니다. 그만큼 계통이 예민해집니다.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25" name="Text 23"/>
          <p:cNvSpPr/>
          <p:nvPr/>
        </p:nvSpPr>
        <p:spPr>
          <a:xfrm>
            <a:off x="566928" y="5943600"/>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Viswa Group 2025, Figure 9 · Figure 16 (MGO 부적합 항목 및 운항 이슈 분포)</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08   경계</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원심분리기가 하는 일, 하지 못하는 일</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09</a:t>
            </a:r>
            <a:endParaRPr lang="en-US" sz="950" dirty="0"/>
          </a:p>
        </p:txBody>
      </p:sp>
      <p:sp>
        <p:nvSpPr>
          <p:cNvPr id="6" name="Shape 4"/>
          <p:cNvSpPr/>
          <p:nvPr/>
        </p:nvSpPr>
        <p:spPr>
          <a:xfrm>
            <a:off x="566928" y="1591056"/>
            <a:ext cx="5358384" cy="3200400"/>
          </a:xfrm>
          <a:prstGeom prst="roundRect">
            <a:avLst>
              <a:gd name="adj" fmla="val 4000"/>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22960" y="1792224"/>
            <a:ext cx="4846320" cy="219456"/>
          </a:xfrm>
          <a:prstGeom prst="rect">
            <a:avLst/>
          </a:prstGeom>
          <a:noFill/>
          <a:ln/>
        </p:spPr>
        <p:txBody>
          <a:bodyPr wrap="square" lIns="0" tIns="0" rIns="0" bIns="0" rtlCol="0" anchor="ctr"/>
          <a:lstStyle/>
          <a:p>
            <a:pPr indent="0" marL="0">
              <a:buNone/>
            </a:pPr>
            <a:r>
              <a:rPr lang="en-US" sz="950" b="1" spc="180" kern="0" dirty="0">
                <a:solidFill>
                  <a:srgbClr val="2E7D5B"/>
                </a:solidFill>
                <a:latin typeface="맑은 고딕" pitchFamily="34" charset="0"/>
                <a:ea typeface="맑은 고딕" pitchFamily="34" charset="-122"/>
                <a:cs typeface="맑은 고딕" pitchFamily="34" charset="-120"/>
              </a:rPr>
              <a:t>WITHIN THE SCOPE OF FUEL CLEANING</a:t>
            </a:r>
            <a:endParaRPr lang="en-US" sz="950" dirty="0"/>
          </a:p>
        </p:txBody>
      </p:sp>
      <p:sp>
        <p:nvSpPr>
          <p:cNvPr id="8" name="Text 6"/>
          <p:cNvSpPr/>
          <p:nvPr/>
        </p:nvSpPr>
        <p:spPr>
          <a:xfrm>
            <a:off x="822960" y="2029968"/>
            <a:ext cx="4846320" cy="292608"/>
          </a:xfrm>
          <a:prstGeom prst="rect">
            <a:avLst/>
          </a:prstGeom>
          <a:noFill/>
          <a:ln/>
        </p:spPr>
        <p:txBody>
          <a:bodyPr wrap="square" lIns="0" tIns="0" rIns="0" bIns="0" rtlCol="0" anchor="ctr"/>
          <a:lstStyle/>
          <a:p>
            <a:pPr indent="0" marL="0">
              <a:buNone/>
            </a:pPr>
            <a:r>
              <a:rPr lang="en-US" sz="1400" b="1" dirty="0">
                <a:solidFill>
                  <a:srgbClr val="1B3A5C"/>
                </a:solidFill>
                <a:latin typeface="맑은 고딕" pitchFamily="34" charset="0"/>
                <a:ea typeface="맑은 고딕" pitchFamily="34" charset="-122"/>
                <a:cs typeface="맑은 고딕" pitchFamily="34" charset="-120"/>
              </a:rPr>
              <a:t>기계적 정화로 처리되는 영역</a:t>
            </a:r>
            <a:endParaRPr lang="en-US" sz="1400" dirty="0"/>
          </a:p>
        </p:txBody>
      </p:sp>
      <p:sp>
        <p:nvSpPr>
          <p:cNvPr id="9" name="Shape 7"/>
          <p:cNvSpPr/>
          <p:nvPr/>
        </p:nvSpPr>
        <p:spPr>
          <a:xfrm>
            <a:off x="822960" y="2468880"/>
            <a:ext cx="237744" cy="237744"/>
          </a:xfrm>
          <a:prstGeom prst="roundRect">
            <a:avLst>
              <a:gd name="adj" fmla="val 50000"/>
            </a:avLst>
          </a:prstGeom>
          <a:solidFill>
            <a:srgbClr val="2E7D5B"/>
          </a:solidFill>
          <a:ln w="12700">
            <a:solidFill>
              <a:srgbClr val="333333"/>
            </a:solidFill>
            <a:prstDash val="solid"/>
          </a:ln>
        </p:spPr>
      </p:sp>
      <p:sp>
        <p:nvSpPr>
          <p:cNvPr id="10" name="Text 8"/>
          <p:cNvSpPr/>
          <p:nvPr/>
        </p:nvSpPr>
        <p:spPr>
          <a:xfrm>
            <a:off x="1188720" y="2432304"/>
            <a:ext cx="4572000" cy="292608"/>
          </a:xfrm>
          <a:prstGeom prst="rect">
            <a:avLst/>
          </a:prstGeom>
          <a:noFill/>
          <a:ln/>
        </p:spPr>
        <p:txBody>
          <a:bodyPr wrap="square" lIns="0" tIns="0" rIns="0" bIns="0" rtlCol="0" anchor="ctr"/>
          <a:lstStyle/>
          <a:p>
            <a:pPr indent="0" marL="0">
              <a:buNone/>
            </a:pPr>
            <a:r>
              <a:rPr lang="en-US" sz="1200" b="1" dirty="0">
                <a:solidFill>
                  <a:srgbClr val="1B3A5C"/>
                </a:solidFill>
                <a:latin typeface="맑은 고딕" pitchFamily="34" charset="0"/>
                <a:ea typeface="맑은 고딕" pitchFamily="34" charset="-122"/>
                <a:cs typeface="맑은 고딕" pitchFamily="34" charset="-120"/>
              </a:rPr>
              <a:t>촉매 미분 (Al+Si)</a:t>
            </a:r>
            <a:endParaRPr lang="en-US" sz="1200" dirty="0"/>
          </a:p>
        </p:txBody>
      </p:sp>
      <p:sp>
        <p:nvSpPr>
          <p:cNvPr id="11" name="Text 9"/>
          <p:cNvSpPr/>
          <p:nvPr/>
        </p:nvSpPr>
        <p:spPr>
          <a:xfrm>
            <a:off x="1188720" y="2724912"/>
            <a:ext cx="4572000" cy="365760"/>
          </a:xfrm>
          <a:prstGeom prst="rect">
            <a:avLst/>
          </a:prstGeom>
          <a:noFill/>
          <a:ln/>
        </p:spPr>
        <p:txBody>
          <a:bodyPr wrap="square" lIns="0" tIns="0" rIns="0" bIns="0" rtlCol="0" anchor="t"/>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CIMAC: 효율적인 정화 시스템이 유일하게 효과적인 방법</a:t>
            </a:r>
            <a:endParaRPr lang="en-US" sz="1000" dirty="0"/>
          </a:p>
        </p:txBody>
      </p:sp>
      <p:sp>
        <p:nvSpPr>
          <p:cNvPr id="12" name="Shape 10"/>
          <p:cNvSpPr/>
          <p:nvPr/>
        </p:nvSpPr>
        <p:spPr>
          <a:xfrm>
            <a:off x="822960" y="3182112"/>
            <a:ext cx="237744" cy="237744"/>
          </a:xfrm>
          <a:prstGeom prst="roundRect">
            <a:avLst>
              <a:gd name="adj" fmla="val 50000"/>
            </a:avLst>
          </a:prstGeom>
          <a:solidFill>
            <a:srgbClr val="2E7D5B"/>
          </a:solidFill>
          <a:ln w="12700">
            <a:solidFill>
              <a:srgbClr val="333333"/>
            </a:solidFill>
            <a:prstDash val="solid"/>
          </a:ln>
        </p:spPr>
      </p:sp>
      <p:sp>
        <p:nvSpPr>
          <p:cNvPr id="13" name="Text 11"/>
          <p:cNvSpPr/>
          <p:nvPr/>
        </p:nvSpPr>
        <p:spPr>
          <a:xfrm>
            <a:off x="1188720" y="3145536"/>
            <a:ext cx="4572000" cy="292608"/>
          </a:xfrm>
          <a:prstGeom prst="rect">
            <a:avLst/>
          </a:prstGeom>
          <a:noFill/>
          <a:ln/>
        </p:spPr>
        <p:txBody>
          <a:bodyPr wrap="square" lIns="0" tIns="0" rIns="0" bIns="0" rtlCol="0" anchor="ctr"/>
          <a:lstStyle/>
          <a:p>
            <a:pPr indent="0" marL="0">
              <a:buNone/>
            </a:pPr>
            <a:r>
              <a:rPr lang="en-US" sz="1200" b="1" dirty="0">
                <a:solidFill>
                  <a:srgbClr val="1B3A5C"/>
                </a:solidFill>
                <a:latin typeface="맑은 고딕" pitchFamily="34" charset="0"/>
                <a:ea typeface="맑은 고딕" pitchFamily="34" charset="-122"/>
                <a:cs typeface="맑은 고딕" pitchFamily="34" charset="-120"/>
              </a:rPr>
              <a:t>수분 (담수 · 해수)</a:t>
            </a:r>
            <a:endParaRPr lang="en-US" sz="1200" dirty="0"/>
          </a:p>
        </p:txBody>
      </p:sp>
      <p:sp>
        <p:nvSpPr>
          <p:cNvPr id="14" name="Text 12"/>
          <p:cNvSpPr/>
          <p:nvPr/>
        </p:nvSpPr>
        <p:spPr>
          <a:xfrm>
            <a:off x="1188720" y="3438144"/>
            <a:ext cx="4572000" cy="365760"/>
          </a:xfrm>
          <a:prstGeom prst="rect">
            <a:avLst/>
          </a:prstGeom>
          <a:noFill/>
          <a:ln/>
        </p:spPr>
        <p:txBody>
          <a:bodyPr wrap="square" lIns="0" tIns="0" rIns="0" bIns="0" rtlCol="0" anchor="t"/>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엔진 입구 0.3% V/V 미만 유지</a:t>
            </a:r>
            <a:endParaRPr lang="en-US" sz="1000" dirty="0"/>
          </a:p>
        </p:txBody>
      </p:sp>
      <p:sp>
        <p:nvSpPr>
          <p:cNvPr id="15" name="Shape 13"/>
          <p:cNvSpPr/>
          <p:nvPr/>
        </p:nvSpPr>
        <p:spPr>
          <a:xfrm>
            <a:off x="822960" y="3895344"/>
            <a:ext cx="237744" cy="237744"/>
          </a:xfrm>
          <a:prstGeom prst="roundRect">
            <a:avLst>
              <a:gd name="adj" fmla="val 50000"/>
            </a:avLst>
          </a:prstGeom>
          <a:solidFill>
            <a:srgbClr val="2E7D5B"/>
          </a:solidFill>
          <a:ln w="12700">
            <a:solidFill>
              <a:srgbClr val="333333"/>
            </a:solidFill>
            <a:prstDash val="solid"/>
          </a:ln>
        </p:spPr>
      </p:sp>
      <p:sp>
        <p:nvSpPr>
          <p:cNvPr id="16" name="Text 14"/>
          <p:cNvSpPr/>
          <p:nvPr/>
        </p:nvSpPr>
        <p:spPr>
          <a:xfrm>
            <a:off x="1188720" y="3858768"/>
            <a:ext cx="4572000" cy="292608"/>
          </a:xfrm>
          <a:prstGeom prst="rect">
            <a:avLst/>
          </a:prstGeom>
          <a:noFill/>
          <a:ln/>
        </p:spPr>
        <p:txBody>
          <a:bodyPr wrap="square" lIns="0" tIns="0" rIns="0" bIns="0" rtlCol="0" anchor="ctr"/>
          <a:lstStyle/>
          <a:p>
            <a:pPr indent="0" marL="0">
              <a:buNone/>
            </a:pPr>
            <a:r>
              <a:rPr lang="en-US" sz="1200" b="1" dirty="0">
                <a:solidFill>
                  <a:srgbClr val="1B3A5C"/>
                </a:solidFill>
                <a:latin typeface="맑은 고딕" pitchFamily="34" charset="0"/>
                <a:ea typeface="맑은 고딕" pitchFamily="34" charset="-122"/>
                <a:cs typeface="맑은 고딕" pitchFamily="34" charset="-120"/>
              </a:rPr>
              <a:t>침전물 · 응집 슬러지</a:t>
            </a:r>
            <a:endParaRPr lang="en-US" sz="1200" dirty="0"/>
          </a:p>
        </p:txBody>
      </p:sp>
      <p:sp>
        <p:nvSpPr>
          <p:cNvPr id="17" name="Text 15"/>
          <p:cNvSpPr/>
          <p:nvPr/>
        </p:nvSpPr>
        <p:spPr>
          <a:xfrm>
            <a:off x="1188720" y="4151376"/>
            <a:ext cx="4572000" cy="365760"/>
          </a:xfrm>
          <a:prstGeom prst="rect">
            <a:avLst/>
          </a:prstGeom>
          <a:noFill/>
          <a:ln/>
        </p:spPr>
        <p:txBody>
          <a:bodyPr wrap="square" lIns="0" tIns="0" rIns="0" bIns="0" rtlCol="0" anchor="t"/>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충분히 큰 입자로 응집된 경우에 한함</a:t>
            </a:r>
            <a:endParaRPr lang="en-US" sz="1000" dirty="0"/>
          </a:p>
        </p:txBody>
      </p:sp>
      <p:sp>
        <p:nvSpPr>
          <p:cNvPr id="18" name="Text 16"/>
          <p:cNvSpPr/>
          <p:nvPr/>
        </p:nvSpPr>
        <p:spPr>
          <a:xfrm>
            <a:off x="822960" y="4407408"/>
            <a:ext cx="4846320" cy="256032"/>
          </a:xfrm>
          <a:prstGeom prst="rect">
            <a:avLst/>
          </a:prstGeom>
          <a:noFill/>
          <a:ln/>
        </p:spPr>
        <p:txBody>
          <a:bodyPr wrap="square" lIns="0" tIns="0" rIns="0" bIns="0" rtlCol="0" anchor="ctr"/>
          <a:lstStyle/>
          <a:p>
            <a:pPr indent="0" marL="0">
              <a:buNone/>
            </a:pPr>
            <a:r>
              <a:rPr lang="en-US" sz="1000" i="1" dirty="0">
                <a:solidFill>
                  <a:srgbClr val="8A94A6"/>
                </a:solidFill>
                <a:latin typeface="맑은 고딕" pitchFamily="34" charset="0"/>
                <a:ea typeface="맑은 고딕" pitchFamily="34" charset="-122"/>
                <a:cs typeface="맑은 고딕" pitchFamily="34" charset="-120"/>
              </a:rPr>
              <a:t>단, CFR 규격 · 분리 온도 · 유량이 모두 맞을 때에 한합니다.</a:t>
            </a:r>
            <a:endParaRPr lang="en-US" sz="1000" dirty="0"/>
          </a:p>
        </p:txBody>
      </p:sp>
      <p:sp>
        <p:nvSpPr>
          <p:cNvPr id="19" name="Shape 17"/>
          <p:cNvSpPr/>
          <p:nvPr/>
        </p:nvSpPr>
        <p:spPr>
          <a:xfrm>
            <a:off x="6263640" y="1591056"/>
            <a:ext cx="5358384" cy="3200400"/>
          </a:xfrm>
          <a:prstGeom prst="roundRect">
            <a:avLst>
              <a:gd name="adj" fmla="val 4000"/>
            </a:avLst>
          </a:prstGeom>
          <a:solidFill>
            <a:srgbClr val="1B3A5C"/>
          </a:solidFill>
          <a:ln w="9525">
            <a:solidFill>
              <a:srgbClr val="1B3A5C"/>
            </a:solidFill>
            <a:prstDash val="solid"/>
          </a:ln>
          <a:effectLst>
            <a:outerShdw sx="100000" sy="100000" kx="0" ky="0" algn="bl" rotWithShape="0" blurRad="127000" dist="25400" dir="5400000">
              <a:srgbClr val="9BAAC4">
                <a:alpha val="22000"/>
              </a:srgbClr>
            </a:outerShdw>
          </a:effectLst>
        </p:spPr>
      </p:sp>
      <p:sp>
        <p:nvSpPr>
          <p:cNvPr id="20" name="Text 18"/>
          <p:cNvSpPr/>
          <p:nvPr/>
        </p:nvSpPr>
        <p:spPr>
          <a:xfrm>
            <a:off x="6519672" y="1792224"/>
            <a:ext cx="4846320"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OUTSIDE THE SCOPE OF FUEL CLEANING</a:t>
            </a:r>
            <a:endParaRPr lang="en-US" sz="950" dirty="0"/>
          </a:p>
        </p:txBody>
      </p:sp>
      <p:sp>
        <p:nvSpPr>
          <p:cNvPr id="21" name="Text 19"/>
          <p:cNvSpPr/>
          <p:nvPr/>
        </p:nvSpPr>
        <p:spPr>
          <a:xfrm>
            <a:off x="6519672" y="2029968"/>
            <a:ext cx="4846320" cy="292608"/>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기계적 정화로 처리되지 않는 영역</a:t>
            </a:r>
            <a:endParaRPr lang="en-US" sz="1400" dirty="0"/>
          </a:p>
        </p:txBody>
      </p:sp>
      <p:sp>
        <p:nvSpPr>
          <p:cNvPr id="22" name="Shape 20"/>
          <p:cNvSpPr/>
          <p:nvPr/>
        </p:nvSpPr>
        <p:spPr>
          <a:xfrm>
            <a:off x="6519672" y="2468880"/>
            <a:ext cx="237744" cy="237744"/>
          </a:xfrm>
          <a:prstGeom prst="roundRect">
            <a:avLst>
              <a:gd name="adj" fmla="val 50000"/>
            </a:avLst>
          </a:prstGeom>
          <a:solidFill>
            <a:srgbClr val="E17B34"/>
          </a:solidFill>
          <a:ln w="12700">
            <a:solidFill>
              <a:srgbClr val="333333"/>
            </a:solidFill>
            <a:prstDash val="solid"/>
          </a:ln>
        </p:spPr>
      </p:sp>
      <p:sp>
        <p:nvSpPr>
          <p:cNvPr id="23" name="Text 21"/>
          <p:cNvSpPr/>
          <p:nvPr/>
        </p:nvSpPr>
        <p:spPr>
          <a:xfrm>
            <a:off x="6885432" y="2432304"/>
            <a:ext cx="4572000" cy="292608"/>
          </a:xfrm>
          <a:prstGeom prst="rect">
            <a:avLst/>
          </a:prstGeom>
          <a:noFill/>
          <a:ln/>
        </p:spPr>
        <p:txBody>
          <a:bodyPr wrap="square" lIns="0" tIns="0" rIns="0" bIns="0"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화학 오염물</a:t>
            </a:r>
            <a:endParaRPr lang="en-US" sz="1200" dirty="0"/>
          </a:p>
        </p:txBody>
      </p:sp>
      <p:sp>
        <p:nvSpPr>
          <p:cNvPr id="24" name="Text 22"/>
          <p:cNvSpPr/>
          <p:nvPr/>
        </p:nvSpPr>
        <p:spPr>
          <a:xfrm>
            <a:off x="6885432" y="2724912"/>
            <a:ext cx="4572000" cy="365760"/>
          </a:xfrm>
          <a:prstGeom prst="rect">
            <a:avLst/>
          </a:prstGeom>
          <a:noFill/>
          <a:ln/>
        </p:spPr>
        <p:txBody>
          <a:bodyPr wrap="square" lIns="0" tIns="0" rIns="0" bIns="0" rtlCol="0" anchor="t"/>
          <a:lstStyle/>
          <a:p>
            <a:pPr indent="0" marL="0">
              <a:lnSpc>
                <a:spcPts val="1400"/>
              </a:lnSpc>
              <a:buNone/>
            </a:pPr>
            <a:r>
              <a:rPr lang="en-US" sz="1000" dirty="0">
                <a:solidFill>
                  <a:srgbClr val="AFC0D8"/>
                </a:solidFill>
                <a:latin typeface="맑은 고딕" pitchFamily="34" charset="0"/>
                <a:ea typeface="맑은 고딕" pitchFamily="34" charset="-122"/>
                <a:cs typeface="맑은 고딕" pitchFamily="34" charset="-120"/>
              </a:rPr>
              <a:t>CNSL · 유리지방산 · 스티렌 · 알코올 — 용해되어 있어 분리 불가</a:t>
            </a:r>
            <a:endParaRPr lang="en-US" sz="1000" dirty="0"/>
          </a:p>
        </p:txBody>
      </p:sp>
      <p:sp>
        <p:nvSpPr>
          <p:cNvPr id="25" name="Shape 23"/>
          <p:cNvSpPr/>
          <p:nvPr/>
        </p:nvSpPr>
        <p:spPr>
          <a:xfrm>
            <a:off x="6519672" y="3182112"/>
            <a:ext cx="237744" cy="237744"/>
          </a:xfrm>
          <a:prstGeom prst="roundRect">
            <a:avLst>
              <a:gd name="adj" fmla="val 50000"/>
            </a:avLst>
          </a:prstGeom>
          <a:solidFill>
            <a:srgbClr val="E17B34"/>
          </a:solidFill>
          <a:ln w="12700">
            <a:solidFill>
              <a:srgbClr val="333333"/>
            </a:solidFill>
            <a:prstDash val="solid"/>
          </a:ln>
        </p:spPr>
      </p:sp>
      <p:sp>
        <p:nvSpPr>
          <p:cNvPr id="26" name="Text 24"/>
          <p:cNvSpPr/>
          <p:nvPr/>
        </p:nvSpPr>
        <p:spPr>
          <a:xfrm>
            <a:off x="6885432" y="3145536"/>
            <a:ext cx="4572000" cy="292608"/>
          </a:xfrm>
          <a:prstGeom prst="rect">
            <a:avLst/>
          </a:prstGeom>
          <a:noFill/>
          <a:ln/>
        </p:spPr>
        <p:txBody>
          <a:bodyPr wrap="square" lIns="0" tIns="0" rIns="0" bIns="0"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시간 경과 안정성 열화</a:t>
            </a:r>
            <a:endParaRPr lang="en-US" sz="1200" dirty="0"/>
          </a:p>
        </p:txBody>
      </p:sp>
      <p:sp>
        <p:nvSpPr>
          <p:cNvPr id="27" name="Text 25"/>
          <p:cNvSpPr/>
          <p:nvPr/>
        </p:nvSpPr>
        <p:spPr>
          <a:xfrm>
            <a:off x="6885432" y="3438144"/>
            <a:ext cx="4572000" cy="365760"/>
          </a:xfrm>
          <a:prstGeom prst="rect">
            <a:avLst/>
          </a:prstGeom>
          <a:noFill/>
          <a:ln/>
        </p:spPr>
        <p:txBody>
          <a:bodyPr wrap="square" lIns="0" tIns="0" rIns="0" bIns="0" rtlCol="0" anchor="t"/>
          <a:lstStyle/>
          <a:p>
            <a:pPr indent="0" marL="0">
              <a:lnSpc>
                <a:spcPts val="1400"/>
              </a:lnSpc>
              <a:buNone/>
            </a:pPr>
            <a:r>
              <a:rPr lang="en-US" sz="1000" dirty="0">
                <a:solidFill>
                  <a:srgbClr val="AFC0D8"/>
                </a:solidFill>
                <a:latin typeface="맑은 고딕" pitchFamily="34" charset="0"/>
                <a:ea typeface="맑은 고딕" pitchFamily="34" charset="-122"/>
                <a:cs typeface="맑은 고딕" pitchFamily="34" charset="-120"/>
              </a:rPr>
              <a:t>저장 중 진행. 받을 때의 시험 결과로는 예측되지 않음</a:t>
            </a:r>
            <a:endParaRPr lang="en-US" sz="1000" dirty="0"/>
          </a:p>
        </p:txBody>
      </p:sp>
      <p:sp>
        <p:nvSpPr>
          <p:cNvPr id="28" name="Shape 26"/>
          <p:cNvSpPr/>
          <p:nvPr/>
        </p:nvSpPr>
        <p:spPr>
          <a:xfrm>
            <a:off x="6519672" y="3895344"/>
            <a:ext cx="237744" cy="237744"/>
          </a:xfrm>
          <a:prstGeom prst="roundRect">
            <a:avLst>
              <a:gd name="adj" fmla="val 50000"/>
            </a:avLst>
          </a:prstGeom>
          <a:solidFill>
            <a:srgbClr val="E17B34"/>
          </a:solidFill>
          <a:ln w="12700">
            <a:solidFill>
              <a:srgbClr val="333333"/>
            </a:solidFill>
            <a:prstDash val="solid"/>
          </a:ln>
        </p:spPr>
      </p:sp>
      <p:sp>
        <p:nvSpPr>
          <p:cNvPr id="29" name="Text 27"/>
          <p:cNvSpPr/>
          <p:nvPr/>
        </p:nvSpPr>
        <p:spPr>
          <a:xfrm>
            <a:off x="6885432" y="3858768"/>
            <a:ext cx="4572000" cy="292608"/>
          </a:xfrm>
          <a:prstGeom prst="rect">
            <a:avLst/>
          </a:prstGeom>
          <a:noFill/>
          <a:ln/>
        </p:spPr>
        <p:txBody>
          <a:bodyPr wrap="square" lIns="0" tIns="0" rIns="0" bIns="0"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블렌드 간 불호환</a:t>
            </a:r>
            <a:endParaRPr lang="en-US" sz="1200" dirty="0"/>
          </a:p>
        </p:txBody>
      </p:sp>
      <p:sp>
        <p:nvSpPr>
          <p:cNvPr id="30" name="Text 28"/>
          <p:cNvSpPr/>
          <p:nvPr/>
        </p:nvSpPr>
        <p:spPr>
          <a:xfrm>
            <a:off x="6885432" y="4151376"/>
            <a:ext cx="4572000" cy="365760"/>
          </a:xfrm>
          <a:prstGeom prst="rect">
            <a:avLst/>
          </a:prstGeom>
          <a:noFill/>
          <a:ln/>
        </p:spPr>
        <p:txBody>
          <a:bodyPr wrap="square" lIns="0" tIns="0" rIns="0" bIns="0" rtlCol="0" anchor="t"/>
          <a:lstStyle/>
          <a:p>
            <a:pPr indent="0" marL="0">
              <a:lnSpc>
                <a:spcPts val="1400"/>
              </a:lnSpc>
              <a:buNone/>
            </a:pPr>
            <a:r>
              <a:rPr lang="en-US" sz="1000" dirty="0">
                <a:solidFill>
                  <a:srgbClr val="AFC0D8"/>
                </a:solidFill>
                <a:latin typeface="맑은 고딕" pitchFamily="34" charset="0"/>
                <a:ea typeface="맑은 고딕" pitchFamily="34" charset="-122"/>
                <a:cs typeface="맑은 고딕" pitchFamily="34" charset="-120"/>
              </a:rPr>
              <a:t>혼합 자체가 원인. CIMAC은 서로 다른 연료의 혼합을 권하지 않음</a:t>
            </a:r>
            <a:endParaRPr lang="en-US" sz="1000" dirty="0"/>
          </a:p>
        </p:txBody>
      </p:sp>
      <p:sp>
        <p:nvSpPr>
          <p:cNvPr id="31" name="Text 29"/>
          <p:cNvSpPr/>
          <p:nvPr/>
        </p:nvSpPr>
        <p:spPr>
          <a:xfrm>
            <a:off x="6519672" y="4407408"/>
            <a:ext cx="4846320" cy="256032"/>
          </a:xfrm>
          <a:prstGeom prst="rect">
            <a:avLst/>
          </a:prstGeom>
          <a:noFill/>
          <a:ln/>
        </p:spPr>
        <p:txBody>
          <a:bodyPr wrap="square" lIns="0" tIns="0" rIns="0" bIns="0" rtlCol="0" anchor="ctr"/>
          <a:lstStyle/>
          <a:p>
            <a:pPr indent="0" marL="0">
              <a:buNone/>
            </a:pPr>
            <a:r>
              <a:rPr lang="en-US" sz="1050" b="1" i="1" dirty="0">
                <a:solidFill>
                  <a:srgbClr val="E17B34"/>
                </a:solidFill>
                <a:latin typeface="맑은 고딕" pitchFamily="34" charset="0"/>
                <a:ea typeface="맑은 고딕" pitchFamily="34" charset="-122"/>
                <a:cs typeface="맑은 고딕" pitchFamily="34" charset="-120"/>
              </a:rPr>
              <a:t>→ 관리 범위를 분리기 밖으로 넓혀야 합니다</a:t>
            </a:r>
            <a:endParaRPr lang="en-US" sz="1050" dirty="0"/>
          </a:p>
        </p:txBody>
      </p:sp>
      <p:sp>
        <p:nvSpPr>
          <p:cNvPr id="32" name="Shape 30"/>
          <p:cNvSpPr/>
          <p:nvPr/>
        </p:nvSpPr>
        <p:spPr>
          <a:xfrm>
            <a:off x="566928" y="4992624"/>
            <a:ext cx="11057839" cy="786384"/>
          </a:xfrm>
          <a:prstGeom prst="roundRect">
            <a:avLst>
              <a:gd name="adj" fmla="val 11628"/>
            </a:avLst>
          </a:prstGeom>
          <a:solidFill>
            <a:srgbClr val="1B3A5C"/>
          </a:solidFill>
          <a:ln w="12700">
            <a:solidFill>
              <a:srgbClr val="1B3A5C"/>
            </a:solidFill>
            <a:prstDash val="solid"/>
          </a:ln>
        </p:spPr>
      </p:sp>
      <p:sp>
        <p:nvSpPr>
          <p:cNvPr id="33" name="Text 31"/>
          <p:cNvSpPr/>
          <p:nvPr/>
        </p:nvSpPr>
        <p:spPr>
          <a:xfrm>
            <a:off x="795528" y="4992624"/>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일상 분석으로 검출되지 않는 유해 물질은 어떤 연료 정화 시스템의 처리 범위 밖에 있습니다.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34" name="Text 32"/>
          <p:cNvSpPr/>
          <p:nvPr/>
        </p:nvSpPr>
        <p:spPr>
          <a:xfrm>
            <a:off x="566928" y="5907024"/>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CIMAC Guideline 2024 §6.3 · §6.4 · §7.2 — 인용문은 §6.4 원문</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09   프레임</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Tank to Wake — 탱크에서 배기까지</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10</a:t>
            </a:r>
            <a:endParaRPr lang="en-US" sz="950" dirty="0"/>
          </a:p>
        </p:txBody>
      </p:sp>
      <p:sp>
        <p:nvSpPr>
          <p:cNvPr id="6" name="Shape 4"/>
          <p:cNvSpPr/>
          <p:nvPr/>
        </p:nvSpPr>
        <p:spPr>
          <a:xfrm>
            <a:off x="566928" y="1591056"/>
            <a:ext cx="3429914" cy="3017520"/>
          </a:xfrm>
          <a:prstGeom prst="roundRect">
            <a:avLst>
              <a:gd name="adj" fmla="val 42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04672" y="1792224"/>
            <a:ext cx="2954426"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PRE-COMBUSTION</a:t>
            </a:r>
            <a:endParaRPr lang="en-US" sz="950" dirty="0"/>
          </a:p>
        </p:txBody>
      </p:sp>
      <p:sp>
        <p:nvSpPr>
          <p:cNvPr id="8" name="Text 6"/>
          <p:cNvSpPr/>
          <p:nvPr/>
        </p:nvSpPr>
        <p:spPr>
          <a:xfrm>
            <a:off x="804672" y="2011680"/>
            <a:ext cx="2954426" cy="384048"/>
          </a:xfrm>
          <a:prstGeom prst="rect">
            <a:avLst/>
          </a:prstGeom>
          <a:noFill/>
          <a:ln/>
        </p:spPr>
        <p:txBody>
          <a:bodyPr wrap="square" lIns="0" tIns="0" rIns="0" bIns="0" rtlCol="0" anchor="ctr"/>
          <a:lstStyle/>
          <a:p>
            <a:pPr indent="0" marL="0">
              <a:buNone/>
            </a:pPr>
            <a:r>
              <a:rPr lang="en-US" sz="2200" dirty="0">
                <a:solidFill>
                  <a:srgbClr val="1B3A5C"/>
                </a:solidFill>
                <a:latin typeface="바탕" pitchFamily="34" charset="0"/>
                <a:ea typeface="바탕" pitchFamily="34" charset="-122"/>
                <a:cs typeface="바탕" pitchFamily="34" charset="-120"/>
              </a:rPr>
              <a:t>연소 전</a:t>
            </a:r>
            <a:endParaRPr lang="en-US" sz="2200" dirty="0"/>
          </a:p>
        </p:txBody>
      </p:sp>
      <p:sp>
        <p:nvSpPr>
          <p:cNvPr id="9" name="Text 7"/>
          <p:cNvSpPr/>
          <p:nvPr/>
        </p:nvSpPr>
        <p:spPr>
          <a:xfrm>
            <a:off x="804672" y="2414016"/>
            <a:ext cx="2954426" cy="256032"/>
          </a:xfrm>
          <a:prstGeom prst="rect">
            <a:avLst/>
          </a:prstGeom>
          <a:noFill/>
          <a:ln/>
        </p:spPr>
        <p:txBody>
          <a:bodyPr wrap="square" lIns="0" tIns="0" rIns="0" bIns="0" rtlCol="0" anchor="ctr"/>
          <a:lstStyle/>
          <a:p>
            <a:pPr indent="0" marL="0">
              <a:buNone/>
            </a:pPr>
            <a:r>
              <a:rPr lang="en-US" sz="1100" b="1" dirty="0">
                <a:solidFill>
                  <a:srgbClr val="2E5C8A"/>
                </a:solidFill>
                <a:latin typeface="맑은 고딕" pitchFamily="34" charset="0"/>
                <a:ea typeface="맑은 고딕" pitchFamily="34" charset="-122"/>
                <a:cs typeface="맑은 고딕" pitchFamily="34" charset="-120"/>
              </a:rPr>
              <a:t>저장 · 안정성 · 호환성</a:t>
            </a:r>
            <a:endParaRPr lang="en-US" sz="1100" dirty="0"/>
          </a:p>
        </p:txBody>
      </p:sp>
      <p:sp>
        <p:nvSpPr>
          <p:cNvPr id="10" name="Shape 8"/>
          <p:cNvSpPr/>
          <p:nvPr/>
        </p:nvSpPr>
        <p:spPr>
          <a:xfrm>
            <a:off x="822960" y="2852928"/>
            <a:ext cx="109728" cy="109728"/>
          </a:xfrm>
          <a:prstGeom prst="roundRect">
            <a:avLst>
              <a:gd name="adj" fmla="val 50000"/>
            </a:avLst>
          </a:prstGeom>
          <a:solidFill>
            <a:srgbClr val="2E5C8A"/>
          </a:solidFill>
          <a:ln w="12700">
            <a:solidFill>
              <a:srgbClr val="333333"/>
            </a:solidFill>
            <a:prstDash val="solid"/>
          </a:ln>
        </p:spPr>
      </p:sp>
      <p:sp>
        <p:nvSpPr>
          <p:cNvPr id="11" name="Text 9"/>
          <p:cNvSpPr/>
          <p:nvPr/>
        </p:nvSpPr>
        <p:spPr>
          <a:xfrm>
            <a:off x="1042416" y="276148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연료가 엔진에 도달하기 전 단계</a:t>
            </a:r>
            <a:endParaRPr lang="en-US" sz="1050" dirty="0"/>
          </a:p>
        </p:txBody>
      </p:sp>
      <p:sp>
        <p:nvSpPr>
          <p:cNvPr id="12" name="Shape 10"/>
          <p:cNvSpPr/>
          <p:nvPr/>
        </p:nvSpPr>
        <p:spPr>
          <a:xfrm>
            <a:off x="822960" y="3218688"/>
            <a:ext cx="109728" cy="109728"/>
          </a:xfrm>
          <a:prstGeom prst="roundRect">
            <a:avLst>
              <a:gd name="adj" fmla="val 50000"/>
            </a:avLst>
          </a:prstGeom>
          <a:solidFill>
            <a:srgbClr val="2E5C8A"/>
          </a:solidFill>
          <a:ln w="12700">
            <a:solidFill>
              <a:srgbClr val="333333"/>
            </a:solidFill>
            <a:prstDash val="solid"/>
          </a:ln>
        </p:spPr>
      </p:sp>
      <p:sp>
        <p:nvSpPr>
          <p:cNvPr id="13" name="Text 11"/>
          <p:cNvSpPr/>
          <p:nvPr/>
        </p:nvSpPr>
        <p:spPr>
          <a:xfrm>
            <a:off x="1042416" y="312724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슬러지로 빠져나가는 손실</a:t>
            </a:r>
            <a:endParaRPr lang="en-US" sz="1050" dirty="0"/>
          </a:p>
        </p:txBody>
      </p:sp>
      <p:sp>
        <p:nvSpPr>
          <p:cNvPr id="14" name="Shape 12"/>
          <p:cNvSpPr/>
          <p:nvPr/>
        </p:nvSpPr>
        <p:spPr>
          <a:xfrm>
            <a:off x="822960" y="3584448"/>
            <a:ext cx="109728" cy="109728"/>
          </a:xfrm>
          <a:prstGeom prst="roundRect">
            <a:avLst>
              <a:gd name="adj" fmla="val 50000"/>
            </a:avLst>
          </a:prstGeom>
          <a:solidFill>
            <a:srgbClr val="2E5C8A"/>
          </a:solidFill>
          <a:ln w="12700">
            <a:solidFill>
              <a:srgbClr val="333333"/>
            </a:solidFill>
            <a:prstDash val="solid"/>
          </a:ln>
        </p:spPr>
      </p:sp>
      <p:sp>
        <p:nvSpPr>
          <p:cNvPr id="15" name="Text 13"/>
          <p:cNvSpPr/>
          <p:nvPr/>
        </p:nvSpPr>
        <p:spPr>
          <a:xfrm>
            <a:off x="1042416" y="349300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정유기 · 필터 부하</a:t>
            </a:r>
            <a:endParaRPr lang="en-US" sz="1050" dirty="0"/>
          </a:p>
        </p:txBody>
      </p:sp>
      <p:sp>
        <p:nvSpPr>
          <p:cNvPr id="16" name="Shape 14"/>
          <p:cNvSpPr/>
          <p:nvPr/>
        </p:nvSpPr>
        <p:spPr>
          <a:xfrm>
            <a:off x="804672" y="3986784"/>
            <a:ext cx="2954426" cy="402336"/>
          </a:xfrm>
          <a:prstGeom prst="roundRect">
            <a:avLst>
              <a:gd name="adj" fmla="val 15909"/>
            </a:avLst>
          </a:prstGeom>
          <a:solidFill>
            <a:srgbClr val="EEF2F9"/>
          </a:solidFill>
          <a:ln w="12700">
            <a:solidFill>
              <a:srgbClr val="333333"/>
            </a:solidFill>
            <a:prstDash val="solid"/>
          </a:ln>
        </p:spPr>
      </p:sp>
      <p:sp>
        <p:nvSpPr>
          <p:cNvPr id="17" name="Text 15"/>
          <p:cNvSpPr/>
          <p:nvPr/>
        </p:nvSpPr>
        <p:spPr>
          <a:xfrm>
            <a:off x="804672" y="3986784"/>
            <a:ext cx="2954426" cy="402336"/>
          </a:xfrm>
          <a:prstGeom prst="rect">
            <a:avLst/>
          </a:prstGeom>
          <a:noFill/>
          <a:ln/>
        </p:spPr>
        <p:txBody>
          <a:bodyPr wrap="square" lIns="0" tIns="0" rIns="0" bIns="0" rtlCol="0" anchor="ctr"/>
          <a:lstStyle/>
          <a:p>
            <a:pPr algn="ctr" indent="0" marL="0">
              <a:buNone/>
            </a:pPr>
            <a:r>
              <a:rPr lang="en-US" sz="950" b="1" spc="60" kern="0" dirty="0">
                <a:solidFill>
                  <a:srgbClr val="2E5C8A"/>
                </a:solidFill>
                <a:latin typeface="맑은 고딕" pitchFamily="34" charset="0"/>
                <a:ea typeface="맑은 고딕" pitchFamily="34" charset="-122"/>
                <a:cs typeface="맑은 고딕" pitchFamily="34" charset="-120"/>
              </a:rPr>
              <a:t>Section 01 근거  05 · 06 · 07</a:t>
            </a:r>
            <a:endParaRPr lang="en-US" sz="950" dirty="0"/>
          </a:p>
        </p:txBody>
      </p:sp>
      <p:sp>
        <p:nvSpPr>
          <p:cNvPr id="18" name="Text 16"/>
          <p:cNvSpPr/>
          <p:nvPr/>
        </p:nvSpPr>
        <p:spPr>
          <a:xfrm>
            <a:off x="4024274" y="2926080"/>
            <a:ext cx="329184" cy="365760"/>
          </a:xfrm>
          <a:prstGeom prst="rect">
            <a:avLst/>
          </a:prstGeom>
          <a:noFill/>
          <a:ln/>
        </p:spPr>
        <p:txBody>
          <a:bodyPr wrap="square" lIns="0" tIns="0" rIns="0" bIns="0" rtlCol="0" anchor="ctr"/>
          <a:lstStyle/>
          <a:p>
            <a:pPr algn="ctr" indent="0" marL="0">
              <a:buNone/>
            </a:pPr>
            <a:r>
              <a:rPr lang="en-US" sz="1400" dirty="0">
                <a:solidFill>
                  <a:srgbClr val="B9C4D6"/>
                </a:solidFill>
                <a:latin typeface="맑은 고딕" pitchFamily="34" charset="0"/>
                <a:ea typeface="맑은 고딕" pitchFamily="34" charset="-122"/>
                <a:cs typeface="맑은 고딕" pitchFamily="34" charset="-120"/>
              </a:rPr>
              <a:t>▶</a:t>
            </a:r>
            <a:endParaRPr lang="en-US" sz="1400" dirty="0"/>
          </a:p>
        </p:txBody>
      </p:sp>
      <p:sp>
        <p:nvSpPr>
          <p:cNvPr id="19" name="Shape 17"/>
          <p:cNvSpPr/>
          <p:nvPr/>
        </p:nvSpPr>
        <p:spPr>
          <a:xfrm>
            <a:off x="4380890" y="1591056"/>
            <a:ext cx="3429914" cy="3017520"/>
          </a:xfrm>
          <a:prstGeom prst="roundRect">
            <a:avLst>
              <a:gd name="adj" fmla="val 42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20" name="Text 18"/>
          <p:cNvSpPr/>
          <p:nvPr/>
        </p:nvSpPr>
        <p:spPr>
          <a:xfrm>
            <a:off x="4618634" y="1792224"/>
            <a:ext cx="2954426"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COMBUSTION</a:t>
            </a:r>
            <a:endParaRPr lang="en-US" sz="950" dirty="0"/>
          </a:p>
        </p:txBody>
      </p:sp>
      <p:sp>
        <p:nvSpPr>
          <p:cNvPr id="21" name="Text 19"/>
          <p:cNvSpPr/>
          <p:nvPr/>
        </p:nvSpPr>
        <p:spPr>
          <a:xfrm>
            <a:off x="4618634" y="2011680"/>
            <a:ext cx="2954426" cy="384048"/>
          </a:xfrm>
          <a:prstGeom prst="rect">
            <a:avLst/>
          </a:prstGeom>
          <a:noFill/>
          <a:ln/>
        </p:spPr>
        <p:txBody>
          <a:bodyPr wrap="square" lIns="0" tIns="0" rIns="0" bIns="0" rtlCol="0" anchor="ctr"/>
          <a:lstStyle/>
          <a:p>
            <a:pPr indent="0" marL="0">
              <a:buNone/>
            </a:pPr>
            <a:r>
              <a:rPr lang="en-US" sz="2200" dirty="0">
                <a:solidFill>
                  <a:srgbClr val="1B3A5C"/>
                </a:solidFill>
                <a:latin typeface="바탕" pitchFamily="34" charset="0"/>
                <a:ea typeface="바탕" pitchFamily="34" charset="-122"/>
                <a:cs typeface="바탕" pitchFamily="34" charset="-120"/>
              </a:rPr>
              <a:t>연소</a:t>
            </a:r>
            <a:endParaRPr lang="en-US" sz="2200" dirty="0"/>
          </a:p>
        </p:txBody>
      </p:sp>
      <p:sp>
        <p:nvSpPr>
          <p:cNvPr id="22" name="Text 20"/>
          <p:cNvSpPr/>
          <p:nvPr/>
        </p:nvSpPr>
        <p:spPr>
          <a:xfrm>
            <a:off x="4618634" y="2414016"/>
            <a:ext cx="2954426" cy="256032"/>
          </a:xfrm>
          <a:prstGeom prst="rect">
            <a:avLst/>
          </a:prstGeom>
          <a:noFill/>
          <a:ln/>
        </p:spPr>
        <p:txBody>
          <a:bodyPr wrap="square" lIns="0" tIns="0" rIns="0" bIns="0" rtlCol="0" anchor="ctr"/>
          <a:lstStyle/>
          <a:p>
            <a:pPr indent="0" marL="0">
              <a:buNone/>
            </a:pPr>
            <a:r>
              <a:rPr lang="en-US" sz="1100" b="1" dirty="0">
                <a:solidFill>
                  <a:srgbClr val="E17B34"/>
                </a:solidFill>
                <a:latin typeface="맑은 고딕" pitchFamily="34" charset="0"/>
                <a:ea typeface="맑은 고딕" pitchFamily="34" charset="-122"/>
                <a:cs typeface="맑은 고딕" pitchFamily="34" charset="-120"/>
              </a:rPr>
              <a:t>연소 효율 · 무화 · 에너지 변환</a:t>
            </a:r>
            <a:endParaRPr lang="en-US" sz="1100" dirty="0"/>
          </a:p>
        </p:txBody>
      </p:sp>
      <p:sp>
        <p:nvSpPr>
          <p:cNvPr id="23" name="Shape 21"/>
          <p:cNvSpPr/>
          <p:nvPr/>
        </p:nvSpPr>
        <p:spPr>
          <a:xfrm>
            <a:off x="4636922" y="2852928"/>
            <a:ext cx="109728" cy="109728"/>
          </a:xfrm>
          <a:prstGeom prst="roundRect">
            <a:avLst>
              <a:gd name="adj" fmla="val 50000"/>
            </a:avLst>
          </a:prstGeom>
          <a:solidFill>
            <a:srgbClr val="E17B34"/>
          </a:solidFill>
          <a:ln w="12700">
            <a:solidFill>
              <a:srgbClr val="333333"/>
            </a:solidFill>
            <a:prstDash val="solid"/>
          </a:ln>
        </p:spPr>
      </p:sp>
      <p:sp>
        <p:nvSpPr>
          <p:cNvPr id="24" name="Text 22"/>
          <p:cNvSpPr/>
          <p:nvPr/>
        </p:nvSpPr>
        <p:spPr>
          <a:xfrm>
            <a:off x="4856378" y="276148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연료가 실제로 일로 바뀌는 단계</a:t>
            </a:r>
            <a:endParaRPr lang="en-US" sz="1050" dirty="0"/>
          </a:p>
        </p:txBody>
      </p:sp>
      <p:sp>
        <p:nvSpPr>
          <p:cNvPr id="25" name="Shape 23"/>
          <p:cNvSpPr/>
          <p:nvPr/>
        </p:nvSpPr>
        <p:spPr>
          <a:xfrm>
            <a:off x="4636922" y="3218688"/>
            <a:ext cx="109728" cy="109728"/>
          </a:xfrm>
          <a:prstGeom prst="roundRect">
            <a:avLst>
              <a:gd name="adj" fmla="val 50000"/>
            </a:avLst>
          </a:prstGeom>
          <a:solidFill>
            <a:srgbClr val="E17B34"/>
          </a:solidFill>
          <a:ln w="12700">
            <a:solidFill>
              <a:srgbClr val="333333"/>
            </a:solidFill>
            <a:prstDash val="solid"/>
          </a:ln>
        </p:spPr>
      </p:sp>
      <p:sp>
        <p:nvSpPr>
          <p:cNvPr id="26" name="Text 24"/>
          <p:cNvSpPr/>
          <p:nvPr/>
        </p:nvSpPr>
        <p:spPr>
          <a:xfrm>
            <a:off x="4856378" y="312724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점도 · 잔류탄소분의 영향</a:t>
            </a:r>
            <a:endParaRPr lang="en-US" sz="1050" dirty="0"/>
          </a:p>
        </p:txBody>
      </p:sp>
      <p:sp>
        <p:nvSpPr>
          <p:cNvPr id="27" name="Shape 25"/>
          <p:cNvSpPr/>
          <p:nvPr/>
        </p:nvSpPr>
        <p:spPr>
          <a:xfrm>
            <a:off x="4636922" y="3584448"/>
            <a:ext cx="109728" cy="109728"/>
          </a:xfrm>
          <a:prstGeom prst="roundRect">
            <a:avLst>
              <a:gd name="adj" fmla="val 50000"/>
            </a:avLst>
          </a:prstGeom>
          <a:solidFill>
            <a:srgbClr val="E17B34"/>
          </a:solidFill>
          <a:ln w="12700">
            <a:solidFill>
              <a:srgbClr val="333333"/>
            </a:solidFill>
            <a:prstDash val="solid"/>
          </a:ln>
        </p:spPr>
      </p:sp>
      <p:sp>
        <p:nvSpPr>
          <p:cNvPr id="28" name="Text 26"/>
          <p:cNvSpPr/>
          <p:nvPr/>
        </p:nvSpPr>
        <p:spPr>
          <a:xfrm>
            <a:off x="4856378" y="349300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분사 상태와 착화 품질</a:t>
            </a:r>
            <a:endParaRPr lang="en-US" sz="1050" dirty="0"/>
          </a:p>
        </p:txBody>
      </p:sp>
      <p:sp>
        <p:nvSpPr>
          <p:cNvPr id="29" name="Shape 27"/>
          <p:cNvSpPr/>
          <p:nvPr/>
        </p:nvSpPr>
        <p:spPr>
          <a:xfrm>
            <a:off x="4618634" y="3986784"/>
            <a:ext cx="2954426" cy="402336"/>
          </a:xfrm>
          <a:prstGeom prst="roundRect">
            <a:avLst>
              <a:gd name="adj" fmla="val 15909"/>
            </a:avLst>
          </a:prstGeom>
          <a:solidFill>
            <a:srgbClr val="FDF2E9"/>
          </a:solidFill>
          <a:ln w="12700">
            <a:solidFill>
              <a:srgbClr val="333333"/>
            </a:solidFill>
            <a:prstDash val="solid"/>
          </a:ln>
        </p:spPr>
      </p:sp>
      <p:sp>
        <p:nvSpPr>
          <p:cNvPr id="30" name="Text 28"/>
          <p:cNvSpPr/>
          <p:nvPr/>
        </p:nvSpPr>
        <p:spPr>
          <a:xfrm>
            <a:off x="4618634" y="3986784"/>
            <a:ext cx="2954426" cy="402336"/>
          </a:xfrm>
          <a:prstGeom prst="rect">
            <a:avLst/>
          </a:prstGeom>
          <a:noFill/>
          <a:ln/>
        </p:spPr>
        <p:txBody>
          <a:bodyPr wrap="square" lIns="0" tIns="0" rIns="0" bIns="0" rtlCol="0" anchor="ctr"/>
          <a:lstStyle/>
          <a:p>
            <a:pPr algn="ctr" indent="0" marL="0">
              <a:buNone/>
            </a:pPr>
            <a:r>
              <a:rPr lang="en-US" sz="950" b="1" spc="60" kern="0" dirty="0">
                <a:solidFill>
                  <a:srgbClr val="E17B34"/>
                </a:solidFill>
                <a:latin typeface="맑은 고딕" pitchFamily="34" charset="0"/>
                <a:ea typeface="맑은 고딕" pitchFamily="34" charset="-122"/>
                <a:cs typeface="맑은 고딕" pitchFamily="34" charset="-120"/>
              </a:rPr>
              <a:t>Section 01 근거  04</a:t>
            </a:r>
            <a:endParaRPr lang="en-US" sz="950" dirty="0"/>
          </a:p>
        </p:txBody>
      </p:sp>
      <p:sp>
        <p:nvSpPr>
          <p:cNvPr id="31" name="Text 29"/>
          <p:cNvSpPr/>
          <p:nvPr/>
        </p:nvSpPr>
        <p:spPr>
          <a:xfrm>
            <a:off x="7838237" y="2926080"/>
            <a:ext cx="329184" cy="365760"/>
          </a:xfrm>
          <a:prstGeom prst="rect">
            <a:avLst/>
          </a:prstGeom>
          <a:noFill/>
          <a:ln/>
        </p:spPr>
        <p:txBody>
          <a:bodyPr wrap="square" lIns="0" tIns="0" rIns="0" bIns="0" rtlCol="0" anchor="ctr"/>
          <a:lstStyle/>
          <a:p>
            <a:pPr algn="ctr" indent="0" marL="0">
              <a:buNone/>
            </a:pPr>
            <a:r>
              <a:rPr lang="en-US" sz="1400" dirty="0">
                <a:solidFill>
                  <a:srgbClr val="B9C4D6"/>
                </a:solidFill>
                <a:latin typeface="맑은 고딕" pitchFamily="34" charset="0"/>
                <a:ea typeface="맑은 고딕" pitchFamily="34" charset="-122"/>
                <a:cs typeface="맑은 고딕" pitchFamily="34" charset="-120"/>
              </a:rPr>
              <a:t>▶</a:t>
            </a:r>
            <a:endParaRPr lang="en-US" sz="1400" dirty="0"/>
          </a:p>
        </p:txBody>
      </p:sp>
      <p:sp>
        <p:nvSpPr>
          <p:cNvPr id="32" name="Shape 30"/>
          <p:cNvSpPr/>
          <p:nvPr/>
        </p:nvSpPr>
        <p:spPr>
          <a:xfrm>
            <a:off x="8194853" y="1591056"/>
            <a:ext cx="3429914" cy="3017520"/>
          </a:xfrm>
          <a:prstGeom prst="roundRect">
            <a:avLst>
              <a:gd name="adj" fmla="val 42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33" name="Text 31"/>
          <p:cNvSpPr/>
          <p:nvPr/>
        </p:nvSpPr>
        <p:spPr>
          <a:xfrm>
            <a:off x="8432597" y="1792224"/>
            <a:ext cx="2954426" cy="219456"/>
          </a:xfrm>
          <a:prstGeom prst="rect">
            <a:avLst/>
          </a:prstGeom>
          <a:noFill/>
          <a:ln/>
        </p:spPr>
        <p:txBody>
          <a:bodyPr wrap="square" lIns="0" tIns="0" rIns="0" bIns="0" rtlCol="0" anchor="ctr"/>
          <a:lstStyle/>
          <a:p>
            <a:pPr indent="0" marL="0">
              <a:buNone/>
            </a:pPr>
            <a:r>
              <a:rPr lang="en-US" sz="950" b="1" spc="180" kern="0" dirty="0">
                <a:solidFill>
                  <a:srgbClr val="2E7D5B"/>
                </a:solidFill>
                <a:latin typeface="맑은 고딕" pitchFamily="34" charset="0"/>
                <a:ea typeface="맑은 고딕" pitchFamily="34" charset="-122"/>
                <a:cs typeface="맑은 고딕" pitchFamily="34" charset="-120"/>
              </a:rPr>
              <a:t>POST-COMBUSTION</a:t>
            </a:r>
            <a:endParaRPr lang="en-US" sz="950" dirty="0"/>
          </a:p>
        </p:txBody>
      </p:sp>
      <p:sp>
        <p:nvSpPr>
          <p:cNvPr id="34" name="Text 32"/>
          <p:cNvSpPr/>
          <p:nvPr/>
        </p:nvSpPr>
        <p:spPr>
          <a:xfrm>
            <a:off x="8432597" y="2011680"/>
            <a:ext cx="2954426" cy="384048"/>
          </a:xfrm>
          <a:prstGeom prst="rect">
            <a:avLst/>
          </a:prstGeom>
          <a:noFill/>
          <a:ln/>
        </p:spPr>
        <p:txBody>
          <a:bodyPr wrap="square" lIns="0" tIns="0" rIns="0" bIns="0" rtlCol="0" anchor="ctr"/>
          <a:lstStyle/>
          <a:p>
            <a:pPr indent="0" marL="0">
              <a:buNone/>
            </a:pPr>
            <a:r>
              <a:rPr lang="en-US" sz="2200" dirty="0">
                <a:solidFill>
                  <a:srgbClr val="1B3A5C"/>
                </a:solidFill>
                <a:latin typeface="바탕" pitchFamily="34" charset="0"/>
                <a:ea typeface="바탕" pitchFamily="34" charset="-122"/>
                <a:cs typeface="바탕" pitchFamily="34" charset="-120"/>
              </a:rPr>
              <a:t>연소 후</a:t>
            </a:r>
            <a:endParaRPr lang="en-US" sz="2200" dirty="0"/>
          </a:p>
        </p:txBody>
      </p:sp>
      <p:sp>
        <p:nvSpPr>
          <p:cNvPr id="35" name="Text 33"/>
          <p:cNvSpPr/>
          <p:nvPr/>
        </p:nvSpPr>
        <p:spPr>
          <a:xfrm>
            <a:off x="8432597" y="2414016"/>
            <a:ext cx="2954426" cy="256032"/>
          </a:xfrm>
          <a:prstGeom prst="rect">
            <a:avLst/>
          </a:prstGeom>
          <a:noFill/>
          <a:ln/>
        </p:spPr>
        <p:txBody>
          <a:bodyPr wrap="square" lIns="0" tIns="0" rIns="0" bIns="0" rtlCol="0" anchor="ctr"/>
          <a:lstStyle/>
          <a:p>
            <a:pPr indent="0" marL="0">
              <a:buNone/>
            </a:pPr>
            <a:r>
              <a:rPr lang="en-US" sz="1100" b="1" dirty="0">
                <a:solidFill>
                  <a:srgbClr val="2E7D5B"/>
                </a:solidFill>
                <a:latin typeface="맑은 고딕" pitchFamily="34" charset="0"/>
                <a:ea typeface="맑은 고딕" pitchFamily="34" charset="-122"/>
                <a:cs typeface="맑은 고딕" pitchFamily="34" charset="-120"/>
              </a:rPr>
              <a:t>매연 제어 · 열회수 · 계통 청결</a:t>
            </a:r>
            <a:endParaRPr lang="en-US" sz="1100" dirty="0"/>
          </a:p>
        </p:txBody>
      </p:sp>
      <p:sp>
        <p:nvSpPr>
          <p:cNvPr id="36" name="Shape 34"/>
          <p:cNvSpPr/>
          <p:nvPr/>
        </p:nvSpPr>
        <p:spPr>
          <a:xfrm>
            <a:off x="8450885" y="2852928"/>
            <a:ext cx="109728" cy="109728"/>
          </a:xfrm>
          <a:prstGeom prst="roundRect">
            <a:avLst>
              <a:gd name="adj" fmla="val 50000"/>
            </a:avLst>
          </a:prstGeom>
          <a:solidFill>
            <a:srgbClr val="2E7D5B"/>
          </a:solidFill>
          <a:ln w="12700">
            <a:solidFill>
              <a:srgbClr val="333333"/>
            </a:solidFill>
            <a:prstDash val="solid"/>
          </a:ln>
        </p:spPr>
      </p:sp>
      <p:sp>
        <p:nvSpPr>
          <p:cNvPr id="37" name="Text 35"/>
          <p:cNvSpPr/>
          <p:nvPr/>
        </p:nvSpPr>
        <p:spPr>
          <a:xfrm>
            <a:off x="8670341" y="276148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배기가 계통을 빠져나가는 단계</a:t>
            </a:r>
            <a:endParaRPr lang="en-US" sz="1050" dirty="0"/>
          </a:p>
        </p:txBody>
      </p:sp>
      <p:sp>
        <p:nvSpPr>
          <p:cNvPr id="38" name="Shape 36"/>
          <p:cNvSpPr/>
          <p:nvPr/>
        </p:nvSpPr>
        <p:spPr>
          <a:xfrm>
            <a:off x="8450885" y="3218688"/>
            <a:ext cx="109728" cy="109728"/>
          </a:xfrm>
          <a:prstGeom prst="roundRect">
            <a:avLst>
              <a:gd name="adj" fmla="val 50000"/>
            </a:avLst>
          </a:prstGeom>
          <a:solidFill>
            <a:srgbClr val="2E7D5B"/>
          </a:solidFill>
          <a:ln w="12700">
            <a:solidFill>
              <a:srgbClr val="333333"/>
            </a:solidFill>
            <a:prstDash val="solid"/>
          </a:ln>
        </p:spPr>
      </p:sp>
      <p:sp>
        <p:nvSpPr>
          <p:cNvPr id="39" name="Text 37"/>
          <p:cNvSpPr/>
          <p:nvPr/>
        </p:nvSpPr>
        <p:spPr>
          <a:xfrm>
            <a:off x="8670341" y="312724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터보차저 · 열회수면 퇴적</a:t>
            </a:r>
            <a:endParaRPr lang="en-US" sz="1050" dirty="0"/>
          </a:p>
        </p:txBody>
      </p:sp>
      <p:sp>
        <p:nvSpPr>
          <p:cNvPr id="40" name="Shape 38"/>
          <p:cNvSpPr/>
          <p:nvPr/>
        </p:nvSpPr>
        <p:spPr>
          <a:xfrm>
            <a:off x="8450885" y="3584448"/>
            <a:ext cx="109728" cy="109728"/>
          </a:xfrm>
          <a:prstGeom prst="roundRect">
            <a:avLst>
              <a:gd name="adj" fmla="val 50000"/>
            </a:avLst>
          </a:prstGeom>
          <a:solidFill>
            <a:srgbClr val="2E7D5B"/>
          </a:solidFill>
          <a:ln w="12700">
            <a:solidFill>
              <a:srgbClr val="333333"/>
            </a:solidFill>
            <a:prstDash val="solid"/>
          </a:ln>
        </p:spPr>
      </p:sp>
      <p:sp>
        <p:nvSpPr>
          <p:cNvPr id="41" name="Text 39"/>
          <p:cNvSpPr/>
          <p:nvPr/>
        </p:nvSpPr>
        <p:spPr>
          <a:xfrm>
            <a:off x="8670341" y="3493008"/>
            <a:ext cx="2716682" cy="310896"/>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청소 주기와 배압</a:t>
            </a:r>
            <a:endParaRPr lang="en-US" sz="1050" dirty="0"/>
          </a:p>
        </p:txBody>
      </p:sp>
      <p:sp>
        <p:nvSpPr>
          <p:cNvPr id="42" name="Shape 40"/>
          <p:cNvSpPr/>
          <p:nvPr/>
        </p:nvSpPr>
        <p:spPr>
          <a:xfrm>
            <a:off x="8432597" y="3986784"/>
            <a:ext cx="2954426" cy="402336"/>
          </a:xfrm>
          <a:prstGeom prst="roundRect">
            <a:avLst>
              <a:gd name="adj" fmla="val 15909"/>
            </a:avLst>
          </a:prstGeom>
          <a:solidFill>
            <a:srgbClr val="E9F5F0"/>
          </a:solidFill>
          <a:ln w="12700">
            <a:solidFill>
              <a:srgbClr val="333333"/>
            </a:solidFill>
            <a:prstDash val="solid"/>
          </a:ln>
        </p:spPr>
      </p:sp>
      <p:sp>
        <p:nvSpPr>
          <p:cNvPr id="43" name="Text 41"/>
          <p:cNvSpPr/>
          <p:nvPr/>
        </p:nvSpPr>
        <p:spPr>
          <a:xfrm>
            <a:off x="8432597" y="3986784"/>
            <a:ext cx="2954426" cy="402336"/>
          </a:xfrm>
          <a:prstGeom prst="rect">
            <a:avLst/>
          </a:prstGeom>
          <a:noFill/>
          <a:ln/>
        </p:spPr>
        <p:txBody>
          <a:bodyPr wrap="square" lIns="0" tIns="0" rIns="0" bIns="0" rtlCol="0" anchor="ctr"/>
          <a:lstStyle/>
          <a:p>
            <a:pPr algn="ctr" indent="0" marL="0">
              <a:buNone/>
            </a:pPr>
            <a:r>
              <a:rPr lang="en-US" sz="950" b="1" spc="60" kern="0" dirty="0">
                <a:solidFill>
                  <a:srgbClr val="2E7D5B"/>
                </a:solidFill>
                <a:latin typeface="맑은 고딕" pitchFamily="34" charset="0"/>
                <a:ea typeface="맑은 고딕" pitchFamily="34" charset="-122"/>
                <a:cs typeface="맑은 고딕" pitchFamily="34" charset="-120"/>
              </a:rPr>
              <a:t>Section 01 근거  03</a:t>
            </a:r>
            <a:endParaRPr lang="en-US" sz="950" dirty="0"/>
          </a:p>
        </p:txBody>
      </p:sp>
      <p:sp>
        <p:nvSpPr>
          <p:cNvPr id="44" name="Shape 42"/>
          <p:cNvSpPr/>
          <p:nvPr/>
        </p:nvSpPr>
        <p:spPr>
          <a:xfrm>
            <a:off x="566928" y="4791456"/>
            <a:ext cx="11057839" cy="786384"/>
          </a:xfrm>
          <a:prstGeom prst="roundRect">
            <a:avLst>
              <a:gd name="adj" fmla="val 11628"/>
            </a:avLst>
          </a:prstGeom>
          <a:solidFill>
            <a:srgbClr val="1B3A5C"/>
          </a:solidFill>
          <a:ln w="12700">
            <a:solidFill>
              <a:srgbClr val="1B3A5C"/>
            </a:solidFill>
            <a:prstDash val="solid"/>
          </a:ln>
        </p:spPr>
      </p:sp>
      <p:sp>
        <p:nvSpPr>
          <p:cNvPr id="45" name="Text 43"/>
          <p:cNvSpPr/>
          <p:nvPr/>
        </p:nvSpPr>
        <p:spPr>
          <a:xfrm>
            <a:off x="795528" y="4791456"/>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Well-to-Wake는 규제 보고의 틀이고, Tank-to-Wake는 본선이 실제로 통제할 수 있는 구간입니다.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46" name="Text 44"/>
          <p:cNvSpPr/>
          <p:nvPr/>
        </p:nvSpPr>
        <p:spPr>
          <a:xfrm>
            <a:off x="566928" y="5705856"/>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Wilhelmsen Ships Service, “How holistic fuel management supports cleaner and more efficient vessel operations” (Tank to Wake)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10   결론</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손실은 단계마다 쌓입니다</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11</a:t>
            </a:r>
            <a:endParaRPr lang="en-US" sz="950" dirty="0"/>
          </a:p>
        </p:txBody>
      </p:sp>
      <p:sp>
        <p:nvSpPr>
          <p:cNvPr id="6" name="Shape 4"/>
          <p:cNvSpPr/>
          <p:nvPr/>
        </p:nvSpPr>
        <p:spPr>
          <a:xfrm>
            <a:off x="566928" y="1591056"/>
            <a:ext cx="2421560" cy="1481328"/>
          </a:xfrm>
          <a:prstGeom prst="roundRect">
            <a:avLst>
              <a:gd name="adj" fmla="val 86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Shape 5"/>
          <p:cNvSpPr/>
          <p:nvPr/>
        </p:nvSpPr>
        <p:spPr>
          <a:xfrm>
            <a:off x="804672" y="1773936"/>
            <a:ext cx="310896" cy="310896"/>
          </a:xfrm>
          <a:prstGeom prst="roundRect">
            <a:avLst>
              <a:gd name="adj" fmla="val 50000"/>
            </a:avLst>
          </a:prstGeom>
          <a:solidFill>
            <a:srgbClr val="2E5C8A"/>
          </a:solidFill>
          <a:ln w="12700">
            <a:solidFill>
              <a:srgbClr val="333333"/>
            </a:solidFill>
            <a:prstDash val="solid"/>
          </a:ln>
        </p:spPr>
      </p:sp>
      <p:sp>
        <p:nvSpPr>
          <p:cNvPr id="8" name="Text 6"/>
          <p:cNvSpPr/>
          <p:nvPr/>
        </p:nvSpPr>
        <p:spPr>
          <a:xfrm>
            <a:off x="804672" y="17739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9" name="Text 7"/>
          <p:cNvSpPr/>
          <p:nvPr/>
        </p:nvSpPr>
        <p:spPr>
          <a:xfrm>
            <a:off x="1207008" y="1773936"/>
            <a:ext cx="1543736" cy="310896"/>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저장 중 열화</a:t>
            </a:r>
            <a:endParaRPr lang="en-US" sz="1250" dirty="0"/>
          </a:p>
        </p:txBody>
      </p:sp>
      <p:sp>
        <p:nvSpPr>
          <p:cNvPr id="10" name="Text 8"/>
          <p:cNvSpPr/>
          <p:nvPr/>
        </p:nvSpPr>
        <p:spPr>
          <a:xfrm>
            <a:off x="804672" y="2194560"/>
            <a:ext cx="1946072" cy="694944"/>
          </a:xfrm>
          <a:prstGeom prst="rect">
            <a:avLst/>
          </a:prstGeom>
          <a:noFill/>
          <a:ln/>
        </p:spPr>
        <p:txBody>
          <a:bodyPr wrap="square" lIns="0" tIns="0" rIns="0" bIns="0" rtlCol="0" anchor="t"/>
          <a:lstStyle/>
          <a:p>
            <a:pPr indent="0" marL="0">
              <a:lnSpc>
                <a:spcPts val="1500"/>
              </a:lnSpc>
              <a:buNone/>
            </a:pPr>
            <a:r>
              <a:rPr lang="en-US" sz="1050" dirty="0">
                <a:solidFill>
                  <a:srgbClr val="3D4A5C"/>
                </a:solidFill>
                <a:latin typeface="맑은 고딕" pitchFamily="34" charset="0"/>
                <a:ea typeface="맑은 고딕" pitchFamily="34" charset="-122"/>
                <a:cs typeface="맑은 고딕" pitchFamily="34" charset="-120"/>
              </a:rPr>
              <a:t>연료가 탱크 안에서</a:t>
            </a:r>
            <a:endParaRPr lang="en-US" sz="1050" dirty="0"/>
          </a:p>
          <a:p>
            <a:pPr indent="0" marL="0">
              <a:lnSpc>
                <a:spcPts val="1500"/>
              </a:lnSpc>
              <a:buNone/>
            </a:pPr>
            <a:r>
              <a:rPr lang="en-US" sz="1050" dirty="0">
                <a:solidFill>
                  <a:srgbClr val="3D4A5C"/>
                </a:solidFill>
                <a:latin typeface="맑은 고딕" pitchFamily="34" charset="0"/>
                <a:ea typeface="맑은 고딕" pitchFamily="34" charset="-122"/>
                <a:cs typeface="맑은 고딕" pitchFamily="34" charset="-120"/>
              </a:rPr>
              <a:t>계속 변합니다</a:t>
            </a:r>
            <a:endParaRPr lang="en-US" sz="1050" dirty="0"/>
          </a:p>
        </p:txBody>
      </p:sp>
      <p:sp>
        <p:nvSpPr>
          <p:cNvPr id="11" name="Text 9"/>
          <p:cNvSpPr/>
          <p:nvPr/>
        </p:nvSpPr>
        <p:spPr>
          <a:xfrm>
            <a:off x="3034208" y="2148840"/>
            <a:ext cx="365760" cy="365760"/>
          </a:xfrm>
          <a:prstGeom prst="rect">
            <a:avLst/>
          </a:prstGeom>
          <a:noFill/>
          <a:ln/>
        </p:spPr>
        <p:txBody>
          <a:bodyPr wrap="square" lIns="0" tIns="0" rIns="0" bIns="0" rtlCol="0" anchor="ctr"/>
          <a:lstStyle/>
          <a:p>
            <a:pPr algn="ctr" indent="0" marL="0">
              <a:buNone/>
            </a:pPr>
            <a:r>
              <a:rPr lang="en-US" sz="1300" dirty="0">
                <a:solidFill>
                  <a:srgbClr val="B9C4D6"/>
                </a:solidFill>
                <a:latin typeface="맑은 고딕" pitchFamily="34" charset="0"/>
                <a:ea typeface="맑은 고딕" pitchFamily="34" charset="-122"/>
                <a:cs typeface="맑은 고딕" pitchFamily="34" charset="-120"/>
              </a:rPr>
              <a:t>▶</a:t>
            </a:r>
            <a:endParaRPr lang="en-US" sz="1300" dirty="0"/>
          </a:p>
        </p:txBody>
      </p:sp>
      <p:sp>
        <p:nvSpPr>
          <p:cNvPr id="12" name="Shape 10"/>
          <p:cNvSpPr/>
          <p:nvPr/>
        </p:nvSpPr>
        <p:spPr>
          <a:xfrm>
            <a:off x="3445688" y="1591056"/>
            <a:ext cx="2421560" cy="1481328"/>
          </a:xfrm>
          <a:prstGeom prst="roundRect">
            <a:avLst>
              <a:gd name="adj" fmla="val 86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3" name="Shape 11"/>
          <p:cNvSpPr/>
          <p:nvPr/>
        </p:nvSpPr>
        <p:spPr>
          <a:xfrm>
            <a:off x="3683432" y="1773936"/>
            <a:ext cx="310896" cy="310896"/>
          </a:xfrm>
          <a:prstGeom prst="roundRect">
            <a:avLst>
              <a:gd name="adj" fmla="val 50000"/>
            </a:avLst>
          </a:prstGeom>
          <a:solidFill>
            <a:srgbClr val="6E93BF"/>
          </a:solidFill>
          <a:ln w="12700">
            <a:solidFill>
              <a:srgbClr val="333333"/>
            </a:solidFill>
            <a:prstDash val="solid"/>
          </a:ln>
        </p:spPr>
      </p:sp>
      <p:sp>
        <p:nvSpPr>
          <p:cNvPr id="14" name="Text 12"/>
          <p:cNvSpPr/>
          <p:nvPr/>
        </p:nvSpPr>
        <p:spPr>
          <a:xfrm>
            <a:off x="3683432" y="17739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15" name="Text 13"/>
          <p:cNvSpPr/>
          <p:nvPr/>
        </p:nvSpPr>
        <p:spPr>
          <a:xfrm>
            <a:off x="4085768" y="1773936"/>
            <a:ext cx="1543736" cy="310896"/>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슬러지 발생</a:t>
            </a:r>
            <a:endParaRPr lang="en-US" sz="1250" dirty="0"/>
          </a:p>
        </p:txBody>
      </p:sp>
      <p:sp>
        <p:nvSpPr>
          <p:cNvPr id="16" name="Text 14"/>
          <p:cNvSpPr/>
          <p:nvPr/>
        </p:nvSpPr>
        <p:spPr>
          <a:xfrm>
            <a:off x="3683432" y="2194560"/>
            <a:ext cx="1946072" cy="694944"/>
          </a:xfrm>
          <a:prstGeom prst="rect">
            <a:avLst/>
          </a:prstGeom>
          <a:noFill/>
          <a:ln/>
        </p:spPr>
        <p:txBody>
          <a:bodyPr wrap="square" lIns="0" tIns="0" rIns="0" bIns="0" rtlCol="0" anchor="t"/>
          <a:lstStyle/>
          <a:p>
            <a:pPr indent="0" marL="0">
              <a:lnSpc>
                <a:spcPts val="1500"/>
              </a:lnSpc>
              <a:buNone/>
            </a:pPr>
            <a:r>
              <a:rPr lang="en-US" sz="1050" dirty="0">
                <a:solidFill>
                  <a:srgbClr val="3D4A5C"/>
                </a:solidFill>
                <a:latin typeface="맑은 고딕" pitchFamily="34" charset="0"/>
                <a:ea typeface="맑은 고딕" pitchFamily="34" charset="-122"/>
                <a:cs typeface="맑은 고딕" pitchFamily="34" charset="-120"/>
              </a:rPr>
              <a:t>엔진에 도달하지 못한 연료</a:t>
            </a:r>
            <a:endParaRPr lang="en-US" sz="1050" dirty="0"/>
          </a:p>
          <a:p>
            <a:pPr indent="0" marL="0">
              <a:lnSpc>
                <a:spcPts val="1500"/>
              </a:lnSpc>
              <a:buNone/>
            </a:pPr>
            <a:r>
              <a:rPr lang="en-US" sz="1050" dirty="0">
                <a:solidFill>
                  <a:srgbClr val="3D4A5C"/>
                </a:solidFill>
                <a:latin typeface="맑은 고딕" pitchFamily="34" charset="0"/>
                <a:ea typeface="맑은 고딕" pitchFamily="34" charset="-122"/>
                <a:cs typeface="맑은 고딕" pitchFamily="34" charset="-120"/>
              </a:rPr>
              <a:t>— 손실 확정</a:t>
            </a:r>
            <a:endParaRPr lang="en-US" sz="1050" dirty="0"/>
          </a:p>
        </p:txBody>
      </p:sp>
      <p:sp>
        <p:nvSpPr>
          <p:cNvPr id="17" name="Text 15"/>
          <p:cNvSpPr/>
          <p:nvPr/>
        </p:nvSpPr>
        <p:spPr>
          <a:xfrm>
            <a:off x="5912968" y="2148840"/>
            <a:ext cx="365760" cy="365760"/>
          </a:xfrm>
          <a:prstGeom prst="rect">
            <a:avLst/>
          </a:prstGeom>
          <a:noFill/>
          <a:ln/>
        </p:spPr>
        <p:txBody>
          <a:bodyPr wrap="square" lIns="0" tIns="0" rIns="0" bIns="0" rtlCol="0" anchor="ctr"/>
          <a:lstStyle/>
          <a:p>
            <a:pPr algn="ctr" indent="0" marL="0">
              <a:buNone/>
            </a:pPr>
            <a:r>
              <a:rPr lang="en-US" sz="1300" dirty="0">
                <a:solidFill>
                  <a:srgbClr val="B9C4D6"/>
                </a:solidFill>
                <a:latin typeface="맑은 고딕" pitchFamily="34" charset="0"/>
                <a:ea typeface="맑은 고딕" pitchFamily="34" charset="-122"/>
                <a:cs typeface="맑은 고딕" pitchFamily="34" charset="-120"/>
              </a:rPr>
              <a:t>▶</a:t>
            </a:r>
            <a:endParaRPr lang="en-US" sz="1300" dirty="0"/>
          </a:p>
        </p:txBody>
      </p:sp>
      <p:sp>
        <p:nvSpPr>
          <p:cNvPr id="18" name="Shape 16"/>
          <p:cNvSpPr/>
          <p:nvPr/>
        </p:nvSpPr>
        <p:spPr>
          <a:xfrm>
            <a:off x="6324448" y="1591056"/>
            <a:ext cx="2421560" cy="1481328"/>
          </a:xfrm>
          <a:prstGeom prst="roundRect">
            <a:avLst>
              <a:gd name="adj" fmla="val 86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9" name="Shape 17"/>
          <p:cNvSpPr/>
          <p:nvPr/>
        </p:nvSpPr>
        <p:spPr>
          <a:xfrm>
            <a:off x="6562192" y="1773936"/>
            <a:ext cx="310896" cy="310896"/>
          </a:xfrm>
          <a:prstGeom prst="roundRect">
            <a:avLst>
              <a:gd name="adj" fmla="val 50000"/>
            </a:avLst>
          </a:prstGeom>
          <a:solidFill>
            <a:srgbClr val="E17B34"/>
          </a:solidFill>
          <a:ln w="12700">
            <a:solidFill>
              <a:srgbClr val="333333"/>
            </a:solidFill>
            <a:prstDash val="solid"/>
          </a:ln>
        </p:spPr>
      </p:sp>
      <p:sp>
        <p:nvSpPr>
          <p:cNvPr id="20" name="Text 18"/>
          <p:cNvSpPr/>
          <p:nvPr/>
        </p:nvSpPr>
        <p:spPr>
          <a:xfrm>
            <a:off x="6562192" y="17739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21" name="Text 19"/>
          <p:cNvSpPr/>
          <p:nvPr/>
        </p:nvSpPr>
        <p:spPr>
          <a:xfrm>
            <a:off x="6964528" y="1773936"/>
            <a:ext cx="1543736" cy="310896"/>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연소 품질 저하</a:t>
            </a:r>
            <a:endParaRPr lang="en-US" sz="1250" dirty="0"/>
          </a:p>
        </p:txBody>
      </p:sp>
      <p:sp>
        <p:nvSpPr>
          <p:cNvPr id="22" name="Text 20"/>
          <p:cNvSpPr/>
          <p:nvPr/>
        </p:nvSpPr>
        <p:spPr>
          <a:xfrm>
            <a:off x="6562192" y="2194560"/>
            <a:ext cx="1946072" cy="694944"/>
          </a:xfrm>
          <a:prstGeom prst="rect">
            <a:avLst/>
          </a:prstGeom>
          <a:noFill/>
          <a:ln/>
        </p:spPr>
        <p:txBody>
          <a:bodyPr wrap="square" lIns="0" tIns="0" rIns="0" bIns="0" rtlCol="0" anchor="t"/>
          <a:lstStyle/>
          <a:p>
            <a:pPr indent="0" marL="0">
              <a:lnSpc>
                <a:spcPts val="1500"/>
              </a:lnSpc>
              <a:buNone/>
            </a:pPr>
            <a:r>
              <a:rPr lang="en-US" sz="1050" dirty="0">
                <a:solidFill>
                  <a:srgbClr val="3D4A5C"/>
                </a:solidFill>
                <a:latin typeface="맑은 고딕" pitchFamily="34" charset="0"/>
                <a:ea typeface="맑은 고딕" pitchFamily="34" charset="-122"/>
                <a:cs typeface="맑은 고딕" pitchFamily="34" charset="-120"/>
              </a:rPr>
              <a:t>착화 불량 · 매연 증가</a:t>
            </a:r>
            <a:endParaRPr lang="en-US" sz="1050" dirty="0"/>
          </a:p>
        </p:txBody>
      </p:sp>
      <p:sp>
        <p:nvSpPr>
          <p:cNvPr id="23" name="Text 21"/>
          <p:cNvSpPr/>
          <p:nvPr/>
        </p:nvSpPr>
        <p:spPr>
          <a:xfrm>
            <a:off x="8791727" y="2148840"/>
            <a:ext cx="365760" cy="365760"/>
          </a:xfrm>
          <a:prstGeom prst="rect">
            <a:avLst/>
          </a:prstGeom>
          <a:noFill/>
          <a:ln/>
        </p:spPr>
        <p:txBody>
          <a:bodyPr wrap="square" lIns="0" tIns="0" rIns="0" bIns="0" rtlCol="0" anchor="ctr"/>
          <a:lstStyle/>
          <a:p>
            <a:pPr algn="ctr" indent="0" marL="0">
              <a:buNone/>
            </a:pPr>
            <a:r>
              <a:rPr lang="en-US" sz="1300" dirty="0">
                <a:solidFill>
                  <a:srgbClr val="B9C4D6"/>
                </a:solidFill>
                <a:latin typeface="맑은 고딕" pitchFamily="34" charset="0"/>
                <a:ea typeface="맑은 고딕" pitchFamily="34" charset="-122"/>
                <a:cs typeface="맑은 고딕" pitchFamily="34" charset="-120"/>
              </a:rPr>
              <a:t>▶</a:t>
            </a:r>
            <a:endParaRPr lang="en-US" sz="1300" dirty="0"/>
          </a:p>
        </p:txBody>
      </p:sp>
      <p:sp>
        <p:nvSpPr>
          <p:cNvPr id="24" name="Shape 22"/>
          <p:cNvSpPr/>
          <p:nvPr/>
        </p:nvSpPr>
        <p:spPr>
          <a:xfrm>
            <a:off x="9203207" y="1591056"/>
            <a:ext cx="2421560" cy="1481328"/>
          </a:xfrm>
          <a:prstGeom prst="roundRect">
            <a:avLst>
              <a:gd name="adj" fmla="val 86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25" name="Shape 23"/>
          <p:cNvSpPr/>
          <p:nvPr/>
        </p:nvSpPr>
        <p:spPr>
          <a:xfrm>
            <a:off x="9440951" y="1773936"/>
            <a:ext cx="310896" cy="310896"/>
          </a:xfrm>
          <a:prstGeom prst="roundRect">
            <a:avLst>
              <a:gd name="adj" fmla="val 50000"/>
            </a:avLst>
          </a:prstGeom>
          <a:solidFill>
            <a:srgbClr val="C0392B"/>
          </a:solidFill>
          <a:ln w="12700">
            <a:solidFill>
              <a:srgbClr val="333333"/>
            </a:solidFill>
            <a:prstDash val="solid"/>
          </a:ln>
        </p:spPr>
      </p:sp>
      <p:sp>
        <p:nvSpPr>
          <p:cNvPr id="26" name="Text 24"/>
          <p:cNvSpPr/>
          <p:nvPr/>
        </p:nvSpPr>
        <p:spPr>
          <a:xfrm>
            <a:off x="9440951" y="17739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a:t>
            </a:r>
            <a:endParaRPr lang="en-US" sz="1100" dirty="0"/>
          </a:p>
        </p:txBody>
      </p:sp>
      <p:sp>
        <p:nvSpPr>
          <p:cNvPr id="27" name="Text 25"/>
          <p:cNvSpPr/>
          <p:nvPr/>
        </p:nvSpPr>
        <p:spPr>
          <a:xfrm>
            <a:off x="9843287" y="1773936"/>
            <a:ext cx="1543736" cy="310896"/>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열회수면 퇴적</a:t>
            </a:r>
            <a:endParaRPr lang="en-US" sz="1250" dirty="0"/>
          </a:p>
        </p:txBody>
      </p:sp>
      <p:sp>
        <p:nvSpPr>
          <p:cNvPr id="28" name="Text 26"/>
          <p:cNvSpPr/>
          <p:nvPr/>
        </p:nvSpPr>
        <p:spPr>
          <a:xfrm>
            <a:off x="9440951" y="2194560"/>
            <a:ext cx="1946072" cy="694944"/>
          </a:xfrm>
          <a:prstGeom prst="rect">
            <a:avLst/>
          </a:prstGeom>
          <a:noFill/>
          <a:ln/>
        </p:spPr>
        <p:txBody>
          <a:bodyPr wrap="square" lIns="0" tIns="0" rIns="0" bIns="0" rtlCol="0" anchor="t"/>
          <a:lstStyle/>
          <a:p>
            <a:pPr indent="0" marL="0">
              <a:lnSpc>
                <a:spcPts val="1500"/>
              </a:lnSpc>
              <a:buNone/>
            </a:pPr>
            <a:r>
              <a:rPr lang="en-US" sz="1050" dirty="0">
                <a:solidFill>
                  <a:srgbClr val="3D4A5C"/>
                </a:solidFill>
                <a:latin typeface="맑은 고딕" pitchFamily="34" charset="0"/>
                <a:ea typeface="맑은 고딕" pitchFamily="34" charset="-122"/>
                <a:cs typeface="맑은 고딕" pitchFamily="34" charset="-120"/>
              </a:rPr>
              <a:t>이후 모든 연소 사이클의</a:t>
            </a:r>
            <a:endParaRPr lang="en-US" sz="1050" dirty="0"/>
          </a:p>
          <a:p>
            <a:pPr indent="0" marL="0">
              <a:lnSpc>
                <a:spcPts val="1500"/>
              </a:lnSpc>
              <a:buNone/>
            </a:pPr>
            <a:r>
              <a:rPr lang="en-US" sz="1050" dirty="0">
                <a:solidFill>
                  <a:srgbClr val="3D4A5C"/>
                </a:solidFill>
                <a:latin typeface="맑은 고딕" pitchFamily="34" charset="0"/>
                <a:ea typeface="맑은 고딕" pitchFamily="34" charset="-122"/>
                <a:cs typeface="맑은 고딕" pitchFamily="34" charset="-120"/>
              </a:rPr>
              <a:t>효율이 함께 떨어집니다</a:t>
            </a:r>
            <a:endParaRPr lang="en-US" sz="1050" dirty="0"/>
          </a:p>
        </p:txBody>
      </p:sp>
      <p:sp>
        <p:nvSpPr>
          <p:cNvPr id="29" name="Shape 27"/>
          <p:cNvSpPr/>
          <p:nvPr/>
        </p:nvSpPr>
        <p:spPr>
          <a:xfrm>
            <a:off x="566928" y="3273552"/>
            <a:ext cx="5358384" cy="1700784"/>
          </a:xfrm>
          <a:prstGeom prst="roundRect">
            <a:avLst>
              <a:gd name="adj" fmla="val 7527"/>
            </a:avLst>
          </a:prstGeom>
          <a:solidFill>
            <a:srgbClr val="1B3A5C"/>
          </a:solidFill>
          <a:ln w="9525">
            <a:solidFill>
              <a:srgbClr val="1B3A5C"/>
            </a:solidFill>
            <a:prstDash val="solid"/>
          </a:ln>
          <a:effectLst>
            <a:outerShdw sx="100000" sy="100000" kx="0" ky="0" algn="bl" rotWithShape="0" blurRad="127000" dist="25400" dir="5400000">
              <a:srgbClr val="9BAAC4">
                <a:alpha val="22000"/>
              </a:srgbClr>
            </a:outerShdw>
          </a:effectLst>
        </p:spPr>
      </p:sp>
      <p:sp>
        <p:nvSpPr>
          <p:cNvPr id="30" name="Text 28"/>
          <p:cNvSpPr/>
          <p:nvPr/>
        </p:nvSpPr>
        <p:spPr>
          <a:xfrm>
            <a:off x="841248" y="3474720"/>
            <a:ext cx="4809744" cy="310896"/>
          </a:xfrm>
          <a:prstGeom prst="rect">
            <a:avLst/>
          </a:prstGeom>
          <a:noFill/>
          <a:ln/>
        </p:spPr>
        <p:txBody>
          <a:bodyPr wrap="square" lIns="0" tIns="0" rIns="0" bIns="0" rtlCol="0" anchor="ctr"/>
          <a:lstStyle/>
          <a:p>
            <a:pPr indent="0" marL="0">
              <a:buNone/>
            </a:pPr>
            <a:r>
              <a:rPr lang="en-US" sz="1400" b="1" dirty="0">
                <a:solidFill>
                  <a:srgbClr val="E17B34"/>
                </a:solidFill>
                <a:latin typeface="맑은 고딕" pitchFamily="34" charset="0"/>
                <a:ea typeface="맑은 고딕" pitchFamily="34" charset="-122"/>
                <a:cs typeface="맑은 고딕" pitchFamily="34" charset="-120"/>
              </a:rPr>
              <a:t>그래서 한 곳만 손봐서는 안 됩니다</a:t>
            </a:r>
            <a:endParaRPr lang="en-US" sz="1400" dirty="0"/>
          </a:p>
        </p:txBody>
      </p:sp>
      <p:sp>
        <p:nvSpPr>
          <p:cNvPr id="31" name="Text 29"/>
          <p:cNvSpPr/>
          <p:nvPr/>
        </p:nvSpPr>
        <p:spPr>
          <a:xfrm>
            <a:off x="841248" y="3840480"/>
            <a:ext cx="4809744" cy="1005840"/>
          </a:xfrm>
          <a:prstGeom prst="rect">
            <a:avLst/>
          </a:prstGeom>
          <a:noFill/>
          <a:ln/>
        </p:spPr>
        <p:txBody>
          <a:bodyPr wrap="square" lIns="0" tIns="0" rIns="0" bIns="0" rtlCol="0" anchor="t"/>
          <a:lstStyle/>
          <a:p>
            <a:pPr indent="0" marL="0">
              <a:lnSpc>
                <a:spcPts val="1700"/>
              </a:lnSpc>
              <a:buNone/>
            </a:pPr>
            <a:r>
              <a:rPr lang="en-US" sz="1150" dirty="0">
                <a:solidFill>
                  <a:srgbClr val="FFFFFF"/>
                </a:solidFill>
                <a:latin typeface="맑은 고딕" pitchFamily="34" charset="0"/>
                <a:ea typeface="맑은 고딕" pitchFamily="34" charset="-122"/>
                <a:cs typeface="맑은 고딕" pitchFamily="34" charset="-120"/>
              </a:rPr>
              <a:t>앞 단계의 손실이 뒤 단계의 손실로 그대로 넘어갑니다. </a:t>
            </a:r>
            <a:endParaRPr lang="en-US" sz="1150" dirty="0"/>
          </a:p>
          <a:p>
            <a:pPr indent="0" marL="0">
              <a:lnSpc>
                <a:spcPts val="1700"/>
              </a:lnSpc>
              <a:buNone/>
            </a:pPr>
            <a:r>
              <a:rPr lang="en-US" sz="1150" dirty="0">
                <a:solidFill>
                  <a:srgbClr val="D6E0EE"/>
                </a:solidFill>
                <a:latin typeface="맑은 고딕" pitchFamily="34" charset="0"/>
                <a:ea typeface="맑은 고딕" pitchFamily="34" charset="-122"/>
                <a:cs typeface="맑은 고딕" pitchFamily="34" charset="-120"/>
              </a:rPr>
              <a:t>저장에서 잃은 연료는 연소에서 되찾을 수 없고, 연소에서 만든 매연은 열회수 효율을 계속 갉아먹습니다.</a:t>
            </a:r>
            <a:endParaRPr lang="en-US" sz="1150" dirty="0"/>
          </a:p>
          <a:p>
            <a:pPr indent="0" marL="0">
              <a:lnSpc>
                <a:spcPts val="1700"/>
              </a:lnSpc>
              <a:buNone/>
            </a:pPr>
            <a:r>
              <a:rPr lang="en-US" sz="700" dirty="0">
                <a:solidFill>
                  <a:srgbClr val="000000"/>
                </a:solidFill>
              </a:rPr>
              <a:t> </a:t>
            </a:r>
            <a:endParaRPr lang="en-US" sz="1150" dirty="0"/>
          </a:p>
          <a:p>
            <a:pPr indent="0" marL="0">
              <a:lnSpc>
                <a:spcPts val="1700"/>
              </a:lnSpc>
              <a:buNone/>
            </a:pPr>
            <a:r>
              <a:rPr lang="en-US" sz="1150" b="1" dirty="0">
                <a:solidFill>
                  <a:srgbClr val="FFFFFF"/>
                </a:solidFill>
                <a:latin typeface="맑은 고딕" pitchFamily="34" charset="0"/>
                <a:ea typeface="맑은 고딕" pitchFamily="34" charset="-122"/>
                <a:cs typeface="맑은 고딕" pitchFamily="34" charset="-120"/>
              </a:rPr>
              <a:t>계통은 서로 연결되어 있고, 하나로 관리할 때 반응합니다.</a:t>
            </a:r>
            <a:endParaRPr lang="en-US" sz="1150" dirty="0"/>
          </a:p>
        </p:txBody>
      </p:sp>
      <p:sp>
        <p:nvSpPr>
          <p:cNvPr id="32" name="Shape 30"/>
          <p:cNvSpPr/>
          <p:nvPr/>
        </p:nvSpPr>
        <p:spPr>
          <a:xfrm>
            <a:off x="6263640" y="3273552"/>
            <a:ext cx="5358384" cy="1700784"/>
          </a:xfrm>
          <a:prstGeom prst="roundRect">
            <a:avLst>
              <a:gd name="adj" fmla="val 752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33" name="Text 31"/>
          <p:cNvSpPr/>
          <p:nvPr/>
        </p:nvSpPr>
        <p:spPr>
          <a:xfrm>
            <a:off x="6519672" y="3456432"/>
            <a:ext cx="4846320"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WHAT INTEGRATED MANAGEMENT DELIVERS</a:t>
            </a:r>
            <a:endParaRPr lang="en-US" sz="950" dirty="0"/>
          </a:p>
        </p:txBody>
      </p:sp>
      <p:sp>
        <p:nvSpPr>
          <p:cNvPr id="34" name="Shape 32"/>
          <p:cNvSpPr/>
          <p:nvPr/>
        </p:nvSpPr>
        <p:spPr>
          <a:xfrm>
            <a:off x="6519672" y="3813048"/>
            <a:ext cx="118872" cy="118872"/>
          </a:xfrm>
          <a:prstGeom prst="roundRect">
            <a:avLst>
              <a:gd name="adj" fmla="val 50000"/>
            </a:avLst>
          </a:prstGeom>
          <a:solidFill>
            <a:srgbClr val="2E7D5B"/>
          </a:solidFill>
          <a:ln w="12700">
            <a:solidFill>
              <a:srgbClr val="333333"/>
            </a:solidFill>
            <a:prstDash val="solid"/>
          </a:ln>
        </p:spPr>
      </p:sp>
      <p:sp>
        <p:nvSpPr>
          <p:cNvPr id="35" name="Text 33"/>
          <p:cNvSpPr/>
          <p:nvPr/>
        </p:nvSpPr>
        <p:spPr>
          <a:xfrm>
            <a:off x="6739128" y="3730752"/>
            <a:ext cx="2231136" cy="292608"/>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슬러지 손실 감소  </a:t>
            </a:r>
            <a:pPr indent="0" marL="0">
              <a:buNone/>
            </a:pPr>
            <a:r>
              <a:rPr lang="en-US" sz="900" dirty="0">
                <a:solidFill>
                  <a:srgbClr val="8A94A6"/>
                </a:solidFill>
                <a:latin typeface="맑은 고딕" pitchFamily="34" charset="0"/>
                <a:ea typeface="맑은 고딕" pitchFamily="34" charset="-122"/>
                <a:cs typeface="맑은 고딕" pitchFamily="34" charset="-120"/>
              </a:rPr>
              <a:t>폐기 연료 ↓</a:t>
            </a:r>
            <a:endParaRPr lang="en-US" sz="1050" dirty="0"/>
          </a:p>
        </p:txBody>
      </p:sp>
      <p:sp>
        <p:nvSpPr>
          <p:cNvPr id="36" name="Shape 34"/>
          <p:cNvSpPr/>
          <p:nvPr/>
        </p:nvSpPr>
        <p:spPr>
          <a:xfrm>
            <a:off x="8970264" y="3813048"/>
            <a:ext cx="118872" cy="118872"/>
          </a:xfrm>
          <a:prstGeom prst="roundRect">
            <a:avLst>
              <a:gd name="adj" fmla="val 50000"/>
            </a:avLst>
          </a:prstGeom>
          <a:solidFill>
            <a:srgbClr val="2E7D5B"/>
          </a:solidFill>
          <a:ln w="12700">
            <a:solidFill>
              <a:srgbClr val="333333"/>
            </a:solidFill>
            <a:prstDash val="solid"/>
          </a:ln>
        </p:spPr>
      </p:sp>
      <p:sp>
        <p:nvSpPr>
          <p:cNvPr id="37" name="Text 35"/>
          <p:cNvSpPr/>
          <p:nvPr/>
        </p:nvSpPr>
        <p:spPr>
          <a:xfrm>
            <a:off x="9189720" y="3730752"/>
            <a:ext cx="2231136" cy="292608"/>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SFOC 저하  </a:t>
            </a:r>
            <a:pPr indent="0" marL="0">
              <a:buNone/>
            </a:pPr>
            <a:r>
              <a:rPr lang="en-US" sz="900" dirty="0">
                <a:solidFill>
                  <a:srgbClr val="8A94A6"/>
                </a:solidFill>
                <a:latin typeface="맑은 고딕" pitchFamily="34" charset="0"/>
                <a:ea typeface="맑은 고딕" pitchFamily="34" charset="-122"/>
                <a:cs typeface="맑은 고딕" pitchFamily="34" charset="-120"/>
              </a:rPr>
              <a:t>같은 출력에 연료 ↓</a:t>
            </a:r>
            <a:endParaRPr lang="en-US" sz="1050" dirty="0"/>
          </a:p>
        </p:txBody>
      </p:sp>
      <p:sp>
        <p:nvSpPr>
          <p:cNvPr id="38" name="Shape 36"/>
          <p:cNvSpPr/>
          <p:nvPr/>
        </p:nvSpPr>
        <p:spPr>
          <a:xfrm>
            <a:off x="6519672" y="4215384"/>
            <a:ext cx="118872" cy="118872"/>
          </a:xfrm>
          <a:prstGeom prst="roundRect">
            <a:avLst>
              <a:gd name="adj" fmla="val 50000"/>
            </a:avLst>
          </a:prstGeom>
          <a:solidFill>
            <a:srgbClr val="2E7D5B"/>
          </a:solidFill>
          <a:ln w="12700">
            <a:solidFill>
              <a:srgbClr val="333333"/>
            </a:solidFill>
            <a:prstDash val="solid"/>
          </a:ln>
        </p:spPr>
      </p:sp>
      <p:sp>
        <p:nvSpPr>
          <p:cNvPr id="39" name="Text 37"/>
          <p:cNvSpPr/>
          <p:nvPr/>
        </p:nvSpPr>
        <p:spPr>
          <a:xfrm>
            <a:off x="6739128" y="4133088"/>
            <a:ext cx="2231136" cy="292608"/>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비계획 정비 감소  </a:t>
            </a:r>
            <a:pPr indent="0" marL="0">
              <a:buNone/>
            </a:pPr>
            <a:r>
              <a:rPr lang="en-US" sz="900" dirty="0">
                <a:solidFill>
                  <a:srgbClr val="8A94A6"/>
                </a:solidFill>
                <a:latin typeface="맑은 고딕" pitchFamily="34" charset="0"/>
                <a:ea typeface="맑은 고딕" pitchFamily="34" charset="-122"/>
                <a:cs typeface="맑은 고딕" pitchFamily="34" charset="-120"/>
              </a:rPr>
              <a:t>정유기 · 필터 · 펌프</a:t>
            </a:r>
            <a:endParaRPr lang="en-US" sz="1050" dirty="0"/>
          </a:p>
        </p:txBody>
      </p:sp>
      <p:sp>
        <p:nvSpPr>
          <p:cNvPr id="40" name="Shape 38"/>
          <p:cNvSpPr/>
          <p:nvPr/>
        </p:nvSpPr>
        <p:spPr>
          <a:xfrm>
            <a:off x="8970264" y="4215384"/>
            <a:ext cx="118872" cy="118872"/>
          </a:xfrm>
          <a:prstGeom prst="roundRect">
            <a:avLst>
              <a:gd name="adj" fmla="val 50000"/>
            </a:avLst>
          </a:prstGeom>
          <a:solidFill>
            <a:srgbClr val="2E7D5B"/>
          </a:solidFill>
          <a:ln w="12700">
            <a:solidFill>
              <a:srgbClr val="333333"/>
            </a:solidFill>
            <a:prstDash val="solid"/>
          </a:ln>
        </p:spPr>
      </p:sp>
      <p:sp>
        <p:nvSpPr>
          <p:cNvPr id="41" name="Text 39"/>
          <p:cNvSpPr/>
          <p:nvPr/>
        </p:nvSpPr>
        <p:spPr>
          <a:xfrm>
            <a:off x="9189720" y="4133088"/>
            <a:ext cx="2231136" cy="292608"/>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청소 주기 연장  </a:t>
            </a:r>
            <a:pPr indent="0" marL="0">
              <a:buNone/>
            </a:pPr>
            <a:r>
              <a:rPr lang="en-US" sz="900" dirty="0">
                <a:solidFill>
                  <a:srgbClr val="8A94A6"/>
                </a:solidFill>
                <a:latin typeface="맑은 고딕" pitchFamily="34" charset="0"/>
                <a:ea typeface="맑은 고딕" pitchFamily="34" charset="-122"/>
                <a:cs typeface="맑은 고딕" pitchFamily="34" charset="-120"/>
              </a:rPr>
              <a:t>계통 청결 유지</a:t>
            </a:r>
            <a:endParaRPr lang="en-US" sz="1050" dirty="0"/>
          </a:p>
        </p:txBody>
      </p:sp>
      <p:sp>
        <p:nvSpPr>
          <p:cNvPr id="42" name="Shape 40"/>
          <p:cNvSpPr/>
          <p:nvPr/>
        </p:nvSpPr>
        <p:spPr>
          <a:xfrm>
            <a:off x="6519672" y="4617720"/>
            <a:ext cx="118872" cy="118872"/>
          </a:xfrm>
          <a:prstGeom prst="roundRect">
            <a:avLst>
              <a:gd name="adj" fmla="val 50000"/>
            </a:avLst>
          </a:prstGeom>
          <a:solidFill>
            <a:srgbClr val="2E7D5B"/>
          </a:solidFill>
          <a:ln w="12700">
            <a:solidFill>
              <a:srgbClr val="333333"/>
            </a:solidFill>
            <a:prstDash val="solid"/>
          </a:ln>
        </p:spPr>
      </p:sp>
      <p:sp>
        <p:nvSpPr>
          <p:cNvPr id="43" name="Text 41"/>
          <p:cNvSpPr/>
          <p:nvPr/>
        </p:nvSpPr>
        <p:spPr>
          <a:xfrm>
            <a:off x="6739128" y="4535424"/>
            <a:ext cx="2231136" cy="292608"/>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CII 반영  </a:t>
            </a:r>
            <a:pPr indent="0" marL="0">
              <a:buNone/>
            </a:pPr>
            <a:r>
              <a:rPr lang="en-US" sz="900" dirty="0">
                <a:solidFill>
                  <a:srgbClr val="8A94A6"/>
                </a:solidFill>
                <a:latin typeface="맑은 고딕" pitchFamily="34" charset="0"/>
                <a:ea typeface="맑은 고딕" pitchFamily="34" charset="-122"/>
                <a:cs typeface="맑은 고딕" pitchFamily="34" charset="-120"/>
              </a:rPr>
              <a:t>문서화된 개선</a:t>
            </a:r>
            <a:endParaRPr lang="en-US" sz="1050" dirty="0"/>
          </a:p>
        </p:txBody>
      </p:sp>
      <p:sp>
        <p:nvSpPr>
          <p:cNvPr id="44" name="Shape 42"/>
          <p:cNvSpPr/>
          <p:nvPr/>
        </p:nvSpPr>
        <p:spPr>
          <a:xfrm>
            <a:off x="566928" y="5138928"/>
            <a:ext cx="11057839" cy="786384"/>
          </a:xfrm>
          <a:prstGeom prst="roundRect">
            <a:avLst>
              <a:gd name="adj" fmla="val 11628"/>
            </a:avLst>
          </a:prstGeom>
          <a:solidFill>
            <a:srgbClr val="1B3A5C"/>
          </a:solidFill>
          <a:ln w="12700">
            <a:solidFill>
              <a:srgbClr val="1B3A5C"/>
            </a:solidFill>
            <a:prstDash val="solid"/>
          </a:ln>
        </p:spPr>
      </p:sp>
      <p:sp>
        <p:nvSpPr>
          <p:cNvPr id="45" name="Text 43"/>
          <p:cNvSpPr/>
          <p:nvPr/>
        </p:nvSpPr>
        <p:spPr>
          <a:xfrm>
            <a:off x="795528" y="5138928"/>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목표는 벙커링한 모든 연료가 추진력으로 온전히 쓰일 기회를 갖게 하는 것입니다.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46" name="Text 44"/>
          <p:cNvSpPr/>
          <p:nvPr/>
        </p:nvSpPr>
        <p:spPr>
          <a:xfrm>
            <a:off x="566928" y="6053328"/>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Wilhelmsen Ships Service, Tank to Wake 및 Pre-combustion treatment 자료 · Section 01 실측 데이터</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11   안정성 ①</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안정성을 해치는 것은 시간과 온도입니다</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12</a:t>
            </a:r>
            <a:endParaRPr lang="en-US" sz="950" dirty="0"/>
          </a:p>
        </p:txBody>
      </p:sp>
      <p:sp>
        <p:nvSpPr>
          <p:cNvPr id="6" name="Shape 4"/>
          <p:cNvSpPr/>
          <p:nvPr/>
        </p:nvSpPr>
        <p:spPr>
          <a:xfrm>
            <a:off x="566928" y="1591056"/>
            <a:ext cx="3429914" cy="3017520"/>
          </a:xfrm>
          <a:prstGeom prst="roundRect">
            <a:avLst>
              <a:gd name="adj" fmla="val 42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04672" y="1792224"/>
            <a:ext cx="2954426"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① TIME — 시간</a:t>
            </a:r>
            <a:endParaRPr lang="en-US" sz="950" dirty="0"/>
          </a:p>
        </p:txBody>
      </p:sp>
      <p:sp>
        <p:nvSpPr>
          <p:cNvPr id="8" name="Text 6"/>
          <p:cNvSpPr/>
          <p:nvPr/>
        </p:nvSpPr>
        <p:spPr>
          <a:xfrm>
            <a:off x="804672" y="2011680"/>
            <a:ext cx="2954426" cy="384048"/>
          </a:xfrm>
          <a:prstGeom prst="rect">
            <a:avLst/>
          </a:prstGeom>
          <a:noFill/>
          <a:ln/>
        </p:spPr>
        <p:txBody>
          <a:bodyPr wrap="square" lIns="0" tIns="0" rIns="0" bIns="0" rtlCol="0" anchor="ctr"/>
          <a:lstStyle/>
          <a:p>
            <a:pPr indent="0" marL="0">
              <a:buNone/>
            </a:pPr>
            <a:r>
              <a:rPr lang="en-US" sz="2200" dirty="0">
                <a:solidFill>
                  <a:srgbClr val="1B3A5C"/>
                </a:solidFill>
                <a:latin typeface="바탕" pitchFamily="34" charset="0"/>
                <a:ea typeface="바탕" pitchFamily="34" charset="-122"/>
                <a:cs typeface="바탕" pitchFamily="34" charset="-120"/>
              </a:rPr>
              <a:t>시간</a:t>
            </a:r>
            <a:endParaRPr lang="en-US" sz="2200" dirty="0"/>
          </a:p>
        </p:txBody>
      </p:sp>
      <p:sp>
        <p:nvSpPr>
          <p:cNvPr id="9" name="Text 7"/>
          <p:cNvSpPr/>
          <p:nvPr/>
        </p:nvSpPr>
        <p:spPr>
          <a:xfrm>
            <a:off x="804672" y="2432304"/>
            <a:ext cx="2954426" cy="310896"/>
          </a:xfrm>
          <a:prstGeom prst="rect">
            <a:avLst/>
          </a:prstGeom>
          <a:noFill/>
          <a:ln/>
        </p:spPr>
        <p:txBody>
          <a:bodyPr wrap="square" lIns="0" tIns="0" rIns="0" bIns="0" rtlCol="0" anchor="ctr"/>
          <a:lstStyle/>
          <a:p>
            <a:pPr indent="0" marL="0">
              <a:buNone/>
            </a:pPr>
            <a:r>
              <a:rPr lang="en-US" sz="1500" b="1" dirty="0">
                <a:solidFill>
                  <a:srgbClr val="2E5C8A"/>
                </a:solidFill>
                <a:latin typeface="맑은 고딕" pitchFamily="34" charset="0"/>
                <a:ea typeface="맑은 고딕" pitchFamily="34" charset="-122"/>
                <a:cs typeface="맑은 고딕" pitchFamily="34" charset="-120"/>
              </a:rPr>
              <a:t>1 ~ 5 개월</a:t>
            </a:r>
            <a:endParaRPr lang="en-US" sz="1500" dirty="0"/>
          </a:p>
        </p:txBody>
      </p:sp>
      <p:sp>
        <p:nvSpPr>
          <p:cNvPr id="10" name="Shape 8"/>
          <p:cNvSpPr/>
          <p:nvPr/>
        </p:nvSpPr>
        <p:spPr>
          <a:xfrm>
            <a:off x="822960" y="2953512"/>
            <a:ext cx="109728" cy="109728"/>
          </a:xfrm>
          <a:prstGeom prst="roundRect">
            <a:avLst>
              <a:gd name="adj" fmla="val 50000"/>
            </a:avLst>
          </a:prstGeom>
          <a:solidFill>
            <a:srgbClr val="2E5C8A"/>
          </a:solidFill>
          <a:ln w="12700">
            <a:solidFill>
              <a:srgbClr val="333333"/>
            </a:solidFill>
            <a:prstDash val="solid"/>
          </a:ln>
        </p:spPr>
      </p:sp>
      <p:sp>
        <p:nvSpPr>
          <p:cNvPr id="11" name="Text 9"/>
          <p:cNvSpPr/>
          <p:nvPr/>
        </p:nvSpPr>
        <p:spPr>
          <a:xfrm>
            <a:off x="1042416" y="2852928"/>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벙커 시 On-spec → 항해 중 Off-spec</a:t>
            </a:r>
            <a:endParaRPr lang="en-US" sz="1000" dirty="0"/>
          </a:p>
        </p:txBody>
      </p:sp>
      <p:sp>
        <p:nvSpPr>
          <p:cNvPr id="12" name="Shape 10"/>
          <p:cNvSpPr/>
          <p:nvPr/>
        </p:nvSpPr>
        <p:spPr>
          <a:xfrm>
            <a:off x="822960" y="3337560"/>
            <a:ext cx="109728" cy="109728"/>
          </a:xfrm>
          <a:prstGeom prst="roundRect">
            <a:avLst>
              <a:gd name="adj" fmla="val 50000"/>
            </a:avLst>
          </a:prstGeom>
          <a:solidFill>
            <a:srgbClr val="2E5C8A"/>
          </a:solidFill>
          <a:ln w="12700">
            <a:solidFill>
              <a:srgbClr val="333333"/>
            </a:solidFill>
            <a:prstDash val="solid"/>
          </a:ln>
        </p:spPr>
      </p:sp>
      <p:sp>
        <p:nvSpPr>
          <p:cNvPr id="13" name="Text 11"/>
          <p:cNvSpPr/>
          <p:nvPr/>
        </p:nvSpPr>
        <p:spPr>
          <a:xfrm>
            <a:off x="1042416" y="3236976"/>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TSP가 저장 기간에 비례해 상승</a:t>
            </a:r>
            <a:endParaRPr lang="en-US" sz="1000" dirty="0"/>
          </a:p>
        </p:txBody>
      </p:sp>
      <p:sp>
        <p:nvSpPr>
          <p:cNvPr id="14" name="Shape 12"/>
          <p:cNvSpPr/>
          <p:nvPr/>
        </p:nvSpPr>
        <p:spPr>
          <a:xfrm>
            <a:off x="822960" y="3721608"/>
            <a:ext cx="109728" cy="109728"/>
          </a:xfrm>
          <a:prstGeom prst="roundRect">
            <a:avLst>
              <a:gd name="adj" fmla="val 50000"/>
            </a:avLst>
          </a:prstGeom>
          <a:solidFill>
            <a:srgbClr val="2E5C8A"/>
          </a:solidFill>
          <a:ln w="12700">
            <a:solidFill>
              <a:srgbClr val="333333"/>
            </a:solidFill>
            <a:prstDash val="solid"/>
          </a:ln>
        </p:spPr>
      </p:sp>
      <p:sp>
        <p:nvSpPr>
          <p:cNvPr id="15" name="Text 13"/>
          <p:cNvSpPr/>
          <p:nvPr/>
        </p:nvSpPr>
        <p:spPr>
          <a:xfrm>
            <a:off x="1042416" y="3621024"/>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Section 01 슬라이드 06의 7개 샘플</a:t>
            </a:r>
            <a:endParaRPr lang="en-US" sz="1000" dirty="0"/>
          </a:p>
        </p:txBody>
      </p:sp>
      <p:sp>
        <p:nvSpPr>
          <p:cNvPr id="16" name="Text 14"/>
          <p:cNvSpPr/>
          <p:nvPr/>
        </p:nvSpPr>
        <p:spPr>
          <a:xfrm>
            <a:off x="4024274" y="2926080"/>
            <a:ext cx="329184" cy="365760"/>
          </a:xfrm>
          <a:prstGeom prst="rect">
            <a:avLst/>
          </a:prstGeom>
          <a:noFill/>
          <a:ln/>
        </p:spPr>
        <p:txBody>
          <a:bodyPr wrap="square" lIns="0" tIns="0" rIns="0" bIns="0" rtlCol="0" anchor="ctr"/>
          <a:lstStyle/>
          <a:p>
            <a:pPr algn="ctr" indent="0" marL="0">
              <a:buNone/>
            </a:pPr>
            <a:r>
              <a:rPr lang="en-US" sz="1400" dirty="0">
                <a:solidFill>
                  <a:srgbClr val="B9C4D6"/>
                </a:solidFill>
                <a:latin typeface="맑은 고딕" pitchFamily="34" charset="0"/>
                <a:ea typeface="맑은 고딕" pitchFamily="34" charset="-122"/>
                <a:cs typeface="맑은 고딕" pitchFamily="34" charset="-120"/>
              </a:rPr>
              <a:t>▶</a:t>
            </a:r>
            <a:endParaRPr lang="en-US" sz="1400" dirty="0"/>
          </a:p>
        </p:txBody>
      </p:sp>
      <p:sp>
        <p:nvSpPr>
          <p:cNvPr id="17" name="Shape 15"/>
          <p:cNvSpPr/>
          <p:nvPr/>
        </p:nvSpPr>
        <p:spPr>
          <a:xfrm>
            <a:off x="4380890" y="1591056"/>
            <a:ext cx="3429914" cy="3017520"/>
          </a:xfrm>
          <a:prstGeom prst="roundRect">
            <a:avLst>
              <a:gd name="adj" fmla="val 4242"/>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8" name="Text 16"/>
          <p:cNvSpPr/>
          <p:nvPr/>
        </p:nvSpPr>
        <p:spPr>
          <a:xfrm>
            <a:off x="4618634" y="1792224"/>
            <a:ext cx="2954426"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② TEMPERATURE — 온도</a:t>
            </a:r>
            <a:endParaRPr lang="en-US" sz="950" dirty="0"/>
          </a:p>
        </p:txBody>
      </p:sp>
      <p:sp>
        <p:nvSpPr>
          <p:cNvPr id="19" name="Text 17"/>
          <p:cNvSpPr/>
          <p:nvPr/>
        </p:nvSpPr>
        <p:spPr>
          <a:xfrm>
            <a:off x="4618634" y="2011680"/>
            <a:ext cx="2954426" cy="384048"/>
          </a:xfrm>
          <a:prstGeom prst="rect">
            <a:avLst/>
          </a:prstGeom>
          <a:noFill/>
          <a:ln/>
        </p:spPr>
        <p:txBody>
          <a:bodyPr wrap="square" lIns="0" tIns="0" rIns="0" bIns="0" rtlCol="0" anchor="ctr"/>
          <a:lstStyle/>
          <a:p>
            <a:pPr indent="0" marL="0">
              <a:buNone/>
            </a:pPr>
            <a:r>
              <a:rPr lang="en-US" sz="2200" dirty="0">
                <a:solidFill>
                  <a:srgbClr val="1B3A5C"/>
                </a:solidFill>
                <a:latin typeface="바탕" pitchFamily="34" charset="0"/>
                <a:ea typeface="바탕" pitchFamily="34" charset="-122"/>
                <a:cs typeface="바탕" pitchFamily="34" charset="-120"/>
              </a:rPr>
              <a:t>온도</a:t>
            </a:r>
            <a:endParaRPr lang="en-US" sz="2200" dirty="0"/>
          </a:p>
        </p:txBody>
      </p:sp>
      <p:sp>
        <p:nvSpPr>
          <p:cNvPr id="20" name="Text 18"/>
          <p:cNvSpPr/>
          <p:nvPr/>
        </p:nvSpPr>
        <p:spPr>
          <a:xfrm>
            <a:off x="4618634" y="2432304"/>
            <a:ext cx="2954426" cy="310896"/>
          </a:xfrm>
          <a:prstGeom prst="rect">
            <a:avLst/>
          </a:prstGeom>
          <a:noFill/>
          <a:ln/>
        </p:spPr>
        <p:txBody>
          <a:bodyPr wrap="square" lIns="0" tIns="0" rIns="0" bIns="0" rtlCol="0" anchor="ctr"/>
          <a:lstStyle/>
          <a:p>
            <a:pPr indent="0" marL="0">
              <a:buNone/>
            </a:pPr>
            <a:r>
              <a:rPr lang="en-US" sz="1500" b="1" dirty="0">
                <a:solidFill>
                  <a:srgbClr val="E17B34"/>
                </a:solidFill>
                <a:latin typeface="맑은 고딕" pitchFamily="34" charset="0"/>
                <a:ea typeface="맑은 고딕" pitchFamily="34" charset="-122"/>
                <a:cs typeface="맑은 고딕" pitchFamily="34" charset="-120"/>
              </a:rPr>
              <a:t>열적 스트레스</a:t>
            </a:r>
            <a:endParaRPr lang="en-US" sz="1500" dirty="0"/>
          </a:p>
        </p:txBody>
      </p:sp>
      <p:sp>
        <p:nvSpPr>
          <p:cNvPr id="21" name="Shape 19"/>
          <p:cNvSpPr/>
          <p:nvPr/>
        </p:nvSpPr>
        <p:spPr>
          <a:xfrm>
            <a:off x="4636922" y="2953512"/>
            <a:ext cx="109728" cy="109728"/>
          </a:xfrm>
          <a:prstGeom prst="roundRect">
            <a:avLst>
              <a:gd name="adj" fmla="val 50000"/>
            </a:avLst>
          </a:prstGeom>
          <a:solidFill>
            <a:srgbClr val="E17B34"/>
          </a:solidFill>
          <a:ln w="12700">
            <a:solidFill>
              <a:srgbClr val="333333"/>
            </a:solidFill>
            <a:prstDash val="solid"/>
          </a:ln>
        </p:spPr>
      </p:sp>
      <p:sp>
        <p:nvSpPr>
          <p:cNvPr id="22" name="Text 20"/>
          <p:cNvSpPr/>
          <p:nvPr/>
        </p:nvSpPr>
        <p:spPr>
          <a:xfrm>
            <a:off x="4856378" y="2852928"/>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과열이 아스팔텐 응집을 가속</a:t>
            </a:r>
            <a:endParaRPr lang="en-US" sz="1000" dirty="0"/>
          </a:p>
        </p:txBody>
      </p:sp>
      <p:sp>
        <p:nvSpPr>
          <p:cNvPr id="23" name="Shape 21"/>
          <p:cNvSpPr/>
          <p:nvPr/>
        </p:nvSpPr>
        <p:spPr>
          <a:xfrm>
            <a:off x="4636922" y="3337560"/>
            <a:ext cx="109728" cy="109728"/>
          </a:xfrm>
          <a:prstGeom prst="roundRect">
            <a:avLst>
              <a:gd name="adj" fmla="val 50000"/>
            </a:avLst>
          </a:prstGeom>
          <a:solidFill>
            <a:srgbClr val="E17B34"/>
          </a:solidFill>
          <a:ln w="12700">
            <a:solidFill>
              <a:srgbClr val="333333"/>
            </a:solidFill>
            <a:prstDash val="solid"/>
          </a:ln>
        </p:spPr>
      </p:sp>
      <p:sp>
        <p:nvSpPr>
          <p:cNvPr id="24" name="Text 22"/>
          <p:cNvSpPr/>
          <p:nvPr/>
        </p:nvSpPr>
        <p:spPr>
          <a:xfrm>
            <a:off x="4856378" y="3236976"/>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분리 온도를 올려야 하는 고점도 연료</a:t>
            </a:r>
            <a:endParaRPr lang="en-US" sz="1000" dirty="0"/>
          </a:p>
        </p:txBody>
      </p:sp>
      <p:sp>
        <p:nvSpPr>
          <p:cNvPr id="25" name="Shape 23"/>
          <p:cNvSpPr/>
          <p:nvPr/>
        </p:nvSpPr>
        <p:spPr>
          <a:xfrm>
            <a:off x="4636922" y="3721608"/>
            <a:ext cx="109728" cy="109728"/>
          </a:xfrm>
          <a:prstGeom prst="roundRect">
            <a:avLst>
              <a:gd name="adj" fmla="val 50000"/>
            </a:avLst>
          </a:prstGeom>
          <a:solidFill>
            <a:srgbClr val="E17B34"/>
          </a:solidFill>
          <a:ln w="12700">
            <a:solidFill>
              <a:srgbClr val="333333"/>
            </a:solidFill>
            <a:prstDash val="solid"/>
          </a:ln>
        </p:spPr>
      </p:sp>
      <p:sp>
        <p:nvSpPr>
          <p:cNvPr id="26" name="Text 24"/>
          <p:cNvSpPr/>
          <p:nvPr/>
        </p:nvSpPr>
        <p:spPr>
          <a:xfrm>
            <a:off x="4856378" y="3621024"/>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VLSFO는 HSFO보다 열에 민감</a:t>
            </a:r>
            <a:endParaRPr lang="en-US" sz="1000" dirty="0"/>
          </a:p>
        </p:txBody>
      </p:sp>
      <p:sp>
        <p:nvSpPr>
          <p:cNvPr id="27" name="Text 25"/>
          <p:cNvSpPr/>
          <p:nvPr/>
        </p:nvSpPr>
        <p:spPr>
          <a:xfrm>
            <a:off x="7838237" y="2926080"/>
            <a:ext cx="329184" cy="365760"/>
          </a:xfrm>
          <a:prstGeom prst="rect">
            <a:avLst/>
          </a:prstGeom>
          <a:noFill/>
          <a:ln/>
        </p:spPr>
        <p:txBody>
          <a:bodyPr wrap="square" lIns="0" tIns="0" rIns="0" bIns="0" rtlCol="0" anchor="ctr"/>
          <a:lstStyle/>
          <a:p>
            <a:pPr algn="ctr" indent="0" marL="0">
              <a:buNone/>
            </a:pPr>
            <a:r>
              <a:rPr lang="en-US" sz="1400" dirty="0">
                <a:solidFill>
                  <a:srgbClr val="B9C4D6"/>
                </a:solidFill>
                <a:latin typeface="맑은 고딕" pitchFamily="34" charset="0"/>
                <a:ea typeface="맑은 고딕" pitchFamily="34" charset="-122"/>
                <a:cs typeface="맑은 고딕" pitchFamily="34" charset="-120"/>
              </a:rPr>
              <a:t>▶</a:t>
            </a:r>
            <a:endParaRPr lang="en-US" sz="1400" dirty="0"/>
          </a:p>
        </p:txBody>
      </p:sp>
      <p:sp>
        <p:nvSpPr>
          <p:cNvPr id="28" name="Shape 26"/>
          <p:cNvSpPr/>
          <p:nvPr/>
        </p:nvSpPr>
        <p:spPr>
          <a:xfrm>
            <a:off x="8194853" y="1591056"/>
            <a:ext cx="3429914" cy="3017520"/>
          </a:xfrm>
          <a:prstGeom prst="roundRect">
            <a:avLst>
              <a:gd name="adj" fmla="val 4242"/>
            </a:avLst>
          </a:prstGeom>
          <a:solidFill>
            <a:srgbClr val="1B3A5C"/>
          </a:solidFill>
          <a:ln w="9525">
            <a:solidFill>
              <a:srgbClr val="1B3A5C"/>
            </a:solidFill>
            <a:prstDash val="solid"/>
          </a:ln>
          <a:effectLst>
            <a:outerShdw sx="100000" sy="100000" kx="0" ky="0" algn="bl" rotWithShape="0" blurRad="127000" dist="25400" dir="5400000">
              <a:srgbClr val="9BAAC4">
                <a:alpha val="22000"/>
              </a:srgbClr>
            </a:outerShdw>
          </a:effectLst>
        </p:spPr>
      </p:sp>
      <p:sp>
        <p:nvSpPr>
          <p:cNvPr id="29" name="Text 27"/>
          <p:cNvSpPr/>
          <p:nvPr/>
        </p:nvSpPr>
        <p:spPr>
          <a:xfrm>
            <a:off x="8432597" y="1792224"/>
            <a:ext cx="2954426"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③ HOT SPIN TEST</a:t>
            </a:r>
            <a:endParaRPr lang="en-US" sz="950" dirty="0"/>
          </a:p>
        </p:txBody>
      </p:sp>
      <p:sp>
        <p:nvSpPr>
          <p:cNvPr id="30" name="Text 28"/>
          <p:cNvSpPr/>
          <p:nvPr/>
        </p:nvSpPr>
        <p:spPr>
          <a:xfrm>
            <a:off x="8432597" y="2011680"/>
            <a:ext cx="2954426" cy="384048"/>
          </a:xfrm>
          <a:prstGeom prst="rect">
            <a:avLst/>
          </a:prstGeom>
          <a:noFill/>
          <a:ln/>
        </p:spPr>
        <p:txBody>
          <a:bodyPr wrap="square" lIns="0" tIns="0" rIns="0" bIns="0" rtlCol="0" anchor="ctr"/>
          <a:lstStyle/>
          <a:p>
            <a:pPr indent="0" marL="0">
              <a:buNone/>
            </a:pPr>
            <a:r>
              <a:rPr lang="en-US" sz="2200" dirty="0">
                <a:solidFill>
                  <a:srgbClr val="FFFFFF"/>
                </a:solidFill>
                <a:latin typeface="바탕" pitchFamily="34" charset="0"/>
                <a:ea typeface="바탕" pitchFamily="34" charset="-122"/>
                <a:cs typeface="바탕" pitchFamily="34" charset="-120"/>
              </a:rPr>
              <a:t>예측</a:t>
            </a:r>
            <a:endParaRPr lang="en-US" sz="2200" dirty="0"/>
          </a:p>
        </p:txBody>
      </p:sp>
      <p:sp>
        <p:nvSpPr>
          <p:cNvPr id="31" name="Text 29"/>
          <p:cNvSpPr/>
          <p:nvPr/>
        </p:nvSpPr>
        <p:spPr>
          <a:xfrm>
            <a:off x="8432597" y="2432304"/>
            <a:ext cx="2954426" cy="310896"/>
          </a:xfrm>
          <a:prstGeom prst="rect">
            <a:avLst/>
          </a:prstGeom>
          <a:noFill/>
          <a:ln/>
        </p:spPr>
        <p:txBody>
          <a:bodyPr wrap="square" lIns="0" tIns="0" rIns="0" bIns="0" rtlCol="0" anchor="ctr"/>
          <a:lstStyle/>
          <a:p>
            <a:pPr indent="0" marL="0">
              <a:buNone/>
            </a:pPr>
            <a:r>
              <a:rPr lang="en-US" sz="1500" b="1" dirty="0">
                <a:solidFill>
                  <a:srgbClr val="E17B34"/>
                </a:solidFill>
                <a:latin typeface="맑은 고딕" pitchFamily="34" charset="0"/>
                <a:ea typeface="맑은 고딕" pitchFamily="34" charset="-122"/>
                <a:cs typeface="맑은 고딕" pitchFamily="34" charset="-120"/>
              </a:rPr>
              <a:t>사전 진단</a:t>
            </a:r>
            <a:endParaRPr lang="en-US" sz="1500" dirty="0"/>
          </a:p>
        </p:txBody>
      </p:sp>
      <p:sp>
        <p:nvSpPr>
          <p:cNvPr id="32" name="Shape 30"/>
          <p:cNvSpPr/>
          <p:nvPr/>
        </p:nvSpPr>
        <p:spPr>
          <a:xfrm>
            <a:off x="8450885" y="2953512"/>
            <a:ext cx="109728" cy="109728"/>
          </a:xfrm>
          <a:prstGeom prst="roundRect">
            <a:avLst>
              <a:gd name="adj" fmla="val 50000"/>
            </a:avLst>
          </a:prstGeom>
          <a:solidFill>
            <a:srgbClr val="E17B34"/>
          </a:solidFill>
          <a:ln w="12700">
            <a:solidFill>
              <a:srgbClr val="333333"/>
            </a:solidFill>
            <a:prstDash val="solid"/>
          </a:ln>
        </p:spPr>
      </p:sp>
      <p:sp>
        <p:nvSpPr>
          <p:cNvPr id="33" name="Text 31"/>
          <p:cNvSpPr/>
          <p:nvPr/>
        </p:nvSpPr>
        <p:spPr>
          <a:xfrm>
            <a:off x="8670341" y="2852928"/>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D6E0EE"/>
                </a:solidFill>
                <a:latin typeface="맑은 고딕" pitchFamily="34" charset="0"/>
                <a:ea typeface="맑은 고딕" pitchFamily="34" charset="-122"/>
                <a:cs typeface="맑은 고딕" pitchFamily="34" charset="-120"/>
              </a:rPr>
              <a:t>슬러지 생성 가능성을 미리 측정</a:t>
            </a:r>
            <a:endParaRPr lang="en-US" sz="1000" dirty="0"/>
          </a:p>
        </p:txBody>
      </p:sp>
      <p:sp>
        <p:nvSpPr>
          <p:cNvPr id="34" name="Shape 32"/>
          <p:cNvSpPr/>
          <p:nvPr/>
        </p:nvSpPr>
        <p:spPr>
          <a:xfrm>
            <a:off x="8450885" y="3337560"/>
            <a:ext cx="109728" cy="109728"/>
          </a:xfrm>
          <a:prstGeom prst="roundRect">
            <a:avLst>
              <a:gd name="adj" fmla="val 50000"/>
            </a:avLst>
          </a:prstGeom>
          <a:solidFill>
            <a:srgbClr val="E17B34"/>
          </a:solidFill>
          <a:ln w="12700">
            <a:solidFill>
              <a:srgbClr val="333333"/>
            </a:solidFill>
            <a:prstDash val="solid"/>
          </a:ln>
        </p:spPr>
      </p:sp>
      <p:sp>
        <p:nvSpPr>
          <p:cNvPr id="35" name="Text 33"/>
          <p:cNvSpPr/>
          <p:nvPr/>
        </p:nvSpPr>
        <p:spPr>
          <a:xfrm>
            <a:off x="8670341" y="3236976"/>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D6E0EE"/>
                </a:solidFill>
                <a:latin typeface="맑은 고딕" pitchFamily="34" charset="0"/>
                <a:ea typeface="맑은 고딕" pitchFamily="34" charset="-122"/>
                <a:cs typeface="맑은 고딕" pitchFamily="34" charset="-120"/>
              </a:rPr>
              <a:t>원심관 바닥 축적량 약 0.2% 이상</a:t>
            </a:r>
            <a:endParaRPr lang="en-US" sz="1000" dirty="0"/>
          </a:p>
        </p:txBody>
      </p:sp>
      <p:sp>
        <p:nvSpPr>
          <p:cNvPr id="36" name="Shape 34"/>
          <p:cNvSpPr/>
          <p:nvPr/>
        </p:nvSpPr>
        <p:spPr>
          <a:xfrm>
            <a:off x="8450885" y="3721608"/>
            <a:ext cx="109728" cy="109728"/>
          </a:xfrm>
          <a:prstGeom prst="roundRect">
            <a:avLst>
              <a:gd name="adj" fmla="val 50000"/>
            </a:avLst>
          </a:prstGeom>
          <a:solidFill>
            <a:srgbClr val="E17B34"/>
          </a:solidFill>
          <a:ln w="12700">
            <a:solidFill>
              <a:srgbClr val="333333"/>
            </a:solidFill>
            <a:prstDash val="solid"/>
          </a:ln>
        </p:spPr>
      </p:sp>
      <p:sp>
        <p:nvSpPr>
          <p:cNvPr id="37" name="Text 35"/>
          <p:cNvSpPr/>
          <p:nvPr/>
        </p:nvSpPr>
        <p:spPr>
          <a:xfrm>
            <a:off x="8670341" y="3621024"/>
            <a:ext cx="2716682" cy="329184"/>
          </a:xfrm>
          <a:prstGeom prst="rect">
            <a:avLst/>
          </a:prstGeom>
          <a:noFill/>
          <a:ln/>
        </p:spPr>
        <p:txBody>
          <a:bodyPr wrap="square" lIns="0" tIns="0" rIns="0" bIns="0" rtlCol="0" anchor="ctr"/>
          <a:lstStyle/>
          <a:p>
            <a:pPr indent="0" marL="0">
              <a:lnSpc>
                <a:spcPts val="1300"/>
              </a:lnSpc>
              <a:buNone/>
            </a:pPr>
            <a:r>
              <a:rPr lang="en-US" sz="1000" dirty="0">
                <a:solidFill>
                  <a:srgbClr val="D6E0EE"/>
                </a:solidFill>
                <a:latin typeface="맑은 고딕" pitchFamily="34" charset="0"/>
                <a:ea typeface="맑은 고딕" pitchFamily="34" charset="-122"/>
                <a:cs typeface="맑은 고딕" pitchFamily="34" charset="-120"/>
              </a:rPr>
              <a:t>Alfa Laval · CIMAC 2023 Busan</a:t>
            </a:r>
            <a:endParaRPr lang="en-US" sz="1000" dirty="0"/>
          </a:p>
        </p:txBody>
      </p:sp>
      <p:sp>
        <p:nvSpPr>
          <p:cNvPr id="38" name="Shape 36"/>
          <p:cNvSpPr/>
          <p:nvPr/>
        </p:nvSpPr>
        <p:spPr>
          <a:xfrm>
            <a:off x="566928" y="4791456"/>
            <a:ext cx="11057839" cy="786384"/>
          </a:xfrm>
          <a:prstGeom prst="roundRect">
            <a:avLst>
              <a:gd name="adj" fmla="val 11628"/>
            </a:avLst>
          </a:prstGeom>
          <a:solidFill>
            <a:srgbClr val="1B3A5C"/>
          </a:solidFill>
          <a:ln w="12700">
            <a:solidFill>
              <a:srgbClr val="1B3A5C"/>
            </a:solidFill>
            <a:prstDash val="solid"/>
          </a:ln>
        </p:spPr>
      </p:sp>
      <p:sp>
        <p:nvSpPr>
          <p:cNvPr id="39" name="Text 37"/>
          <p:cNvSpPr/>
          <p:nvPr/>
        </p:nvSpPr>
        <p:spPr>
          <a:xfrm>
            <a:off x="795528" y="4791456"/>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TSP는 그날의 상태를 재고, Hot Spin Test는 앞으로 생길 슬러지를 잽니다.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40" name="Text 38"/>
          <p:cNvSpPr/>
          <p:nvPr/>
        </p:nvSpPr>
        <p:spPr>
          <a:xfrm>
            <a:off x="566928" y="5705856"/>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Viswa Group 2025 Table 3 · Fig 13 · CIMAC Congress 2023 Busan, Paper No. 014 (Alfa Laval)</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12   안정성 ②</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FuelPower Conditioner — 8개 항구 실측</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13</a:t>
            </a:r>
            <a:endParaRPr lang="en-US" sz="950" dirty="0"/>
          </a:p>
        </p:txBody>
      </p:sp>
      <p:sp>
        <p:nvSpPr>
          <p:cNvPr id="6" name="Shape 4"/>
          <p:cNvSpPr/>
          <p:nvPr/>
        </p:nvSpPr>
        <p:spPr>
          <a:xfrm>
            <a:off x="566928" y="1591056"/>
            <a:ext cx="6967728" cy="3127248"/>
          </a:xfrm>
          <a:prstGeom prst="roundRect">
            <a:avLst>
              <a:gd name="adj" fmla="val 4094"/>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04672" y="1792224"/>
            <a:ext cx="5120640"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HOT SPIN TEST — BEFORE vs AFTER ADDITIVE</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04672" y="2066544"/>
          <a:ext cx="6473952" cy="914400"/>
        </p:xfrm>
        <a:graphic>
          <a:graphicData uri="http://schemas.openxmlformats.org/drawingml/2006/table">
            <a:tbl>
              <a:tblPr/>
              <a:tblGrid>
                <a:gridCol w="1207008"/>
                <a:gridCol w="786384"/>
                <a:gridCol w="731520"/>
                <a:gridCol w="932688"/>
                <a:gridCol w="841248"/>
                <a:gridCol w="841248"/>
                <a:gridCol w="1133856"/>
              </a:tblGrid>
              <a:tr h="274320">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항구</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점도</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MCR</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분리온도</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Before</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After</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개선율</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3A5C"/>
                          </a:solidFill>
                          <a:latin typeface="맑은 고딕" pitchFamily="34" charset="0"/>
                          <a:ea typeface="맑은 고딕" pitchFamily="34" charset="-122"/>
                          <a:cs typeface="맑은 고딕" pitchFamily="34" charset="-120"/>
                        </a:rPr>
                        <a:t>Zeebrugge</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335.2</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11.6</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98 °C</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맑은 고딕" pitchFamily="34" charset="0"/>
                          <a:ea typeface="맑은 고딕" pitchFamily="34" charset="-122"/>
                          <a:cs typeface="맑은 고딕" pitchFamily="34" charset="-120"/>
                        </a:rPr>
                        <a:t>0.19</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0.13</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31.58%</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3A5C"/>
                          </a:solidFill>
                          <a:latin typeface="맑은 고딕" pitchFamily="34" charset="0"/>
                          <a:ea typeface="맑은 고딕" pitchFamily="34" charset="-122"/>
                          <a:cs typeface="맑은 고딕" pitchFamily="34" charset="-120"/>
                        </a:rPr>
                        <a:t>Tuapse</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18.9</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2.96</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40 °C</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맑은 고딕" pitchFamily="34" charset="0"/>
                          <a:ea typeface="맑은 고딕" pitchFamily="34" charset="-122"/>
                          <a:cs typeface="맑은 고딕" pitchFamily="34" charset="-120"/>
                        </a:rPr>
                        <a:t>0.24</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0.20</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16.67%</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3A5C"/>
                          </a:solidFill>
                          <a:latin typeface="맑은 고딕" pitchFamily="34" charset="0"/>
                          <a:ea typeface="맑은 고딕" pitchFamily="34" charset="-122"/>
                          <a:cs typeface="맑은 고딕" pitchFamily="34" charset="-120"/>
                        </a:rPr>
                        <a:t>Amsterdam</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206.6</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10.91</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98 °C</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맑은 고딕" pitchFamily="34" charset="0"/>
                          <a:ea typeface="맑은 고딕" pitchFamily="34" charset="-122"/>
                          <a:cs typeface="맑은 고딕" pitchFamily="34" charset="-120"/>
                        </a:rPr>
                        <a:t>0.15</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0.08</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46.67%</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3A5C"/>
                          </a:solidFill>
                          <a:latin typeface="맑은 고딕" pitchFamily="34" charset="0"/>
                          <a:ea typeface="맑은 고딕" pitchFamily="34" charset="-122"/>
                          <a:cs typeface="맑은 고딕" pitchFamily="34" charset="-120"/>
                        </a:rPr>
                        <a:t>Flushing</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239.7</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9.08</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98 °C</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맑은 고딕" pitchFamily="34" charset="0"/>
                          <a:ea typeface="맑은 고딕" pitchFamily="34" charset="-122"/>
                          <a:cs typeface="맑은 고딕" pitchFamily="34" charset="-120"/>
                        </a:rPr>
                        <a:t>0.13</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0.09</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30.77%</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3A5C"/>
                          </a:solidFill>
                          <a:latin typeface="맑은 고딕" pitchFamily="34" charset="0"/>
                          <a:ea typeface="맑은 고딕" pitchFamily="34" charset="-122"/>
                          <a:cs typeface="맑은 고딕" pitchFamily="34" charset="-120"/>
                        </a:rPr>
                        <a:t>Duqm</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230.7</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7.15</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98 °C</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맑은 고딕" pitchFamily="34" charset="0"/>
                          <a:ea typeface="맑은 고딕" pitchFamily="34" charset="-122"/>
                          <a:cs typeface="맑은 고딕" pitchFamily="34" charset="-120"/>
                        </a:rPr>
                        <a:t>0.33</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0.20</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39.39%</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3A5C"/>
                          </a:solidFill>
                          <a:latin typeface="맑은 고딕" pitchFamily="34" charset="0"/>
                          <a:ea typeface="맑은 고딕" pitchFamily="34" charset="-122"/>
                          <a:cs typeface="맑은 고딕" pitchFamily="34" charset="-120"/>
                        </a:rPr>
                        <a:t>Amsterdam</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314.4</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10.02</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98 °C</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맑은 고딕" pitchFamily="34" charset="0"/>
                          <a:ea typeface="맑은 고딕" pitchFamily="34" charset="-122"/>
                          <a:cs typeface="맑은 고딕" pitchFamily="34" charset="-120"/>
                        </a:rPr>
                        <a:t>0.16</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0.10</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37.50%</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3A5C"/>
                          </a:solidFill>
                          <a:latin typeface="맑은 고딕" pitchFamily="34" charset="0"/>
                          <a:ea typeface="맑은 고딕" pitchFamily="34" charset="-122"/>
                          <a:cs typeface="맑은 고딕" pitchFamily="34" charset="-120"/>
                        </a:rPr>
                        <a:t>Vlissingen</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242.8</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10.5</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98 °C</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맑은 고딕" pitchFamily="34" charset="0"/>
                          <a:ea typeface="맑은 고딕" pitchFamily="34" charset="-122"/>
                          <a:cs typeface="맑은 고딕" pitchFamily="34" charset="-120"/>
                        </a:rPr>
                        <a:t>0.13</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0.07</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46.15%</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r h="256032">
                <a:tc>
                  <a:txBody>
                    <a:bodyPr/>
                    <a:lstStyle/>
                    <a:p>
                      <a:pPr algn="l" indent="0" marL="0">
                        <a:buNone/>
                      </a:pPr>
                      <a:r>
                        <a:rPr lang="en-US" sz="950" b="1" dirty="0">
                          <a:solidFill>
                            <a:srgbClr val="1B3A5C"/>
                          </a:solidFill>
                          <a:latin typeface="맑은 고딕" pitchFamily="34" charset="0"/>
                          <a:ea typeface="맑은 고딕" pitchFamily="34" charset="-122"/>
                          <a:cs typeface="맑은 고딕" pitchFamily="34" charset="-120"/>
                        </a:rPr>
                        <a:t>Callao</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335.1</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8.84</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98 °C</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C0392B"/>
                          </a:solidFill>
                          <a:latin typeface="맑은 고딕" pitchFamily="34" charset="0"/>
                          <a:ea typeface="맑은 고딕" pitchFamily="34" charset="-122"/>
                          <a:cs typeface="맑은 고딕" pitchFamily="34" charset="-120"/>
                        </a:rPr>
                        <a:t>0.17</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B3A5C"/>
                          </a:solidFill>
                          <a:latin typeface="맑은 고딕" pitchFamily="34" charset="0"/>
                          <a:ea typeface="맑은 고딕" pitchFamily="34" charset="-122"/>
                          <a:cs typeface="맑은 고딕" pitchFamily="34" charset="-120"/>
                        </a:rPr>
                        <a:t>0.11</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35.29%</a:t>
                      </a:r>
                      <a:endParaRPr lang="en-US" sz="950" dirty="0">
                        <a:latin typeface="맑은 고딕" charset="0"/>
                        <a:ea typeface="맑은 고딕" charset="0"/>
                        <a:cs typeface="맑은 고딕" charset="0"/>
                      </a:endParaRPr>
                    </a:p>
                  </a:txBody>
                  <a:tcPr marL="25400" marR="25400" marT="25400" marB="25400" anchor="ctr">
                    <a:lnL w="7620" cap="flat" cmpd="sng" algn="ctr">
                      <a:solidFill>
                        <a:srgbClr val="DFE5F0"/>
                      </a:solidFill>
                      <a:prstDash val="solid"/>
                      <a:round/>
                      <a:headEnd type="none" w="med" len="med"/>
                      <a:tailEnd type="none" w="med" len="med"/>
                    </a:lnL>
                    <a:lnR w="7620" cap="flat" cmpd="sng" algn="ctr">
                      <a:solidFill>
                        <a:srgbClr val="DFE5F0"/>
                      </a:solidFill>
                      <a:prstDash val="solid"/>
                      <a:round/>
                      <a:headEnd type="none" w="med" len="med"/>
                      <a:tailEnd type="none" w="med" len="med"/>
                    </a:lnR>
                    <a:lnT w="7620" cap="flat" cmpd="sng" algn="ctr">
                      <a:solidFill>
                        <a:srgbClr val="DFE5F0"/>
                      </a:solidFill>
                      <a:prstDash val="solid"/>
                      <a:round/>
                      <a:headEnd type="none" w="med" len="med"/>
                      <a:tailEnd type="none" w="med" len="med"/>
                    </a:lnT>
                    <a:lnB w="7620" cap="flat" cmpd="sng" algn="ctr">
                      <a:solidFill>
                        <a:srgbClr val="DFE5F0"/>
                      </a:solidFill>
                      <a:prstDash val="solid"/>
                      <a:round/>
                      <a:headEnd type="none" w="med" len="med"/>
                      <a:tailEnd type="none" w="med" len="med"/>
                    </a:lnB>
                    <a:solidFill>
                      <a:srgbClr val="FFFFFF"/>
                    </a:solidFill>
                  </a:tcPr>
                </a:tc>
              </a:tr>
            </a:tbl>
          </a:graphicData>
        </a:graphic>
      </p:graphicFrame>
      <p:sp>
        <p:nvSpPr>
          <p:cNvPr id="9" name="Shape 6"/>
          <p:cNvSpPr/>
          <p:nvPr/>
        </p:nvSpPr>
        <p:spPr>
          <a:xfrm>
            <a:off x="804672" y="2066544"/>
            <a:ext cx="6473952" cy="274320"/>
          </a:xfrm>
          <a:prstGeom prst="rect">
            <a:avLst/>
          </a:prstGeom>
          <a:solidFill>
            <a:srgbClr val="1B3A5C"/>
          </a:solidFill>
          <a:ln w="12700">
            <a:solidFill>
              <a:srgbClr val="333333"/>
            </a:solidFill>
            <a:prstDash val="solid"/>
          </a:ln>
        </p:spPr>
      </p:sp>
      <p:sp>
        <p:nvSpPr>
          <p:cNvPr id="10" name="Text 7"/>
          <p:cNvSpPr/>
          <p:nvPr/>
        </p:nvSpPr>
        <p:spPr>
          <a:xfrm>
            <a:off x="804672" y="2066544"/>
            <a:ext cx="120700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항구</a:t>
            </a:r>
            <a:endParaRPr lang="en-US" sz="950" dirty="0"/>
          </a:p>
        </p:txBody>
      </p:sp>
      <p:sp>
        <p:nvSpPr>
          <p:cNvPr id="11" name="Text 8"/>
          <p:cNvSpPr/>
          <p:nvPr/>
        </p:nvSpPr>
        <p:spPr>
          <a:xfrm>
            <a:off x="2011680" y="2066544"/>
            <a:ext cx="786384"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점도</a:t>
            </a:r>
            <a:endParaRPr lang="en-US" sz="950" dirty="0"/>
          </a:p>
        </p:txBody>
      </p:sp>
      <p:sp>
        <p:nvSpPr>
          <p:cNvPr id="12" name="Text 9"/>
          <p:cNvSpPr/>
          <p:nvPr/>
        </p:nvSpPr>
        <p:spPr>
          <a:xfrm>
            <a:off x="2798064" y="2066544"/>
            <a:ext cx="7315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MCR</a:t>
            </a:r>
            <a:endParaRPr lang="en-US" sz="950" dirty="0"/>
          </a:p>
        </p:txBody>
      </p:sp>
      <p:sp>
        <p:nvSpPr>
          <p:cNvPr id="13" name="Text 10"/>
          <p:cNvSpPr/>
          <p:nvPr/>
        </p:nvSpPr>
        <p:spPr>
          <a:xfrm>
            <a:off x="3529584" y="2066544"/>
            <a:ext cx="93268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분리온도</a:t>
            </a:r>
            <a:endParaRPr lang="en-US" sz="950" dirty="0"/>
          </a:p>
        </p:txBody>
      </p:sp>
      <p:sp>
        <p:nvSpPr>
          <p:cNvPr id="14" name="Text 11"/>
          <p:cNvSpPr/>
          <p:nvPr/>
        </p:nvSpPr>
        <p:spPr>
          <a:xfrm>
            <a:off x="4462272" y="2066544"/>
            <a:ext cx="84124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Before</a:t>
            </a:r>
            <a:endParaRPr lang="en-US" sz="950" dirty="0"/>
          </a:p>
        </p:txBody>
      </p:sp>
      <p:sp>
        <p:nvSpPr>
          <p:cNvPr id="15" name="Text 12"/>
          <p:cNvSpPr/>
          <p:nvPr/>
        </p:nvSpPr>
        <p:spPr>
          <a:xfrm>
            <a:off x="5303520" y="2066544"/>
            <a:ext cx="841248"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After</a:t>
            </a:r>
            <a:endParaRPr lang="en-US" sz="950" dirty="0"/>
          </a:p>
        </p:txBody>
      </p:sp>
      <p:sp>
        <p:nvSpPr>
          <p:cNvPr id="16" name="Text 13"/>
          <p:cNvSpPr/>
          <p:nvPr/>
        </p:nvSpPr>
        <p:spPr>
          <a:xfrm>
            <a:off x="6144768" y="2066544"/>
            <a:ext cx="1133856"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개선율</a:t>
            </a:r>
            <a:endParaRPr lang="en-US" sz="950" dirty="0"/>
          </a:p>
        </p:txBody>
      </p:sp>
      <p:sp>
        <p:nvSpPr>
          <p:cNvPr id="17" name="Text 14"/>
          <p:cNvSpPr/>
          <p:nvPr/>
        </p:nvSpPr>
        <p:spPr>
          <a:xfrm>
            <a:off x="804672" y="4425696"/>
            <a:ext cx="6473952"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RMG380 · 점도 cSt @50°C · MCR % · Hot Spin 침전 % · Tuapse는 분리온도 40°C, 저점도 조건</a:t>
            </a:r>
            <a:endParaRPr lang="en-US" sz="850" dirty="0"/>
          </a:p>
        </p:txBody>
      </p:sp>
      <p:sp>
        <p:nvSpPr>
          <p:cNvPr id="18" name="Shape 15"/>
          <p:cNvSpPr/>
          <p:nvPr/>
        </p:nvSpPr>
        <p:spPr>
          <a:xfrm>
            <a:off x="7827264" y="1591056"/>
            <a:ext cx="3794760" cy="914400"/>
          </a:xfrm>
          <a:prstGeom prst="roundRect">
            <a:avLst>
              <a:gd name="adj" fmla="val 14000"/>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9" name="Text 16"/>
          <p:cNvSpPr/>
          <p:nvPr/>
        </p:nvSpPr>
        <p:spPr>
          <a:xfrm>
            <a:off x="8065008" y="1700784"/>
            <a:ext cx="3319272" cy="237744"/>
          </a:xfrm>
          <a:prstGeom prst="rect">
            <a:avLst/>
          </a:prstGeom>
          <a:noFill/>
          <a:ln/>
        </p:spPr>
        <p:txBody>
          <a:bodyPr wrap="square" lIns="0" tIns="0" rIns="0" bIns="0" rtlCol="0" anchor="ctr"/>
          <a:lstStyle/>
          <a:p>
            <a:pPr indent="0" marL="0">
              <a:buNone/>
            </a:pPr>
            <a:r>
              <a:rPr lang="en-US" sz="1050" b="1" dirty="0">
                <a:solidFill>
                  <a:srgbClr val="8A94A6"/>
                </a:solidFill>
                <a:latin typeface="맑은 고딕" pitchFamily="34" charset="0"/>
                <a:ea typeface="맑은 고딕" pitchFamily="34" charset="-122"/>
                <a:cs typeface="맑은 고딕" pitchFamily="34" charset="-120"/>
              </a:rPr>
              <a:t>평균 개선율</a:t>
            </a:r>
            <a:endParaRPr lang="en-US" sz="1050" dirty="0"/>
          </a:p>
        </p:txBody>
      </p:sp>
      <p:sp>
        <p:nvSpPr>
          <p:cNvPr id="20" name="Text 17"/>
          <p:cNvSpPr/>
          <p:nvPr/>
        </p:nvSpPr>
        <p:spPr>
          <a:xfrm>
            <a:off x="8065008" y="1956816"/>
            <a:ext cx="3319272" cy="438912"/>
          </a:xfrm>
          <a:prstGeom prst="rect">
            <a:avLst/>
          </a:prstGeom>
          <a:noFill/>
          <a:ln/>
        </p:spPr>
        <p:txBody>
          <a:bodyPr wrap="square" lIns="0" tIns="0" rIns="0" bIns="0" rtlCol="0" anchor="ctr"/>
          <a:lstStyle/>
          <a:p>
            <a:pPr indent="0" marL="0">
              <a:buNone/>
            </a:pPr>
            <a:r>
              <a:rPr lang="en-US" sz="3400" b="1" dirty="0">
                <a:solidFill>
                  <a:srgbClr val="2E5C8A"/>
                </a:solidFill>
                <a:latin typeface="맑은 고딕" pitchFamily="34" charset="0"/>
                <a:ea typeface="맑은 고딕" pitchFamily="34" charset="-122"/>
                <a:cs typeface="맑은 고딕" pitchFamily="34" charset="-120"/>
              </a:rPr>
              <a:t>35.5</a:t>
            </a:r>
            <a:pPr indent="0" marL="0">
              <a:buNone/>
            </a:pPr>
            <a:r>
              <a:rPr lang="en-US" sz="1600" b="1" dirty="0">
                <a:solidFill>
                  <a:srgbClr val="2E5C8A"/>
                </a:solidFill>
                <a:latin typeface="맑은 고딕" pitchFamily="34" charset="0"/>
                <a:ea typeface="맑은 고딕" pitchFamily="34" charset="-122"/>
                <a:cs typeface="맑은 고딕" pitchFamily="34" charset="-120"/>
              </a:rPr>
              <a:t> %</a:t>
            </a:r>
            <a:endParaRPr lang="en-US" sz="3400" dirty="0"/>
          </a:p>
        </p:txBody>
      </p:sp>
      <p:sp>
        <p:nvSpPr>
          <p:cNvPr id="21" name="Shape 18"/>
          <p:cNvSpPr/>
          <p:nvPr/>
        </p:nvSpPr>
        <p:spPr>
          <a:xfrm>
            <a:off x="7827264" y="2633472"/>
            <a:ext cx="3794760" cy="914400"/>
          </a:xfrm>
          <a:prstGeom prst="roundRect">
            <a:avLst>
              <a:gd name="adj" fmla="val 14000"/>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22" name="Text 19"/>
          <p:cNvSpPr/>
          <p:nvPr/>
        </p:nvSpPr>
        <p:spPr>
          <a:xfrm>
            <a:off x="8065008" y="2743200"/>
            <a:ext cx="3319272" cy="237744"/>
          </a:xfrm>
          <a:prstGeom prst="rect">
            <a:avLst/>
          </a:prstGeom>
          <a:noFill/>
          <a:ln/>
        </p:spPr>
        <p:txBody>
          <a:bodyPr wrap="square" lIns="0" tIns="0" rIns="0" bIns="0" rtlCol="0" anchor="ctr"/>
          <a:lstStyle/>
          <a:p>
            <a:pPr indent="0" marL="0">
              <a:buNone/>
            </a:pPr>
            <a:r>
              <a:rPr lang="en-US" sz="1050" b="1" dirty="0">
                <a:solidFill>
                  <a:srgbClr val="8A94A6"/>
                </a:solidFill>
                <a:latin typeface="맑은 고딕" pitchFamily="34" charset="0"/>
                <a:ea typeface="맑은 고딕" pitchFamily="34" charset="-122"/>
                <a:cs typeface="맑은 고딕" pitchFamily="34" charset="-120"/>
              </a:rPr>
              <a:t>최고 개선율</a:t>
            </a:r>
            <a:endParaRPr lang="en-US" sz="1050" dirty="0"/>
          </a:p>
        </p:txBody>
      </p:sp>
      <p:sp>
        <p:nvSpPr>
          <p:cNvPr id="23" name="Text 20"/>
          <p:cNvSpPr/>
          <p:nvPr/>
        </p:nvSpPr>
        <p:spPr>
          <a:xfrm>
            <a:off x="8065008" y="2999232"/>
            <a:ext cx="3319272" cy="438912"/>
          </a:xfrm>
          <a:prstGeom prst="rect">
            <a:avLst/>
          </a:prstGeom>
          <a:noFill/>
          <a:ln/>
        </p:spPr>
        <p:txBody>
          <a:bodyPr wrap="square" lIns="0" tIns="0" rIns="0" bIns="0" rtlCol="0" anchor="ctr"/>
          <a:lstStyle/>
          <a:p>
            <a:pPr indent="0" marL="0">
              <a:buNone/>
            </a:pPr>
            <a:r>
              <a:rPr lang="en-US" sz="3400" b="1" dirty="0">
                <a:solidFill>
                  <a:srgbClr val="2E7D5B"/>
                </a:solidFill>
                <a:latin typeface="맑은 고딕" pitchFamily="34" charset="0"/>
                <a:ea typeface="맑은 고딕" pitchFamily="34" charset="-122"/>
                <a:cs typeface="맑은 고딕" pitchFamily="34" charset="-120"/>
              </a:rPr>
              <a:t>46.67</a:t>
            </a:r>
            <a:pPr indent="0" marL="0">
              <a:buNone/>
            </a:pPr>
            <a:r>
              <a:rPr lang="en-US" sz="1600" b="1" dirty="0">
                <a:solidFill>
                  <a:srgbClr val="2E7D5B"/>
                </a:solidFill>
                <a:latin typeface="맑은 고딕" pitchFamily="34" charset="0"/>
                <a:ea typeface="맑은 고딕" pitchFamily="34" charset="-122"/>
                <a:cs typeface="맑은 고딕" pitchFamily="34" charset="-120"/>
              </a:rPr>
              <a:t> %</a:t>
            </a:r>
            <a:endParaRPr lang="en-US" sz="3400" dirty="0"/>
          </a:p>
        </p:txBody>
      </p:sp>
      <p:sp>
        <p:nvSpPr>
          <p:cNvPr id="24" name="Shape 21"/>
          <p:cNvSpPr/>
          <p:nvPr/>
        </p:nvSpPr>
        <p:spPr>
          <a:xfrm>
            <a:off x="7827264" y="3675888"/>
            <a:ext cx="3794760" cy="1042416"/>
          </a:xfrm>
          <a:prstGeom prst="roundRect">
            <a:avLst>
              <a:gd name="adj" fmla="val 12281"/>
            </a:avLst>
          </a:prstGeom>
          <a:solidFill>
            <a:srgbClr val="1B3A5C"/>
          </a:solidFill>
          <a:ln w="9525">
            <a:solidFill>
              <a:srgbClr val="1B3A5C"/>
            </a:solidFill>
            <a:prstDash val="solid"/>
          </a:ln>
          <a:effectLst>
            <a:outerShdw sx="100000" sy="100000" kx="0" ky="0" algn="bl" rotWithShape="0" blurRad="127000" dist="25400" dir="5400000">
              <a:srgbClr val="9BAAC4">
                <a:alpha val="22000"/>
              </a:srgbClr>
            </a:outerShdw>
          </a:effectLst>
        </p:spPr>
      </p:sp>
      <p:sp>
        <p:nvSpPr>
          <p:cNvPr id="25" name="Text 22"/>
          <p:cNvSpPr/>
          <p:nvPr/>
        </p:nvSpPr>
        <p:spPr>
          <a:xfrm>
            <a:off x="8065008" y="3840480"/>
            <a:ext cx="3319272" cy="256032"/>
          </a:xfrm>
          <a:prstGeom prst="rect">
            <a:avLst/>
          </a:prstGeom>
          <a:noFill/>
          <a:ln/>
        </p:spPr>
        <p:txBody>
          <a:bodyPr wrap="square" lIns="0" tIns="0" rIns="0" bIns="0" rtlCol="0" anchor="ctr"/>
          <a:lstStyle/>
          <a:p>
            <a:pPr indent="0" marL="0">
              <a:buNone/>
            </a:pPr>
            <a:r>
              <a:rPr lang="en-US" sz="1000" b="1" spc="140" kern="0" dirty="0">
                <a:solidFill>
                  <a:srgbClr val="E17B34"/>
                </a:solidFill>
                <a:latin typeface="맑은 고딕" pitchFamily="34" charset="0"/>
                <a:ea typeface="맑은 고딕" pitchFamily="34" charset="-122"/>
                <a:cs typeface="맑은 고딕" pitchFamily="34" charset="-120"/>
              </a:rPr>
              <a:t>LLOYD'S REGISTER FOBAS</a:t>
            </a:r>
            <a:endParaRPr lang="en-US" sz="1000" dirty="0"/>
          </a:p>
        </p:txBody>
      </p:sp>
      <p:sp>
        <p:nvSpPr>
          <p:cNvPr id="26" name="Text 23"/>
          <p:cNvSpPr/>
          <p:nvPr/>
        </p:nvSpPr>
        <p:spPr>
          <a:xfrm>
            <a:off x="8065008" y="4114800"/>
            <a:ext cx="3319272" cy="475488"/>
          </a:xfrm>
          <a:prstGeom prst="rect">
            <a:avLst/>
          </a:prstGeom>
          <a:noFill/>
          <a:ln/>
        </p:spPr>
        <p:txBody>
          <a:bodyPr wrap="square" lIns="0" tIns="0" rIns="0" bIns="0" rtlCol="0" anchor="ctr"/>
          <a:lstStyle/>
          <a:p>
            <a:pPr indent="0" marL="0">
              <a:lnSpc>
                <a:spcPts val="1500"/>
              </a:lnSpc>
              <a:buNone/>
            </a:pPr>
            <a:r>
              <a:rPr lang="en-US" sz="1100" b="1" dirty="0">
                <a:solidFill>
                  <a:srgbClr val="FFFFFF"/>
                </a:solidFill>
                <a:latin typeface="맑은 고딕" pitchFamily="34" charset="0"/>
                <a:ea typeface="맑은 고딕" pitchFamily="34" charset="-122"/>
                <a:cs typeface="맑은 고딕" pitchFamily="34" charset="-120"/>
              </a:rPr>
              <a:t>Additive Performance</a:t>
            </a:r>
            <a:endParaRPr lang="en-US" sz="1100" dirty="0"/>
          </a:p>
          <a:p>
            <a:pPr indent="0" marL="0">
              <a:lnSpc>
                <a:spcPts val="1500"/>
              </a:lnSpc>
              <a:buNone/>
            </a:pPr>
            <a:r>
              <a:rPr lang="en-US" sz="1100" b="1" dirty="0">
                <a:solidFill>
                  <a:srgbClr val="FFFFFF"/>
                </a:solidFill>
                <a:latin typeface="맑은 고딕" pitchFamily="34" charset="0"/>
                <a:ea typeface="맑은 고딕" pitchFamily="34" charset="-122"/>
                <a:cs typeface="맑은 고딕" pitchFamily="34" charset="-120"/>
              </a:rPr>
              <a:t>Certification Scheme 검증</a:t>
            </a:r>
            <a:endParaRPr lang="en-US" sz="1100" dirty="0"/>
          </a:p>
        </p:txBody>
      </p:sp>
      <p:sp>
        <p:nvSpPr>
          <p:cNvPr id="27" name="Shape 24"/>
          <p:cNvSpPr/>
          <p:nvPr/>
        </p:nvSpPr>
        <p:spPr>
          <a:xfrm>
            <a:off x="566928" y="4901184"/>
            <a:ext cx="11057839" cy="786384"/>
          </a:xfrm>
          <a:prstGeom prst="roundRect">
            <a:avLst>
              <a:gd name="adj" fmla="val 11628"/>
            </a:avLst>
          </a:prstGeom>
          <a:solidFill>
            <a:srgbClr val="1B3A5C"/>
          </a:solidFill>
          <a:ln w="12700">
            <a:solidFill>
              <a:srgbClr val="1B3A5C"/>
            </a:solidFill>
            <a:prstDash val="solid"/>
          </a:ln>
        </p:spPr>
      </p:sp>
      <p:sp>
        <p:nvSpPr>
          <p:cNvPr id="28" name="Text 25"/>
          <p:cNvSpPr/>
          <p:nvPr/>
        </p:nvSpPr>
        <p:spPr>
          <a:xfrm>
            <a:off x="795528" y="4901184"/>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8개 항구 RMG380 실측에서 Hot Spin 침전이 평균 35.5% 줄었습니다. 제3자 검증을 거친 수치입니다.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29" name="Text 26"/>
          <p:cNvSpPr/>
          <p:nvPr/>
        </p:nvSpPr>
        <p:spPr>
          <a:xfrm>
            <a:off x="566928" y="5815584"/>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Wilhelmsen Ships Service 사내 실측 데이터 (Hot Spin, 분리온도 40 · 98°C) · Lloyd's Register FOBAS 인증</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13   안정성 ③</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아스팔텐을 흩어놓습니다</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14</a:t>
            </a:r>
            <a:endParaRPr lang="en-US" sz="950" dirty="0"/>
          </a:p>
        </p:txBody>
      </p:sp>
      <p:sp>
        <p:nvSpPr>
          <p:cNvPr id="6" name="Shape 4"/>
          <p:cNvSpPr/>
          <p:nvPr/>
        </p:nvSpPr>
        <p:spPr>
          <a:xfrm>
            <a:off x="566928" y="1591056"/>
            <a:ext cx="5029200" cy="2487168"/>
          </a:xfrm>
          <a:prstGeom prst="roundRect">
            <a:avLst>
              <a:gd name="adj" fmla="val 514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22960" y="1792224"/>
            <a:ext cx="2743200" cy="219456"/>
          </a:xfrm>
          <a:prstGeom prst="rect">
            <a:avLst/>
          </a:prstGeom>
          <a:noFill/>
          <a:ln/>
        </p:spPr>
        <p:txBody>
          <a:bodyPr wrap="square" lIns="0" tIns="0" rIns="0" bIns="0" rtlCol="0" anchor="ctr"/>
          <a:lstStyle/>
          <a:p>
            <a:pPr indent="0" marL="0">
              <a:buNone/>
            </a:pPr>
            <a:r>
              <a:rPr lang="en-US" sz="950" b="1" spc="180" kern="0" dirty="0">
                <a:solidFill>
                  <a:srgbClr val="C0392B"/>
                </a:solidFill>
                <a:latin typeface="맑은 고딕" pitchFamily="34" charset="0"/>
                <a:ea typeface="맑은 고딕" pitchFamily="34" charset="-122"/>
                <a:cs typeface="맑은 고딕" pitchFamily="34" charset="-120"/>
              </a:rPr>
              <a:t>UNTREATED — 응집</a:t>
            </a:r>
            <a:endParaRPr lang="en-US" sz="950" dirty="0"/>
          </a:p>
        </p:txBody>
      </p:sp>
      <p:sp>
        <p:nvSpPr>
          <p:cNvPr id="8" name="Shape 6"/>
          <p:cNvSpPr/>
          <p:nvPr/>
        </p:nvSpPr>
        <p:spPr>
          <a:xfrm>
            <a:off x="822960" y="2066544"/>
            <a:ext cx="4517136" cy="1554480"/>
          </a:xfrm>
          <a:prstGeom prst="roundRect">
            <a:avLst>
              <a:gd name="adj" fmla="val 4706"/>
            </a:avLst>
          </a:prstGeom>
          <a:solidFill>
            <a:srgbClr val="FBF2EE"/>
          </a:solidFill>
          <a:ln w="9525">
            <a:solidFill>
              <a:srgbClr val="EBD9D2"/>
            </a:solidFill>
            <a:prstDash val="solid"/>
          </a:ln>
        </p:spPr>
      </p:sp>
      <p:sp>
        <p:nvSpPr>
          <p:cNvPr id="9" name="Shape 7"/>
          <p:cNvSpPr/>
          <p:nvPr/>
        </p:nvSpPr>
        <p:spPr>
          <a:xfrm>
            <a:off x="1463040" y="2523744"/>
            <a:ext cx="274320" cy="274320"/>
          </a:xfrm>
          <a:prstGeom prst="roundRect">
            <a:avLst>
              <a:gd name="adj" fmla="val 50000"/>
            </a:avLst>
          </a:prstGeom>
          <a:solidFill>
            <a:srgbClr val="6B4A3A"/>
          </a:solidFill>
          <a:ln w="12700">
            <a:solidFill>
              <a:srgbClr val="333333"/>
            </a:solidFill>
            <a:prstDash val="solid"/>
          </a:ln>
        </p:spPr>
      </p:sp>
      <p:sp>
        <p:nvSpPr>
          <p:cNvPr id="10" name="Shape 8"/>
          <p:cNvSpPr/>
          <p:nvPr/>
        </p:nvSpPr>
        <p:spPr>
          <a:xfrm>
            <a:off x="2560320" y="3026664"/>
            <a:ext cx="310896" cy="310896"/>
          </a:xfrm>
          <a:prstGeom prst="roundRect">
            <a:avLst>
              <a:gd name="adj" fmla="val 50000"/>
            </a:avLst>
          </a:prstGeom>
          <a:solidFill>
            <a:srgbClr val="6B4A3A"/>
          </a:solidFill>
          <a:ln w="12700">
            <a:solidFill>
              <a:srgbClr val="333333"/>
            </a:solidFill>
            <a:prstDash val="solid"/>
          </a:ln>
        </p:spPr>
      </p:sp>
      <p:sp>
        <p:nvSpPr>
          <p:cNvPr id="11" name="Shape 9"/>
          <p:cNvSpPr/>
          <p:nvPr/>
        </p:nvSpPr>
        <p:spPr>
          <a:xfrm>
            <a:off x="3703320" y="2450592"/>
            <a:ext cx="237744" cy="237744"/>
          </a:xfrm>
          <a:prstGeom prst="roundRect">
            <a:avLst>
              <a:gd name="adj" fmla="val 50000"/>
            </a:avLst>
          </a:prstGeom>
          <a:solidFill>
            <a:srgbClr val="6B4A3A"/>
          </a:solidFill>
          <a:ln w="12700">
            <a:solidFill>
              <a:srgbClr val="333333"/>
            </a:solidFill>
            <a:prstDash val="solid"/>
          </a:ln>
        </p:spPr>
      </p:sp>
      <p:sp>
        <p:nvSpPr>
          <p:cNvPr id="12" name="Shape 10"/>
          <p:cNvSpPr/>
          <p:nvPr/>
        </p:nvSpPr>
        <p:spPr>
          <a:xfrm>
            <a:off x="4389120" y="3072384"/>
            <a:ext cx="274320" cy="274320"/>
          </a:xfrm>
          <a:prstGeom prst="roundRect">
            <a:avLst>
              <a:gd name="adj" fmla="val 50000"/>
            </a:avLst>
          </a:prstGeom>
          <a:solidFill>
            <a:srgbClr val="6B4A3A"/>
          </a:solidFill>
          <a:ln w="12700">
            <a:solidFill>
              <a:srgbClr val="333333"/>
            </a:solidFill>
            <a:prstDash val="solid"/>
          </a:ln>
        </p:spPr>
      </p:sp>
      <p:sp>
        <p:nvSpPr>
          <p:cNvPr id="13" name="Shape 11"/>
          <p:cNvSpPr/>
          <p:nvPr/>
        </p:nvSpPr>
        <p:spPr>
          <a:xfrm>
            <a:off x="3200400" y="3300984"/>
            <a:ext cx="201168" cy="201168"/>
          </a:xfrm>
          <a:prstGeom prst="roundRect">
            <a:avLst>
              <a:gd name="adj" fmla="val 50000"/>
            </a:avLst>
          </a:prstGeom>
          <a:solidFill>
            <a:srgbClr val="6B4A3A"/>
          </a:solidFill>
          <a:ln w="12700">
            <a:solidFill>
              <a:srgbClr val="333333"/>
            </a:solidFill>
            <a:prstDash val="solid"/>
          </a:ln>
        </p:spPr>
      </p:sp>
      <p:sp>
        <p:nvSpPr>
          <p:cNvPr id="14" name="Shape 12"/>
          <p:cNvSpPr/>
          <p:nvPr/>
        </p:nvSpPr>
        <p:spPr>
          <a:xfrm>
            <a:off x="1874520" y="3364992"/>
            <a:ext cx="182880" cy="182880"/>
          </a:xfrm>
          <a:prstGeom prst="roundRect">
            <a:avLst>
              <a:gd name="adj" fmla="val 50000"/>
            </a:avLst>
          </a:prstGeom>
          <a:solidFill>
            <a:srgbClr val="6B4A3A"/>
          </a:solidFill>
          <a:ln w="12700">
            <a:solidFill>
              <a:srgbClr val="333333"/>
            </a:solidFill>
            <a:prstDash val="solid"/>
          </a:ln>
        </p:spPr>
      </p:sp>
      <p:sp>
        <p:nvSpPr>
          <p:cNvPr id="15" name="Shape 13"/>
          <p:cNvSpPr/>
          <p:nvPr/>
        </p:nvSpPr>
        <p:spPr>
          <a:xfrm>
            <a:off x="4800600" y="2569464"/>
            <a:ext cx="219456" cy="219456"/>
          </a:xfrm>
          <a:prstGeom prst="roundRect">
            <a:avLst>
              <a:gd name="adj" fmla="val 50000"/>
            </a:avLst>
          </a:prstGeom>
          <a:solidFill>
            <a:srgbClr val="6B4A3A"/>
          </a:solidFill>
          <a:ln w="12700">
            <a:solidFill>
              <a:srgbClr val="333333"/>
            </a:solidFill>
            <a:prstDash val="solid"/>
          </a:ln>
        </p:spPr>
      </p:sp>
      <p:sp>
        <p:nvSpPr>
          <p:cNvPr id="16" name="Text 14"/>
          <p:cNvSpPr/>
          <p:nvPr/>
        </p:nvSpPr>
        <p:spPr>
          <a:xfrm>
            <a:off x="822960" y="3675888"/>
            <a:ext cx="4517136" cy="237744"/>
          </a:xfrm>
          <a:prstGeom prst="rect">
            <a:avLst/>
          </a:prstGeom>
          <a:noFill/>
          <a:ln/>
        </p:spPr>
        <p:txBody>
          <a:bodyPr wrap="square" lIns="0" tIns="0" rIns="0" bIns="0" rtlCol="0" anchor="ctr"/>
          <a:lstStyle/>
          <a:p>
            <a:pPr indent="0" marL="0">
              <a:buNone/>
            </a:pPr>
            <a:r>
              <a:rPr lang="en-US" sz="1050" b="1" dirty="0">
                <a:solidFill>
                  <a:srgbClr val="C0392B"/>
                </a:solidFill>
                <a:latin typeface="맑은 고딕" pitchFamily="34" charset="0"/>
                <a:ea typeface="맑은 고딕" pitchFamily="34" charset="-122"/>
                <a:cs typeface="맑은 고딕" pitchFamily="34" charset="-120"/>
              </a:rPr>
              <a:t>입자가 뭉쳐 침전 → 정유기 · 필터 막힘</a:t>
            </a:r>
            <a:endParaRPr lang="en-US" sz="1050" dirty="0"/>
          </a:p>
        </p:txBody>
      </p:sp>
      <p:sp>
        <p:nvSpPr>
          <p:cNvPr id="17" name="Shape 15"/>
          <p:cNvSpPr/>
          <p:nvPr/>
        </p:nvSpPr>
        <p:spPr>
          <a:xfrm>
            <a:off x="5888736" y="1591056"/>
            <a:ext cx="5029200" cy="2487168"/>
          </a:xfrm>
          <a:prstGeom prst="roundRect">
            <a:avLst>
              <a:gd name="adj" fmla="val 514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8" name="Text 16"/>
          <p:cNvSpPr/>
          <p:nvPr/>
        </p:nvSpPr>
        <p:spPr>
          <a:xfrm>
            <a:off x="6144768" y="1792224"/>
            <a:ext cx="2926080" cy="219456"/>
          </a:xfrm>
          <a:prstGeom prst="rect">
            <a:avLst/>
          </a:prstGeom>
          <a:noFill/>
          <a:ln/>
        </p:spPr>
        <p:txBody>
          <a:bodyPr wrap="square" lIns="0" tIns="0" rIns="0" bIns="0" rtlCol="0" anchor="ctr"/>
          <a:lstStyle/>
          <a:p>
            <a:pPr indent="0" marL="0">
              <a:buNone/>
            </a:pPr>
            <a:r>
              <a:rPr lang="en-US" sz="950" b="1" spc="180" kern="0" dirty="0">
                <a:solidFill>
                  <a:srgbClr val="2E7D5B"/>
                </a:solidFill>
                <a:latin typeface="맑은 고딕" pitchFamily="34" charset="0"/>
                <a:ea typeface="맑은 고딕" pitchFamily="34" charset="-122"/>
                <a:cs typeface="맑은 고딕" pitchFamily="34" charset="-120"/>
              </a:rPr>
              <a:t>TREATED — 미세 분산</a:t>
            </a:r>
            <a:endParaRPr lang="en-US" sz="950" dirty="0"/>
          </a:p>
        </p:txBody>
      </p:sp>
      <p:sp>
        <p:nvSpPr>
          <p:cNvPr id="19" name="Shape 17"/>
          <p:cNvSpPr/>
          <p:nvPr/>
        </p:nvSpPr>
        <p:spPr>
          <a:xfrm>
            <a:off x="6144768" y="2066544"/>
            <a:ext cx="4517136" cy="1554480"/>
          </a:xfrm>
          <a:prstGeom prst="roundRect">
            <a:avLst>
              <a:gd name="adj" fmla="val 4706"/>
            </a:avLst>
          </a:prstGeom>
          <a:solidFill>
            <a:srgbClr val="F0F6F3"/>
          </a:solidFill>
          <a:ln w="9525">
            <a:solidFill>
              <a:srgbClr val="D6E7DF"/>
            </a:solidFill>
            <a:prstDash val="solid"/>
          </a:ln>
        </p:spPr>
      </p:sp>
      <p:sp>
        <p:nvSpPr>
          <p:cNvPr id="20" name="Shape 18"/>
          <p:cNvSpPr/>
          <p:nvPr/>
        </p:nvSpPr>
        <p:spPr>
          <a:xfrm>
            <a:off x="6309360" y="2212848"/>
            <a:ext cx="68580" cy="68580"/>
          </a:xfrm>
          <a:prstGeom prst="roundRect">
            <a:avLst>
              <a:gd name="adj" fmla="val 50000"/>
            </a:avLst>
          </a:prstGeom>
          <a:solidFill>
            <a:srgbClr val="8A6B58"/>
          </a:solidFill>
          <a:ln w="12700">
            <a:solidFill>
              <a:srgbClr val="333333"/>
            </a:solidFill>
            <a:prstDash val="solid"/>
          </a:ln>
        </p:spPr>
      </p:sp>
      <p:sp>
        <p:nvSpPr>
          <p:cNvPr id="21" name="Shape 19"/>
          <p:cNvSpPr/>
          <p:nvPr/>
        </p:nvSpPr>
        <p:spPr>
          <a:xfrm>
            <a:off x="6615684" y="2212848"/>
            <a:ext cx="68580" cy="68580"/>
          </a:xfrm>
          <a:prstGeom prst="roundRect">
            <a:avLst>
              <a:gd name="adj" fmla="val 50000"/>
            </a:avLst>
          </a:prstGeom>
          <a:solidFill>
            <a:srgbClr val="8A6B58"/>
          </a:solidFill>
          <a:ln w="12700">
            <a:solidFill>
              <a:srgbClr val="333333"/>
            </a:solidFill>
            <a:prstDash val="solid"/>
          </a:ln>
        </p:spPr>
      </p:sp>
      <p:sp>
        <p:nvSpPr>
          <p:cNvPr id="22" name="Shape 20"/>
          <p:cNvSpPr/>
          <p:nvPr/>
        </p:nvSpPr>
        <p:spPr>
          <a:xfrm>
            <a:off x="6922008" y="2212848"/>
            <a:ext cx="68580" cy="68580"/>
          </a:xfrm>
          <a:prstGeom prst="roundRect">
            <a:avLst>
              <a:gd name="adj" fmla="val 50000"/>
            </a:avLst>
          </a:prstGeom>
          <a:solidFill>
            <a:srgbClr val="8A6B58"/>
          </a:solidFill>
          <a:ln w="12700">
            <a:solidFill>
              <a:srgbClr val="333333"/>
            </a:solidFill>
            <a:prstDash val="solid"/>
          </a:ln>
        </p:spPr>
      </p:sp>
      <p:sp>
        <p:nvSpPr>
          <p:cNvPr id="23" name="Shape 21"/>
          <p:cNvSpPr/>
          <p:nvPr/>
        </p:nvSpPr>
        <p:spPr>
          <a:xfrm>
            <a:off x="7228332" y="2212848"/>
            <a:ext cx="68580" cy="68580"/>
          </a:xfrm>
          <a:prstGeom prst="roundRect">
            <a:avLst>
              <a:gd name="adj" fmla="val 50000"/>
            </a:avLst>
          </a:prstGeom>
          <a:solidFill>
            <a:srgbClr val="8A6B58"/>
          </a:solidFill>
          <a:ln w="12700">
            <a:solidFill>
              <a:srgbClr val="333333"/>
            </a:solidFill>
            <a:prstDash val="solid"/>
          </a:ln>
        </p:spPr>
      </p:sp>
      <p:sp>
        <p:nvSpPr>
          <p:cNvPr id="24" name="Shape 22"/>
          <p:cNvSpPr/>
          <p:nvPr/>
        </p:nvSpPr>
        <p:spPr>
          <a:xfrm>
            <a:off x="7534656" y="2212848"/>
            <a:ext cx="68580" cy="68580"/>
          </a:xfrm>
          <a:prstGeom prst="roundRect">
            <a:avLst>
              <a:gd name="adj" fmla="val 50000"/>
            </a:avLst>
          </a:prstGeom>
          <a:solidFill>
            <a:srgbClr val="8A6B58"/>
          </a:solidFill>
          <a:ln w="12700">
            <a:solidFill>
              <a:srgbClr val="333333"/>
            </a:solidFill>
            <a:prstDash val="solid"/>
          </a:ln>
        </p:spPr>
      </p:sp>
      <p:sp>
        <p:nvSpPr>
          <p:cNvPr id="25" name="Shape 23"/>
          <p:cNvSpPr/>
          <p:nvPr/>
        </p:nvSpPr>
        <p:spPr>
          <a:xfrm>
            <a:off x="7840980" y="2212848"/>
            <a:ext cx="68580" cy="68580"/>
          </a:xfrm>
          <a:prstGeom prst="roundRect">
            <a:avLst>
              <a:gd name="adj" fmla="val 50000"/>
            </a:avLst>
          </a:prstGeom>
          <a:solidFill>
            <a:srgbClr val="8A6B58"/>
          </a:solidFill>
          <a:ln w="12700">
            <a:solidFill>
              <a:srgbClr val="333333"/>
            </a:solidFill>
            <a:prstDash val="solid"/>
          </a:ln>
        </p:spPr>
      </p:sp>
      <p:sp>
        <p:nvSpPr>
          <p:cNvPr id="26" name="Shape 24"/>
          <p:cNvSpPr/>
          <p:nvPr/>
        </p:nvSpPr>
        <p:spPr>
          <a:xfrm>
            <a:off x="8147304" y="2212848"/>
            <a:ext cx="68580" cy="68580"/>
          </a:xfrm>
          <a:prstGeom prst="roundRect">
            <a:avLst>
              <a:gd name="adj" fmla="val 50000"/>
            </a:avLst>
          </a:prstGeom>
          <a:solidFill>
            <a:srgbClr val="8A6B58"/>
          </a:solidFill>
          <a:ln w="12700">
            <a:solidFill>
              <a:srgbClr val="333333"/>
            </a:solidFill>
            <a:prstDash val="solid"/>
          </a:ln>
        </p:spPr>
      </p:sp>
      <p:sp>
        <p:nvSpPr>
          <p:cNvPr id="27" name="Shape 25"/>
          <p:cNvSpPr/>
          <p:nvPr/>
        </p:nvSpPr>
        <p:spPr>
          <a:xfrm>
            <a:off x="8453628" y="2212848"/>
            <a:ext cx="68580" cy="68580"/>
          </a:xfrm>
          <a:prstGeom prst="roundRect">
            <a:avLst>
              <a:gd name="adj" fmla="val 50000"/>
            </a:avLst>
          </a:prstGeom>
          <a:solidFill>
            <a:srgbClr val="8A6B58"/>
          </a:solidFill>
          <a:ln w="12700">
            <a:solidFill>
              <a:srgbClr val="333333"/>
            </a:solidFill>
            <a:prstDash val="solid"/>
          </a:ln>
        </p:spPr>
      </p:sp>
      <p:sp>
        <p:nvSpPr>
          <p:cNvPr id="28" name="Shape 26"/>
          <p:cNvSpPr/>
          <p:nvPr/>
        </p:nvSpPr>
        <p:spPr>
          <a:xfrm>
            <a:off x="8759952" y="2212848"/>
            <a:ext cx="68580" cy="68580"/>
          </a:xfrm>
          <a:prstGeom prst="roundRect">
            <a:avLst>
              <a:gd name="adj" fmla="val 50000"/>
            </a:avLst>
          </a:prstGeom>
          <a:solidFill>
            <a:srgbClr val="8A6B58"/>
          </a:solidFill>
          <a:ln w="12700">
            <a:solidFill>
              <a:srgbClr val="333333"/>
            </a:solidFill>
            <a:prstDash val="solid"/>
          </a:ln>
        </p:spPr>
      </p:sp>
      <p:sp>
        <p:nvSpPr>
          <p:cNvPr id="29" name="Shape 27"/>
          <p:cNvSpPr/>
          <p:nvPr/>
        </p:nvSpPr>
        <p:spPr>
          <a:xfrm>
            <a:off x="9066276" y="2212848"/>
            <a:ext cx="68580" cy="68580"/>
          </a:xfrm>
          <a:prstGeom prst="roundRect">
            <a:avLst>
              <a:gd name="adj" fmla="val 50000"/>
            </a:avLst>
          </a:prstGeom>
          <a:solidFill>
            <a:srgbClr val="8A6B58"/>
          </a:solidFill>
          <a:ln w="12700">
            <a:solidFill>
              <a:srgbClr val="333333"/>
            </a:solidFill>
            <a:prstDash val="solid"/>
          </a:ln>
        </p:spPr>
      </p:sp>
      <p:sp>
        <p:nvSpPr>
          <p:cNvPr id="30" name="Shape 28"/>
          <p:cNvSpPr/>
          <p:nvPr/>
        </p:nvSpPr>
        <p:spPr>
          <a:xfrm>
            <a:off x="9372600" y="2212848"/>
            <a:ext cx="68580" cy="68580"/>
          </a:xfrm>
          <a:prstGeom prst="roundRect">
            <a:avLst>
              <a:gd name="adj" fmla="val 50000"/>
            </a:avLst>
          </a:prstGeom>
          <a:solidFill>
            <a:srgbClr val="8A6B58"/>
          </a:solidFill>
          <a:ln w="12700">
            <a:solidFill>
              <a:srgbClr val="333333"/>
            </a:solidFill>
            <a:prstDash val="solid"/>
          </a:ln>
        </p:spPr>
      </p:sp>
      <p:sp>
        <p:nvSpPr>
          <p:cNvPr id="31" name="Shape 29"/>
          <p:cNvSpPr/>
          <p:nvPr/>
        </p:nvSpPr>
        <p:spPr>
          <a:xfrm>
            <a:off x="9678924" y="2212848"/>
            <a:ext cx="68580" cy="68580"/>
          </a:xfrm>
          <a:prstGeom prst="roundRect">
            <a:avLst>
              <a:gd name="adj" fmla="val 50000"/>
            </a:avLst>
          </a:prstGeom>
          <a:solidFill>
            <a:srgbClr val="8A6B58"/>
          </a:solidFill>
          <a:ln w="12700">
            <a:solidFill>
              <a:srgbClr val="333333"/>
            </a:solidFill>
            <a:prstDash val="solid"/>
          </a:ln>
        </p:spPr>
      </p:sp>
      <p:sp>
        <p:nvSpPr>
          <p:cNvPr id="32" name="Shape 30"/>
          <p:cNvSpPr/>
          <p:nvPr/>
        </p:nvSpPr>
        <p:spPr>
          <a:xfrm>
            <a:off x="9985248" y="2212848"/>
            <a:ext cx="68580" cy="68580"/>
          </a:xfrm>
          <a:prstGeom prst="roundRect">
            <a:avLst>
              <a:gd name="adj" fmla="val 50000"/>
            </a:avLst>
          </a:prstGeom>
          <a:solidFill>
            <a:srgbClr val="8A6B58"/>
          </a:solidFill>
          <a:ln w="12700">
            <a:solidFill>
              <a:srgbClr val="333333"/>
            </a:solidFill>
            <a:prstDash val="solid"/>
          </a:ln>
        </p:spPr>
      </p:sp>
      <p:sp>
        <p:nvSpPr>
          <p:cNvPr id="33" name="Shape 31"/>
          <p:cNvSpPr/>
          <p:nvPr/>
        </p:nvSpPr>
        <p:spPr>
          <a:xfrm>
            <a:off x="10291572" y="2212848"/>
            <a:ext cx="68580" cy="68580"/>
          </a:xfrm>
          <a:prstGeom prst="roundRect">
            <a:avLst>
              <a:gd name="adj" fmla="val 50000"/>
            </a:avLst>
          </a:prstGeom>
          <a:solidFill>
            <a:srgbClr val="8A6B58"/>
          </a:solidFill>
          <a:ln w="12700">
            <a:solidFill>
              <a:srgbClr val="333333"/>
            </a:solidFill>
            <a:prstDash val="solid"/>
          </a:ln>
        </p:spPr>
      </p:sp>
      <p:sp>
        <p:nvSpPr>
          <p:cNvPr id="34" name="Shape 32"/>
          <p:cNvSpPr/>
          <p:nvPr/>
        </p:nvSpPr>
        <p:spPr>
          <a:xfrm>
            <a:off x="6455664" y="2478024"/>
            <a:ext cx="68580" cy="68580"/>
          </a:xfrm>
          <a:prstGeom prst="roundRect">
            <a:avLst>
              <a:gd name="adj" fmla="val 50000"/>
            </a:avLst>
          </a:prstGeom>
          <a:solidFill>
            <a:srgbClr val="8A6B58"/>
          </a:solidFill>
          <a:ln w="12700">
            <a:solidFill>
              <a:srgbClr val="333333"/>
            </a:solidFill>
            <a:prstDash val="solid"/>
          </a:ln>
        </p:spPr>
      </p:sp>
      <p:sp>
        <p:nvSpPr>
          <p:cNvPr id="35" name="Shape 33"/>
          <p:cNvSpPr/>
          <p:nvPr/>
        </p:nvSpPr>
        <p:spPr>
          <a:xfrm>
            <a:off x="6761988" y="2478024"/>
            <a:ext cx="68580" cy="68580"/>
          </a:xfrm>
          <a:prstGeom prst="roundRect">
            <a:avLst>
              <a:gd name="adj" fmla="val 50000"/>
            </a:avLst>
          </a:prstGeom>
          <a:solidFill>
            <a:srgbClr val="8A6B58"/>
          </a:solidFill>
          <a:ln w="12700">
            <a:solidFill>
              <a:srgbClr val="333333"/>
            </a:solidFill>
            <a:prstDash val="solid"/>
          </a:ln>
        </p:spPr>
      </p:sp>
      <p:sp>
        <p:nvSpPr>
          <p:cNvPr id="36" name="Shape 34"/>
          <p:cNvSpPr/>
          <p:nvPr/>
        </p:nvSpPr>
        <p:spPr>
          <a:xfrm>
            <a:off x="7068312" y="2478024"/>
            <a:ext cx="68580" cy="68580"/>
          </a:xfrm>
          <a:prstGeom prst="roundRect">
            <a:avLst>
              <a:gd name="adj" fmla="val 50000"/>
            </a:avLst>
          </a:prstGeom>
          <a:solidFill>
            <a:srgbClr val="8A6B58"/>
          </a:solidFill>
          <a:ln w="12700">
            <a:solidFill>
              <a:srgbClr val="333333"/>
            </a:solidFill>
            <a:prstDash val="solid"/>
          </a:ln>
        </p:spPr>
      </p:sp>
      <p:sp>
        <p:nvSpPr>
          <p:cNvPr id="37" name="Shape 35"/>
          <p:cNvSpPr/>
          <p:nvPr/>
        </p:nvSpPr>
        <p:spPr>
          <a:xfrm>
            <a:off x="7374636" y="2478024"/>
            <a:ext cx="68580" cy="68580"/>
          </a:xfrm>
          <a:prstGeom prst="roundRect">
            <a:avLst>
              <a:gd name="adj" fmla="val 50000"/>
            </a:avLst>
          </a:prstGeom>
          <a:solidFill>
            <a:srgbClr val="8A6B58"/>
          </a:solidFill>
          <a:ln w="12700">
            <a:solidFill>
              <a:srgbClr val="333333"/>
            </a:solidFill>
            <a:prstDash val="solid"/>
          </a:ln>
        </p:spPr>
      </p:sp>
      <p:sp>
        <p:nvSpPr>
          <p:cNvPr id="38" name="Shape 36"/>
          <p:cNvSpPr/>
          <p:nvPr/>
        </p:nvSpPr>
        <p:spPr>
          <a:xfrm>
            <a:off x="7680960" y="2478024"/>
            <a:ext cx="68580" cy="68580"/>
          </a:xfrm>
          <a:prstGeom prst="roundRect">
            <a:avLst>
              <a:gd name="adj" fmla="val 50000"/>
            </a:avLst>
          </a:prstGeom>
          <a:solidFill>
            <a:srgbClr val="8A6B58"/>
          </a:solidFill>
          <a:ln w="12700">
            <a:solidFill>
              <a:srgbClr val="333333"/>
            </a:solidFill>
            <a:prstDash val="solid"/>
          </a:ln>
        </p:spPr>
      </p:sp>
      <p:sp>
        <p:nvSpPr>
          <p:cNvPr id="39" name="Shape 37"/>
          <p:cNvSpPr/>
          <p:nvPr/>
        </p:nvSpPr>
        <p:spPr>
          <a:xfrm>
            <a:off x="7987284" y="2478024"/>
            <a:ext cx="68580" cy="68580"/>
          </a:xfrm>
          <a:prstGeom prst="roundRect">
            <a:avLst>
              <a:gd name="adj" fmla="val 50000"/>
            </a:avLst>
          </a:prstGeom>
          <a:solidFill>
            <a:srgbClr val="8A6B58"/>
          </a:solidFill>
          <a:ln w="12700">
            <a:solidFill>
              <a:srgbClr val="333333"/>
            </a:solidFill>
            <a:prstDash val="solid"/>
          </a:ln>
        </p:spPr>
      </p:sp>
      <p:sp>
        <p:nvSpPr>
          <p:cNvPr id="40" name="Shape 38"/>
          <p:cNvSpPr/>
          <p:nvPr/>
        </p:nvSpPr>
        <p:spPr>
          <a:xfrm>
            <a:off x="8293608" y="2478024"/>
            <a:ext cx="68580" cy="68580"/>
          </a:xfrm>
          <a:prstGeom prst="roundRect">
            <a:avLst>
              <a:gd name="adj" fmla="val 50000"/>
            </a:avLst>
          </a:prstGeom>
          <a:solidFill>
            <a:srgbClr val="8A6B58"/>
          </a:solidFill>
          <a:ln w="12700">
            <a:solidFill>
              <a:srgbClr val="333333"/>
            </a:solidFill>
            <a:prstDash val="solid"/>
          </a:ln>
        </p:spPr>
      </p:sp>
      <p:sp>
        <p:nvSpPr>
          <p:cNvPr id="41" name="Shape 39"/>
          <p:cNvSpPr/>
          <p:nvPr/>
        </p:nvSpPr>
        <p:spPr>
          <a:xfrm>
            <a:off x="8599932" y="2478024"/>
            <a:ext cx="68580" cy="68580"/>
          </a:xfrm>
          <a:prstGeom prst="roundRect">
            <a:avLst>
              <a:gd name="adj" fmla="val 50000"/>
            </a:avLst>
          </a:prstGeom>
          <a:solidFill>
            <a:srgbClr val="8A6B58"/>
          </a:solidFill>
          <a:ln w="12700">
            <a:solidFill>
              <a:srgbClr val="333333"/>
            </a:solidFill>
            <a:prstDash val="solid"/>
          </a:ln>
        </p:spPr>
      </p:sp>
      <p:sp>
        <p:nvSpPr>
          <p:cNvPr id="42" name="Shape 40"/>
          <p:cNvSpPr/>
          <p:nvPr/>
        </p:nvSpPr>
        <p:spPr>
          <a:xfrm>
            <a:off x="8906256" y="2478024"/>
            <a:ext cx="68580" cy="68580"/>
          </a:xfrm>
          <a:prstGeom prst="roundRect">
            <a:avLst>
              <a:gd name="adj" fmla="val 50000"/>
            </a:avLst>
          </a:prstGeom>
          <a:solidFill>
            <a:srgbClr val="8A6B58"/>
          </a:solidFill>
          <a:ln w="12700">
            <a:solidFill>
              <a:srgbClr val="333333"/>
            </a:solidFill>
            <a:prstDash val="solid"/>
          </a:ln>
        </p:spPr>
      </p:sp>
      <p:sp>
        <p:nvSpPr>
          <p:cNvPr id="43" name="Shape 41"/>
          <p:cNvSpPr/>
          <p:nvPr/>
        </p:nvSpPr>
        <p:spPr>
          <a:xfrm>
            <a:off x="9212580" y="2478024"/>
            <a:ext cx="68580" cy="68580"/>
          </a:xfrm>
          <a:prstGeom prst="roundRect">
            <a:avLst>
              <a:gd name="adj" fmla="val 50000"/>
            </a:avLst>
          </a:prstGeom>
          <a:solidFill>
            <a:srgbClr val="8A6B58"/>
          </a:solidFill>
          <a:ln w="12700">
            <a:solidFill>
              <a:srgbClr val="333333"/>
            </a:solidFill>
            <a:prstDash val="solid"/>
          </a:ln>
        </p:spPr>
      </p:sp>
      <p:sp>
        <p:nvSpPr>
          <p:cNvPr id="44" name="Shape 42"/>
          <p:cNvSpPr/>
          <p:nvPr/>
        </p:nvSpPr>
        <p:spPr>
          <a:xfrm>
            <a:off x="9518904" y="2478024"/>
            <a:ext cx="68580" cy="68580"/>
          </a:xfrm>
          <a:prstGeom prst="roundRect">
            <a:avLst>
              <a:gd name="adj" fmla="val 50000"/>
            </a:avLst>
          </a:prstGeom>
          <a:solidFill>
            <a:srgbClr val="8A6B58"/>
          </a:solidFill>
          <a:ln w="12700">
            <a:solidFill>
              <a:srgbClr val="333333"/>
            </a:solidFill>
            <a:prstDash val="solid"/>
          </a:ln>
        </p:spPr>
      </p:sp>
      <p:sp>
        <p:nvSpPr>
          <p:cNvPr id="45" name="Shape 43"/>
          <p:cNvSpPr/>
          <p:nvPr/>
        </p:nvSpPr>
        <p:spPr>
          <a:xfrm>
            <a:off x="9825228" y="2478024"/>
            <a:ext cx="68580" cy="68580"/>
          </a:xfrm>
          <a:prstGeom prst="roundRect">
            <a:avLst>
              <a:gd name="adj" fmla="val 50000"/>
            </a:avLst>
          </a:prstGeom>
          <a:solidFill>
            <a:srgbClr val="8A6B58"/>
          </a:solidFill>
          <a:ln w="12700">
            <a:solidFill>
              <a:srgbClr val="333333"/>
            </a:solidFill>
            <a:prstDash val="solid"/>
          </a:ln>
        </p:spPr>
      </p:sp>
      <p:sp>
        <p:nvSpPr>
          <p:cNvPr id="46" name="Shape 44"/>
          <p:cNvSpPr/>
          <p:nvPr/>
        </p:nvSpPr>
        <p:spPr>
          <a:xfrm>
            <a:off x="10131552" y="2478024"/>
            <a:ext cx="68580" cy="68580"/>
          </a:xfrm>
          <a:prstGeom prst="roundRect">
            <a:avLst>
              <a:gd name="adj" fmla="val 50000"/>
            </a:avLst>
          </a:prstGeom>
          <a:solidFill>
            <a:srgbClr val="8A6B58"/>
          </a:solidFill>
          <a:ln w="12700">
            <a:solidFill>
              <a:srgbClr val="333333"/>
            </a:solidFill>
            <a:prstDash val="solid"/>
          </a:ln>
        </p:spPr>
      </p:sp>
      <p:sp>
        <p:nvSpPr>
          <p:cNvPr id="47" name="Shape 45"/>
          <p:cNvSpPr/>
          <p:nvPr/>
        </p:nvSpPr>
        <p:spPr>
          <a:xfrm>
            <a:off x="10437876" y="2478024"/>
            <a:ext cx="68580" cy="68580"/>
          </a:xfrm>
          <a:prstGeom prst="roundRect">
            <a:avLst>
              <a:gd name="adj" fmla="val 50000"/>
            </a:avLst>
          </a:prstGeom>
          <a:solidFill>
            <a:srgbClr val="8A6B58"/>
          </a:solidFill>
          <a:ln w="12700">
            <a:solidFill>
              <a:srgbClr val="333333"/>
            </a:solidFill>
            <a:prstDash val="solid"/>
          </a:ln>
        </p:spPr>
      </p:sp>
      <p:sp>
        <p:nvSpPr>
          <p:cNvPr id="48" name="Shape 46"/>
          <p:cNvSpPr/>
          <p:nvPr/>
        </p:nvSpPr>
        <p:spPr>
          <a:xfrm>
            <a:off x="6309360" y="2743200"/>
            <a:ext cx="68580" cy="68580"/>
          </a:xfrm>
          <a:prstGeom prst="roundRect">
            <a:avLst>
              <a:gd name="adj" fmla="val 50000"/>
            </a:avLst>
          </a:prstGeom>
          <a:solidFill>
            <a:srgbClr val="8A6B58"/>
          </a:solidFill>
          <a:ln w="12700">
            <a:solidFill>
              <a:srgbClr val="333333"/>
            </a:solidFill>
            <a:prstDash val="solid"/>
          </a:ln>
        </p:spPr>
      </p:sp>
      <p:sp>
        <p:nvSpPr>
          <p:cNvPr id="49" name="Shape 47"/>
          <p:cNvSpPr/>
          <p:nvPr/>
        </p:nvSpPr>
        <p:spPr>
          <a:xfrm>
            <a:off x="6615684" y="2743200"/>
            <a:ext cx="68580" cy="68580"/>
          </a:xfrm>
          <a:prstGeom prst="roundRect">
            <a:avLst>
              <a:gd name="adj" fmla="val 50000"/>
            </a:avLst>
          </a:prstGeom>
          <a:solidFill>
            <a:srgbClr val="8A6B58"/>
          </a:solidFill>
          <a:ln w="12700">
            <a:solidFill>
              <a:srgbClr val="333333"/>
            </a:solidFill>
            <a:prstDash val="solid"/>
          </a:ln>
        </p:spPr>
      </p:sp>
      <p:sp>
        <p:nvSpPr>
          <p:cNvPr id="50" name="Shape 48"/>
          <p:cNvSpPr/>
          <p:nvPr/>
        </p:nvSpPr>
        <p:spPr>
          <a:xfrm>
            <a:off x="6922008" y="2743200"/>
            <a:ext cx="68580" cy="68580"/>
          </a:xfrm>
          <a:prstGeom prst="roundRect">
            <a:avLst>
              <a:gd name="adj" fmla="val 50000"/>
            </a:avLst>
          </a:prstGeom>
          <a:solidFill>
            <a:srgbClr val="8A6B58"/>
          </a:solidFill>
          <a:ln w="12700">
            <a:solidFill>
              <a:srgbClr val="333333"/>
            </a:solidFill>
            <a:prstDash val="solid"/>
          </a:ln>
        </p:spPr>
      </p:sp>
      <p:sp>
        <p:nvSpPr>
          <p:cNvPr id="51" name="Shape 49"/>
          <p:cNvSpPr/>
          <p:nvPr/>
        </p:nvSpPr>
        <p:spPr>
          <a:xfrm>
            <a:off x="7228332" y="2743200"/>
            <a:ext cx="68580" cy="68580"/>
          </a:xfrm>
          <a:prstGeom prst="roundRect">
            <a:avLst>
              <a:gd name="adj" fmla="val 50000"/>
            </a:avLst>
          </a:prstGeom>
          <a:solidFill>
            <a:srgbClr val="8A6B58"/>
          </a:solidFill>
          <a:ln w="12700">
            <a:solidFill>
              <a:srgbClr val="333333"/>
            </a:solidFill>
            <a:prstDash val="solid"/>
          </a:ln>
        </p:spPr>
      </p:sp>
      <p:sp>
        <p:nvSpPr>
          <p:cNvPr id="52" name="Shape 50"/>
          <p:cNvSpPr/>
          <p:nvPr/>
        </p:nvSpPr>
        <p:spPr>
          <a:xfrm>
            <a:off x="7534656" y="2743200"/>
            <a:ext cx="68580" cy="68580"/>
          </a:xfrm>
          <a:prstGeom prst="roundRect">
            <a:avLst>
              <a:gd name="adj" fmla="val 50000"/>
            </a:avLst>
          </a:prstGeom>
          <a:solidFill>
            <a:srgbClr val="8A6B58"/>
          </a:solidFill>
          <a:ln w="12700">
            <a:solidFill>
              <a:srgbClr val="333333"/>
            </a:solidFill>
            <a:prstDash val="solid"/>
          </a:ln>
        </p:spPr>
      </p:sp>
      <p:sp>
        <p:nvSpPr>
          <p:cNvPr id="53" name="Shape 51"/>
          <p:cNvSpPr/>
          <p:nvPr/>
        </p:nvSpPr>
        <p:spPr>
          <a:xfrm>
            <a:off x="7840980" y="2743200"/>
            <a:ext cx="68580" cy="68580"/>
          </a:xfrm>
          <a:prstGeom prst="roundRect">
            <a:avLst>
              <a:gd name="adj" fmla="val 50000"/>
            </a:avLst>
          </a:prstGeom>
          <a:solidFill>
            <a:srgbClr val="8A6B58"/>
          </a:solidFill>
          <a:ln w="12700">
            <a:solidFill>
              <a:srgbClr val="333333"/>
            </a:solidFill>
            <a:prstDash val="solid"/>
          </a:ln>
        </p:spPr>
      </p:sp>
      <p:sp>
        <p:nvSpPr>
          <p:cNvPr id="54" name="Shape 52"/>
          <p:cNvSpPr/>
          <p:nvPr/>
        </p:nvSpPr>
        <p:spPr>
          <a:xfrm>
            <a:off x="8147304" y="2743200"/>
            <a:ext cx="68580" cy="68580"/>
          </a:xfrm>
          <a:prstGeom prst="roundRect">
            <a:avLst>
              <a:gd name="adj" fmla="val 50000"/>
            </a:avLst>
          </a:prstGeom>
          <a:solidFill>
            <a:srgbClr val="8A6B58"/>
          </a:solidFill>
          <a:ln w="12700">
            <a:solidFill>
              <a:srgbClr val="333333"/>
            </a:solidFill>
            <a:prstDash val="solid"/>
          </a:ln>
        </p:spPr>
      </p:sp>
      <p:sp>
        <p:nvSpPr>
          <p:cNvPr id="55" name="Shape 53"/>
          <p:cNvSpPr/>
          <p:nvPr/>
        </p:nvSpPr>
        <p:spPr>
          <a:xfrm>
            <a:off x="8453628" y="2743200"/>
            <a:ext cx="68580" cy="68580"/>
          </a:xfrm>
          <a:prstGeom prst="roundRect">
            <a:avLst>
              <a:gd name="adj" fmla="val 50000"/>
            </a:avLst>
          </a:prstGeom>
          <a:solidFill>
            <a:srgbClr val="8A6B58"/>
          </a:solidFill>
          <a:ln w="12700">
            <a:solidFill>
              <a:srgbClr val="333333"/>
            </a:solidFill>
            <a:prstDash val="solid"/>
          </a:ln>
        </p:spPr>
      </p:sp>
      <p:sp>
        <p:nvSpPr>
          <p:cNvPr id="56" name="Shape 54"/>
          <p:cNvSpPr/>
          <p:nvPr/>
        </p:nvSpPr>
        <p:spPr>
          <a:xfrm>
            <a:off x="8759952" y="2743200"/>
            <a:ext cx="68580" cy="68580"/>
          </a:xfrm>
          <a:prstGeom prst="roundRect">
            <a:avLst>
              <a:gd name="adj" fmla="val 50000"/>
            </a:avLst>
          </a:prstGeom>
          <a:solidFill>
            <a:srgbClr val="8A6B58"/>
          </a:solidFill>
          <a:ln w="12700">
            <a:solidFill>
              <a:srgbClr val="333333"/>
            </a:solidFill>
            <a:prstDash val="solid"/>
          </a:ln>
        </p:spPr>
      </p:sp>
      <p:sp>
        <p:nvSpPr>
          <p:cNvPr id="57" name="Shape 55"/>
          <p:cNvSpPr/>
          <p:nvPr/>
        </p:nvSpPr>
        <p:spPr>
          <a:xfrm>
            <a:off x="9066276" y="2743200"/>
            <a:ext cx="68580" cy="68580"/>
          </a:xfrm>
          <a:prstGeom prst="roundRect">
            <a:avLst>
              <a:gd name="adj" fmla="val 50000"/>
            </a:avLst>
          </a:prstGeom>
          <a:solidFill>
            <a:srgbClr val="8A6B58"/>
          </a:solidFill>
          <a:ln w="12700">
            <a:solidFill>
              <a:srgbClr val="333333"/>
            </a:solidFill>
            <a:prstDash val="solid"/>
          </a:ln>
        </p:spPr>
      </p:sp>
      <p:sp>
        <p:nvSpPr>
          <p:cNvPr id="58" name="Shape 56"/>
          <p:cNvSpPr/>
          <p:nvPr/>
        </p:nvSpPr>
        <p:spPr>
          <a:xfrm>
            <a:off x="9372600" y="2743200"/>
            <a:ext cx="68580" cy="68580"/>
          </a:xfrm>
          <a:prstGeom prst="roundRect">
            <a:avLst>
              <a:gd name="adj" fmla="val 50000"/>
            </a:avLst>
          </a:prstGeom>
          <a:solidFill>
            <a:srgbClr val="8A6B58"/>
          </a:solidFill>
          <a:ln w="12700">
            <a:solidFill>
              <a:srgbClr val="333333"/>
            </a:solidFill>
            <a:prstDash val="solid"/>
          </a:ln>
        </p:spPr>
      </p:sp>
      <p:sp>
        <p:nvSpPr>
          <p:cNvPr id="59" name="Shape 57"/>
          <p:cNvSpPr/>
          <p:nvPr/>
        </p:nvSpPr>
        <p:spPr>
          <a:xfrm>
            <a:off x="9678924" y="2743200"/>
            <a:ext cx="68580" cy="68580"/>
          </a:xfrm>
          <a:prstGeom prst="roundRect">
            <a:avLst>
              <a:gd name="adj" fmla="val 50000"/>
            </a:avLst>
          </a:prstGeom>
          <a:solidFill>
            <a:srgbClr val="8A6B58"/>
          </a:solidFill>
          <a:ln w="12700">
            <a:solidFill>
              <a:srgbClr val="333333"/>
            </a:solidFill>
            <a:prstDash val="solid"/>
          </a:ln>
        </p:spPr>
      </p:sp>
      <p:sp>
        <p:nvSpPr>
          <p:cNvPr id="60" name="Shape 58"/>
          <p:cNvSpPr/>
          <p:nvPr/>
        </p:nvSpPr>
        <p:spPr>
          <a:xfrm>
            <a:off x="9985248" y="2743200"/>
            <a:ext cx="68580" cy="68580"/>
          </a:xfrm>
          <a:prstGeom prst="roundRect">
            <a:avLst>
              <a:gd name="adj" fmla="val 50000"/>
            </a:avLst>
          </a:prstGeom>
          <a:solidFill>
            <a:srgbClr val="8A6B58"/>
          </a:solidFill>
          <a:ln w="12700">
            <a:solidFill>
              <a:srgbClr val="333333"/>
            </a:solidFill>
            <a:prstDash val="solid"/>
          </a:ln>
        </p:spPr>
      </p:sp>
      <p:sp>
        <p:nvSpPr>
          <p:cNvPr id="61" name="Shape 59"/>
          <p:cNvSpPr/>
          <p:nvPr/>
        </p:nvSpPr>
        <p:spPr>
          <a:xfrm>
            <a:off x="10291572" y="2743200"/>
            <a:ext cx="68580" cy="68580"/>
          </a:xfrm>
          <a:prstGeom prst="roundRect">
            <a:avLst>
              <a:gd name="adj" fmla="val 50000"/>
            </a:avLst>
          </a:prstGeom>
          <a:solidFill>
            <a:srgbClr val="8A6B58"/>
          </a:solidFill>
          <a:ln w="12700">
            <a:solidFill>
              <a:srgbClr val="333333"/>
            </a:solidFill>
            <a:prstDash val="solid"/>
          </a:ln>
        </p:spPr>
      </p:sp>
      <p:sp>
        <p:nvSpPr>
          <p:cNvPr id="62" name="Shape 60"/>
          <p:cNvSpPr/>
          <p:nvPr/>
        </p:nvSpPr>
        <p:spPr>
          <a:xfrm>
            <a:off x="6455664" y="3008376"/>
            <a:ext cx="68580" cy="68580"/>
          </a:xfrm>
          <a:prstGeom prst="roundRect">
            <a:avLst>
              <a:gd name="adj" fmla="val 50000"/>
            </a:avLst>
          </a:prstGeom>
          <a:solidFill>
            <a:srgbClr val="8A6B58"/>
          </a:solidFill>
          <a:ln w="12700">
            <a:solidFill>
              <a:srgbClr val="333333"/>
            </a:solidFill>
            <a:prstDash val="solid"/>
          </a:ln>
        </p:spPr>
      </p:sp>
      <p:sp>
        <p:nvSpPr>
          <p:cNvPr id="63" name="Shape 61"/>
          <p:cNvSpPr/>
          <p:nvPr/>
        </p:nvSpPr>
        <p:spPr>
          <a:xfrm>
            <a:off x="6761988" y="3008376"/>
            <a:ext cx="68580" cy="68580"/>
          </a:xfrm>
          <a:prstGeom prst="roundRect">
            <a:avLst>
              <a:gd name="adj" fmla="val 50000"/>
            </a:avLst>
          </a:prstGeom>
          <a:solidFill>
            <a:srgbClr val="8A6B58"/>
          </a:solidFill>
          <a:ln w="12700">
            <a:solidFill>
              <a:srgbClr val="333333"/>
            </a:solidFill>
            <a:prstDash val="solid"/>
          </a:ln>
        </p:spPr>
      </p:sp>
      <p:sp>
        <p:nvSpPr>
          <p:cNvPr id="64" name="Shape 62"/>
          <p:cNvSpPr/>
          <p:nvPr/>
        </p:nvSpPr>
        <p:spPr>
          <a:xfrm>
            <a:off x="7068312" y="3008376"/>
            <a:ext cx="68580" cy="68580"/>
          </a:xfrm>
          <a:prstGeom prst="roundRect">
            <a:avLst>
              <a:gd name="adj" fmla="val 50000"/>
            </a:avLst>
          </a:prstGeom>
          <a:solidFill>
            <a:srgbClr val="8A6B58"/>
          </a:solidFill>
          <a:ln w="12700">
            <a:solidFill>
              <a:srgbClr val="333333"/>
            </a:solidFill>
            <a:prstDash val="solid"/>
          </a:ln>
        </p:spPr>
      </p:sp>
      <p:sp>
        <p:nvSpPr>
          <p:cNvPr id="65" name="Shape 63"/>
          <p:cNvSpPr/>
          <p:nvPr/>
        </p:nvSpPr>
        <p:spPr>
          <a:xfrm>
            <a:off x="7374636" y="3008376"/>
            <a:ext cx="68580" cy="68580"/>
          </a:xfrm>
          <a:prstGeom prst="roundRect">
            <a:avLst>
              <a:gd name="adj" fmla="val 50000"/>
            </a:avLst>
          </a:prstGeom>
          <a:solidFill>
            <a:srgbClr val="8A6B58"/>
          </a:solidFill>
          <a:ln w="12700">
            <a:solidFill>
              <a:srgbClr val="333333"/>
            </a:solidFill>
            <a:prstDash val="solid"/>
          </a:ln>
        </p:spPr>
      </p:sp>
      <p:sp>
        <p:nvSpPr>
          <p:cNvPr id="66" name="Shape 64"/>
          <p:cNvSpPr/>
          <p:nvPr/>
        </p:nvSpPr>
        <p:spPr>
          <a:xfrm>
            <a:off x="7680960" y="3008376"/>
            <a:ext cx="68580" cy="68580"/>
          </a:xfrm>
          <a:prstGeom prst="roundRect">
            <a:avLst>
              <a:gd name="adj" fmla="val 50000"/>
            </a:avLst>
          </a:prstGeom>
          <a:solidFill>
            <a:srgbClr val="8A6B58"/>
          </a:solidFill>
          <a:ln w="12700">
            <a:solidFill>
              <a:srgbClr val="333333"/>
            </a:solidFill>
            <a:prstDash val="solid"/>
          </a:ln>
        </p:spPr>
      </p:sp>
      <p:sp>
        <p:nvSpPr>
          <p:cNvPr id="67" name="Shape 65"/>
          <p:cNvSpPr/>
          <p:nvPr/>
        </p:nvSpPr>
        <p:spPr>
          <a:xfrm>
            <a:off x="7987284" y="3008376"/>
            <a:ext cx="68580" cy="68580"/>
          </a:xfrm>
          <a:prstGeom prst="roundRect">
            <a:avLst>
              <a:gd name="adj" fmla="val 50000"/>
            </a:avLst>
          </a:prstGeom>
          <a:solidFill>
            <a:srgbClr val="8A6B58"/>
          </a:solidFill>
          <a:ln w="12700">
            <a:solidFill>
              <a:srgbClr val="333333"/>
            </a:solidFill>
            <a:prstDash val="solid"/>
          </a:ln>
        </p:spPr>
      </p:sp>
      <p:sp>
        <p:nvSpPr>
          <p:cNvPr id="68" name="Shape 66"/>
          <p:cNvSpPr/>
          <p:nvPr/>
        </p:nvSpPr>
        <p:spPr>
          <a:xfrm>
            <a:off x="8293608" y="3008376"/>
            <a:ext cx="68580" cy="68580"/>
          </a:xfrm>
          <a:prstGeom prst="roundRect">
            <a:avLst>
              <a:gd name="adj" fmla="val 50000"/>
            </a:avLst>
          </a:prstGeom>
          <a:solidFill>
            <a:srgbClr val="8A6B58"/>
          </a:solidFill>
          <a:ln w="12700">
            <a:solidFill>
              <a:srgbClr val="333333"/>
            </a:solidFill>
            <a:prstDash val="solid"/>
          </a:ln>
        </p:spPr>
      </p:sp>
      <p:sp>
        <p:nvSpPr>
          <p:cNvPr id="69" name="Shape 67"/>
          <p:cNvSpPr/>
          <p:nvPr/>
        </p:nvSpPr>
        <p:spPr>
          <a:xfrm>
            <a:off x="8599932" y="3008376"/>
            <a:ext cx="68580" cy="68580"/>
          </a:xfrm>
          <a:prstGeom prst="roundRect">
            <a:avLst>
              <a:gd name="adj" fmla="val 50000"/>
            </a:avLst>
          </a:prstGeom>
          <a:solidFill>
            <a:srgbClr val="8A6B58"/>
          </a:solidFill>
          <a:ln w="12700">
            <a:solidFill>
              <a:srgbClr val="333333"/>
            </a:solidFill>
            <a:prstDash val="solid"/>
          </a:ln>
        </p:spPr>
      </p:sp>
      <p:sp>
        <p:nvSpPr>
          <p:cNvPr id="70" name="Shape 68"/>
          <p:cNvSpPr/>
          <p:nvPr/>
        </p:nvSpPr>
        <p:spPr>
          <a:xfrm>
            <a:off x="8906256" y="3008376"/>
            <a:ext cx="68580" cy="68580"/>
          </a:xfrm>
          <a:prstGeom prst="roundRect">
            <a:avLst>
              <a:gd name="adj" fmla="val 50000"/>
            </a:avLst>
          </a:prstGeom>
          <a:solidFill>
            <a:srgbClr val="8A6B58"/>
          </a:solidFill>
          <a:ln w="12700">
            <a:solidFill>
              <a:srgbClr val="333333"/>
            </a:solidFill>
            <a:prstDash val="solid"/>
          </a:ln>
        </p:spPr>
      </p:sp>
      <p:sp>
        <p:nvSpPr>
          <p:cNvPr id="71" name="Shape 69"/>
          <p:cNvSpPr/>
          <p:nvPr/>
        </p:nvSpPr>
        <p:spPr>
          <a:xfrm>
            <a:off x="9212580" y="3008376"/>
            <a:ext cx="68580" cy="68580"/>
          </a:xfrm>
          <a:prstGeom prst="roundRect">
            <a:avLst>
              <a:gd name="adj" fmla="val 50000"/>
            </a:avLst>
          </a:prstGeom>
          <a:solidFill>
            <a:srgbClr val="8A6B58"/>
          </a:solidFill>
          <a:ln w="12700">
            <a:solidFill>
              <a:srgbClr val="333333"/>
            </a:solidFill>
            <a:prstDash val="solid"/>
          </a:ln>
        </p:spPr>
      </p:sp>
      <p:sp>
        <p:nvSpPr>
          <p:cNvPr id="72" name="Shape 70"/>
          <p:cNvSpPr/>
          <p:nvPr/>
        </p:nvSpPr>
        <p:spPr>
          <a:xfrm>
            <a:off x="9518904" y="3008376"/>
            <a:ext cx="68580" cy="68580"/>
          </a:xfrm>
          <a:prstGeom prst="roundRect">
            <a:avLst>
              <a:gd name="adj" fmla="val 50000"/>
            </a:avLst>
          </a:prstGeom>
          <a:solidFill>
            <a:srgbClr val="8A6B58"/>
          </a:solidFill>
          <a:ln w="12700">
            <a:solidFill>
              <a:srgbClr val="333333"/>
            </a:solidFill>
            <a:prstDash val="solid"/>
          </a:ln>
        </p:spPr>
      </p:sp>
      <p:sp>
        <p:nvSpPr>
          <p:cNvPr id="73" name="Shape 71"/>
          <p:cNvSpPr/>
          <p:nvPr/>
        </p:nvSpPr>
        <p:spPr>
          <a:xfrm>
            <a:off x="9825228" y="3008376"/>
            <a:ext cx="68580" cy="68580"/>
          </a:xfrm>
          <a:prstGeom prst="roundRect">
            <a:avLst>
              <a:gd name="adj" fmla="val 50000"/>
            </a:avLst>
          </a:prstGeom>
          <a:solidFill>
            <a:srgbClr val="8A6B58"/>
          </a:solidFill>
          <a:ln w="12700">
            <a:solidFill>
              <a:srgbClr val="333333"/>
            </a:solidFill>
            <a:prstDash val="solid"/>
          </a:ln>
        </p:spPr>
      </p:sp>
      <p:sp>
        <p:nvSpPr>
          <p:cNvPr id="74" name="Shape 72"/>
          <p:cNvSpPr/>
          <p:nvPr/>
        </p:nvSpPr>
        <p:spPr>
          <a:xfrm>
            <a:off x="10131552" y="3008376"/>
            <a:ext cx="68580" cy="68580"/>
          </a:xfrm>
          <a:prstGeom prst="roundRect">
            <a:avLst>
              <a:gd name="adj" fmla="val 50000"/>
            </a:avLst>
          </a:prstGeom>
          <a:solidFill>
            <a:srgbClr val="8A6B58"/>
          </a:solidFill>
          <a:ln w="12700">
            <a:solidFill>
              <a:srgbClr val="333333"/>
            </a:solidFill>
            <a:prstDash val="solid"/>
          </a:ln>
        </p:spPr>
      </p:sp>
      <p:sp>
        <p:nvSpPr>
          <p:cNvPr id="75" name="Shape 73"/>
          <p:cNvSpPr/>
          <p:nvPr/>
        </p:nvSpPr>
        <p:spPr>
          <a:xfrm>
            <a:off x="10437876" y="3008376"/>
            <a:ext cx="68580" cy="68580"/>
          </a:xfrm>
          <a:prstGeom prst="roundRect">
            <a:avLst>
              <a:gd name="adj" fmla="val 50000"/>
            </a:avLst>
          </a:prstGeom>
          <a:solidFill>
            <a:srgbClr val="8A6B58"/>
          </a:solidFill>
          <a:ln w="12700">
            <a:solidFill>
              <a:srgbClr val="333333"/>
            </a:solidFill>
            <a:prstDash val="solid"/>
          </a:ln>
        </p:spPr>
      </p:sp>
      <p:sp>
        <p:nvSpPr>
          <p:cNvPr id="76" name="Shape 74"/>
          <p:cNvSpPr/>
          <p:nvPr/>
        </p:nvSpPr>
        <p:spPr>
          <a:xfrm>
            <a:off x="6309360" y="3273552"/>
            <a:ext cx="68580" cy="68580"/>
          </a:xfrm>
          <a:prstGeom prst="roundRect">
            <a:avLst>
              <a:gd name="adj" fmla="val 50000"/>
            </a:avLst>
          </a:prstGeom>
          <a:solidFill>
            <a:srgbClr val="8A6B58"/>
          </a:solidFill>
          <a:ln w="12700">
            <a:solidFill>
              <a:srgbClr val="333333"/>
            </a:solidFill>
            <a:prstDash val="solid"/>
          </a:ln>
        </p:spPr>
      </p:sp>
      <p:sp>
        <p:nvSpPr>
          <p:cNvPr id="77" name="Shape 75"/>
          <p:cNvSpPr/>
          <p:nvPr/>
        </p:nvSpPr>
        <p:spPr>
          <a:xfrm>
            <a:off x="6615684" y="3273552"/>
            <a:ext cx="68580" cy="68580"/>
          </a:xfrm>
          <a:prstGeom prst="roundRect">
            <a:avLst>
              <a:gd name="adj" fmla="val 50000"/>
            </a:avLst>
          </a:prstGeom>
          <a:solidFill>
            <a:srgbClr val="8A6B58"/>
          </a:solidFill>
          <a:ln w="12700">
            <a:solidFill>
              <a:srgbClr val="333333"/>
            </a:solidFill>
            <a:prstDash val="solid"/>
          </a:ln>
        </p:spPr>
      </p:sp>
      <p:sp>
        <p:nvSpPr>
          <p:cNvPr id="78" name="Shape 76"/>
          <p:cNvSpPr/>
          <p:nvPr/>
        </p:nvSpPr>
        <p:spPr>
          <a:xfrm>
            <a:off x="6922008" y="3273552"/>
            <a:ext cx="68580" cy="68580"/>
          </a:xfrm>
          <a:prstGeom prst="roundRect">
            <a:avLst>
              <a:gd name="adj" fmla="val 50000"/>
            </a:avLst>
          </a:prstGeom>
          <a:solidFill>
            <a:srgbClr val="8A6B58"/>
          </a:solidFill>
          <a:ln w="12700">
            <a:solidFill>
              <a:srgbClr val="333333"/>
            </a:solidFill>
            <a:prstDash val="solid"/>
          </a:ln>
        </p:spPr>
      </p:sp>
      <p:sp>
        <p:nvSpPr>
          <p:cNvPr id="79" name="Shape 77"/>
          <p:cNvSpPr/>
          <p:nvPr/>
        </p:nvSpPr>
        <p:spPr>
          <a:xfrm>
            <a:off x="7228332" y="3273552"/>
            <a:ext cx="68580" cy="68580"/>
          </a:xfrm>
          <a:prstGeom prst="roundRect">
            <a:avLst>
              <a:gd name="adj" fmla="val 50000"/>
            </a:avLst>
          </a:prstGeom>
          <a:solidFill>
            <a:srgbClr val="8A6B58"/>
          </a:solidFill>
          <a:ln w="12700">
            <a:solidFill>
              <a:srgbClr val="333333"/>
            </a:solidFill>
            <a:prstDash val="solid"/>
          </a:ln>
        </p:spPr>
      </p:sp>
      <p:sp>
        <p:nvSpPr>
          <p:cNvPr id="80" name="Shape 78"/>
          <p:cNvSpPr/>
          <p:nvPr/>
        </p:nvSpPr>
        <p:spPr>
          <a:xfrm>
            <a:off x="7534656" y="3273552"/>
            <a:ext cx="68580" cy="68580"/>
          </a:xfrm>
          <a:prstGeom prst="roundRect">
            <a:avLst>
              <a:gd name="adj" fmla="val 50000"/>
            </a:avLst>
          </a:prstGeom>
          <a:solidFill>
            <a:srgbClr val="8A6B58"/>
          </a:solidFill>
          <a:ln w="12700">
            <a:solidFill>
              <a:srgbClr val="333333"/>
            </a:solidFill>
            <a:prstDash val="solid"/>
          </a:ln>
        </p:spPr>
      </p:sp>
      <p:sp>
        <p:nvSpPr>
          <p:cNvPr id="81" name="Shape 79"/>
          <p:cNvSpPr/>
          <p:nvPr/>
        </p:nvSpPr>
        <p:spPr>
          <a:xfrm>
            <a:off x="7840980" y="3273552"/>
            <a:ext cx="68580" cy="68580"/>
          </a:xfrm>
          <a:prstGeom prst="roundRect">
            <a:avLst>
              <a:gd name="adj" fmla="val 50000"/>
            </a:avLst>
          </a:prstGeom>
          <a:solidFill>
            <a:srgbClr val="8A6B58"/>
          </a:solidFill>
          <a:ln w="12700">
            <a:solidFill>
              <a:srgbClr val="333333"/>
            </a:solidFill>
            <a:prstDash val="solid"/>
          </a:ln>
        </p:spPr>
      </p:sp>
      <p:sp>
        <p:nvSpPr>
          <p:cNvPr id="82" name="Shape 80"/>
          <p:cNvSpPr/>
          <p:nvPr/>
        </p:nvSpPr>
        <p:spPr>
          <a:xfrm>
            <a:off x="8147304" y="3273552"/>
            <a:ext cx="68580" cy="68580"/>
          </a:xfrm>
          <a:prstGeom prst="roundRect">
            <a:avLst>
              <a:gd name="adj" fmla="val 50000"/>
            </a:avLst>
          </a:prstGeom>
          <a:solidFill>
            <a:srgbClr val="8A6B58"/>
          </a:solidFill>
          <a:ln w="12700">
            <a:solidFill>
              <a:srgbClr val="333333"/>
            </a:solidFill>
            <a:prstDash val="solid"/>
          </a:ln>
        </p:spPr>
      </p:sp>
      <p:sp>
        <p:nvSpPr>
          <p:cNvPr id="83" name="Shape 81"/>
          <p:cNvSpPr/>
          <p:nvPr/>
        </p:nvSpPr>
        <p:spPr>
          <a:xfrm>
            <a:off x="8453628" y="3273552"/>
            <a:ext cx="68580" cy="68580"/>
          </a:xfrm>
          <a:prstGeom prst="roundRect">
            <a:avLst>
              <a:gd name="adj" fmla="val 50000"/>
            </a:avLst>
          </a:prstGeom>
          <a:solidFill>
            <a:srgbClr val="8A6B58"/>
          </a:solidFill>
          <a:ln w="12700">
            <a:solidFill>
              <a:srgbClr val="333333"/>
            </a:solidFill>
            <a:prstDash val="solid"/>
          </a:ln>
        </p:spPr>
      </p:sp>
      <p:sp>
        <p:nvSpPr>
          <p:cNvPr id="84" name="Shape 82"/>
          <p:cNvSpPr/>
          <p:nvPr/>
        </p:nvSpPr>
        <p:spPr>
          <a:xfrm>
            <a:off x="8759952" y="3273552"/>
            <a:ext cx="68580" cy="68580"/>
          </a:xfrm>
          <a:prstGeom prst="roundRect">
            <a:avLst>
              <a:gd name="adj" fmla="val 50000"/>
            </a:avLst>
          </a:prstGeom>
          <a:solidFill>
            <a:srgbClr val="8A6B58"/>
          </a:solidFill>
          <a:ln w="12700">
            <a:solidFill>
              <a:srgbClr val="333333"/>
            </a:solidFill>
            <a:prstDash val="solid"/>
          </a:ln>
        </p:spPr>
      </p:sp>
      <p:sp>
        <p:nvSpPr>
          <p:cNvPr id="85" name="Shape 83"/>
          <p:cNvSpPr/>
          <p:nvPr/>
        </p:nvSpPr>
        <p:spPr>
          <a:xfrm>
            <a:off x="9066276" y="3273552"/>
            <a:ext cx="68580" cy="68580"/>
          </a:xfrm>
          <a:prstGeom prst="roundRect">
            <a:avLst>
              <a:gd name="adj" fmla="val 50000"/>
            </a:avLst>
          </a:prstGeom>
          <a:solidFill>
            <a:srgbClr val="8A6B58"/>
          </a:solidFill>
          <a:ln w="12700">
            <a:solidFill>
              <a:srgbClr val="333333"/>
            </a:solidFill>
            <a:prstDash val="solid"/>
          </a:ln>
        </p:spPr>
      </p:sp>
      <p:sp>
        <p:nvSpPr>
          <p:cNvPr id="86" name="Shape 84"/>
          <p:cNvSpPr/>
          <p:nvPr/>
        </p:nvSpPr>
        <p:spPr>
          <a:xfrm>
            <a:off x="9372600" y="3273552"/>
            <a:ext cx="68580" cy="68580"/>
          </a:xfrm>
          <a:prstGeom prst="roundRect">
            <a:avLst>
              <a:gd name="adj" fmla="val 50000"/>
            </a:avLst>
          </a:prstGeom>
          <a:solidFill>
            <a:srgbClr val="8A6B58"/>
          </a:solidFill>
          <a:ln w="12700">
            <a:solidFill>
              <a:srgbClr val="333333"/>
            </a:solidFill>
            <a:prstDash val="solid"/>
          </a:ln>
        </p:spPr>
      </p:sp>
      <p:sp>
        <p:nvSpPr>
          <p:cNvPr id="87" name="Shape 85"/>
          <p:cNvSpPr/>
          <p:nvPr/>
        </p:nvSpPr>
        <p:spPr>
          <a:xfrm>
            <a:off x="9678924" y="3273552"/>
            <a:ext cx="68580" cy="68580"/>
          </a:xfrm>
          <a:prstGeom prst="roundRect">
            <a:avLst>
              <a:gd name="adj" fmla="val 50000"/>
            </a:avLst>
          </a:prstGeom>
          <a:solidFill>
            <a:srgbClr val="8A6B58"/>
          </a:solidFill>
          <a:ln w="12700">
            <a:solidFill>
              <a:srgbClr val="333333"/>
            </a:solidFill>
            <a:prstDash val="solid"/>
          </a:ln>
        </p:spPr>
      </p:sp>
      <p:sp>
        <p:nvSpPr>
          <p:cNvPr id="88" name="Shape 86"/>
          <p:cNvSpPr/>
          <p:nvPr/>
        </p:nvSpPr>
        <p:spPr>
          <a:xfrm>
            <a:off x="9985248" y="3273552"/>
            <a:ext cx="68580" cy="68580"/>
          </a:xfrm>
          <a:prstGeom prst="roundRect">
            <a:avLst>
              <a:gd name="adj" fmla="val 50000"/>
            </a:avLst>
          </a:prstGeom>
          <a:solidFill>
            <a:srgbClr val="8A6B58"/>
          </a:solidFill>
          <a:ln w="12700">
            <a:solidFill>
              <a:srgbClr val="333333"/>
            </a:solidFill>
            <a:prstDash val="solid"/>
          </a:ln>
        </p:spPr>
      </p:sp>
      <p:sp>
        <p:nvSpPr>
          <p:cNvPr id="89" name="Shape 87"/>
          <p:cNvSpPr/>
          <p:nvPr/>
        </p:nvSpPr>
        <p:spPr>
          <a:xfrm>
            <a:off x="10291572" y="3273552"/>
            <a:ext cx="68580" cy="68580"/>
          </a:xfrm>
          <a:prstGeom prst="roundRect">
            <a:avLst>
              <a:gd name="adj" fmla="val 50000"/>
            </a:avLst>
          </a:prstGeom>
          <a:solidFill>
            <a:srgbClr val="8A6B58"/>
          </a:solidFill>
          <a:ln w="12700">
            <a:solidFill>
              <a:srgbClr val="333333"/>
            </a:solidFill>
            <a:prstDash val="solid"/>
          </a:ln>
        </p:spPr>
      </p:sp>
      <p:sp>
        <p:nvSpPr>
          <p:cNvPr id="90" name="Text 88"/>
          <p:cNvSpPr/>
          <p:nvPr/>
        </p:nvSpPr>
        <p:spPr>
          <a:xfrm>
            <a:off x="6144768" y="3675888"/>
            <a:ext cx="4517136" cy="237744"/>
          </a:xfrm>
          <a:prstGeom prst="rect">
            <a:avLst/>
          </a:prstGeom>
          <a:noFill/>
          <a:ln/>
        </p:spPr>
        <p:txBody>
          <a:bodyPr wrap="square" lIns="0" tIns="0" rIns="0" bIns="0" rtlCol="0" anchor="ctr"/>
          <a:lstStyle/>
          <a:p>
            <a:pPr indent="0" marL="0">
              <a:buNone/>
            </a:pPr>
            <a:r>
              <a:rPr lang="en-US" sz="1050" b="1" dirty="0">
                <a:solidFill>
                  <a:srgbClr val="2E7D5B"/>
                </a:solidFill>
                <a:latin typeface="맑은 고딕" pitchFamily="34" charset="0"/>
                <a:ea typeface="맑은 고딕" pitchFamily="34" charset="-122"/>
                <a:cs typeface="맑은 고딕" pitchFamily="34" charset="-120"/>
              </a:rPr>
              <a:t>입자가 고르게 흩어져 연료가 균질하게 유지됨</a:t>
            </a:r>
            <a:endParaRPr lang="en-US" sz="1050" dirty="0"/>
          </a:p>
        </p:txBody>
      </p:sp>
      <p:sp>
        <p:nvSpPr>
          <p:cNvPr id="91" name="Shape 89"/>
          <p:cNvSpPr/>
          <p:nvPr/>
        </p:nvSpPr>
        <p:spPr>
          <a:xfrm>
            <a:off x="566928" y="4261104"/>
            <a:ext cx="2545004" cy="786384"/>
          </a:xfrm>
          <a:prstGeom prst="roundRect">
            <a:avLst>
              <a:gd name="adj" fmla="val 16279"/>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92" name="Text 90"/>
          <p:cNvSpPr/>
          <p:nvPr/>
        </p:nvSpPr>
        <p:spPr>
          <a:xfrm>
            <a:off x="768096" y="4370832"/>
            <a:ext cx="2142668" cy="256032"/>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아스팔텐 분산</a:t>
            </a:r>
            <a:endParaRPr lang="en-US" sz="1150" dirty="0"/>
          </a:p>
        </p:txBody>
      </p:sp>
      <p:sp>
        <p:nvSpPr>
          <p:cNvPr id="93" name="Text 91"/>
          <p:cNvSpPr/>
          <p:nvPr/>
        </p:nvSpPr>
        <p:spPr>
          <a:xfrm>
            <a:off x="768096" y="4626864"/>
            <a:ext cx="2142668" cy="292608"/>
          </a:xfrm>
          <a:prstGeom prst="rect">
            <a:avLst/>
          </a:prstGeom>
          <a:noFill/>
          <a:ln/>
        </p:spPr>
        <p:txBody>
          <a:bodyPr wrap="square" lIns="0" tIns="0" rIns="0" bIns="0" rtlCol="0" anchor="ctr"/>
          <a:lstStyle/>
          <a:p>
            <a:pPr indent="0" marL="0">
              <a:lnSpc>
                <a:spcPts val="1300"/>
              </a:lnSpc>
              <a:buNone/>
            </a:pPr>
            <a:r>
              <a:rPr lang="en-US" sz="950" dirty="0">
                <a:solidFill>
                  <a:srgbClr val="3D4A5C"/>
                </a:solidFill>
                <a:latin typeface="맑은 고딕" pitchFamily="34" charset="0"/>
                <a:ea typeface="맑은 고딕" pitchFamily="34" charset="-122"/>
                <a:cs typeface="맑은 고딕" pitchFamily="34" charset="-120"/>
              </a:rPr>
              <a:t>응집 · 침전 방지</a:t>
            </a:r>
            <a:endParaRPr lang="en-US" sz="950" dirty="0"/>
          </a:p>
        </p:txBody>
      </p:sp>
      <p:sp>
        <p:nvSpPr>
          <p:cNvPr id="94" name="Shape 92"/>
          <p:cNvSpPr/>
          <p:nvPr/>
        </p:nvSpPr>
        <p:spPr>
          <a:xfrm>
            <a:off x="3404540" y="4261104"/>
            <a:ext cx="2545004" cy="786384"/>
          </a:xfrm>
          <a:prstGeom prst="roundRect">
            <a:avLst>
              <a:gd name="adj" fmla="val 16279"/>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95" name="Text 93"/>
          <p:cNvSpPr/>
          <p:nvPr/>
        </p:nvSpPr>
        <p:spPr>
          <a:xfrm>
            <a:off x="3605708" y="4370832"/>
            <a:ext cx="2142668" cy="256032"/>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안정성 · 호환성 확보</a:t>
            </a:r>
            <a:endParaRPr lang="en-US" sz="1150" dirty="0"/>
          </a:p>
        </p:txBody>
      </p:sp>
      <p:sp>
        <p:nvSpPr>
          <p:cNvPr id="96" name="Text 94"/>
          <p:cNvSpPr/>
          <p:nvPr/>
        </p:nvSpPr>
        <p:spPr>
          <a:xfrm>
            <a:off x="3605708" y="4626864"/>
            <a:ext cx="2142668" cy="292608"/>
          </a:xfrm>
          <a:prstGeom prst="rect">
            <a:avLst/>
          </a:prstGeom>
          <a:noFill/>
          <a:ln/>
        </p:spPr>
        <p:txBody>
          <a:bodyPr wrap="square" lIns="0" tIns="0" rIns="0" bIns="0" rtlCol="0" anchor="ctr"/>
          <a:lstStyle/>
          <a:p>
            <a:pPr indent="0" marL="0">
              <a:lnSpc>
                <a:spcPts val="1300"/>
              </a:lnSpc>
              <a:buNone/>
            </a:pPr>
            <a:r>
              <a:rPr lang="en-US" sz="950" dirty="0">
                <a:solidFill>
                  <a:srgbClr val="3D4A5C"/>
                </a:solidFill>
                <a:latin typeface="맑은 고딕" pitchFamily="34" charset="0"/>
                <a:ea typeface="맑은 고딕" pitchFamily="34" charset="-122"/>
                <a:cs typeface="맑은 고딕" pitchFamily="34" charset="-120"/>
              </a:rPr>
              <a:t>블렌드 간 불호환 완화</a:t>
            </a:r>
            <a:endParaRPr lang="en-US" sz="950" dirty="0"/>
          </a:p>
        </p:txBody>
      </p:sp>
      <p:sp>
        <p:nvSpPr>
          <p:cNvPr id="97" name="Shape 95"/>
          <p:cNvSpPr/>
          <p:nvPr/>
        </p:nvSpPr>
        <p:spPr>
          <a:xfrm>
            <a:off x="6242152" y="4261104"/>
            <a:ext cx="2545004" cy="786384"/>
          </a:xfrm>
          <a:prstGeom prst="roundRect">
            <a:avLst>
              <a:gd name="adj" fmla="val 16279"/>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98" name="Text 96"/>
          <p:cNvSpPr/>
          <p:nvPr/>
        </p:nvSpPr>
        <p:spPr>
          <a:xfrm>
            <a:off x="6443320" y="4370832"/>
            <a:ext cx="2142668" cy="256032"/>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정유기 · 필터 효율</a:t>
            </a:r>
            <a:endParaRPr lang="en-US" sz="1150" dirty="0"/>
          </a:p>
        </p:txBody>
      </p:sp>
      <p:sp>
        <p:nvSpPr>
          <p:cNvPr id="99" name="Text 97"/>
          <p:cNvSpPr/>
          <p:nvPr/>
        </p:nvSpPr>
        <p:spPr>
          <a:xfrm>
            <a:off x="6443320" y="4626864"/>
            <a:ext cx="2142668" cy="292608"/>
          </a:xfrm>
          <a:prstGeom prst="rect">
            <a:avLst/>
          </a:prstGeom>
          <a:noFill/>
          <a:ln/>
        </p:spPr>
        <p:txBody>
          <a:bodyPr wrap="square" lIns="0" tIns="0" rIns="0" bIns="0" rtlCol="0" anchor="ctr"/>
          <a:lstStyle/>
          <a:p>
            <a:pPr indent="0" marL="0">
              <a:lnSpc>
                <a:spcPts val="1300"/>
              </a:lnSpc>
              <a:buNone/>
            </a:pPr>
            <a:r>
              <a:rPr lang="en-US" sz="950" dirty="0">
                <a:solidFill>
                  <a:srgbClr val="3D4A5C"/>
                </a:solidFill>
                <a:latin typeface="맑은 고딕" pitchFamily="34" charset="0"/>
                <a:ea typeface="맑은 고딕" pitchFamily="34" charset="-122"/>
                <a:cs typeface="맑은 고딕" pitchFamily="34" charset="-120"/>
              </a:rPr>
              <a:t>막힘 방지 — Section 01 슬라이드 07</a:t>
            </a:r>
            <a:endParaRPr lang="en-US" sz="950" dirty="0"/>
          </a:p>
        </p:txBody>
      </p:sp>
      <p:sp>
        <p:nvSpPr>
          <p:cNvPr id="100" name="Shape 98"/>
          <p:cNvSpPr/>
          <p:nvPr/>
        </p:nvSpPr>
        <p:spPr>
          <a:xfrm>
            <a:off x="9079763" y="4261104"/>
            <a:ext cx="2545004" cy="786384"/>
          </a:xfrm>
          <a:prstGeom prst="roundRect">
            <a:avLst>
              <a:gd name="adj" fmla="val 16279"/>
            </a:avLst>
          </a:prstGeom>
          <a:solidFill>
            <a:srgbClr val="1B3A5C"/>
          </a:solidFill>
          <a:ln w="9525">
            <a:solidFill>
              <a:srgbClr val="1B3A5C"/>
            </a:solidFill>
            <a:prstDash val="solid"/>
          </a:ln>
          <a:effectLst>
            <a:outerShdw sx="100000" sy="100000" kx="0" ky="0" algn="bl" rotWithShape="0" blurRad="127000" dist="25400" dir="5400000">
              <a:srgbClr val="9BAAC4">
                <a:alpha val="22000"/>
              </a:srgbClr>
            </a:outerShdw>
          </a:effectLst>
        </p:spPr>
      </p:sp>
      <p:sp>
        <p:nvSpPr>
          <p:cNvPr id="101" name="Text 99"/>
          <p:cNvSpPr/>
          <p:nvPr/>
        </p:nvSpPr>
        <p:spPr>
          <a:xfrm>
            <a:off x="9280931" y="4370832"/>
            <a:ext cx="2142668" cy="256032"/>
          </a:xfrm>
          <a:prstGeom prst="rect">
            <a:avLst/>
          </a:prstGeom>
          <a:noFill/>
          <a:ln/>
        </p:spPr>
        <p:txBody>
          <a:bodyPr wrap="square" lIns="0" tIns="0" rIns="0" bIns="0" rtlCol="0" anchor="ctr"/>
          <a:lstStyle/>
          <a:p>
            <a:pPr indent="0" marL="0">
              <a:buNone/>
            </a:pPr>
            <a:r>
              <a:rPr lang="en-US" sz="1150" b="1" dirty="0">
                <a:solidFill>
                  <a:srgbClr val="E17B34"/>
                </a:solidFill>
                <a:latin typeface="맑은 고딕" pitchFamily="34" charset="0"/>
                <a:ea typeface="맑은 고딕" pitchFamily="34" charset="-122"/>
                <a:cs typeface="맑은 고딕" pitchFamily="34" charset="-120"/>
              </a:rPr>
              <a:t>투입 비율</a:t>
            </a:r>
            <a:endParaRPr lang="en-US" sz="1150" dirty="0"/>
          </a:p>
        </p:txBody>
      </p:sp>
      <p:sp>
        <p:nvSpPr>
          <p:cNvPr id="102" name="Text 100"/>
          <p:cNvSpPr/>
          <p:nvPr/>
        </p:nvSpPr>
        <p:spPr>
          <a:xfrm>
            <a:off x="9280931" y="4626864"/>
            <a:ext cx="2142668" cy="292608"/>
          </a:xfrm>
          <a:prstGeom prst="rect">
            <a:avLst/>
          </a:prstGeom>
          <a:noFill/>
          <a:ln/>
        </p:spPr>
        <p:txBody>
          <a:bodyPr wrap="square" lIns="0" tIns="0" rIns="0" bIns="0" rtlCol="0" anchor="ctr"/>
          <a:lstStyle/>
          <a:p>
            <a:pPr indent="0" marL="0">
              <a:lnSpc>
                <a:spcPts val="1300"/>
              </a:lnSpc>
              <a:buNone/>
            </a:pPr>
            <a:r>
              <a:rPr lang="en-US" sz="950" dirty="0">
                <a:solidFill>
                  <a:srgbClr val="D6E0EE"/>
                </a:solidFill>
                <a:latin typeface="맑은 고딕" pitchFamily="34" charset="0"/>
                <a:ea typeface="맑은 고딕" pitchFamily="34" charset="-122"/>
                <a:cs typeface="맑은 고딕" pitchFamily="34" charset="-120"/>
              </a:rPr>
              <a:t>1 : 10,000  (연료 10톤당 1 L)</a:t>
            </a:r>
            <a:endParaRPr lang="en-US" sz="950" dirty="0"/>
          </a:p>
        </p:txBody>
      </p:sp>
      <p:sp>
        <p:nvSpPr>
          <p:cNvPr id="103" name="Shape 101"/>
          <p:cNvSpPr/>
          <p:nvPr/>
        </p:nvSpPr>
        <p:spPr>
          <a:xfrm>
            <a:off x="566928" y="5230368"/>
            <a:ext cx="11057839" cy="786384"/>
          </a:xfrm>
          <a:prstGeom prst="roundRect">
            <a:avLst>
              <a:gd name="adj" fmla="val 11628"/>
            </a:avLst>
          </a:prstGeom>
          <a:solidFill>
            <a:srgbClr val="1B3A5C"/>
          </a:solidFill>
          <a:ln w="12700">
            <a:solidFill>
              <a:srgbClr val="1B3A5C"/>
            </a:solidFill>
            <a:prstDash val="solid"/>
          </a:ln>
        </p:spPr>
      </p:sp>
      <p:sp>
        <p:nvSpPr>
          <p:cNvPr id="104" name="Text 102"/>
          <p:cNvSpPr/>
          <p:nvPr/>
        </p:nvSpPr>
        <p:spPr>
          <a:xfrm>
            <a:off x="795528" y="5230368"/>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분리기가 걸러내지 못하는 것은 애초에 뭉치지 않게 만드는 것이 답입니다.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105" name="Text 103"/>
          <p:cNvSpPr/>
          <p:nvPr/>
        </p:nvSpPr>
        <p:spPr>
          <a:xfrm>
            <a:off x="566928" y="6144768"/>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Unitor™ FuelPower™ Conditioner 제품 자료 · Lloyd's Register FOBAS 검증</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14   윤활성 ①</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200" dirty="0">
                <a:solidFill>
                  <a:srgbClr val="1B3A5C"/>
                </a:solidFill>
                <a:latin typeface="바탕" pitchFamily="34" charset="0"/>
                <a:ea typeface="바탕" pitchFamily="34" charset="-122"/>
                <a:cs typeface="바탕" pitchFamily="34" charset="-120"/>
              </a:rPr>
              <a:t>탈황 공정 중 천연 윤활 역할을 하던 성분 동시 제거</a:t>
            </a:r>
            <a:endParaRPr lang="en-US" sz="32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15</a:t>
            </a:r>
            <a:endParaRPr lang="en-US" sz="950" dirty="0"/>
          </a:p>
        </p:txBody>
      </p:sp>
      <p:sp>
        <p:nvSpPr>
          <p:cNvPr id="6" name="Shape 4"/>
          <p:cNvSpPr/>
          <p:nvPr/>
        </p:nvSpPr>
        <p:spPr>
          <a:xfrm>
            <a:off x="566928" y="1591056"/>
            <a:ext cx="4315968" cy="3346704"/>
          </a:xfrm>
          <a:prstGeom prst="roundRect">
            <a:avLst>
              <a:gd name="adj" fmla="val 3825"/>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Text 5"/>
          <p:cNvSpPr/>
          <p:nvPr/>
        </p:nvSpPr>
        <p:spPr>
          <a:xfrm>
            <a:off x="804672" y="1792224"/>
            <a:ext cx="3840480"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WHY IT HAPPENS</a:t>
            </a:r>
            <a:endParaRPr lang="en-US" sz="950" dirty="0"/>
          </a:p>
        </p:txBody>
      </p:sp>
      <p:sp>
        <p:nvSpPr>
          <p:cNvPr id="8" name="Shape 6"/>
          <p:cNvSpPr/>
          <p:nvPr/>
        </p:nvSpPr>
        <p:spPr>
          <a:xfrm>
            <a:off x="804672" y="2194560"/>
            <a:ext cx="274320" cy="274320"/>
          </a:xfrm>
          <a:prstGeom prst="roundRect">
            <a:avLst>
              <a:gd name="adj" fmla="val 50000"/>
            </a:avLst>
          </a:prstGeom>
          <a:solidFill>
            <a:srgbClr val="2E5C8A"/>
          </a:solidFill>
          <a:ln w="12700">
            <a:solidFill>
              <a:srgbClr val="333333"/>
            </a:solidFill>
            <a:prstDash val="solid"/>
          </a:ln>
        </p:spPr>
      </p:sp>
      <p:sp>
        <p:nvSpPr>
          <p:cNvPr id="9" name="Text 7"/>
          <p:cNvSpPr/>
          <p:nvPr/>
        </p:nvSpPr>
        <p:spPr>
          <a:xfrm>
            <a:off x="804672" y="21945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1</a:t>
            </a:r>
            <a:endParaRPr lang="en-US" sz="1000" dirty="0"/>
          </a:p>
        </p:txBody>
      </p:sp>
      <p:sp>
        <p:nvSpPr>
          <p:cNvPr id="10" name="Text 8"/>
          <p:cNvSpPr/>
          <p:nvPr/>
        </p:nvSpPr>
        <p:spPr>
          <a:xfrm>
            <a:off x="1188720" y="2157984"/>
            <a:ext cx="3456432" cy="310896"/>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ECA · SECA 확대</a:t>
            </a:r>
            <a:endParaRPr lang="en-US" sz="1250" dirty="0"/>
          </a:p>
        </p:txBody>
      </p:sp>
      <p:sp>
        <p:nvSpPr>
          <p:cNvPr id="11" name="Text 9"/>
          <p:cNvSpPr/>
          <p:nvPr/>
        </p:nvSpPr>
        <p:spPr>
          <a:xfrm>
            <a:off x="1188720" y="2450592"/>
            <a:ext cx="3456432" cy="256032"/>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저유황 디젤 사용 의무</a:t>
            </a:r>
            <a:endParaRPr lang="en-US" sz="1050" dirty="0"/>
          </a:p>
        </p:txBody>
      </p:sp>
      <p:sp>
        <p:nvSpPr>
          <p:cNvPr id="12" name="Text 10"/>
          <p:cNvSpPr/>
          <p:nvPr/>
        </p:nvSpPr>
        <p:spPr>
          <a:xfrm>
            <a:off x="804672" y="2505456"/>
            <a:ext cx="274320" cy="237744"/>
          </a:xfrm>
          <a:prstGeom prst="rect">
            <a:avLst/>
          </a:prstGeom>
          <a:noFill/>
          <a:ln/>
        </p:spPr>
        <p:txBody>
          <a:bodyPr wrap="square" lIns="0" tIns="0" rIns="0" bIns="0" rtlCol="0" anchor="ctr"/>
          <a:lstStyle/>
          <a:p>
            <a:pPr algn="ctr" indent="0" marL="0">
              <a:buNone/>
            </a:pPr>
            <a:r>
              <a:rPr lang="en-US" sz="700" dirty="0">
                <a:solidFill>
                  <a:srgbClr val="B9C4D6"/>
                </a:solidFill>
                <a:latin typeface="맑은 고딕" pitchFamily="34" charset="0"/>
                <a:ea typeface="맑은 고딕" pitchFamily="34" charset="-122"/>
                <a:cs typeface="맑은 고딕" pitchFamily="34" charset="-120"/>
              </a:rPr>
              <a:t>▼</a:t>
            </a:r>
            <a:endParaRPr lang="en-US" sz="700" dirty="0"/>
          </a:p>
        </p:txBody>
      </p:sp>
      <p:sp>
        <p:nvSpPr>
          <p:cNvPr id="13" name="Shape 11"/>
          <p:cNvSpPr/>
          <p:nvPr/>
        </p:nvSpPr>
        <p:spPr>
          <a:xfrm>
            <a:off x="804672" y="2852928"/>
            <a:ext cx="274320" cy="274320"/>
          </a:xfrm>
          <a:prstGeom prst="roundRect">
            <a:avLst>
              <a:gd name="adj" fmla="val 50000"/>
            </a:avLst>
          </a:prstGeom>
          <a:solidFill>
            <a:srgbClr val="2E5C8A"/>
          </a:solidFill>
          <a:ln w="12700">
            <a:solidFill>
              <a:srgbClr val="333333"/>
            </a:solidFill>
            <a:prstDash val="solid"/>
          </a:ln>
        </p:spPr>
      </p:sp>
      <p:sp>
        <p:nvSpPr>
          <p:cNvPr id="14" name="Text 12"/>
          <p:cNvSpPr/>
          <p:nvPr/>
        </p:nvSpPr>
        <p:spPr>
          <a:xfrm>
            <a:off x="804672" y="28529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2</a:t>
            </a:r>
            <a:endParaRPr lang="en-US" sz="1000" dirty="0"/>
          </a:p>
        </p:txBody>
      </p:sp>
      <p:sp>
        <p:nvSpPr>
          <p:cNvPr id="15" name="Text 13"/>
          <p:cNvSpPr/>
          <p:nvPr/>
        </p:nvSpPr>
        <p:spPr>
          <a:xfrm>
            <a:off x="1188720" y="2816352"/>
            <a:ext cx="3456432" cy="310896"/>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탈황 정제</a:t>
            </a:r>
            <a:endParaRPr lang="en-US" sz="1250" dirty="0"/>
          </a:p>
        </p:txBody>
      </p:sp>
      <p:sp>
        <p:nvSpPr>
          <p:cNvPr id="16" name="Text 14"/>
          <p:cNvSpPr/>
          <p:nvPr/>
        </p:nvSpPr>
        <p:spPr>
          <a:xfrm>
            <a:off x="1188720" y="3108960"/>
            <a:ext cx="3456432" cy="256032"/>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황을 걷어내는 공정</a:t>
            </a:r>
            <a:endParaRPr lang="en-US" sz="1050" dirty="0"/>
          </a:p>
        </p:txBody>
      </p:sp>
      <p:sp>
        <p:nvSpPr>
          <p:cNvPr id="17" name="Text 15"/>
          <p:cNvSpPr/>
          <p:nvPr/>
        </p:nvSpPr>
        <p:spPr>
          <a:xfrm>
            <a:off x="804672" y="3163824"/>
            <a:ext cx="274320" cy="237744"/>
          </a:xfrm>
          <a:prstGeom prst="rect">
            <a:avLst/>
          </a:prstGeom>
          <a:noFill/>
          <a:ln/>
        </p:spPr>
        <p:txBody>
          <a:bodyPr wrap="square" lIns="0" tIns="0" rIns="0" bIns="0" rtlCol="0" anchor="ctr"/>
          <a:lstStyle/>
          <a:p>
            <a:pPr algn="ctr" indent="0" marL="0">
              <a:buNone/>
            </a:pPr>
            <a:r>
              <a:rPr lang="en-US" sz="700" dirty="0">
                <a:solidFill>
                  <a:srgbClr val="B9C4D6"/>
                </a:solidFill>
                <a:latin typeface="맑은 고딕" pitchFamily="34" charset="0"/>
                <a:ea typeface="맑은 고딕" pitchFamily="34" charset="-122"/>
                <a:cs typeface="맑은 고딕" pitchFamily="34" charset="-120"/>
              </a:rPr>
              <a:t>▼</a:t>
            </a:r>
            <a:endParaRPr lang="en-US" sz="700" dirty="0"/>
          </a:p>
        </p:txBody>
      </p:sp>
      <p:sp>
        <p:nvSpPr>
          <p:cNvPr id="18" name="Shape 16"/>
          <p:cNvSpPr/>
          <p:nvPr/>
        </p:nvSpPr>
        <p:spPr>
          <a:xfrm>
            <a:off x="804672" y="3511296"/>
            <a:ext cx="274320" cy="274320"/>
          </a:xfrm>
          <a:prstGeom prst="roundRect">
            <a:avLst>
              <a:gd name="adj" fmla="val 50000"/>
            </a:avLst>
          </a:prstGeom>
          <a:solidFill>
            <a:srgbClr val="2E5C8A"/>
          </a:solidFill>
          <a:ln w="12700">
            <a:solidFill>
              <a:srgbClr val="333333"/>
            </a:solidFill>
            <a:prstDash val="solid"/>
          </a:ln>
        </p:spPr>
      </p:sp>
      <p:sp>
        <p:nvSpPr>
          <p:cNvPr id="19" name="Text 17"/>
          <p:cNvSpPr/>
          <p:nvPr/>
        </p:nvSpPr>
        <p:spPr>
          <a:xfrm>
            <a:off x="804672" y="351129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3</a:t>
            </a:r>
            <a:endParaRPr lang="en-US" sz="1000" dirty="0"/>
          </a:p>
        </p:txBody>
      </p:sp>
      <p:sp>
        <p:nvSpPr>
          <p:cNvPr id="20" name="Text 18"/>
          <p:cNvSpPr/>
          <p:nvPr/>
        </p:nvSpPr>
        <p:spPr>
          <a:xfrm>
            <a:off x="1188720" y="3474720"/>
            <a:ext cx="3456432" cy="310896"/>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극성 성분 동반 제거</a:t>
            </a:r>
            <a:endParaRPr lang="en-US" sz="1250" dirty="0"/>
          </a:p>
        </p:txBody>
      </p:sp>
      <p:sp>
        <p:nvSpPr>
          <p:cNvPr id="21" name="Text 19"/>
          <p:cNvSpPr/>
          <p:nvPr/>
        </p:nvSpPr>
        <p:spPr>
          <a:xfrm>
            <a:off x="1188720" y="3767328"/>
            <a:ext cx="3456432" cy="256032"/>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천연 윤활 성분이 같이 빠짐</a:t>
            </a:r>
            <a:endParaRPr lang="en-US" sz="1050" dirty="0"/>
          </a:p>
        </p:txBody>
      </p:sp>
      <p:sp>
        <p:nvSpPr>
          <p:cNvPr id="22" name="Text 20"/>
          <p:cNvSpPr/>
          <p:nvPr/>
        </p:nvSpPr>
        <p:spPr>
          <a:xfrm>
            <a:off x="804672" y="3822192"/>
            <a:ext cx="274320" cy="237744"/>
          </a:xfrm>
          <a:prstGeom prst="rect">
            <a:avLst/>
          </a:prstGeom>
          <a:noFill/>
          <a:ln/>
        </p:spPr>
        <p:txBody>
          <a:bodyPr wrap="square" lIns="0" tIns="0" rIns="0" bIns="0" rtlCol="0" anchor="ctr"/>
          <a:lstStyle/>
          <a:p>
            <a:pPr algn="ctr" indent="0" marL="0">
              <a:buNone/>
            </a:pPr>
            <a:r>
              <a:rPr lang="en-US" sz="700" dirty="0">
                <a:solidFill>
                  <a:srgbClr val="B9C4D6"/>
                </a:solidFill>
                <a:latin typeface="맑은 고딕" pitchFamily="34" charset="0"/>
                <a:ea typeface="맑은 고딕" pitchFamily="34" charset="-122"/>
                <a:cs typeface="맑은 고딕" pitchFamily="34" charset="-120"/>
              </a:rPr>
              <a:t>▼</a:t>
            </a:r>
            <a:endParaRPr lang="en-US" sz="700" dirty="0"/>
          </a:p>
        </p:txBody>
      </p:sp>
      <p:sp>
        <p:nvSpPr>
          <p:cNvPr id="23" name="Shape 21"/>
          <p:cNvSpPr/>
          <p:nvPr/>
        </p:nvSpPr>
        <p:spPr>
          <a:xfrm>
            <a:off x="804672" y="4169664"/>
            <a:ext cx="274320" cy="274320"/>
          </a:xfrm>
          <a:prstGeom prst="roundRect">
            <a:avLst>
              <a:gd name="adj" fmla="val 50000"/>
            </a:avLst>
          </a:prstGeom>
          <a:solidFill>
            <a:srgbClr val="C0392B"/>
          </a:solidFill>
          <a:ln w="12700">
            <a:solidFill>
              <a:srgbClr val="333333"/>
            </a:solidFill>
            <a:prstDash val="solid"/>
          </a:ln>
        </p:spPr>
      </p:sp>
      <p:sp>
        <p:nvSpPr>
          <p:cNvPr id="24" name="Text 22"/>
          <p:cNvSpPr/>
          <p:nvPr/>
        </p:nvSpPr>
        <p:spPr>
          <a:xfrm>
            <a:off x="804672" y="416966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4</a:t>
            </a:r>
            <a:endParaRPr lang="en-US" sz="1000" dirty="0"/>
          </a:p>
        </p:txBody>
      </p:sp>
      <p:sp>
        <p:nvSpPr>
          <p:cNvPr id="25" name="Text 23"/>
          <p:cNvSpPr/>
          <p:nvPr/>
        </p:nvSpPr>
        <p:spPr>
          <a:xfrm>
            <a:off x="1188720" y="4133088"/>
            <a:ext cx="3456432" cy="310896"/>
          </a:xfrm>
          <a:prstGeom prst="rect">
            <a:avLst/>
          </a:prstGeom>
          <a:noFill/>
          <a:ln/>
        </p:spPr>
        <p:txBody>
          <a:bodyPr wrap="square" lIns="0" tIns="0" rIns="0" bIns="0" rtlCol="0" anchor="ctr"/>
          <a:lstStyle/>
          <a:p>
            <a:pPr indent="0" marL="0">
              <a:buNone/>
            </a:pPr>
            <a:r>
              <a:rPr lang="en-US" sz="1250" b="1" dirty="0">
                <a:solidFill>
                  <a:srgbClr val="C0392B"/>
                </a:solidFill>
                <a:latin typeface="맑은 고딕" pitchFamily="34" charset="0"/>
                <a:ea typeface="맑은 고딕" pitchFamily="34" charset="-122"/>
                <a:cs typeface="맑은 고딕" pitchFamily="34" charset="-120"/>
              </a:rPr>
              <a:t>윤활성 저하</a:t>
            </a:r>
            <a:endParaRPr lang="en-US" sz="1250" dirty="0"/>
          </a:p>
        </p:txBody>
      </p:sp>
      <p:sp>
        <p:nvSpPr>
          <p:cNvPr id="26" name="Text 24"/>
          <p:cNvSpPr/>
          <p:nvPr/>
        </p:nvSpPr>
        <p:spPr>
          <a:xfrm>
            <a:off x="1188720" y="4425696"/>
            <a:ext cx="3456432" cy="256032"/>
          </a:xfrm>
          <a:prstGeom prst="rect">
            <a:avLst/>
          </a:prstGeom>
          <a:noFill/>
          <a:ln/>
        </p:spPr>
        <p:txBody>
          <a:bodyPr wrap="square" lIns="0" tIns="0" rIns="0" bIns="0" rtlCol="0" anchor="ctr"/>
          <a:lstStyle/>
          <a:p>
            <a:pPr indent="0" marL="0">
              <a:buNone/>
            </a:pPr>
            <a:r>
              <a:rPr lang="en-US" sz="1050" dirty="0">
                <a:solidFill>
                  <a:srgbClr val="3D4A5C"/>
                </a:solidFill>
                <a:latin typeface="맑은 고딕" pitchFamily="34" charset="0"/>
                <a:ea typeface="맑은 고딕" pitchFamily="34" charset="-122"/>
                <a:cs typeface="맑은 고딕" pitchFamily="34" charset="-120"/>
              </a:rPr>
              <a:t>금속끼리 직접 닿기 시작</a:t>
            </a:r>
            <a:endParaRPr lang="en-US" sz="1050" dirty="0"/>
          </a:p>
        </p:txBody>
      </p:sp>
      <p:sp>
        <p:nvSpPr>
          <p:cNvPr id="27" name="Shape 25"/>
          <p:cNvSpPr/>
          <p:nvPr/>
        </p:nvSpPr>
        <p:spPr>
          <a:xfrm>
            <a:off x="5175504" y="1591056"/>
            <a:ext cx="6446520" cy="3346704"/>
          </a:xfrm>
          <a:prstGeom prst="roundRect">
            <a:avLst>
              <a:gd name="adj" fmla="val 3825"/>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28" name="Text 26"/>
          <p:cNvSpPr/>
          <p:nvPr/>
        </p:nvSpPr>
        <p:spPr>
          <a:xfrm>
            <a:off x="5431536" y="1792224"/>
            <a:ext cx="5120640" cy="219456"/>
          </a:xfrm>
          <a:prstGeom prst="rect">
            <a:avLst/>
          </a:prstGeom>
          <a:noFill/>
          <a:ln/>
        </p:spPr>
        <p:txBody>
          <a:bodyPr wrap="square" lIns="0" tIns="0" rIns="0" bIns="0" rtlCol="0" anchor="ctr"/>
          <a:lstStyle/>
          <a:p>
            <a:pPr indent="0" marL="0">
              <a:buNone/>
            </a:pPr>
            <a:r>
              <a:rPr lang="en-US" sz="950" b="1" spc="180" kern="0" dirty="0">
                <a:solidFill>
                  <a:srgbClr val="C0392B"/>
                </a:solidFill>
                <a:latin typeface="맑은 고딕" pitchFamily="34" charset="0"/>
                <a:ea typeface="맑은 고딕" pitchFamily="34" charset="-122"/>
                <a:cs typeface="맑은 고딕" pitchFamily="34" charset="-120"/>
              </a:rPr>
              <a:t>IMPACT ON MACHINERY — PLUNGER &amp; INJECTOR</a:t>
            </a:r>
            <a:endParaRPr lang="en-US" sz="950" dirty="0"/>
          </a:p>
        </p:txBody>
      </p:sp>
      <p:sp>
        <p:nvSpPr>
          <p:cNvPr id="29" name="Text 27"/>
          <p:cNvSpPr/>
          <p:nvPr/>
        </p:nvSpPr>
        <p:spPr>
          <a:xfrm>
            <a:off x="5431536" y="2011680"/>
            <a:ext cx="5934456" cy="274320"/>
          </a:xfrm>
          <a:prstGeom prst="rect">
            <a:avLst/>
          </a:prstGeom>
          <a:noFill/>
          <a:ln/>
        </p:spPr>
        <p:txBody>
          <a:bodyPr wrap="square" lIns="0" tIns="0" rIns="0" bIns="0" rtlCol="0" anchor="ctr"/>
          <a:lstStyle/>
          <a:p>
            <a:pPr indent="0" marL="0">
              <a:buNone/>
            </a:pPr>
            <a:r>
              <a:rPr lang="en-US" sz="1250" b="1" dirty="0">
                <a:solidFill>
                  <a:srgbClr val="1B3A5C"/>
                </a:solidFill>
                <a:latin typeface="맑은 고딕" pitchFamily="34" charset="0"/>
                <a:ea typeface="맑은 고딕" pitchFamily="34" charset="-122"/>
                <a:cs typeface="맑은 고딕" pitchFamily="34" charset="-120"/>
              </a:rPr>
              <a:t>윤활성을 잃은 MGO를 그대로 쓰면 금속과 금속이 직접 마찰합니다</a:t>
            </a:r>
            <a:endParaRPr lang="en-US" sz="1250" dirty="0"/>
          </a:p>
        </p:txBody>
      </p:sp>
      <p:sp>
        <p:nvSpPr>
          <p:cNvPr id="30" name="Shape 28"/>
          <p:cNvSpPr/>
          <p:nvPr/>
        </p:nvSpPr>
        <p:spPr>
          <a:xfrm>
            <a:off x="5431536" y="2395728"/>
            <a:ext cx="256032" cy="256032"/>
          </a:xfrm>
          <a:prstGeom prst="roundRect">
            <a:avLst>
              <a:gd name="adj" fmla="val 50000"/>
            </a:avLst>
          </a:prstGeom>
          <a:solidFill>
            <a:srgbClr val="C0392B"/>
          </a:solidFill>
          <a:ln w="12700">
            <a:solidFill>
              <a:srgbClr val="333333"/>
            </a:solidFill>
            <a:prstDash val="solid"/>
          </a:ln>
        </p:spPr>
      </p:sp>
      <p:sp>
        <p:nvSpPr>
          <p:cNvPr id="31" name="Text 29"/>
          <p:cNvSpPr/>
          <p:nvPr/>
        </p:nvSpPr>
        <p:spPr>
          <a:xfrm>
            <a:off x="5431536" y="2395728"/>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32" name="Text 30"/>
          <p:cNvSpPr/>
          <p:nvPr/>
        </p:nvSpPr>
        <p:spPr>
          <a:xfrm>
            <a:off x="5779008" y="2377440"/>
            <a:ext cx="5586984" cy="292608"/>
          </a:xfrm>
          <a:prstGeom prst="rect">
            <a:avLst/>
          </a:prstGeom>
          <a:noFill/>
          <a:ln/>
        </p:spPr>
        <p:txBody>
          <a:bodyPr wrap="square" lIns="0" tIns="0" rIns="0" bIns="0" rtlCol="0" anchor="ctr"/>
          <a:lstStyle/>
          <a:p>
            <a:pPr indent="0" marL="0">
              <a:buNone/>
            </a:pPr>
            <a:r>
              <a:rPr lang="en-US" sz="1200" b="1" dirty="0">
                <a:solidFill>
                  <a:srgbClr val="1B3A5C"/>
                </a:solidFill>
                <a:latin typeface="맑은 고딕" pitchFamily="34" charset="0"/>
                <a:ea typeface="맑은 고딕" pitchFamily="34" charset="-122"/>
                <a:cs typeface="맑은 고딕" pitchFamily="34" charset="-120"/>
              </a:rPr>
              <a:t>연료 분사 펌프 플런저 고착  </a:t>
            </a:r>
            <a:pPr indent="0" marL="0">
              <a:buNone/>
            </a:pPr>
            <a:r>
              <a:rPr lang="en-US" sz="950" i="1" dirty="0">
                <a:solidFill>
                  <a:srgbClr val="8A94A6"/>
                </a:solidFill>
                <a:latin typeface="맑은 고딕" pitchFamily="34" charset="0"/>
                <a:ea typeface="맑은 고딕" pitchFamily="34" charset="-122"/>
                <a:cs typeface="맑은 고딕" pitchFamily="34" charset="-120"/>
              </a:rPr>
              <a:t>Seizure</a:t>
            </a:r>
            <a:endParaRPr lang="en-US" sz="1200" dirty="0"/>
          </a:p>
        </p:txBody>
      </p:sp>
      <p:sp>
        <p:nvSpPr>
          <p:cNvPr id="33" name="Text 31"/>
          <p:cNvSpPr/>
          <p:nvPr/>
        </p:nvSpPr>
        <p:spPr>
          <a:xfrm>
            <a:off x="5779008" y="2651760"/>
            <a:ext cx="5586984" cy="402336"/>
          </a:xfrm>
          <a:prstGeom prst="rect">
            <a:avLst/>
          </a:prstGeom>
          <a:noFill/>
          <a:ln/>
        </p:spPr>
        <p:txBody>
          <a:bodyPr wrap="square" lIns="0" tIns="0" rIns="0" bIns="0" rtlCol="0" anchor="t"/>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플런저와 배럴 사이 공차는 불과 </a:t>
            </a:r>
            <a:pPr indent="0" marL="0">
              <a:lnSpc>
                <a:spcPts val="1400"/>
              </a:lnSpc>
              <a:buNone/>
            </a:pPr>
            <a:r>
              <a:rPr lang="en-US" sz="1000" b="1" dirty="0">
                <a:solidFill>
                  <a:srgbClr val="C0392B"/>
                </a:solidFill>
                <a:latin typeface="맑은 고딕" pitchFamily="34" charset="0"/>
                <a:ea typeface="맑은 고딕" pitchFamily="34" charset="-122"/>
                <a:cs typeface="맑은 고딕" pitchFamily="34" charset="-120"/>
              </a:rPr>
              <a:t>수 µm</a:t>
            </a:r>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 단위입니다. 별도 윤활유 없이 MGO 자체가 윤활제 역할을 하는데, 유막이 깨지면 금속 응착과 </a:t>
            </a:r>
            <a:pPr indent="0" marL="0">
              <a:lnSpc>
                <a:spcPts val="1400"/>
              </a:lnSpc>
              <a:buNone/>
            </a:pPr>
            <a:r>
              <a:rPr lang="en-US" sz="1000" b="1" dirty="0">
                <a:solidFill>
                  <a:srgbClr val="1B3A5C"/>
                </a:solidFill>
                <a:latin typeface="맑은 고딕" pitchFamily="34" charset="0"/>
                <a:ea typeface="맑은 고딕" pitchFamily="34" charset="-122"/>
                <a:cs typeface="맑은 고딕" pitchFamily="34" charset="-120"/>
              </a:rPr>
              <a:t>스커핑(Scuffing)</a:t>
            </a:r>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이 일어나 펌프가 굳습니다.</a:t>
            </a:r>
            <a:endParaRPr lang="en-US" sz="1000" dirty="0"/>
          </a:p>
        </p:txBody>
      </p:sp>
      <p:sp>
        <p:nvSpPr>
          <p:cNvPr id="34" name="Shape 32"/>
          <p:cNvSpPr/>
          <p:nvPr/>
        </p:nvSpPr>
        <p:spPr>
          <a:xfrm>
            <a:off x="5431536" y="3072384"/>
            <a:ext cx="5934456" cy="0"/>
          </a:xfrm>
          <a:prstGeom prst="line">
            <a:avLst/>
          </a:prstGeom>
          <a:noFill/>
          <a:ln w="9525">
            <a:solidFill>
              <a:srgbClr val="DFE5F0"/>
            </a:solidFill>
            <a:prstDash val="solid"/>
          </a:ln>
        </p:spPr>
      </p:sp>
      <p:sp>
        <p:nvSpPr>
          <p:cNvPr id="35" name="Shape 33"/>
          <p:cNvSpPr/>
          <p:nvPr/>
        </p:nvSpPr>
        <p:spPr>
          <a:xfrm>
            <a:off x="5431536" y="3145536"/>
            <a:ext cx="256032" cy="256032"/>
          </a:xfrm>
          <a:prstGeom prst="roundRect">
            <a:avLst>
              <a:gd name="adj" fmla="val 50000"/>
            </a:avLst>
          </a:prstGeom>
          <a:solidFill>
            <a:srgbClr val="C0392B"/>
          </a:solidFill>
          <a:ln w="12700">
            <a:solidFill>
              <a:srgbClr val="333333"/>
            </a:solidFill>
            <a:prstDash val="solid"/>
          </a:ln>
        </p:spPr>
      </p:sp>
      <p:sp>
        <p:nvSpPr>
          <p:cNvPr id="36" name="Text 34"/>
          <p:cNvSpPr/>
          <p:nvPr/>
        </p:nvSpPr>
        <p:spPr>
          <a:xfrm>
            <a:off x="5431536" y="3145536"/>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37" name="Text 35"/>
          <p:cNvSpPr/>
          <p:nvPr/>
        </p:nvSpPr>
        <p:spPr>
          <a:xfrm>
            <a:off x="5779008" y="3127248"/>
            <a:ext cx="5586984" cy="292608"/>
          </a:xfrm>
          <a:prstGeom prst="rect">
            <a:avLst/>
          </a:prstGeom>
          <a:noFill/>
          <a:ln/>
        </p:spPr>
        <p:txBody>
          <a:bodyPr wrap="square" lIns="0" tIns="0" rIns="0" bIns="0" rtlCol="0" anchor="ctr"/>
          <a:lstStyle/>
          <a:p>
            <a:pPr indent="0" marL="0">
              <a:buNone/>
            </a:pPr>
            <a:r>
              <a:rPr lang="en-US" sz="1200" b="1" dirty="0">
                <a:solidFill>
                  <a:srgbClr val="1B3A5C"/>
                </a:solidFill>
                <a:latin typeface="맑은 고딕" pitchFamily="34" charset="0"/>
                <a:ea typeface="맑은 고딕" pitchFamily="34" charset="-122"/>
                <a:cs typeface="맑은 고딕" pitchFamily="34" charset="-120"/>
              </a:rPr>
              <a:t>인젝터 노즐 마모 및 누설  </a:t>
            </a:r>
            <a:pPr indent="0" marL="0">
              <a:buNone/>
            </a:pPr>
            <a:r>
              <a:rPr lang="en-US" sz="950" i="1" dirty="0">
                <a:solidFill>
                  <a:srgbClr val="8A94A6"/>
                </a:solidFill>
                <a:latin typeface="맑은 고딕" pitchFamily="34" charset="0"/>
                <a:ea typeface="맑은 고딕" pitchFamily="34" charset="-122"/>
                <a:cs typeface="맑은 고딕" pitchFamily="34" charset="-120"/>
              </a:rPr>
              <a:t>Leakage</a:t>
            </a:r>
            <a:endParaRPr lang="en-US" sz="1200" dirty="0"/>
          </a:p>
        </p:txBody>
      </p:sp>
      <p:sp>
        <p:nvSpPr>
          <p:cNvPr id="38" name="Text 36"/>
          <p:cNvSpPr/>
          <p:nvPr/>
        </p:nvSpPr>
        <p:spPr>
          <a:xfrm>
            <a:off x="5779008" y="3401568"/>
            <a:ext cx="5586984" cy="402336"/>
          </a:xfrm>
          <a:prstGeom prst="rect">
            <a:avLst/>
          </a:prstGeom>
          <a:noFill/>
          <a:ln/>
        </p:spPr>
        <p:txBody>
          <a:bodyPr wrap="square" lIns="0" tIns="0" rIns="0" bIns="0" rtlCol="0" anchor="t"/>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고압으로 작동하는 니들 밸브가 마모되어 기밀을 잃습니다. </a:t>
            </a:r>
            <a:pPr indent="0" marL="0">
              <a:lnSpc>
                <a:spcPts val="1400"/>
              </a:lnSpc>
              <a:buNone/>
            </a:pPr>
            <a:r>
              <a:rPr lang="en-US" sz="1000" b="1" dirty="0">
                <a:solidFill>
                  <a:srgbClr val="1B3A5C"/>
                </a:solidFill>
                <a:latin typeface="맑은 고딕" pitchFamily="34" charset="0"/>
                <a:ea typeface="맑은 고딕" pitchFamily="34" charset="-122"/>
                <a:cs typeface="맑은 고딕" pitchFamily="34" charset="-120"/>
              </a:rPr>
              <a:t>분사 패턴(Atomization)</a:t>
            </a:r>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이 무너져 불완전 연소와 스모크로 이어집니다.</a:t>
            </a:r>
            <a:endParaRPr lang="en-US" sz="1000" dirty="0"/>
          </a:p>
        </p:txBody>
      </p:sp>
      <p:sp>
        <p:nvSpPr>
          <p:cNvPr id="39" name="Shape 37"/>
          <p:cNvSpPr/>
          <p:nvPr/>
        </p:nvSpPr>
        <p:spPr>
          <a:xfrm>
            <a:off x="5431536" y="3822192"/>
            <a:ext cx="5934456" cy="0"/>
          </a:xfrm>
          <a:prstGeom prst="line">
            <a:avLst/>
          </a:prstGeom>
          <a:noFill/>
          <a:ln w="9525">
            <a:solidFill>
              <a:srgbClr val="DFE5F0"/>
            </a:solidFill>
            <a:prstDash val="solid"/>
          </a:ln>
        </p:spPr>
      </p:sp>
      <p:sp>
        <p:nvSpPr>
          <p:cNvPr id="40" name="Shape 38"/>
          <p:cNvSpPr/>
          <p:nvPr/>
        </p:nvSpPr>
        <p:spPr>
          <a:xfrm>
            <a:off x="5431536" y="3895344"/>
            <a:ext cx="256032" cy="256032"/>
          </a:xfrm>
          <a:prstGeom prst="roundRect">
            <a:avLst>
              <a:gd name="adj" fmla="val 50000"/>
            </a:avLst>
          </a:prstGeom>
          <a:solidFill>
            <a:srgbClr val="C0392B"/>
          </a:solidFill>
          <a:ln w="12700">
            <a:solidFill>
              <a:srgbClr val="333333"/>
            </a:solidFill>
            <a:prstDash val="solid"/>
          </a:ln>
        </p:spPr>
      </p:sp>
      <p:sp>
        <p:nvSpPr>
          <p:cNvPr id="41" name="Text 39"/>
          <p:cNvSpPr/>
          <p:nvPr/>
        </p:nvSpPr>
        <p:spPr>
          <a:xfrm>
            <a:off x="5431536" y="3895344"/>
            <a:ext cx="256032"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42" name="Text 40"/>
          <p:cNvSpPr/>
          <p:nvPr/>
        </p:nvSpPr>
        <p:spPr>
          <a:xfrm>
            <a:off x="5779008" y="3877056"/>
            <a:ext cx="5586984" cy="292608"/>
          </a:xfrm>
          <a:prstGeom prst="rect">
            <a:avLst/>
          </a:prstGeom>
          <a:noFill/>
          <a:ln/>
        </p:spPr>
        <p:txBody>
          <a:bodyPr wrap="square" lIns="0" tIns="0" rIns="0" bIns="0" rtlCol="0" anchor="ctr"/>
          <a:lstStyle/>
          <a:p>
            <a:pPr indent="0" marL="0">
              <a:buNone/>
            </a:pPr>
            <a:r>
              <a:rPr lang="en-US" sz="1200" b="1" dirty="0">
                <a:solidFill>
                  <a:srgbClr val="1B3A5C"/>
                </a:solidFill>
                <a:latin typeface="맑은 고딕" pitchFamily="34" charset="0"/>
                <a:ea typeface="맑은 고딕" pitchFamily="34" charset="-122"/>
                <a:cs typeface="맑은 고딕" pitchFamily="34" charset="-120"/>
              </a:rPr>
              <a:t>HFRR 마모흔 직경 초과  </a:t>
            </a:r>
            <a:pPr indent="0" marL="0">
              <a:buNone/>
            </a:pPr>
            <a:r>
              <a:rPr lang="en-US" sz="950" i="1" dirty="0">
                <a:solidFill>
                  <a:srgbClr val="8A94A6"/>
                </a:solidFill>
                <a:latin typeface="맑은 고딕" pitchFamily="34" charset="0"/>
                <a:ea typeface="맑은 고딕" pitchFamily="34" charset="-122"/>
                <a:cs typeface="맑은 고딕" pitchFamily="34" charset="-120"/>
              </a:rPr>
              <a:t>ISO 12156-1</a:t>
            </a:r>
            <a:endParaRPr lang="en-US" sz="1200" dirty="0"/>
          </a:p>
        </p:txBody>
      </p:sp>
      <p:sp>
        <p:nvSpPr>
          <p:cNvPr id="43" name="Text 41"/>
          <p:cNvSpPr/>
          <p:nvPr/>
        </p:nvSpPr>
        <p:spPr>
          <a:xfrm>
            <a:off x="5779008" y="4151376"/>
            <a:ext cx="5586984" cy="402336"/>
          </a:xfrm>
          <a:prstGeom prst="rect">
            <a:avLst/>
          </a:prstGeom>
          <a:noFill/>
          <a:ln/>
        </p:spPr>
        <p:txBody>
          <a:bodyPr wrap="square" lIns="0" tIns="0" rIns="0" bIns="0" rtlCol="0" anchor="t"/>
          <a:lstStyle/>
          <a:p>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연료가 보호막을 만들지 못한다는 지표입니다. </a:t>
            </a:r>
            <a:pPr indent="0" marL="0">
              <a:lnSpc>
                <a:spcPts val="1400"/>
              </a:lnSpc>
              <a:buNone/>
            </a:pPr>
            <a:r>
              <a:rPr lang="en-US" sz="1000" b="1" dirty="0">
                <a:solidFill>
                  <a:srgbClr val="C0392B"/>
                </a:solidFill>
                <a:latin typeface="맑은 고딕" pitchFamily="34" charset="0"/>
                <a:ea typeface="맑은 고딕" pitchFamily="34" charset="-122"/>
                <a:cs typeface="맑은 고딕" pitchFamily="34" charset="-120"/>
              </a:rPr>
              <a:t>535 µm</a:t>
            </a:r>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 — ISO 8217 520, EN 590 460 을 </a:t>
            </a:r>
            <a:pPr indent="0" marL="0">
              <a:lnSpc>
                <a:spcPts val="1400"/>
              </a:lnSpc>
              <a:buNone/>
            </a:pPr>
            <a:r>
              <a:rPr lang="en-US" sz="1000" b="1" dirty="0">
                <a:solidFill>
                  <a:srgbClr val="C0392B"/>
                </a:solidFill>
                <a:latin typeface="맑은 고딕" pitchFamily="34" charset="0"/>
                <a:ea typeface="맑은 고딕" pitchFamily="34" charset="-122"/>
                <a:cs typeface="맑은 고딕" pitchFamily="34" charset="-120"/>
              </a:rPr>
              <a:t>모두 초과</a:t>
            </a:r>
            <a:pPr indent="0" marL="0">
              <a:lnSpc>
                <a:spcPts val="1400"/>
              </a:lnSpc>
              <a:buNone/>
            </a:pPr>
            <a:r>
              <a:rPr lang="en-US" sz="1000" dirty="0">
                <a:solidFill>
                  <a:srgbClr val="3D4A5C"/>
                </a:solidFill>
                <a:latin typeface="맑은 고딕" pitchFamily="34" charset="0"/>
                <a:ea typeface="맑은 고딕" pitchFamily="34" charset="-122"/>
                <a:cs typeface="맑은 고딕" pitchFamily="34" charset="-120"/>
              </a:rPr>
              <a:t>합니다.</a:t>
            </a:r>
            <a:endParaRPr lang="en-US" sz="1000" dirty="0"/>
          </a:p>
        </p:txBody>
      </p:sp>
      <p:sp>
        <p:nvSpPr>
          <p:cNvPr id="44" name="Shape 42"/>
          <p:cNvSpPr/>
          <p:nvPr/>
        </p:nvSpPr>
        <p:spPr>
          <a:xfrm>
            <a:off x="5431536" y="4553712"/>
            <a:ext cx="5934456" cy="347472"/>
          </a:xfrm>
          <a:prstGeom prst="roundRect">
            <a:avLst>
              <a:gd name="adj" fmla="val 15789"/>
            </a:avLst>
          </a:prstGeom>
          <a:solidFill>
            <a:srgbClr val="EEF2F9"/>
          </a:solidFill>
          <a:ln w="12700">
            <a:solidFill>
              <a:srgbClr val="333333"/>
            </a:solidFill>
            <a:prstDash val="solid"/>
          </a:ln>
        </p:spPr>
      </p:sp>
      <p:sp>
        <p:nvSpPr>
          <p:cNvPr id="45" name="Text 43"/>
          <p:cNvSpPr/>
          <p:nvPr/>
        </p:nvSpPr>
        <p:spPr>
          <a:xfrm>
            <a:off x="5541264" y="4553712"/>
            <a:ext cx="5715000" cy="347472"/>
          </a:xfrm>
          <a:prstGeom prst="rect">
            <a:avLst/>
          </a:prstGeom>
          <a:noFill/>
          <a:ln/>
        </p:spPr>
        <p:txBody>
          <a:bodyPr wrap="square" lIns="0" tIns="0" rIns="0" bIns="0" rtlCol="0" anchor="ctr"/>
          <a:lstStyle/>
          <a:p>
            <a:pPr indent="0" marL="0">
              <a:lnSpc>
                <a:spcPts val="1300"/>
              </a:lnSpc>
              <a:buNone/>
            </a:pPr>
            <a:r>
              <a:rPr lang="en-US" sz="950" i="1" dirty="0">
                <a:solidFill>
                  <a:srgbClr val="2E5C8A"/>
                </a:solidFill>
                <a:latin typeface="맑은 고딕" pitchFamily="34" charset="0"/>
                <a:ea typeface="맑은 고딕" pitchFamily="34" charset="-122"/>
                <a:cs typeface="맑은 고딕" pitchFamily="34" charset="-120"/>
              </a:rPr>
              <a:t>마모흔은 시험구(⌀6 mm 볼)에 생긴 자국의 지름이며 펌프 내부 치수가 아닙니다. 한계선은 실제 분사장비 고장 이력에서 정해졌습니다.</a:t>
            </a:r>
            <a:endParaRPr lang="en-US" sz="950" dirty="0"/>
          </a:p>
        </p:txBody>
      </p:sp>
      <p:sp>
        <p:nvSpPr>
          <p:cNvPr id="46" name="Shape 44"/>
          <p:cNvSpPr/>
          <p:nvPr/>
        </p:nvSpPr>
        <p:spPr>
          <a:xfrm>
            <a:off x="566928" y="5102352"/>
            <a:ext cx="11057839" cy="786384"/>
          </a:xfrm>
          <a:prstGeom prst="roundRect">
            <a:avLst>
              <a:gd name="adj" fmla="val 11628"/>
            </a:avLst>
          </a:prstGeom>
          <a:solidFill>
            <a:srgbClr val="1B3A5C"/>
          </a:solidFill>
          <a:ln w="12700">
            <a:solidFill>
              <a:srgbClr val="1B3A5C"/>
            </a:solidFill>
            <a:prstDash val="solid"/>
          </a:ln>
        </p:spPr>
      </p:sp>
      <p:sp>
        <p:nvSpPr>
          <p:cNvPr id="47" name="Text 45"/>
          <p:cNvSpPr/>
          <p:nvPr/>
        </p:nvSpPr>
        <p:spPr>
          <a:xfrm>
            <a:off x="795528" y="5102352"/>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윤활성은 분리기로 개선할 수 없습니다. 입자가 아니라 연료의 화학적 성질이기 때문입니다.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48" name="Text 46"/>
          <p:cNvSpPr/>
          <p:nvPr/>
        </p:nvSpPr>
        <p:spPr>
          <a:xfrm>
            <a:off x="566928" y="5980176"/>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Unitor™ DieselPower™ Lubricity 제품 매뉴얼 (ISO 12156-1 HFRR 시험) · ISO 8217 / EN 590 규격 한계</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15   윤활성 ②</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DieselPower Lubricity — 실측 결과</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16</a:t>
            </a:r>
            <a:endParaRPr lang="en-US" sz="950" dirty="0"/>
          </a:p>
        </p:txBody>
      </p:sp>
      <p:sp>
        <p:nvSpPr>
          <p:cNvPr id="6" name="Shape 4"/>
          <p:cNvSpPr/>
          <p:nvPr/>
        </p:nvSpPr>
        <p:spPr>
          <a:xfrm>
            <a:off x="566928" y="1591056"/>
            <a:ext cx="6309360" cy="3127248"/>
          </a:xfrm>
          <a:prstGeom prst="roundRect">
            <a:avLst>
              <a:gd name="adj" fmla="val 4094"/>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7" name="Shape 5"/>
          <p:cNvSpPr/>
          <p:nvPr/>
        </p:nvSpPr>
        <p:spPr>
          <a:xfrm>
            <a:off x="877824" y="2351837"/>
            <a:ext cx="5687568" cy="0"/>
          </a:xfrm>
          <a:prstGeom prst="line">
            <a:avLst/>
          </a:prstGeom>
          <a:noFill/>
          <a:ln w="12700">
            <a:solidFill>
              <a:srgbClr val="E6A23C"/>
            </a:solidFill>
            <a:prstDash val="dash"/>
          </a:ln>
        </p:spPr>
      </p:sp>
      <p:sp>
        <p:nvSpPr>
          <p:cNvPr id="8" name="Text 6"/>
          <p:cNvSpPr/>
          <p:nvPr/>
        </p:nvSpPr>
        <p:spPr>
          <a:xfrm>
            <a:off x="5065776" y="2168957"/>
            <a:ext cx="1499616" cy="182880"/>
          </a:xfrm>
          <a:prstGeom prst="rect">
            <a:avLst/>
          </a:prstGeom>
          <a:noFill/>
          <a:ln/>
        </p:spPr>
        <p:txBody>
          <a:bodyPr wrap="square" lIns="0" tIns="0" rIns="0" bIns="0" rtlCol="0" anchor="ctr"/>
          <a:lstStyle/>
          <a:p>
            <a:pPr algn="r" indent="0" marL="0">
              <a:buNone/>
            </a:pPr>
            <a:r>
              <a:rPr lang="en-US" sz="850" b="1" dirty="0">
                <a:solidFill>
                  <a:srgbClr val="E6A23C"/>
                </a:solidFill>
                <a:latin typeface="맑은 고딕" pitchFamily="34" charset="0"/>
                <a:ea typeface="맑은 고딕" pitchFamily="34" charset="-122"/>
                <a:cs typeface="맑은 고딕" pitchFamily="34" charset="-120"/>
              </a:rPr>
              <a:t>ISO 8217  520 µm</a:t>
            </a:r>
            <a:endParaRPr lang="en-US" sz="850" dirty="0"/>
          </a:p>
        </p:txBody>
      </p:sp>
      <p:sp>
        <p:nvSpPr>
          <p:cNvPr id="9" name="Shape 7"/>
          <p:cNvSpPr/>
          <p:nvPr/>
        </p:nvSpPr>
        <p:spPr>
          <a:xfrm>
            <a:off x="877824" y="2593238"/>
            <a:ext cx="5687568" cy="0"/>
          </a:xfrm>
          <a:prstGeom prst="line">
            <a:avLst/>
          </a:prstGeom>
          <a:noFill/>
          <a:ln w="12700">
            <a:solidFill>
              <a:srgbClr val="B9C4D6"/>
            </a:solidFill>
            <a:prstDash val="dash"/>
          </a:ln>
        </p:spPr>
      </p:sp>
      <p:sp>
        <p:nvSpPr>
          <p:cNvPr id="10" name="Text 8"/>
          <p:cNvSpPr/>
          <p:nvPr/>
        </p:nvSpPr>
        <p:spPr>
          <a:xfrm>
            <a:off x="5065776" y="2410358"/>
            <a:ext cx="1499616" cy="182880"/>
          </a:xfrm>
          <a:prstGeom prst="rect">
            <a:avLst/>
          </a:prstGeom>
          <a:noFill/>
          <a:ln/>
        </p:spPr>
        <p:txBody>
          <a:bodyPr wrap="square" lIns="0" tIns="0" rIns="0" bIns="0" rtlCol="0" anchor="ctr"/>
          <a:lstStyle/>
          <a:p>
            <a:pPr algn="r" indent="0" marL="0">
              <a:buNone/>
            </a:pPr>
            <a:r>
              <a:rPr lang="en-US" sz="850" b="1" dirty="0">
                <a:solidFill>
                  <a:srgbClr val="B9C4D6"/>
                </a:solidFill>
                <a:latin typeface="맑은 고딕" pitchFamily="34" charset="0"/>
                <a:ea typeface="맑은 고딕" pitchFamily="34" charset="-122"/>
                <a:cs typeface="맑은 고딕" pitchFamily="34" charset="-120"/>
              </a:rPr>
              <a:t>EN 590  460 µm</a:t>
            </a:r>
            <a:endParaRPr lang="en-US" sz="850" dirty="0"/>
          </a:p>
        </p:txBody>
      </p:sp>
      <p:sp>
        <p:nvSpPr>
          <p:cNvPr id="11" name="Shape 9"/>
          <p:cNvSpPr/>
          <p:nvPr/>
        </p:nvSpPr>
        <p:spPr>
          <a:xfrm>
            <a:off x="1737360" y="2291486"/>
            <a:ext cx="1060704" cy="2152498"/>
          </a:xfrm>
          <a:prstGeom prst="roundRect">
            <a:avLst>
              <a:gd name="adj" fmla="val 4310"/>
            </a:avLst>
          </a:prstGeom>
          <a:solidFill>
            <a:srgbClr val="C0392B"/>
          </a:solidFill>
          <a:ln w="12700">
            <a:solidFill>
              <a:srgbClr val="333333"/>
            </a:solidFill>
            <a:prstDash val="solid"/>
          </a:ln>
        </p:spPr>
      </p:sp>
      <p:sp>
        <p:nvSpPr>
          <p:cNvPr id="12" name="Text 10"/>
          <p:cNvSpPr/>
          <p:nvPr/>
        </p:nvSpPr>
        <p:spPr>
          <a:xfrm>
            <a:off x="1737360" y="1980590"/>
            <a:ext cx="1060704" cy="292608"/>
          </a:xfrm>
          <a:prstGeom prst="rect">
            <a:avLst/>
          </a:prstGeom>
          <a:noFill/>
          <a:ln/>
        </p:spPr>
        <p:txBody>
          <a:bodyPr wrap="square" lIns="0" tIns="0" rIns="0" bIns="0" rtlCol="0" anchor="ctr"/>
          <a:lstStyle/>
          <a:p>
            <a:pPr algn="ctr" indent="0" marL="0">
              <a:buNone/>
            </a:pPr>
            <a:r>
              <a:rPr lang="en-US" sz="1500" b="1" dirty="0">
                <a:solidFill>
                  <a:srgbClr val="C0392B"/>
                </a:solidFill>
                <a:latin typeface="맑은 고딕" pitchFamily="34" charset="0"/>
                <a:ea typeface="맑은 고딕" pitchFamily="34" charset="-122"/>
                <a:cs typeface="맑은 고딕" pitchFamily="34" charset="-120"/>
              </a:rPr>
              <a:t>535</a:t>
            </a:r>
            <a:endParaRPr lang="en-US" sz="1500" dirty="0"/>
          </a:p>
        </p:txBody>
      </p:sp>
      <p:sp>
        <p:nvSpPr>
          <p:cNvPr id="13" name="Text 11"/>
          <p:cNvSpPr/>
          <p:nvPr/>
        </p:nvSpPr>
        <p:spPr>
          <a:xfrm>
            <a:off x="1572768" y="4480560"/>
            <a:ext cx="1389888" cy="237744"/>
          </a:xfrm>
          <a:prstGeom prst="rect">
            <a:avLst/>
          </a:prstGeom>
          <a:noFill/>
          <a:ln/>
        </p:spPr>
        <p:txBody>
          <a:bodyPr wrap="square" lIns="0" tIns="0" rIns="0" bIns="0" rtlCol="0" anchor="ctr"/>
          <a:lstStyle/>
          <a:p>
            <a:pPr algn="ctr" indent="0" marL="0">
              <a:buNone/>
            </a:pPr>
            <a:r>
              <a:rPr lang="en-US" sz="1050" b="1" dirty="0">
                <a:solidFill>
                  <a:srgbClr val="1B3A5C"/>
                </a:solidFill>
                <a:latin typeface="맑은 고딕" pitchFamily="34" charset="0"/>
                <a:ea typeface="맑은 고딕" pitchFamily="34" charset="-122"/>
                <a:cs typeface="맑은 고딕" pitchFamily="34" charset="-120"/>
              </a:rPr>
              <a:t>ULSD 단독</a:t>
            </a:r>
            <a:endParaRPr lang="en-US" sz="1050" dirty="0"/>
          </a:p>
        </p:txBody>
      </p:sp>
      <p:sp>
        <p:nvSpPr>
          <p:cNvPr id="14" name="Text 12"/>
          <p:cNvSpPr/>
          <p:nvPr/>
        </p:nvSpPr>
        <p:spPr>
          <a:xfrm>
            <a:off x="1572768" y="4700016"/>
            <a:ext cx="1389888" cy="219456"/>
          </a:xfrm>
          <a:prstGeom prst="rect">
            <a:avLst/>
          </a:prstGeom>
          <a:noFill/>
          <a:ln/>
        </p:spPr>
        <p:txBody>
          <a:bodyPr wrap="square" lIns="0" tIns="0" rIns="0" bIns="0" rtlCol="0" anchor="ctr"/>
          <a:lstStyle/>
          <a:p>
            <a:pPr algn="ctr" indent="0" marL="0">
              <a:buNone/>
            </a:pPr>
            <a:r>
              <a:rPr lang="en-US" sz="950" b="1" dirty="0">
                <a:solidFill>
                  <a:srgbClr val="C0392B"/>
                </a:solidFill>
                <a:latin typeface="맑은 고딕" pitchFamily="34" charset="0"/>
                <a:ea typeface="맑은 고딕" pitchFamily="34" charset="-122"/>
                <a:cs typeface="맑은 고딕" pitchFamily="34" charset="-120"/>
              </a:rPr>
              <a:t>부적합</a:t>
            </a:r>
            <a:endParaRPr lang="en-US" sz="950" dirty="0"/>
          </a:p>
        </p:txBody>
      </p:sp>
      <p:sp>
        <p:nvSpPr>
          <p:cNvPr id="15" name="Shape 13"/>
          <p:cNvSpPr/>
          <p:nvPr/>
        </p:nvSpPr>
        <p:spPr>
          <a:xfrm>
            <a:off x="3364992" y="2850733"/>
            <a:ext cx="1060704" cy="1593251"/>
          </a:xfrm>
          <a:prstGeom prst="roundRect">
            <a:avLst>
              <a:gd name="adj" fmla="val 4310"/>
            </a:avLst>
          </a:prstGeom>
          <a:solidFill>
            <a:srgbClr val="2E5C8A"/>
          </a:solidFill>
          <a:ln w="12700">
            <a:solidFill>
              <a:srgbClr val="333333"/>
            </a:solidFill>
            <a:prstDash val="solid"/>
          </a:ln>
        </p:spPr>
      </p:sp>
      <p:sp>
        <p:nvSpPr>
          <p:cNvPr id="16" name="Text 14"/>
          <p:cNvSpPr/>
          <p:nvPr/>
        </p:nvSpPr>
        <p:spPr>
          <a:xfrm>
            <a:off x="3364992" y="2539837"/>
            <a:ext cx="1060704" cy="292608"/>
          </a:xfrm>
          <a:prstGeom prst="rect">
            <a:avLst/>
          </a:prstGeom>
          <a:noFill/>
          <a:ln/>
        </p:spPr>
        <p:txBody>
          <a:bodyPr wrap="square" lIns="0" tIns="0" rIns="0" bIns="0" rtlCol="0" anchor="ctr"/>
          <a:lstStyle/>
          <a:p>
            <a:pPr algn="ctr" indent="0" marL="0">
              <a:buNone/>
            </a:pPr>
            <a:r>
              <a:rPr lang="en-US" sz="1500" b="1" dirty="0">
                <a:solidFill>
                  <a:srgbClr val="2E5C8A"/>
                </a:solidFill>
                <a:latin typeface="맑은 고딕" pitchFamily="34" charset="0"/>
                <a:ea typeface="맑은 고딕" pitchFamily="34" charset="-122"/>
                <a:cs typeface="맑은 고딕" pitchFamily="34" charset="-120"/>
              </a:rPr>
              <a:t>396</a:t>
            </a:r>
            <a:endParaRPr lang="en-US" sz="1500" dirty="0"/>
          </a:p>
        </p:txBody>
      </p:sp>
      <p:sp>
        <p:nvSpPr>
          <p:cNvPr id="17" name="Text 15"/>
          <p:cNvSpPr/>
          <p:nvPr/>
        </p:nvSpPr>
        <p:spPr>
          <a:xfrm>
            <a:off x="3200400" y="4480560"/>
            <a:ext cx="1389888" cy="237744"/>
          </a:xfrm>
          <a:prstGeom prst="rect">
            <a:avLst/>
          </a:prstGeom>
          <a:noFill/>
          <a:ln/>
        </p:spPr>
        <p:txBody>
          <a:bodyPr wrap="square" lIns="0" tIns="0" rIns="0" bIns="0" rtlCol="0" anchor="ctr"/>
          <a:lstStyle/>
          <a:p>
            <a:pPr algn="ctr" indent="0" marL="0">
              <a:buNone/>
            </a:pPr>
            <a:r>
              <a:rPr lang="en-US" sz="1050" b="1" dirty="0">
                <a:solidFill>
                  <a:srgbClr val="1B3A5C"/>
                </a:solidFill>
                <a:latin typeface="맑은 고딕" pitchFamily="34" charset="0"/>
                <a:ea typeface="맑은 고딕" pitchFamily="34" charset="-122"/>
                <a:cs typeface="맑은 고딕" pitchFamily="34" charset="-120"/>
              </a:rPr>
              <a:t>+ 100 ppm</a:t>
            </a:r>
            <a:endParaRPr lang="en-US" sz="1050" dirty="0"/>
          </a:p>
        </p:txBody>
      </p:sp>
      <p:sp>
        <p:nvSpPr>
          <p:cNvPr id="18" name="Text 16"/>
          <p:cNvSpPr/>
          <p:nvPr/>
        </p:nvSpPr>
        <p:spPr>
          <a:xfrm>
            <a:off x="3200400" y="4700016"/>
            <a:ext cx="1389888" cy="219456"/>
          </a:xfrm>
          <a:prstGeom prst="rect">
            <a:avLst/>
          </a:prstGeom>
          <a:noFill/>
          <a:ln/>
        </p:spPr>
        <p:txBody>
          <a:bodyPr wrap="square" lIns="0" tIns="0" rIns="0" bIns="0" rtlCol="0" anchor="ctr"/>
          <a:lstStyle/>
          <a:p>
            <a:pPr algn="ctr" indent="0" marL="0">
              <a:buNone/>
            </a:pPr>
            <a:r>
              <a:rPr lang="en-US" sz="950" b="1" dirty="0">
                <a:solidFill>
                  <a:srgbClr val="2E5C8A"/>
                </a:solidFill>
                <a:latin typeface="맑은 고딕" pitchFamily="34" charset="0"/>
                <a:ea typeface="맑은 고딕" pitchFamily="34" charset="-122"/>
                <a:cs typeface="맑은 고딕" pitchFamily="34" charset="-120"/>
              </a:rPr>
              <a:t>합격</a:t>
            </a:r>
            <a:endParaRPr lang="en-US" sz="950" dirty="0"/>
          </a:p>
        </p:txBody>
      </p:sp>
      <p:sp>
        <p:nvSpPr>
          <p:cNvPr id="19" name="Shape 17"/>
          <p:cNvSpPr/>
          <p:nvPr/>
        </p:nvSpPr>
        <p:spPr>
          <a:xfrm>
            <a:off x="4992624" y="3015691"/>
            <a:ext cx="1060704" cy="1428293"/>
          </a:xfrm>
          <a:prstGeom prst="roundRect">
            <a:avLst>
              <a:gd name="adj" fmla="val 4310"/>
            </a:avLst>
          </a:prstGeom>
          <a:solidFill>
            <a:srgbClr val="2E7D5B"/>
          </a:solidFill>
          <a:ln w="12700">
            <a:solidFill>
              <a:srgbClr val="333333"/>
            </a:solidFill>
            <a:prstDash val="solid"/>
          </a:ln>
        </p:spPr>
      </p:sp>
      <p:sp>
        <p:nvSpPr>
          <p:cNvPr id="20" name="Text 18"/>
          <p:cNvSpPr/>
          <p:nvPr/>
        </p:nvSpPr>
        <p:spPr>
          <a:xfrm>
            <a:off x="4992624" y="2704795"/>
            <a:ext cx="1060704" cy="292608"/>
          </a:xfrm>
          <a:prstGeom prst="rect">
            <a:avLst/>
          </a:prstGeom>
          <a:noFill/>
          <a:ln/>
        </p:spPr>
        <p:txBody>
          <a:bodyPr wrap="square" lIns="0" tIns="0" rIns="0" bIns="0" rtlCol="0" anchor="ctr"/>
          <a:lstStyle/>
          <a:p>
            <a:pPr algn="ctr" indent="0" marL="0">
              <a:buNone/>
            </a:pPr>
            <a:r>
              <a:rPr lang="en-US" sz="1500" b="1" dirty="0">
                <a:solidFill>
                  <a:srgbClr val="2E7D5B"/>
                </a:solidFill>
                <a:latin typeface="맑은 고딕" pitchFamily="34" charset="0"/>
                <a:ea typeface="맑은 고딕" pitchFamily="34" charset="-122"/>
                <a:cs typeface="맑은 고딕" pitchFamily="34" charset="-120"/>
              </a:rPr>
              <a:t>355</a:t>
            </a:r>
            <a:endParaRPr lang="en-US" sz="1500" dirty="0"/>
          </a:p>
        </p:txBody>
      </p:sp>
      <p:sp>
        <p:nvSpPr>
          <p:cNvPr id="21" name="Text 19"/>
          <p:cNvSpPr/>
          <p:nvPr/>
        </p:nvSpPr>
        <p:spPr>
          <a:xfrm>
            <a:off x="4828032" y="4480560"/>
            <a:ext cx="1389888" cy="237744"/>
          </a:xfrm>
          <a:prstGeom prst="rect">
            <a:avLst/>
          </a:prstGeom>
          <a:noFill/>
          <a:ln/>
        </p:spPr>
        <p:txBody>
          <a:bodyPr wrap="square" lIns="0" tIns="0" rIns="0" bIns="0" rtlCol="0" anchor="ctr"/>
          <a:lstStyle/>
          <a:p>
            <a:pPr algn="ctr" indent="0" marL="0">
              <a:buNone/>
            </a:pPr>
            <a:r>
              <a:rPr lang="en-US" sz="1050" b="1" dirty="0">
                <a:solidFill>
                  <a:srgbClr val="1B3A5C"/>
                </a:solidFill>
                <a:latin typeface="맑은 고딕" pitchFamily="34" charset="0"/>
                <a:ea typeface="맑은 고딕" pitchFamily="34" charset="-122"/>
                <a:cs typeface="맑은 고딕" pitchFamily="34" charset="-120"/>
              </a:rPr>
              <a:t>+ 150 ppm</a:t>
            </a:r>
            <a:endParaRPr lang="en-US" sz="1050" dirty="0"/>
          </a:p>
        </p:txBody>
      </p:sp>
      <p:sp>
        <p:nvSpPr>
          <p:cNvPr id="22" name="Text 20"/>
          <p:cNvSpPr/>
          <p:nvPr/>
        </p:nvSpPr>
        <p:spPr>
          <a:xfrm>
            <a:off x="4828032" y="4700016"/>
            <a:ext cx="1389888" cy="219456"/>
          </a:xfrm>
          <a:prstGeom prst="rect">
            <a:avLst/>
          </a:prstGeom>
          <a:noFill/>
          <a:ln/>
        </p:spPr>
        <p:txBody>
          <a:bodyPr wrap="square" lIns="0" tIns="0" rIns="0" bIns="0" rtlCol="0" anchor="ctr"/>
          <a:lstStyle/>
          <a:p>
            <a:pPr algn="ctr" indent="0" marL="0">
              <a:buNone/>
            </a:pPr>
            <a:r>
              <a:rPr lang="en-US" sz="950" b="1" dirty="0">
                <a:solidFill>
                  <a:srgbClr val="2E7D5B"/>
                </a:solidFill>
                <a:latin typeface="맑은 고딕" pitchFamily="34" charset="0"/>
                <a:ea typeface="맑은 고딕" pitchFamily="34" charset="-122"/>
                <a:cs typeface="맑은 고딕" pitchFamily="34" charset="-120"/>
              </a:rPr>
              <a:t>합격</a:t>
            </a:r>
            <a:endParaRPr lang="en-US" sz="950" dirty="0"/>
          </a:p>
        </p:txBody>
      </p:sp>
      <p:sp>
        <p:nvSpPr>
          <p:cNvPr id="23" name="Shape 21"/>
          <p:cNvSpPr/>
          <p:nvPr/>
        </p:nvSpPr>
        <p:spPr>
          <a:xfrm>
            <a:off x="877824" y="4443984"/>
            <a:ext cx="5687568" cy="0"/>
          </a:xfrm>
          <a:prstGeom prst="line">
            <a:avLst/>
          </a:prstGeom>
          <a:noFill/>
          <a:ln w="12700">
            <a:solidFill>
              <a:srgbClr val="DFE5F0"/>
            </a:solidFill>
            <a:prstDash val="solid"/>
          </a:ln>
        </p:spPr>
      </p:sp>
      <p:sp>
        <p:nvSpPr>
          <p:cNvPr id="24" name="Text 22"/>
          <p:cNvSpPr/>
          <p:nvPr/>
        </p:nvSpPr>
        <p:spPr>
          <a:xfrm>
            <a:off x="877824" y="1792224"/>
            <a:ext cx="4572000"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HFRR WEAR SCAR  (ISO 12156-1, WS1.4 µm)</a:t>
            </a:r>
            <a:endParaRPr lang="en-US" sz="950" dirty="0"/>
          </a:p>
        </p:txBody>
      </p:sp>
      <p:sp>
        <p:nvSpPr>
          <p:cNvPr id="25" name="Shape 23"/>
          <p:cNvSpPr/>
          <p:nvPr/>
        </p:nvSpPr>
        <p:spPr>
          <a:xfrm>
            <a:off x="7168896" y="1591056"/>
            <a:ext cx="4453128" cy="3127248"/>
          </a:xfrm>
          <a:prstGeom prst="roundRect">
            <a:avLst>
              <a:gd name="adj" fmla="val 4094"/>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26" name="Text 24"/>
          <p:cNvSpPr/>
          <p:nvPr/>
        </p:nvSpPr>
        <p:spPr>
          <a:xfrm>
            <a:off x="7424928" y="1792224"/>
            <a:ext cx="3931920"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HOW TO APPLY</a:t>
            </a:r>
            <a:endParaRPr lang="en-US" sz="950" dirty="0"/>
          </a:p>
        </p:txBody>
      </p:sp>
      <p:sp>
        <p:nvSpPr>
          <p:cNvPr id="27" name="Text 25"/>
          <p:cNvSpPr/>
          <p:nvPr/>
        </p:nvSpPr>
        <p:spPr>
          <a:xfrm>
            <a:off x="7424928" y="2066544"/>
            <a:ext cx="1481328" cy="402336"/>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투입 비율</a:t>
            </a:r>
            <a:endParaRPr lang="en-US" sz="1050" dirty="0"/>
          </a:p>
        </p:txBody>
      </p:sp>
      <p:sp>
        <p:nvSpPr>
          <p:cNvPr id="28" name="Text 26"/>
          <p:cNvSpPr/>
          <p:nvPr/>
        </p:nvSpPr>
        <p:spPr>
          <a:xfrm>
            <a:off x="8942832" y="2066544"/>
            <a:ext cx="2423160" cy="402336"/>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0.1 – 0.2 L/ton</a:t>
            </a:r>
            <a:endParaRPr lang="en-US" sz="1000" dirty="0"/>
          </a:p>
        </p:txBody>
      </p:sp>
      <p:sp>
        <p:nvSpPr>
          <p:cNvPr id="29" name="Shape 27"/>
          <p:cNvSpPr/>
          <p:nvPr/>
        </p:nvSpPr>
        <p:spPr>
          <a:xfrm>
            <a:off x="7424928" y="2478024"/>
            <a:ext cx="3941064" cy="0"/>
          </a:xfrm>
          <a:prstGeom prst="line">
            <a:avLst/>
          </a:prstGeom>
          <a:noFill/>
          <a:ln w="9525">
            <a:solidFill>
              <a:srgbClr val="DFE5F0"/>
            </a:solidFill>
            <a:prstDash val="solid"/>
          </a:ln>
        </p:spPr>
      </p:sp>
      <p:sp>
        <p:nvSpPr>
          <p:cNvPr id="30" name="Text 28"/>
          <p:cNvSpPr/>
          <p:nvPr/>
        </p:nvSpPr>
        <p:spPr>
          <a:xfrm>
            <a:off x="7424928" y="2523744"/>
            <a:ext cx="1481328" cy="402336"/>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시험 근거 투입량</a:t>
            </a:r>
            <a:endParaRPr lang="en-US" sz="1050" dirty="0"/>
          </a:p>
        </p:txBody>
      </p:sp>
      <p:sp>
        <p:nvSpPr>
          <p:cNvPr id="31" name="Text 29"/>
          <p:cNvSpPr/>
          <p:nvPr/>
        </p:nvSpPr>
        <p:spPr>
          <a:xfrm>
            <a:off x="8942832" y="2523744"/>
            <a:ext cx="2423160" cy="402336"/>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0.125 L/ton → 460 µm 미만</a:t>
            </a:r>
            <a:endParaRPr lang="en-US" sz="1000" dirty="0"/>
          </a:p>
        </p:txBody>
      </p:sp>
      <p:sp>
        <p:nvSpPr>
          <p:cNvPr id="32" name="Shape 30"/>
          <p:cNvSpPr/>
          <p:nvPr/>
        </p:nvSpPr>
        <p:spPr>
          <a:xfrm>
            <a:off x="7424928" y="2935224"/>
            <a:ext cx="3941064" cy="0"/>
          </a:xfrm>
          <a:prstGeom prst="line">
            <a:avLst/>
          </a:prstGeom>
          <a:noFill/>
          <a:ln w="9525">
            <a:solidFill>
              <a:srgbClr val="DFE5F0"/>
            </a:solidFill>
            <a:prstDash val="solid"/>
          </a:ln>
        </p:spPr>
      </p:sp>
      <p:sp>
        <p:nvSpPr>
          <p:cNvPr id="33" name="Text 31"/>
          <p:cNvSpPr/>
          <p:nvPr/>
        </p:nvSpPr>
        <p:spPr>
          <a:xfrm>
            <a:off x="7424928" y="2980944"/>
            <a:ext cx="1481328" cy="402336"/>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투입 지점</a:t>
            </a:r>
            <a:endParaRPr lang="en-US" sz="1050" dirty="0"/>
          </a:p>
        </p:txBody>
      </p:sp>
      <p:sp>
        <p:nvSpPr>
          <p:cNvPr id="34" name="Text 32"/>
          <p:cNvSpPr/>
          <p:nvPr/>
        </p:nvSpPr>
        <p:spPr>
          <a:xfrm>
            <a:off x="8942832" y="2980944"/>
            <a:ext cx="2423160" cy="402336"/>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Storage → Settling / Service</a:t>
            </a:r>
            <a:endParaRPr lang="en-US" sz="1000" dirty="0"/>
          </a:p>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Transfer Pump 이용</a:t>
            </a:r>
            <a:endParaRPr lang="en-US" sz="1000" dirty="0"/>
          </a:p>
        </p:txBody>
      </p:sp>
      <p:sp>
        <p:nvSpPr>
          <p:cNvPr id="35" name="Shape 33"/>
          <p:cNvSpPr/>
          <p:nvPr/>
        </p:nvSpPr>
        <p:spPr>
          <a:xfrm>
            <a:off x="7424928" y="3392424"/>
            <a:ext cx="3941064" cy="0"/>
          </a:xfrm>
          <a:prstGeom prst="line">
            <a:avLst/>
          </a:prstGeom>
          <a:noFill/>
          <a:ln w="9525">
            <a:solidFill>
              <a:srgbClr val="DFE5F0"/>
            </a:solidFill>
            <a:prstDash val="solid"/>
          </a:ln>
        </p:spPr>
      </p:sp>
      <p:sp>
        <p:nvSpPr>
          <p:cNvPr id="36" name="Text 34"/>
          <p:cNvSpPr/>
          <p:nvPr/>
        </p:nvSpPr>
        <p:spPr>
          <a:xfrm>
            <a:off x="7424928" y="3438144"/>
            <a:ext cx="1481328" cy="402336"/>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보관 온도</a:t>
            </a:r>
            <a:endParaRPr lang="en-US" sz="1050" dirty="0"/>
          </a:p>
        </p:txBody>
      </p:sp>
      <p:sp>
        <p:nvSpPr>
          <p:cNvPr id="37" name="Text 35"/>
          <p:cNvSpPr/>
          <p:nvPr/>
        </p:nvSpPr>
        <p:spPr>
          <a:xfrm>
            <a:off x="8942832" y="3438144"/>
            <a:ext cx="2423160" cy="402336"/>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20 – 40 °C</a:t>
            </a:r>
            <a:endParaRPr lang="en-US" sz="1000" dirty="0"/>
          </a:p>
        </p:txBody>
      </p:sp>
      <p:sp>
        <p:nvSpPr>
          <p:cNvPr id="38" name="Shape 36"/>
          <p:cNvSpPr/>
          <p:nvPr/>
        </p:nvSpPr>
        <p:spPr>
          <a:xfrm>
            <a:off x="7424928" y="3849624"/>
            <a:ext cx="3941064" cy="0"/>
          </a:xfrm>
          <a:prstGeom prst="line">
            <a:avLst/>
          </a:prstGeom>
          <a:noFill/>
          <a:ln w="9525">
            <a:solidFill>
              <a:srgbClr val="DFE5F0"/>
            </a:solidFill>
            <a:prstDash val="solid"/>
          </a:ln>
        </p:spPr>
      </p:sp>
      <p:sp>
        <p:nvSpPr>
          <p:cNvPr id="39" name="Text 37"/>
          <p:cNvSpPr/>
          <p:nvPr/>
        </p:nvSpPr>
        <p:spPr>
          <a:xfrm>
            <a:off x="7424928" y="3895344"/>
            <a:ext cx="1481328" cy="402336"/>
          </a:xfrm>
          <a:prstGeom prst="rect">
            <a:avLst/>
          </a:prstGeom>
          <a:noFill/>
          <a:ln/>
        </p:spPr>
        <p:txBody>
          <a:bodyPr wrap="square" lIns="0" tIns="0" rIns="0" bIns="0" rtlCol="0" anchor="ctr"/>
          <a:lstStyle/>
          <a:p>
            <a:pPr indent="0" marL="0">
              <a:buNone/>
            </a:pPr>
            <a:r>
              <a:rPr lang="en-US" sz="1050" b="1" dirty="0">
                <a:solidFill>
                  <a:srgbClr val="1B3A5C"/>
                </a:solidFill>
                <a:latin typeface="맑은 고딕" pitchFamily="34" charset="0"/>
                <a:ea typeface="맑은 고딕" pitchFamily="34" charset="-122"/>
                <a:cs typeface="맑은 고딕" pitchFamily="34" charset="-120"/>
              </a:rPr>
              <a:t>병용 가능</a:t>
            </a:r>
            <a:endParaRPr lang="en-US" sz="1050" dirty="0"/>
          </a:p>
        </p:txBody>
      </p:sp>
      <p:sp>
        <p:nvSpPr>
          <p:cNvPr id="40" name="Text 38"/>
          <p:cNvSpPr/>
          <p:nvPr/>
        </p:nvSpPr>
        <p:spPr>
          <a:xfrm>
            <a:off x="8942832" y="3895344"/>
            <a:ext cx="2423160" cy="402336"/>
          </a:xfrm>
          <a:prstGeom prst="rect">
            <a:avLst/>
          </a:prstGeom>
          <a:noFill/>
          <a:ln/>
        </p:spPr>
        <p:txBody>
          <a:bodyPr wrap="square" lIns="0" tIns="0" rIns="0" bIns="0" rtlCol="0" anchor="ctr"/>
          <a:lstStyle/>
          <a:p>
            <a:pPr indent="0" marL="0">
              <a:lnSpc>
                <a:spcPts val="1300"/>
              </a:lnSpc>
              <a:buNone/>
            </a:pPr>
            <a:r>
              <a:rPr lang="en-US" sz="1000" dirty="0">
                <a:solidFill>
                  <a:srgbClr val="3D4A5C"/>
                </a:solidFill>
                <a:latin typeface="맑은 고딕" pitchFamily="34" charset="0"/>
                <a:ea typeface="맑은 고딕" pitchFamily="34" charset="-122"/>
                <a:cs typeface="맑은 고딕" pitchFamily="34" charset="-120"/>
              </a:rPr>
              <a:t>유동점 · 세탄가 · 소포제</a:t>
            </a:r>
            <a:endParaRPr lang="en-US" sz="1000" dirty="0"/>
          </a:p>
        </p:txBody>
      </p:sp>
      <p:sp>
        <p:nvSpPr>
          <p:cNvPr id="41" name="Shape 39"/>
          <p:cNvSpPr/>
          <p:nvPr/>
        </p:nvSpPr>
        <p:spPr>
          <a:xfrm>
            <a:off x="7424928" y="4352544"/>
            <a:ext cx="3941064" cy="292608"/>
          </a:xfrm>
          <a:prstGeom prst="roundRect">
            <a:avLst>
              <a:gd name="adj" fmla="val 18750"/>
            </a:avLst>
          </a:prstGeom>
          <a:solidFill>
            <a:srgbClr val="FDECEA"/>
          </a:solidFill>
          <a:ln w="12700">
            <a:solidFill>
              <a:srgbClr val="333333"/>
            </a:solidFill>
            <a:prstDash val="solid"/>
          </a:ln>
        </p:spPr>
      </p:sp>
      <p:sp>
        <p:nvSpPr>
          <p:cNvPr id="42" name="Text 40"/>
          <p:cNvSpPr/>
          <p:nvPr/>
        </p:nvSpPr>
        <p:spPr>
          <a:xfrm>
            <a:off x="7424928" y="4352544"/>
            <a:ext cx="3941064" cy="292608"/>
          </a:xfrm>
          <a:prstGeom prst="rect">
            <a:avLst/>
          </a:prstGeom>
          <a:noFill/>
          <a:ln/>
        </p:spPr>
        <p:txBody>
          <a:bodyPr wrap="square" lIns="0" tIns="0" rIns="0" bIns="0" rtlCol="0" anchor="ctr"/>
          <a:lstStyle/>
          <a:p>
            <a:pPr algn="ctr" indent="0" marL="0">
              <a:buNone/>
            </a:pPr>
            <a:r>
              <a:rPr lang="en-US" sz="950" b="1" dirty="0">
                <a:solidFill>
                  <a:srgbClr val="C0392B"/>
                </a:solidFill>
                <a:latin typeface="맑은 고딕" pitchFamily="34" charset="0"/>
                <a:ea typeface="맑은 고딕" pitchFamily="34" charset="-122"/>
                <a:cs typeface="맑은 고딕" pitchFamily="34" charset="-120"/>
              </a:rPr>
              <a:t>주의  천연고무 · NBR · PVC · 폴리우레탄 부적합</a:t>
            </a:r>
            <a:endParaRPr lang="en-US" sz="950" dirty="0"/>
          </a:p>
        </p:txBody>
      </p:sp>
      <p:sp>
        <p:nvSpPr>
          <p:cNvPr id="43" name="Shape 41"/>
          <p:cNvSpPr/>
          <p:nvPr/>
        </p:nvSpPr>
        <p:spPr>
          <a:xfrm>
            <a:off x="566928" y="4901184"/>
            <a:ext cx="11057839" cy="786384"/>
          </a:xfrm>
          <a:prstGeom prst="roundRect">
            <a:avLst>
              <a:gd name="adj" fmla="val 11628"/>
            </a:avLst>
          </a:prstGeom>
          <a:solidFill>
            <a:srgbClr val="1B3A5C"/>
          </a:solidFill>
          <a:ln w="12700">
            <a:solidFill>
              <a:srgbClr val="1B3A5C"/>
            </a:solidFill>
            <a:prstDash val="solid"/>
          </a:ln>
        </p:spPr>
      </p:sp>
      <p:sp>
        <p:nvSpPr>
          <p:cNvPr id="44" name="Text 42"/>
          <p:cNvSpPr/>
          <p:nvPr/>
        </p:nvSpPr>
        <p:spPr>
          <a:xfrm>
            <a:off x="795528" y="4901184"/>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100 ppm만으로도 두 규격을 모두 통과합니다. 중요한 것은 감소폭이 아니라 합격선을 넘었다는 사실입니다.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45" name="Text 43"/>
          <p:cNvSpPr/>
          <p:nvPr/>
        </p:nvSpPr>
        <p:spPr>
          <a:xfrm>
            <a:off x="566928" y="5815584"/>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출처: Unitor™ DieselPower™ Lubricity 제품 매뉴얼 (Product No. 650-779094) — 사내 Lab Test 결과</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66928" y="402336"/>
            <a:ext cx="7315200" cy="256032"/>
          </a:xfrm>
          <a:prstGeom prst="rect">
            <a:avLst/>
          </a:prstGeom>
          <a:noFill/>
          <a:ln/>
        </p:spPr>
        <p:txBody>
          <a:bodyPr wrap="square" lIns="0" tIns="0" rIns="0" bIns="0" rtlCol="0" anchor="ctr"/>
          <a:lstStyle/>
          <a:p>
            <a:pPr algn="l" indent="0" marL="0">
              <a:buNone/>
            </a:pPr>
            <a:r>
              <a:rPr lang="en-US" sz="1150" b="1" spc="240" kern="0" dirty="0">
                <a:solidFill>
                  <a:srgbClr val="E17B34"/>
                </a:solidFill>
                <a:latin typeface="맑은 고딕" pitchFamily="34" charset="0"/>
                <a:ea typeface="맑은 고딕" pitchFamily="34" charset="-122"/>
                <a:cs typeface="맑은 고딕" pitchFamily="34" charset="-120"/>
              </a:rPr>
              <a:t>16   윤활성 ③</a:t>
            </a:r>
            <a:endParaRPr lang="en-US" sz="1150" dirty="0"/>
          </a:p>
        </p:txBody>
      </p:sp>
      <p:sp>
        <p:nvSpPr>
          <p:cNvPr id="3" name="Text 1"/>
          <p:cNvSpPr/>
          <p:nvPr/>
        </p:nvSpPr>
        <p:spPr>
          <a:xfrm>
            <a:off x="566928" y="694944"/>
            <a:ext cx="11057839" cy="713232"/>
          </a:xfrm>
          <a:prstGeom prst="rect">
            <a:avLst/>
          </a:prstGeom>
          <a:noFill/>
          <a:ln/>
        </p:spPr>
        <p:txBody>
          <a:bodyPr wrap="square" lIns="0" tIns="0" rIns="0" bIns="0" rtlCol="0" anchor="ctr"/>
          <a:lstStyle/>
          <a:p>
            <a:pPr algn="l" indent="0" marL="0">
              <a:buNone/>
            </a:pPr>
            <a:r>
              <a:rPr lang="en-US" sz="3600" dirty="0">
                <a:solidFill>
                  <a:srgbClr val="1B3A5C"/>
                </a:solidFill>
                <a:latin typeface="바탕" pitchFamily="34" charset="0"/>
                <a:ea typeface="바탕" pitchFamily="34" charset="-122"/>
                <a:cs typeface="바탕" pitchFamily="34" charset="-120"/>
              </a:rPr>
              <a:t>우리 배도 해당되는지, 직접 확인하는 법</a:t>
            </a:r>
            <a:endParaRPr lang="en-US" sz="3600" dirty="0"/>
          </a:p>
        </p:txBody>
      </p:sp>
      <p:sp>
        <p:nvSpPr>
          <p:cNvPr id="4" name="Text 2"/>
          <p:cNvSpPr/>
          <p:nvPr/>
        </p:nvSpPr>
        <p:spPr>
          <a:xfrm>
            <a:off x="566928" y="6419088"/>
            <a:ext cx="8778240" cy="274320"/>
          </a:xfrm>
          <a:prstGeom prst="rect">
            <a:avLst/>
          </a:prstGeom>
          <a:noFill/>
          <a:ln/>
        </p:spPr>
        <p:txBody>
          <a:bodyPr wrap="square" lIns="0" tIns="0" rIns="0" bIns="0" rtlCol="0" anchor="ctr"/>
          <a:lstStyle/>
          <a:p>
            <a:pPr indent="0" marL="0">
              <a:buNone/>
            </a:pPr>
            <a:r>
              <a:rPr lang="en-US" sz="850" dirty="0">
                <a:solidFill>
                  <a:srgbClr val="8A94A6"/>
                </a:solidFill>
                <a:latin typeface="맑은 고딕" pitchFamily="34" charset="0"/>
                <a:ea typeface="맑은 고딕" pitchFamily="34" charset="-122"/>
                <a:cs typeface="맑은 고딕" pitchFamily="34" charset="-120"/>
              </a:rPr>
              <a:t>Classified as Internal - This content is proprietary information intended for employees and partners only.</a:t>
            </a:r>
            <a:endParaRPr lang="en-US" sz="850" dirty="0"/>
          </a:p>
        </p:txBody>
      </p:sp>
      <p:sp>
        <p:nvSpPr>
          <p:cNvPr id="5" name="Text 3"/>
          <p:cNvSpPr/>
          <p:nvPr/>
        </p:nvSpPr>
        <p:spPr>
          <a:xfrm>
            <a:off x="11155680" y="6419088"/>
            <a:ext cx="502920" cy="274320"/>
          </a:xfrm>
          <a:prstGeom prst="rect">
            <a:avLst/>
          </a:prstGeom>
          <a:noFill/>
          <a:ln/>
        </p:spPr>
        <p:txBody>
          <a:bodyPr wrap="square" lIns="0" tIns="0" rIns="0" bIns="0" rtlCol="0" anchor="ctr"/>
          <a:lstStyle/>
          <a:p>
            <a:pPr algn="r" indent="0" marL="0">
              <a:buNone/>
            </a:pPr>
            <a:r>
              <a:rPr lang="en-US" sz="950" dirty="0">
                <a:solidFill>
                  <a:srgbClr val="8A94A6"/>
                </a:solidFill>
                <a:latin typeface="맑은 고딕" pitchFamily="34" charset="0"/>
                <a:ea typeface="맑은 고딕" pitchFamily="34" charset="-122"/>
                <a:cs typeface="맑은 고딕" pitchFamily="34" charset="-120"/>
              </a:rPr>
              <a:t>17</a:t>
            </a:r>
            <a:endParaRPr lang="en-US" sz="950" dirty="0"/>
          </a:p>
        </p:txBody>
      </p:sp>
      <p:sp>
        <p:nvSpPr>
          <p:cNvPr id="6" name="Shape 4"/>
          <p:cNvSpPr/>
          <p:nvPr/>
        </p:nvSpPr>
        <p:spPr>
          <a:xfrm>
            <a:off x="566928" y="1554480"/>
            <a:ext cx="11057839" cy="420624"/>
          </a:xfrm>
          <a:prstGeom prst="roundRect">
            <a:avLst>
              <a:gd name="adj" fmla="val 15217"/>
            </a:avLst>
          </a:prstGeom>
          <a:solidFill>
            <a:srgbClr val="FDF2E9"/>
          </a:solidFill>
          <a:ln w="12700">
            <a:solidFill>
              <a:srgbClr val="333333"/>
            </a:solidFill>
            <a:prstDash val="solid"/>
          </a:ln>
        </p:spPr>
      </p:sp>
      <p:sp>
        <p:nvSpPr>
          <p:cNvPr id="7" name="Text 5"/>
          <p:cNvSpPr/>
          <p:nvPr/>
        </p:nvSpPr>
        <p:spPr>
          <a:xfrm>
            <a:off x="841248" y="1554480"/>
            <a:ext cx="10509199" cy="420624"/>
          </a:xfrm>
          <a:prstGeom prst="rect">
            <a:avLst/>
          </a:prstGeom>
          <a:noFill/>
          <a:ln/>
        </p:spPr>
        <p:txBody>
          <a:bodyPr wrap="square" lIns="0" tIns="0" rIns="0" bIns="0" rtlCol="0" anchor="ctr"/>
          <a:lstStyle/>
          <a:p>
            <a:pPr indent="0" marL="0">
              <a:buNone/>
            </a:pPr>
            <a:r>
              <a:rPr lang="en-US" sz="1100" b="1" dirty="0">
                <a:solidFill>
                  <a:srgbClr val="E17B34"/>
                </a:solidFill>
                <a:latin typeface="맑은 고딕" pitchFamily="34" charset="0"/>
                <a:ea typeface="맑은 고딕" pitchFamily="34" charset="-122"/>
                <a:cs typeface="맑은 고딕" pitchFamily="34" charset="-120"/>
              </a:rPr>
              <a:t>먼저 이것부터 —  </a:t>
            </a:r>
            <a:pPr indent="0" marL="0">
              <a:buNone/>
            </a:pPr>
            <a:r>
              <a:rPr lang="en-US" sz="1100" dirty="0">
                <a:solidFill>
                  <a:srgbClr val="3D4A5C"/>
                </a:solidFill>
                <a:latin typeface="맑은 고딕" pitchFamily="34" charset="0"/>
                <a:ea typeface="맑은 고딕" pitchFamily="34" charset="-122"/>
                <a:cs typeface="맑은 고딕" pitchFamily="34" charset="-120"/>
              </a:rPr>
              <a:t>지난 2년간 연료펌프 플런저·인젝터 스페어 교체 주기가 짧아졌습니까?  그렇다면 윤활성은 의심할 이유가 있는 후보입니다.</a:t>
            </a:r>
            <a:endParaRPr lang="en-US" sz="1100" dirty="0"/>
          </a:p>
        </p:txBody>
      </p:sp>
      <p:sp>
        <p:nvSpPr>
          <p:cNvPr id="8" name="Shape 6"/>
          <p:cNvSpPr/>
          <p:nvPr/>
        </p:nvSpPr>
        <p:spPr>
          <a:xfrm>
            <a:off x="566928" y="2139696"/>
            <a:ext cx="2531288" cy="2670048"/>
          </a:xfrm>
          <a:prstGeom prst="roundRect">
            <a:avLst>
              <a:gd name="adj" fmla="val 505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9" name="Text 7"/>
          <p:cNvSpPr/>
          <p:nvPr/>
        </p:nvSpPr>
        <p:spPr>
          <a:xfrm>
            <a:off x="786384" y="2322576"/>
            <a:ext cx="2092376"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STEP 01</a:t>
            </a:r>
            <a:endParaRPr lang="en-US" sz="950" dirty="0"/>
          </a:p>
        </p:txBody>
      </p:sp>
      <p:sp>
        <p:nvSpPr>
          <p:cNvPr id="10" name="Text 8"/>
          <p:cNvSpPr/>
          <p:nvPr/>
        </p:nvSpPr>
        <p:spPr>
          <a:xfrm>
            <a:off x="786384" y="2542032"/>
            <a:ext cx="2092376" cy="310896"/>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성적서를 여십시오</a:t>
            </a:r>
            <a:endParaRPr lang="en-US" sz="1300" dirty="0"/>
          </a:p>
        </p:txBody>
      </p:sp>
      <p:sp>
        <p:nvSpPr>
          <p:cNvPr id="11" name="Text 9"/>
          <p:cNvSpPr/>
          <p:nvPr/>
        </p:nvSpPr>
        <p:spPr>
          <a:xfrm>
            <a:off x="786384" y="2926080"/>
            <a:ext cx="2092376" cy="1737360"/>
          </a:xfrm>
          <a:prstGeom prst="rect">
            <a:avLst/>
          </a:prstGeom>
          <a:noFill/>
          <a:ln/>
        </p:spPr>
        <p:txBody>
          <a:bodyPr wrap="square" lIns="0" tIns="0" rIns="0" bIns="0" rtlCol="0" anchor="t"/>
          <a:lstStyle/>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최근 MGO 분석 성적서에</a:t>
            </a: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Lubricity (HFRR) 항목이</a:t>
            </a: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있습니까?</a:t>
            </a:r>
            <a:endParaRPr lang="en-US" sz="1000" dirty="0"/>
          </a:p>
          <a:p>
            <a:pPr indent="0" marL="0">
              <a:lnSpc>
                <a:spcPts val="1500"/>
              </a:lnSpc>
              <a:buNone/>
            </a:pP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없다면 시험 자체를 안 한 것입니다.</a:t>
            </a: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ISO 8217은 황 0.050% 이하</a:t>
            </a: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증류유에 이 시험을 요구합니다.</a:t>
            </a:r>
            <a:endParaRPr lang="en-US" sz="1000" dirty="0"/>
          </a:p>
        </p:txBody>
      </p:sp>
      <p:sp>
        <p:nvSpPr>
          <p:cNvPr id="12" name="Shape 10"/>
          <p:cNvSpPr/>
          <p:nvPr/>
        </p:nvSpPr>
        <p:spPr>
          <a:xfrm>
            <a:off x="3409112" y="2139696"/>
            <a:ext cx="2531288" cy="2670048"/>
          </a:xfrm>
          <a:prstGeom prst="roundRect">
            <a:avLst>
              <a:gd name="adj" fmla="val 505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3" name="Text 11"/>
          <p:cNvSpPr/>
          <p:nvPr/>
        </p:nvSpPr>
        <p:spPr>
          <a:xfrm>
            <a:off x="3628568" y="2322576"/>
            <a:ext cx="2092376" cy="219456"/>
          </a:xfrm>
          <a:prstGeom prst="rect">
            <a:avLst/>
          </a:prstGeom>
          <a:noFill/>
          <a:ln/>
        </p:spPr>
        <p:txBody>
          <a:bodyPr wrap="square" lIns="0" tIns="0" rIns="0" bIns="0" rtlCol="0" anchor="ctr"/>
          <a:lstStyle/>
          <a:p>
            <a:pPr indent="0" marL="0">
              <a:buNone/>
            </a:pPr>
            <a:r>
              <a:rPr lang="en-US" sz="950" b="1" spc="180" kern="0" dirty="0">
                <a:solidFill>
                  <a:srgbClr val="2E5C8A"/>
                </a:solidFill>
                <a:latin typeface="맑은 고딕" pitchFamily="34" charset="0"/>
                <a:ea typeface="맑은 고딕" pitchFamily="34" charset="-122"/>
                <a:cs typeface="맑은 고딕" pitchFamily="34" charset="-120"/>
              </a:rPr>
              <a:t>STEP 02</a:t>
            </a:r>
            <a:endParaRPr lang="en-US" sz="950" dirty="0"/>
          </a:p>
        </p:txBody>
      </p:sp>
      <p:sp>
        <p:nvSpPr>
          <p:cNvPr id="14" name="Text 12"/>
          <p:cNvSpPr/>
          <p:nvPr/>
        </p:nvSpPr>
        <p:spPr>
          <a:xfrm>
            <a:off x="3628568" y="2542032"/>
            <a:ext cx="2092376" cy="310896"/>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OEM 한계를 확인하십시오</a:t>
            </a:r>
            <a:endParaRPr lang="en-US" sz="1300" dirty="0"/>
          </a:p>
        </p:txBody>
      </p:sp>
      <p:sp>
        <p:nvSpPr>
          <p:cNvPr id="15" name="Text 13"/>
          <p:cNvSpPr/>
          <p:nvPr/>
        </p:nvSpPr>
        <p:spPr>
          <a:xfrm>
            <a:off x="3628568" y="2926080"/>
            <a:ext cx="2092376" cy="1737360"/>
          </a:xfrm>
          <a:prstGeom prst="rect">
            <a:avLst/>
          </a:prstGeom>
          <a:noFill/>
          <a:ln/>
        </p:spPr>
        <p:txBody>
          <a:bodyPr wrap="square" lIns="0" tIns="0" rIns="0" bIns="0" rtlCol="0" anchor="t"/>
          <a:lstStyle/>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본선 엔진 매뉴얼의</a:t>
            </a: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윤활성 허용치는 얼마입니까?</a:t>
            </a:r>
            <a:endParaRPr lang="en-US" sz="1000" dirty="0"/>
          </a:p>
          <a:p>
            <a:pPr indent="0" marL="0">
              <a:lnSpc>
                <a:spcPts val="1500"/>
              </a:lnSpc>
              <a:buNone/>
            </a:pP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ISO 8217 (선박 증류유)  520 µm</a:t>
            </a: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EN 590 (자동차 경유)  460 µm</a:t>
            </a:r>
            <a:endParaRPr lang="en-US" sz="1000" dirty="0"/>
          </a:p>
          <a:p>
            <a:pPr indent="0" marL="0">
              <a:lnSpc>
                <a:spcPts val="1500"/>
              </a:lnSpc>
              <a:buNone/>
            </a:pPr>
            <a:endParaRPr lang="en-US" sz="1000" dirty="0"/>
          </a:p>
          <a:p>
            <a:pPr indent="0" marL="0">
              <a:lnSpc>
                <a:spcPts val="1500"/>
              </a:lnSpc>
              <a:buNone/>
            </a:pPr>
            <a:r>
              <a:rPr lang="en-US" sz="1000" dirty="0">
                <a:solidFill>
                  <a:srgbClr val="3D4A5C"/>
                </a:solidFill>
                <a:latin typeface="맑은 고딕" pitchFamily="34" charset="0"/>
                <a:ea typeface="맑은 고딕" pitchFamily="34" charset="-122"/>
                <a:cs typeface="맑은 고딕" pitchFamily="34" charset="-120"/>
              </a:rPr>
              <a:t>OEM이 더 엄격할 수 있습니다.</a:t>
            </a:r>
            <a:endParaRPr lang="en-US" sz="1000" dirty="0"/>
          </a:p>
        </p:txBody>
      </p:sp>
      <p:sp>
        <p:nvSpPr>
          <p:cNvPr id="16" name="Shape 14"/>
          <p:cNvSpPr/>
          <p:nvPr/>
        </p:nvSpPr>
        <p:spPr>
          <a:xfrm>
            <a:off x="6251296" y="2139696"/>
            <a:ext cx="2531288" cy="2670048"/>
          </a:xfrm>
          <a:prstGeom prst="roundRect">
            <a:avLst>
              <a:gd name="adj" fmla="val 505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17" name="Text 15"/>
          <p:cNvSpPr/>
          <p:nvPr/>
        </p:nvSpPr>
        <p:spPr>
          <a:xfrm>
            <a:off x="6470752" y="2322576"/>
            <a:ext cx="2092376" cy="219456"/>
          </a:xfrm>
          <a:prstGeom prst="rect">
            <a:avLst/>
          </a:prstGeom>
          <a:noFill/>
          <a:ln/>
        </p:spPr>
        <p:txBody>
          <a:bodyPr wrap="square" lIns="0" tIns="0" rIns="0" bIns="0" rtlCol="0" anchor="ctr"/>
          <a:lstStyle/>
          <a:p>
            <a:pPr indent="0" marL="0">
              <a:buNone/>
            </a:pPr>
            <a:r>
              <a:rPr lang="en-US" sz="950" b="1" spc="180" kern="0" dirty="0">
                <a:solidFill>
                  <a:srgbClr val="E17B34"/>
                </a:solidFill>
                <a:latin typeface="맑은 고딕" pitchFamily="34" charset="0"/>
                <a:ea typeface="맑은 고딕" pitchFamily="34" charset="-122"/>
                <a:cs typeface="맑은 고딕" pitchFamily="34" charset="-120"/>
              </a:rPr>
              <a:t>STEP 03</a:t>
            </a:r>
            <a:endParaRPr lang="en-US" sz="950" dirty="0"/>
          </a:p>
        </p:txBody>
      </p:sp>
      <p:sp>
        <p:nvSpPr>
          <p:cNvPr id="18" name="Text 16"/>
          <p:cNvSpPr/>
          <p:nvPr/>
        </p:nvSpPr>
        <p:spPr>
          <a:xfrm>
            <a:off x="6470752" y="2542032"/>
            <a:ext cx="2092376" cy="310896"/>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두 숫자를 비교하십시오</a:t>
            </a:r>
            <a:endParaRPr lang="en-US" sz="1300" dirty="0"/>
          </a:p>
        </p:txBody>
      </p:sp>
      <p:sp>
        <p:nvSpPr>
          <p:cNvPr id="19" name="Shape 17"/>
          <p:cNvSpPr/>
          <p:nvPr/>
        </p:nvSpPr>
        <p:spPr>
          <a:xfrm>
            <a:off x="9093479" y="2139696"/>
            <a:ext cx="2531288" cy="2670048"/>
          </a:xfrm>
          <a:prstGeom prst="roundRect">
            <a:avLst>
              <a:gd name="adj" fmla="val 5057"/>
            </a:avLst>
          </a:prstGeom>
          <a:solidFill>
            <a:srgbClr val="FFFFFF"/>
          </a:solidFill>
          <a:ln w="9525">
            <a:solidFill>
              <a:srgbClr val="EDF1F8"/>
            </a:solidFill>
            <a:prstDash val="solid"/>
          </a:ln>
          <a:effectLst>
            <a:outerShdw sx="100000" sy="100000" kx="0" ky="0" algn="bl" rotWithShape="0" blurRad="127000" dist="25400" dir="5400000">
              <a:srgbClr val="9BAAC4">
                <a:alpha val="22000"/>
              </a:srgbClr>
            </a:outerShdw>
          </a:effectLst>
        </p:spPr>
      </p:sp>
      <p:sp>
        <p:nvSpPr>
          <p:cNvPr id="20" name="Text 18"/>
          <p:cNvSpPr/>
          <p:nvPr/>
        </p:nvSpPr>
        <p:spPr>
          <a:xfrm>
            <a:off x="9312935" y="2322576"/>
            <a:ext cx="2092376" cy="219456"/>
          </a:xfrm>
          <a:prstGeom prst="rect">
            <a:avLst/>
          </a:prstGeom>
          <a:noFill/>
          <a:ln/>
        </p:spPr>
        <p:txBody>
          <a:bodyPr wrap="square" lIns="0" tIns="0" rIns="0" bIns="0" rtlCol="0" anchor="ctr"/>
          <a:lstStyle/>
          <a:p>
            <a:pPr indent="0" marL="0">
              <a:buNone/>
            </a:pPr>
            <a:r>
              <a:rPr lang="en-US" sz="950" b="1" spc="180" kern="0" dirty="0">
                <a:solidFill>
                  <a:srgbClr val="2E7D5B"/>
                </a:solidFill>
                <a:latin typeface="맑은 고딕" pitchFamily="34" charset="0"/>
                <a:ea typeface="맑은 고딕" pitchFamily="34" charset="-122"/>
                <a:cs typeface="맑은 고딕" pitchFamily="34" charset="-120"/>
              </a:rPr>
              <a:t>STEP 04</a:t>
            </a:r>
            <a:endParaRPr lang="en-US" sz="950" dirty="0"/>
          </a:p>
        </p:txBody>
      </p:sp>
      <p:sp>
        <p:nvSpPr>
          <p:cNvPr id="21" name="Text 19"/>
          <p:cNvSpPr/>
          <p:nvPr/>
        </p:nvSpPr>
        <p:spPr>
          <a:xfrm>
            <a:off x="9312935" y="2542032"/>
            <a:ext cx="2092376" cy="310896"/>
          </a:xfrm>
          <a:prstGeom prst="rect">
            <a:avLst/>
          </a:prstGeom>
          <a:noFill/>
          <a:ln/>
        </p:spPr>
        <p:txBody>
          <a:bodyPr wrap="square" lIns="0" tIns="0" rIns="0" bIns="0" rtlCol="0" anchor="ctr"/>
          <a:lstStyle/>
          <a:p>
            <a:pPr indent="0" marL="0">
              <a:buNone/>
            </a:pPr>
            <a:r>
              <a:rPr lang="en-US" sz="1300" b="1" dirty="0">
                <a:solidFill>
                  <a:srgbClr val="1B3A5C"/>
                </a:solidFill>
                <a:latin typeface="맑은 고딕" pitchFamily="34" charset="0"/>
                <a:ea typeface="맑은 고딕" pitchFamily="34" charset="-122"/>
                <a:cs typeface="맑은 고딕" pitchFamily="34" charset="-120"/>
              </a:rPr>
              <a:t>비용을 비교하십시오</a:t>
            </a:r>
            <a:endParaRPr lang="en-US" sz="1300" dirty="0"/>
          </a:p>
        </p:txBody>
      </p:sp>
      <p:sp>
        <p:nvSpPr>
          <p:cNvPr id="22" name="Shape 20"/>
          <p:cNvSpPr/>
          <p:nvPr/>
        </p:nvSpPr>
        <p:spPr>
          <a:xfrm>
            <a:off x="6470752" y="2962656"/>
            <a:ext cx="2092376" cy="493776"/>
          </a:xfrm>
          <a:prstGeom prst="roundRect">
            <a:avLst>
              <a:gd name="adj" fmla="val 12963"/>
            </a:avLst>
          </a:prstGeom>
          <a:solidFill>
            <a:srgbClr val="E9F5F0"/>
          </a:solidFill>
          <a:ln w="12700">
            <a:solidFill>
              <a:srgbClr val="333333"/>
            </a:solidFill>
            <a:prstDash val="solid"/>
          </a:ln>
        </p:spPr>
      </p:sp>
      <p:sp>
        <p:nvSpPr>
          <p:cNvPr id="23" name="Text 21"/>
          <p:cNvSpPr/>
          <p:nvPr/>
        </p:nvSpPr>
        <p:spPr>
          <a:xfrm>
            <a:off x="6598768" y="2999232"/>
            <a:ext cx="1836344" cy="237744"/>
          </a:xfrm>
          <a:prstGeom prst="rect">
            <a:avLst/>
          </a:prstGeom>
          <a:noFill/>
          <a:ln/>
        </p:spPr>
        <p:txBody>
          <a:bodyPr wrap="square" lIns="0" tIns="0" rIns="0" bIns="0" rtlCol="0" anchor="ctr"/>
          <a:lstStyle/>
          <a:p>
            <a:pPr indent="0" marL="0">
              <a:buNone/>
            </a:pPr>
            <a:r>
              <a:rPr lang="en-US" sz="1100" b="1" dirty="0">
                <a:solidFill>
                  <a:srgbClr val="2E7D5B"/>
                </a:solidFill>
                <a:latin typeface="맑은 고딕" pitchFamily="34" charset="0"/>
                <a:ea typeface="맑은 고딕" pitchFamily="34" charset="-122"/>
                <a:cs typeface="맑은 고딕" pitchFamily="34" charset="-120"/>
              </a:rPr>
              <a:t>460 µm 미만</a:t>
            </a:r>
            <a:endParaRPr lang="en-US" sz="1100" dirty="0"/>
          </a:p>
        </p:txBody>
      </p:sp>
      <p:sp>
        <p:nvSpPr>
          <p:cNvPr id="24" name="Text 22"/>
          <p:cNvSpPr/>
          <p:nvPr/>
        </p:nvSpPr>
        <p:spPr>
          <a:xfrm>
            <a:off x="6598768" y="3218688"/>
            <a:ext cx="1836344" cy="201168"/>
          </a:xfrm>
          <a:prstGeom prst="rect">
            <a:avLst/>
          </a:prstGeom>
          <a:noFill/>
          <a:ln/>
        </p:spPr>
        <p:txBody>
          <a:bodyPr wrap="square" lIns="0" tIns="0" rIns="0" bIns="0" rtlCol="0" anchor="ctr"/>
          <a:lstStyle/>
          <a:p>
            <a:pPr indent="0" marL="0">
              <a:buNone/>
            </a:pPr>
            <a:r>
              <a:rPr lang="en-US" sz="950" dirty="0">
                <a:solidFill>
                  <a:srgbClr val="3D4A5C"/>
                </a:solidFill>
                <a:latin typeface="맑은 고딕" pitchFamily="34" charset="0"/>
                <a:ea typeface="맑은 고딕" pitchFamily="34" charset="-122"/>
                <a:cs typeface="맑은 고딕" pitchFamily="34" charset="-120"/>
              </a:rPr>
              <a:t>여유 있음</a:t>
            </a:r>
            <a:endParaRPr lang="en-US" sz="950" dirty="0"/>
          </a:p>
        </p:txBody>
      </p:sp>
      <p:sp>
        <p:nvSpPr>
          <p:cNvPr id="25" name="Shape 23"/>
          <p:cNvSpPr/>
          <p:nvPr/>
        </p:nvSpPr>
        <p:spPr>
          <a:xfrm>
            <a:off x="6470752" y="3529584"/>
            <a:ext cx="2092376" cy="493776"/>
          </a:xfrm>
          <a:prstGeom prst="roundRect">
            <a:avLst>
              <a:gd name="adj" fmla="val 12963"/>
            </a:avLst>
          </a:prstGeom>
          <a:solidFill>
            <a:srgbClr val="FDF2E9"/>
          </a:solidFill>
          <a:ln w="12700">
            <a:solidFill>
              <a:srgbClr val="333333"/>
            </a:solidFill>
            <a:prstDash val="solid"/>
          </a:ln>
        </p:spPr>
      </p:sp>
      <p:sp>
        <p:nvSpPr>
          <p:cNvPr id="26" name="Text 24"/>
          <p:cNvSpPr/>
          <p:nvPr/>
        </p:nvSpPr>
        <p:spPr>
          <a:xfrm>
            <a:off x="6598768" y="3566160"/>
            <a:ext cx="1836344" cy="237744"/>
          </a:xfrm>
          <a:prstGeom prst="rect">
            <a:avLst/>
          </a:prstGeom>
          <a:noFill/>
          <a:ln/>
        </p:spPr>
        <p:txBody>
          <a:bodyPr wrap="square" lIns="0" tIns="0" rIns="0" bIns="0" rtlCol="0" anchor="ctr"/>
          <a:lstStyle/>
          <a:p>
            <a:pPr indent="0" marL="0">
              <a:buNone/>
            </a:pPr>
            <a:r>
              <a:rPr lang="en-US" sz="1100" b="1" dirty="0">
                <a:solidFill>
                  <a:srgbClr val="E17B34"/>
                </a:solidFill>
                <a:latin typeface="맑은 고딕" pitchFamily="34" charset="0"/>
                <a:ea typeface="맑은 고딕" pitchFamily="34" charset="-122"/>
                <a:cs typeface="맑은 고딕" pitchFamily="34" charset="-120"/>
              </a:rPr>
              <a:t>460 ~ 520 µm</a:t>
            </a:r>
            <a:endParaRPr lang="en-US" sz="1100" dirty="0"/>
          </a:p>
        </p:txBody>
      </p:sp>
      <p:sp>
        <p:nvSpPr>
          <p:cNvPr id="27" name="Text 25"/>
          <p:cNvSpPr/>
          <p:nvPr/>
        </p:nvSpPr>
        <p:spPr>
          <a:xfrm>
            <a:off x="6598768" y="3785616"/>
            <a:ext cx="1836344" cy="201168"/>
          </a:xfrm>
          <a:prstGeom prst="rect">
            <a:avLst/>
          </a:prstGeom>
          <a:noFill/>
          <a:ln/>
        </p:spPr>
        <p:txBody>
          <a:bodyPr wrap="square" lIns="0" tIns="0" rIns="0" bIns="0" rtlCol="0" anchor="ctr"/>
          <a:lstStyle/>
          <a:p>
            <a:pPr indent="0" marL="0">
              <a:buNone/>
            </a:pPr>
            <a:r>
              <a:rPr lang="en-US" sz="950" dirty="0">
                <a:solidFill>
                  <a:srgbClr val="3D4A5C"/>
                </a:solidFill>
                <a:latin typeface="맑은 고딕" pitchFamily="34" charset="0"/>
                <a:ea typeface="맑은 고딕" pitchFamily="34" charset="-122"/>
                <a:cs typeface="맑은 고딕" pitchFamily="34" charset="-120"/>
              </a:rPr>
              <a:t>ISO 통과, 여유 없음</a:t>
            </a:r>
            <a:endParaRPr lang="en-US" sz="950" dirty="0"/>
          </a:p>
        </p:txBody>
      </p:sp>
      <p:sp>
        <p:nvSpPr>
          <p:cNvPr id="28" name="Shape 26"/>
          <p:cNvSpPr/>
          <p:nvPr/>
        </p:nvSpPr>
        <p:spPr>
          <a:xfrm>
            <a:off x="6470752" y="4096512"/>
            <a:ext cx="2092376" cy="493776"/>
          </a:xfrm>
          <a:prstGeom prst="roundRect">
            <a:avLst>
              <a:gd name="adj" fmla="val 12963"/>
            </a:avLst>
          </a:prstGeom>
          <a:solidFill>
            <a:srgbClr val="FDECEA"/>
          </a:solidFill>
          <a:ln w="12700">
            <a:solidFill>
              <a:srgbClr val="333333"/>
            </a:solidFill>
            <a:prstDash val="solid"/>
          </a:ln>
        </p:spPr>
      </p:sp>
      <p:sp>
        <p:nvSpPr>
          <p:cNvPr id="29" name="Text 27"/>
          <p:cNvSpPr/>
          <p:nvPr/>
        </p:nvSpPr>
        <p:spPr>
          <a:xfrm>
            <a:off x="6598768" y="4133088"/>
            <a:ext cx="1836344" cy="237744"/>
          </a:xfrm>
          <a:prstGeom prst="rect">
            <a:avLst/>
          </a:prstGeom>
          <a:noFill/>
          <a:ln/>
        </p:spPr>
        <p:txBody>
          <a:bodyPr wrap="square" lIns="0" tIns="0" rIns="0" bIns="0" rtlCol="0" anchor="ctr"/>
          <a:lstStyle/>
          <a:p>
            <a:pPr indent="0" marL="0">
              <a:buNone/>
            </a:pPr>
            <a:r>
              <a:rPr lang="en-US" sz="1100" b="1" dirty="0">
                <a:solidFill>
                  <a:srgbClr val="C0392B"/>
                </a:solidFill>
                <a:latin typeface="맑은 고딕" pitchFamily="34" charset="0"/>
                <a:ea typeface="맑은 고딕" pitchFamily="34" charset="-122"/>
                <a:cs typeface="맑은 고딕" pitchFamily="34" charset="-120"/>
              </a:rPr>
              <a:t>520 µm 초과</a:t>
            </a:r>
            <a:endParaRPr lang="en-US" sz="1100" dirty="0"/>
          </a:p>
        </p:txBody>
      </p:sp>
      <p:sp>
        <p:nvSpPr>
          <p:cNvPr id="30" name="Text 28"/>
          <p:cNvSpPr/>
          <p:nvPr/>
        </p:nvSpPr>
        <p:spPr>
          <a:xfrm>
            <a:off x="6598768" y="4352544"/>
            <a:ext cx="1836344" cy="201168"/>
          </a:xfrm>
          <a:prstGeom prst="rect">
            <a:avLst/>
          </a:prstGeom>
          <a:noFill/>
          <a:ln/>
        </p:spPr>
        <p:txBody>
          <a:bodyPr wrap="square" lIns="0" tIns="0" rIns="0" bIns="0" rtlCol="0" anchor="ctr"/>
          <a:lstStyle/>
          <a:p>
            <a:pPr indent="0" marL="0">
              <a:buNone/>
            </a:pPr>
            <a:r>
              <a:rPr lang="en-US" sz="950" dirty="0">
                <a:solidFill>
                  <a:srgbClr val="3D4A5C"/>
                </a:solidFill>
                <a:latin typeface="맑은 고딕" pitchFamily="34" charset="0"/>
                <a:ea typeface="맑은 고딕" pitchFamily="34" charset="-122"/>
                <a:cs typeface="맑은 고딕" pitchFamily="34" charset="-120"/>
              </a:rPr>
              <a:t>부적합</a:t>
            </a:r>
            <a:endParaRPr lang="en-US" sz="950" dirty="0"/>
          </a:p>
        </p:txBody>
      </p:sp>
      <p:sp>
        <p:nvSpPr>
          <p:cNvPr id="31" name="Text 29"/>
          <p:cNvSpPr/>
          <p:nvPr/>
        </p:nvSpPr>
        <p:spPr>
          <a:xfrm>
            <a:off x="6470752" y="4626864"/>
            <a:ext cx="2092376" cy="182880"/>
          </a:xfrm>
          <a:prstGeom prst="rect">
            <a:avLst/>
          </a:prstGeom>
          <a:noFill/>
          <a:ln/>
        </p:spPr>
        <p:txBody>
          <a:bodyPr wrap="square" lIns="0" tIns="0" rIns="0" bIns="0" rtlCol="0" anchor="ctr"/>
          <a:lstStyle/>
          <a:p>
            <a:pPr indent="0" marL="0">
              <a:buNone/>
            </a:pPr>
            <a:r>
              <a:rPr lang="en-US" sz="900" i="1" dirty="0">
                <a:solidFill>
                  <a:srgbClr val="8A94A6"/>
                </a:solidFill>
                <a:latin typeface="맑은 고딕" pitchFamily="34" charset="0"/>
                <a:ea typeface="맑은 고딕" pitchFamily="34" charset="-122"/>
                <a:cs typeface="맑은 고딕" pitchFamily="34" charset="-120"/>
              </a:rPr>
              <a:t>가운데 구간이 판단이 필요한 영역입니다.</a:t>
            </a:r>
            <a:endParaRPr lang="en-US" sz="900" dirty="0"/>
          </a:p>
        </p:txBody>
      </p:sp>
      <p:sp>
        <p:nvSpPr>
          <p:cNvPr id="32" name="Text 30"/>
          <p:cNvSpPr/>
          <p:nvPr/>
        </p:nvSpPr>
        <p:spPr>
          <a:xfrm>
            <a:off x="9312935" y="2962656"/>
            <a:ext cx="2092376" cy="201168"/>
          </a:xfrm>
          <a:prstGeom prst="rect">
            <a:avLst/>
          </a:prstGeom>
          <a:noFill/>
          <a:ln/>
        </p:spPr>
        <p:txBody>
          <a:bodyPr wrap="square" lIns="0" tIns="0" rIns="0" bIns="0" rtlCol="0" anchor="ctr"/>
          <a:lstStyle/>
          <a:p>
            <a:pPr indent="0" marL="0">
              <a:buNone/>
            </a:pPr>
            <a:r>
              <a:rPr lang="en-US" sz="950" dirty="0">
                <a:solidFill>
                  <a:srgbClr val="3D4A5C"/>
                </a:solidFill>
                <a:latin typeface="맑은 고딕" pitchFamily="34" charset="0"/>
                <a:ea typeface="맑은 고딕" pitchFamily="34" charset="-122"/>
                <a:cs typeface="맑은 고딕" pitchFamily="34" charset="-120"/>
              </a:rPr>
              <a:t>플런저 · 배럴 1조 단가</a:t>
            </a:r>
            <a:endParaRPr lang="en-US" sz="950" dirty="0"/>
          </a:p>
        </p:txBody>
      </p:sp>
      <p:sp>
        <p:nvSpPr>
          <p:cNvPr id="33" name="Text 31"/>
          <p:cNvSpPr/>
          <p:nvPr/>
        </p:nvSpPr>
        <p:spPr>
          <a:xfrm>
            <a:off x="9312935" y="3145536"/>
            <a:ext cx="2092376" cy="237744"/>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 원</a:t>
            </a:r>
            <a:endParaRPr lang="en-US" sz="1150" dirty="0"/>
          </a:p>
        </p:txBody>
      </p:sp>
      <p:sp>
        <p:nvSpPr>
          <p:cNvPr id="34" name="Text 32"/>
          <p:cNvSpPr/>
          <p:nvPr/>
        </p:nvSpPr>
        <p:spPr>
          <a:xfrm>
            <a:off x="9312935" y="3419856"/>
            <a:ext cx="2092376" cy="201168"/>
          </a:xfrm>
          <a:prstGeom prst="rect">
            <a:avLst/>
          </a:prstGeom>
          <a:noFill/>
          <a:ln/>
        </p:spPr>
        <p:txBody>
          <a:bodyPr wrap="square" lIns="0" tIns="0" rIns="0" bIns="0" rtlCol="0" anchor="ctr"/>
          <a:lstStyle/>
          <a:p>
            <a:pPr indent="0" marL="0">
              <a:buNone/>
            </a:pPr>
            <a:r>
              <a:rPr lang="en-US" sz="950" dirty="0">
                <a:solidFill>
                  <a:srgbClr val="3D4A5C"/>
                </a:solidFill>
                <a:latin typeface="맑은 고딕" pitchFamily="34" charset="0"/>
                <a:ea typeface="맑은 고딕" pitchFamily="34" charset="-122"/>
                <a:cs typeface="맑은 고딕" pitchFamily="34" charset="-120"/>
              </a:rPr>
              <a:t>× 실린더 수</a:t>
            </a:r>
            <a:endParaRPr lang="en-US" sz="950" dirty="0"/>
          </a:p>
        </p:txBody>
      </p:sp>
      <p:sp>
        <p:nvSpPr>
          <p:cNvPr id="35" name="Text 33"/>
          <p:cNvSpPr/>
          <p:nvPr/>
        </p:nvSpPr>
        <p:spPr>
          <a:xfrm>
            <a:off x="9312935" y="3602736"/>
            <a:ext cx="2092376" cy="237744"/>
          </a:xfrm>
          <a:prstGeom prst="rect">
            <a:avLst/>
          </a:prstGeom>
          <a:noFill/>
          <a:ln/>
        </p:spPr>
        <p:txBody>
          <a:bodyPr wrap="square" lIns="0" tIns="0" rIns="0" bIns="0" rtlCol="0" anchor="ctr"/>
          <a:lstStyle/>
          <a:p>
            <a:pPr indent="0" marL="0">
              <a:buNone/>
            </a:pPr>
            <a:r>
              <a:rPr lang="en-US" sz="1150" b="1" dirty="0">
                <a:solidFill>
                  <a:srgbClr val="1B3A5C"/>
                </a:solidFill>
                <a:latin typeface="맑은 고딕" pitchFamily="34" charset="0"/>
                <a:ea typeface="맑은 고딕" pitchFamily="34" charset="-122"/>
                <a:cs typeface="맑은 고딕" pitchFamily="34" charset="-120"/>
              </a:rPr>
              <a:t>＿＿＿ 기</a:t>
            </a:r>
            <a:endParaRPr lang="en-US" sz="1150" dirty="0"/>
          </a:p>
        </p:txBody>
      </p:sp>
      <p:sp>
        <p:nvSpPr>
          <p:cNvPr id="36" name="Text 34"/>
          <p:cNvSpPr/>
          <p:nvPr/>
        </p:nvSpPr>
        <p:spPr>
          <a:xfrm>
            <a:off x="9312935" y="3877056"/>
            <a:ext cx="2092376" cy="201168"/>
          </a:xfrm>
          <a:prstGeom prst="rect">
            <a:avLst/>
          </a:prstGeom>
          <a:noFill/>
          <a:ln/>
        </p:spPr>
        <p:txBody>
          <a:bodyPr wrap="square" lIns="0" tIns="0" rIns="0" bIns="0" rtlCol="0" anchor="ctr"/>
          <a:lstStyle/>
          <a:p>
            <a:pPr indent="0" marL="0">
              <a:buNone/>
            </a:pPr>
            <a:r>
              <a:rPr lang="en-US" sz="950" dirty="0">
                <a:solidFill>
                  <a:srgbClr val="3D4A5C"/>
                </a:solidFill>
                <a:latin typeface="맑은 고딕" pitchFamily="34" charset="0"/>
                <a:ea typeface="맑은 고딕" pitchFamily="34" charset="-122"/>
                <a:cs typeface="맑은 고딕" pitchFamily="34" charset="-120"/>
              </a:rPr>
              <a:t>첨가제 (50 t 벙커 기준)</a:t>
            </a:r>
            <a:endParaRPr lang="en-US" sz="950" dirty="0"/>
          </a:p>
        </p:txBody>
      </p:sp>
      <p:sp>
        <p:nvSpPr>
          <p:cNvPr id="37" name="Text 35"/>
          <p:cNvSpPr/>
          <p:nvPr/>
        </p:nvSpPr>
        <p:spPr>
          <a:xfrm>
            <a:off x="9312935" y="4059936"/>
            <a:ext cx="2092376" cy="237744"/>
          </a:xfrm>
          <a:prstGeom prst="rect">
            <a:avLst/>
          </a:prstGeom>
          <a:noFill/>
          <a:ln/>
        </p:spPr>
        <p:txBody>
          <a:bodyPr wrap="square" lIns="0" tIns="0" rIns="0" bIns="0" rtlCol="0" anchor="ctr"/>
          <a:lstStyle/>
          <a:p>
            <a:pPr indent="0" marL="0">
              <a:buNone/>
            </a:pPr>
            <a:r>
              <a:rPr lang="en-US" sz="1150" b="1" dirty="0">
                <a:solidFill>
                  <a:srgbClr val="2E7D5B"/>
                </a:solidFill>
                <a:latin typeface="맑은 고딕" pitchFamily="34" charset="0"/>
                <a:ea typeface="맑은 고딕" pitchFamily="34" charset="-122"/>
                <a:cs typeface="맑은 고딕" pitchFamily="34" charset="-120"/>
              </a:rPr>
              <a:t>5 ~ 10 L</a:t>
            </a:r>
            <a:endParaRPr lang="en-US" sz="1150" dirty="0"/>
          </a:p>
        </p:txBody>
      </p:sp>
      <p:sp>
        <p:nvSpPr>
          <p:cNvPr id="38" name="Shape 36"/>
          <p:cNvSpPr/>
          <p:nvPr/>
        </p:nvSpPr>
        <p:spPr>
          <a:xfrm>
            <a:off x="9312935" y="4370832"/>
            <a:ext cx="2092376" cy="438912"/>
          </a:xfrm>
          <a:prstGeom prst="roundRect">
            <a:avLst>
              <a:gd name="adj" fmla="val 14583"/>
            </a:avLst>
          </a:prstGeom>
          <a:solidFill>
            <a:srgbClr val="1B3A5C"/>
          </a:solidFill>
          <a:ln w="12700">
            <a:solidFill>
              <a:srgbClr val="333333"/>
            </a:solidFill>
            <a:prstDash val="solid"/>
          </a:ln>
        </p:spPr>
      </p:sp>
      <p:sp>
        <p:nvSpPr>
          <p:cNvPr id="39" name="Text 37"/>
          <p:cNvSpPr/>
          <p:nvPr/>
        </p:nvSpPr>
        <p:spPr>
          <a:xfrm>
            <a:off x="9312935" y="4370832"/>
            <a:ext cx="2092376" cy="438912"/>
          </a:xfrm>
          <a:prstGeom prst="rect">
            <a:avLst/>
          </a:prstGeom>
          <a:noFill/>
          <a:ln/>
        </p:spPr>
        <p:txBody>
          <a:bodyPr wrap="square" lIns="0" tIns="0" rIns="0" bIns="0" rtlCol="0" anchor="ctr"/>
          <a:lstStyle/>
          <a:p>
            <a:pPr algn="ctr" indent="0" marL="0">
              <a:buNone/>
            </a:pPr>
            <a:r>
              <a:rPr lang="en-US" sz="1150" b="1" dirty="0">
                <a:solidFill>
                  <a:srgbClr val="E17B34"/>
                </a:solidFill>
                <a:latin typeface="맑은 고딕" pitchFamily="34" charset="0"/>
                <a:ea typeface="맑은 고딕" pitchFamily="34" charset="-122"/>
                <a:cs typeface="맑은 고딕" pitchFamily="34" charset="-120"/>
              </a:rPr>
              <a:t>어느 쪽이 큽니까?</a:t>
            </a:r>
            <a:endParaRPr lang="en-US" sz="1150" dirty="0"/>
          </a:p>
        </p:txBody>
      </p:sp>
      <p:sp>
        <p:nvSpPr>
          <p:cNvPr id="40" name="Shape 38"/>
          <p:cNvSpPr/>
          <p:nvPr/>
        </p:nvSpPr>
        <p:spPr>
          <a:xfrm>
            <a:off x="566928" y="4992624"/>
            <a:ext cx="11057839" cy="786384"/>
          </a:xfrm>
          <a:prstGeom prst="roundRect">
            <a:avLst>
              <a:gd name="adj" fmla="val 11628"/>
            </a:avLst>
          </a:prstGeom>
          <a:solidFill>
            <a:srgbClr val="1B3A5C"/>
          </a:solidFill>
          <a:ln w="12700">
            <a:solidFill>
              <a:srgbClr val="1B3A5C"/>
            </a:solidFill>
            <a:prstDash val="solid"/>
          </a:ln>
        </p:spPr>
      </p:sp>
      <p:sp>
        <p:nvSpPr>
          <p:cNvPr id="41" name="Text 39"/>
          <p:cNvSpPr/>
          <p:nvPr/>
        </p:nvSpPr>
        <p:spPr>
          <a:xfrm>
            <a:off x="795528" y="4992624"/>
            <a:ext cx="10600639" cy="786384"/>
          </a:xfrm>
          <a:prstGeom prst="rect">
            <a:avLst/>
          </a:prstGeom>
          <a:noFill/>
          <a:ln/>
        </p:spPr>
        <p:txBody>
          <a:bodyPr wrap="square" lIns="0" tIns="0" rIns="0" bIns="0" rtlCol="0" anchor="ctr"/>
          <a:lstStyle/>
          <a:p>
            <a:pPr algn="ctr" indent="0" marL="0">
              <a:buNone/>
            </a:pPr>
            <a:r>
              <a:rPr lang="en-US" sz="1700" b="1" dirty="0">
                <a:solidFill>
                  <a:srgbClr val="E17B34"/>
                </a:solidFill>
                <a:latin typeface="바탕" pitchFamily="34" charset="0"/>
                <a:ea typeface="바탕" pitchFamily="34" charset="-122"/>
                <a:cs typeface="바탕" pitchFamily="34" charset="-120"/>
              </a:rPr>
              <a:t>“ </a:t>
            </a:r>
            <a:pPr algn="ctr" indent="0" marL="0">
              <a:buNone/>
            </a:pPr>
            <a:r>
              <a:rPr lang="en-US" sz="1400" b="1" dirty="0">
                <a:solidFill>
                  <a:srgbClr val="FFFFFF"/>
                </a:solidFill>
                <a:latin typeface="맑은 고딕" pitchFamily="34" charset="0"/>
                <a:ea typeface="맑은 고딕" pitchFamily="34" charset="-122"/>
                <a:cs typeface="맑은 고딕" pitchFamily="34" charset="-120"/>
              </a:rPr>
              <a:t>윤활성은 계기판에 뜨지 않습니다. 성적서를 열어보는 것 말고는 알 방법이 없습니다.</a:t>
            </a:r>
            <a:pPr algn="ctr" indent="0" marL="0">
              <a:buNone/>
            </a:pPr>
            <a:r>
              <a:rPr lang="en-US" sz="1700" b="1" dirty="0">
                <a:solidFill>
                  <a:srgbClr val="E17B34"/>
                </a:solidFill>
                <a:latin typeface="바탕" pitchFamily="34" charset="0"/>
                <a:ea typeface="바탕" pitchFamily="34" charset="-122"/>
                <a:cs typeface="바탕" pitchFamily="34" charset="-120"/>
              </a:rPr>
              <a:t> ”</a:t>
            </a:r>
            <a:endParaRPr lang="en-US" sz="1700" dirty="0"/>
          </a:p>
        </p:txBody>
      </p:sp>
      <p:sp>
        <p:nvSpPr>
          <p:cNvPr id="42" name="Text 40"/>
          <p:cNvSpPr/>
          <p:nvPr/>
        </p:nvSpPr>
        <p:spPr>
          <a:xfrm>
            <a:off x="566928" y="5907024"/>
            <a:ext cx="11057839" cy="219456"/>
          </a:xfrm>
          <a:prstGeom prst="rect">
            <a:avLst/>
          </a:prstGeom>
          <a:noFill/>
          <a:ln/>
        </p:spPr>
        <p:txBody>
          <a:bodyPr wrap="square" lIns="0" tIns="0" rIns="0" bIns="0" rtlCol="0" anchor="ctr"/>
          <a:lstStyle/>
          <a:p>
            <a:pPr indent="0" marL="0">
              <a:buNone/>
            </a:pPr>
            <a:r>
              <a:rPr lang="en-US" sz="850" i="1" dirty="0">
                <a:solidFill>
                  <a:srgbClr val="8A94A6"/>
                </a:solidFill>
                <a:latin typeface="맑은 고딕" pitchFamily="34" charset="0"/>
                <a:ea typeface="맑은 고딕" pitchFamily="34" charset="-122"/>
                <a:cs typeface="맑은 고딕" pitchFamily="34" charset="-120"/>
              </a:rPr>
              <a:t>ISO 8217 · EN 590 규격 한계 · 투입량은 Unitor™ DieselPower™ Lubricity 제품 매뉴얼 기준 (0.1~0.2 L/ton)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선박 연료 품질 동향 - Section 01</dc:title>
  <dc:subject>PptxGenJS Presentation</dc:subject>
  <dc:creator>Fuel Quality Training</dc:creator>
  <cp:lastModifiedBy>Fuel Quality Training</cp:lastModifiedBy>
  <cp:revision>1</cp:revision>
  <dcterms:created xsi:type="dcterms:W3CDTF">2026-08-05T09:18:48Z</dcterms:created>
  <dcterms:modified xsi:type="dcterms:W3CDTF">2026-08-05T09:18:48Z</dcterms:modified>
</cp:coreProperties>
</file>