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2E5C8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3D4A5C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VLSFO</c:v>
                  </c:pt>
                  <c:pt idx="1">
                    <c:v>LSMGO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17B3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3D4A5C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VLSFO</c:v>
                  </c:pt>
                  <c:pt idx="1">
                    <c:v>LSMGO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33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50" u="none">
                  <a:solidFill>
                    <a:srgbClr val="3D4A5C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B3A5C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3D4A5C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VLSFO 운항 이슈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5C"/>
              </a:solidFill>
              <a:effectLst/>
            </c:spPr>
          </c:dPt>
          <c:dPt>
            <c:idx val="1"/>
            <c:bubble3D val="0"/>
            <c:spPr>
              <a:solidFill>
                <a:srgbClr val="2E5C8A"/>
              </a:solidFill>
              <a:effectLst/>
            </c:spPr>
          </c:dPt>
          <c:dPt>
            <c:idx val="2"/>
            <c:bubble3D val="0"/>
            <c:spPr>
              <a:solidFill>
                <a:srgbClr val="6E93BF"/>
              </a:solidFill>
              <a:effectLst/>
            </c:spPr>
          </c:dPt>
          <c:dPt>
            <c:idx val="3"/>
            <c:bubble3D val="0"/>
            <c:spPr>
              <a:solidFill>
                <a:srgbClr val="E17B34"/>
              </a:solidFill>
              <a:effectLst/>
            </c:spPr>
          </c:dPt>
          <c:dPt>
            <c:idx val="4"/>
            <c:bubble3D val="0"/>
            <c:spPr>
              <a:solidFill>
                <a:srgbClr val="DDE4EF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정유기 막힘</c:v>
                </c:pt>
                <c:pt idx="1">
                  <c:v>정유기 + 필터</c:v>
                </c:pt>
                <c:pt idx="2">
                  <c:v>필터 막힘</c:v>
                </c:pt>
                <c:pt idx="3">
                  <c:v>펌프 고착</c:v>
                </c:pt>
                <c:pt idx="4">
                  <c:v>기타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40</c:v>
                </c:pt>
                <c:pt idx="1">
                  <c:v>21</c:v>
                </c:pt>
                <c:pt idx="2">
                  <c:v>9</c:v>
                </c:pt>
                <c:pt idx="3">
                  <c:v>1</c:v>
                </c:pt>
                <c:pt idx="4">
                  <c:v>29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D4A5C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01의 목적은 '연료가 나빠졌다'는 인상이 아니라, 왜 서류상 합격한 연료가 실제로 문제를 일으키는지를 데이터로 보여주는 것입니다. 세 숫자(83% / 483ppm / 71%)를 먼저 던지고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2025년 들어 VLSFO는 줄고 MGO가 늘었습니다. 두 연료를 합치면 83%입니다. 뒤에서 다루겠지만 MGO가 늘었다고 안심할 일은 아닙니다 — 슬라이드 8에서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슬라이드입니다. 부적합률 4.8%는 'ISO 8217 항목' 기준입니다. 네 항구 사례 모두 ISO 항목은 정상이었고, GC-MS 정밀 분석에서만 오염이 잡혔습니다. 즉 시험성적서가 깨끗하다는 것이 연료가 깨끗하다는 뜻은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항목 모두 한 해 사이에 나빠졌습니다. 중요한 건 상충 관계입니다 — 점도가 높아져 분리 온도를 올려야 하는데, CIMAC은 VLSFO가 열에 민감해서 장시간 고온 노출 시 불안정해진다고 경고합니다. 분리기 운전이 그만큼 좁은 창에서 이뤄져야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Section 01 전체의 논리 축입니다. 세 숫자가 각각 다른 지점을 가리킵니다 — 규격은 인도 시점, 실측은 공급 현실, 그리고 OEM이 실제로 요구하는 건 엔진 입구 7~15ppm입니다. 그 간극을 메우는 것이 본선의 연료 처리 시스템입니다.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01에서 가장 강한 카드입니다. 네 샘플 모두 벙커링 당일에는 ISO 한계 0.10% 아래였습니다. 그런데 1~5개월 뒤 최대 0.40%까지 올라갔습니다. 즉 '받을 때 합격'이 '쓸 때 안전'을 뜻하지 않습니다. 이것이 저장·관리가 시험성적서만큼 중요한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정유기와 필터는 연료 상태를 가장 먼저 알려주는 지표입니다. 슬러지 배출량이 늘거나 필터 차압이 빨리 오르면 그 자체가 경고 신호입니다. 엔진에서 증상이 보일 때는 이미 늦습니다.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MGO는 '깨끗한 연료'라는 인식이 있지만 운항 이슈의 67%가 필터 막힘입니다. 특히 인화점 미달 28%는 MARPOL·SOLAS상 60°C 최저 기준과 직결되는 안전 항목입니다. 바이오 혼합 MGO는 부적합률이 일반 MGO의 6배입니다.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01의 결론입니다. 분리기를 잘 돌리는 것은 필수지만, 분리기가 손댈 수 없는 영역이 분명히 존재한다는 것을 CIMAC이 직접 명시하고 있습니다. Section 02는 바로 이 영역을 다룹니다 — 분리기의 대체가 아니라, 분리기가 닿지 못하는 구간에 대한 보완입니다.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관점을 바꿉니다. 지금까지 본 문제들은 흩어진 개별 사건이 아니라 하나의 계통에서 일어나는 일입니다. Well-to-Wake는 추출·정제·수송까지 포함하는 규제 보고의 틀입니다. 반면 Tank-to-Wake는 연료가 우리 탱크에 들어온 순간부터 배기가 굴뚝을 빠져나갈 때까지 — 즉 본선이 실제로 손댈 수 있는 구간입니다. Section 01에서 본 데이터가 이 세 단계에 각각 어디에 해당하는지 카드 하단에 표시했습니다.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01의 마지막 장입니다. 핵심은 손실이 단계마다 누적된다는 점입니다. 저장 중 열화로 슬러지가 되면 그 연료는 엔진에 도달조차 못 합니다. 연소가 나쁘면 매연이 열회수면에 쌓여 이후 모든 사이클의 효율을 떨어뜨립니다. 그래서 한 지점만 개선하는 것으로는 부족하고, Tank-to-Wake 전체를 하나로 관리해야 합니다. Section 02부터 각 단계를 순서대로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 슬라이드 06에서 본 현상의 원인을 두 가지로 좁힙니다 — 시간과 온도입니다. 그리고 중요한 전환점이 여기입니다. TSP·TSA는 시료를 뽑은 그날의 침전물을 재는 시험이라 앞일을 말해주지 않습니다. Hot Spin Test는 원심분리 조건을 재현해 앞으로 얼마나 슬러지가 생길지를 미리 봅니다. 즉 사후 확인에서 사전 예측으로 넘어가는 도구입니다.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여덟 개 항구에서 실제로 받은 RMG380으로 시험한 결과입니다. 여기서 정직하게 짚을 부분이 하나 있습니다 — Tuapse만 개선율이 16.67%로 낮은데, 이 시료는 분리온도가 40°C이고 점도 18.9, MCR 2.96으로 나머지와 성격이 다릅니다. 즉 이 첨가제는 아스팔텐이 많은 무거운 연료에서 효과가 크다는 뜻이고, 그것이 원래 겨냥하는 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메커니즘은 단순합니다. 아스팔텐이 뭉쳐서 큰 덩어리가 되면 침전하고 정유기와 필터를 막습니다. FPC는 입자를 미세하게 흩어놓아 애초에 뭉치지 않게 합니다. Section 01 슬라이드 09에서 분리기가 못 하는 일로 꼽은 '시간 경과 열화'와 '블렌드 간 불호환'이 바로 여기서 처리됩니다. 분리기를 대체하는 것이 아니라 분리기가 일할 수 있는 상태로 연료를 유지시켜 주는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왜 이런 일이 생기는지, 오른쪽은 그래서 본선에서 무엇이 망가지는지입니다. 세 번째 항목이 앞의 두 가지를 숫자로 확인해 주는 구조입니다. 플런저-배럴 공차가 수 마이크론이라는 점을 강조하십시오 — 유막 두께가 그보다 얇아지는 순간 바로 금속끼리 닿습니다. 그리고 이 ULSD는 다른 ISO 항목은 전부 만족한 정상 연료입니다. 슬라이드 03의 착시와 같은 구조이고, 원심분리기로는 535 µm를 단 1 µm도 낮출 수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막대 세 개가 전부입니다. 무처리 ULSD는 535 µm로 ISO 8217 520을 넘겨 부적합입니다. 100 ppm에서 396, 150 ppm에서 355로 떨어지고 두 규격 모두 통과합니다. 150 ppm 기준 33.6% 개선인데, 이 수치는 Lloyd's Register Product Verification Scheme 인증으로 공표된 34%와 일치합니다. 재질 주의는 실무에서 중요합니다 — 투입 계통의 씰과 개스킷 재질을 먼저 확인해야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-1463040" y="-2011680"/>
            <a:ext cx="6583680" cy="6583680"/>
          </a:xfrm>
          <a:prstGeom prst="roundRect">
            <a:avLst>
              <a:gd name="adj" fmla="val 6944"/>
            </a:avLst>
          </a:prstGeom>
          <a:solidFill>
            <a:srgbClr val="1733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00000">
            <a:off x="8595360" y="3657600"/>
            <a:ext cx="5669280" cy="5669280"/>
          </a:xfrm>
          <a:prstGeom prst="roundRect">
            <a:avLst>
              <a:gd name="adj" fmla="val 8065"/>
            </a:avLst>
          </a:prstGeom>
          <a:solidFill>
            <a:srgbClr val="1733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481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1883664"/>
            <a:ext cx="87782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선박 연료,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무엇이 달라졌는가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66928" y="367588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 · MGO 품질 동향과 선상 대응 — 2024~2025 실측 데이터 기반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315968"/>
            <a:ext cx="3200400" cy="1060704"/>
          </a:xfrm>
          <a:prstGeom prst="roundRect">
            <a:avLst>
              <a:gd name="adj" fmla="val 10345"/>
            </a:avLst>
          </a:prstGeom>
          <a:solidFill>
            <a:srgbClr val="17334F"/>
          </a:solidFill>
          <a:ln w="9525">
            <a:solidFill>
              <a:srgbClr val="2C4E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44622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83%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04672" y="49011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 + MGO 공급 비중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51376" y="4315968"/>
            <a:ext cx="3200400" cy="1060704"/>
          </a:xfrm>
          <a:prstGeom prst="roundRect">
            <a:avLst>
              <a:gd name="adj" fmla="val 10345"/>
            </a:avLst>
          </a:prstGeom>
          <a:solidFill>
            <a:srgbClr val="17334F"/>
          </a:solidFill>
          <a:ln w="9525">
            <a:solidFill>
              <a:srgbClr val="2C4E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44622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483 ppm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4389120" y="49011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 fines 실측 최대값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35824" y="4315968"/>
            <a:ext cx="3200400" cy="1060704"/>
          </a:xfrm>
          <a:prstGeom prst="roundRect">
            <a:avLst>
              <a:gd name="adj" fmla="val 10345"/>
            </a:avLst>
          </a:prstGeom>
          <a:solidFill>
            <a:srgbClr val="17334F"/>
          </a:solidFill>
          <a:ln w="9525">
            <a:solidFill>
              <a:srgbClr val="2C4E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73568" y="44622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7973568" y="49011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· 필터 관련 이슈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5742432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Group, Global Fuel Characteristics 2024 / 2025 · CIMAC Guideline, Design and operation of fuel cleaning systems for diesel engines (2024-09 v2)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7C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C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 시장 구조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지금 배에 들어오는 연료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870448" cy="36758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731520" y="1792224"/>
          <a:ext cx="5541264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711696" y="1591056"/>
            <a:ext cx="4910328" cy="1060704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31152" y="17190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96528" y="17190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55% → 50%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31152" y="2084832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여전히 최다 공급 연료. 다만 비중은 줄고 있음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711696" y="2798064"/>
            <a:ext cx="4910328" cy="1060704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931152" y="29260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LSMGO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96528" y="29260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29% → 33%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31152" y="3291840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빠르게 늘어난 연료. 증가분을 그대로 흡수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11696" y="4005072"/>
            <a:ext cx="4910328" cy="1261872"/>
          </a:xfrm>
          <a:prstGeom prst="roundRect">
            <a:avLst>
              <a:gd name="adj" fmla="val 10145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931152" y="416966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83%</a:t>
            </a:r>
            <a:endParaRPr lang="en-US" sz="3200" dirty="0"/>
          </a:p>
        </p:txBody>
      </p:sp>
      <p:sp>
        <p:nvSpPr>
          <p:cNvPr id="18" name="Text 15"/>
          <p:cNvSpPr/>
          <p:nvPr/>
        </p:nvSpPr>
        <p:spPr>
          <a:xfrm>
            <a:off x="8668512" y="416966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연료가 전체 공급의 대부분을 차지합니다.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VLSFO와 MGO의 특성을 아는 것이 곧 연료 관리입니다.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66928" y="548640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Group, Global Fuel Characteristics 2024 · 2025 (공급 비중 기준)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 착시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합격증은 안전을 보증하지 않는다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310128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922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PAPER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2048256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4.8%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822960" y="2852928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VLSFO 규격 부적합률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200400"/>
            <a:ext cx="2798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4.3% → 2025년 4.8%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숫자만 보면 20척 중 1척.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「대체로 문제없다」는 인상을 줍니다.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4261104"/>
            <a:ext cx="2798064" cy="512064"/>
          </a:xfrm>
          <a:prstGeom prst="roundRect">
            <a:avLst>
              <a:gd name="adj" fmla="val 14286"/>
            </a:avLst>
          </a:prstGeom>
          <a:solidFill>
            <a:srgbClr val="FDF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261104"/>
            <a:ext cx="2615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실제 손상은 계속 발생합니다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096512" y="1591056"/>
            <a:ext cx="7525512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352544" y="179222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GC-MS ACTUALLY FOUND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352544" y="202996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 항목은 전부 정상, 정밀 분석에서만 잡힌 오염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52544" y="237744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352544" y="261518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88736" y="2377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산가 전량 1.5 초과 (항구 평균 0.6) · Ca 50~130 ppm (평균 13 ppm)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637776" y="237744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7척 — 연료펌프 · 정유기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52544" y="2944368"/>
            <a:ext cx="704088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52544" y="29992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Istanbul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52544" y="323697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888736" y="29992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스티렌 · DCPD 10,000 ppm 초과 · 유리지방산 1,000 ppm 초과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637776" y="2999232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5척 — 주기 · 발전기 연료펌프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52544" y="3566160"/>
            <a:ext cx="704088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52544" y="36210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Orleans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352544" y="385876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888736" y="3621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산성분 4,300 ppm · 인(P) 75~90 ppm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637776" y="362102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플런저 침식부식 · 강재 부식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352544" y="4187952"/>
            <a:ext cx="704088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52544" y="4242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Orleans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352544" y="44805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2025.10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88736" y="42428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칼륨(K) 100~250 ppm · 알코올 4 wt% 초과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637776" y="4242816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4척 — 터보차저 파울링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506577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5528" y="506577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8217은 「인도 시점」의 품질을 정의할 뿐, 「엔진 입구」에서 요구되는 품질을 정의하지 않습니다.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566928" y="5925312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 (항구별 사례) · CIMAC Guideline 2024 §2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 원인 ①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연료는 더 무거워지고 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6384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VISCOSITY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86384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점도 @50°C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86384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6384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172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cSt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786384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 온도를 더 높여야 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13684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33140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DENSITY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33140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밀도 @15°C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33140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33140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947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633140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33140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33140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951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kg/m³</a:t>
            </a:r>
            <a:endParaRPr lang="en-US" sz="3200" dirty="0"/>
          </a:p>
        </p:txBody>
      </p:sp>
      <p:sp>
        <p:nvSpPr>
          <p:cNvPr id="24" name="Shape 22"/>
          <p:cNvSpPr/>
          <p:nvPr/>
        </p:nvSpPr>
        <p:spPr>
          <a:xfrm>
            <a:off x="3633140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24580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· 고형분 분리가 더 어려움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60440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79896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79896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잔류탄소분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79896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79896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6.25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479896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79896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79896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6.61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%</a:t>
            </a:r>
            <a:endParaRPr lang="en-US" sz="3200" dirty="0"/>
          </a:p>
        </p:txBody>
      </p:sp>
      <p:sp>
        <p:nvSpPr>
          <p:cNvPr id="34" name="Shape 32"/>
          <p:cNvSpPr/>
          <p:nvPr/>
        </p:nvSpPr>
        <p:spPr>
          <a:xfrm>
            <a:off x="6479896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연소 후 퇴적물 증가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107195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326651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 + SI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326651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촉매 미분 평균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326651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326651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9326651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26651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326651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ppm</a:t>
            </a:r>
            <a:endParaRPr lang="en-US" sz="3200" dirty="0"/>
          </a:p>
        </p:txBody>
      </p:sp>
      <p:sp>
        <p:nvSpPr>
          <p:cNvPr id="44" name="Shape 42"/>
          <p:cNvSpPr/>
          <p:nvPr/>
        </p:nvSpPr>
        <p:spPr>
          <a:xfrm>
            <a:off x="9326651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18091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마모성 입자 부하 상승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79145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5528" y="479145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점도가 오르면 분리 온도를 더 올려야 합니다. 그런데 VLSFO는 과열되면 오히려 불안정해집니다.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566928" y="570585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2024 · 2025, VLSFO 전 세계 평균 (Table 1) · CIMAC Guideline 2024 §7.2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 원인 ②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60 ppm 합격, 15 ppm 필요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273552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 DELIVERED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 시점 규격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377440"/>
            <a:ext cx="2798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pPr indent="0" marL="0">
              <a:buNone/>
            </a:pPr>
            <a:r>
              <a:rPr lang="en-US" sz="14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ppm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804672" y="3346704"/>
            <a:ext cx="2798064" cy="713232"/>
          </a:xfrm>
          <a:prstGeom prst="roundRect">
            <a:avLst>
              <a:gd name="adj" fmla="val 10256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346704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8217:2024 상한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(저점도 등급은 40~50 ppm)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95344" y="27980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07408" y="1591056"/>
            <a:ext cx="3273552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792224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 SUPPLIED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45152" y="20116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공급 최대값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45152" y="2377440"/>
            <a:ext cx="2798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483</a:t>
            </a:r>
            <a:pPr indent="0" marL="0">
              <a:buNone/>
            </a:pPr>
            <a:r>
              <a:rPr lang="en-US" sz="14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ppm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4645152" y="3346704"/>
            <a:ext cx="2798064" cy="713232"/>
          </a:xfrm>
          <a:prstGeom prst="roundRect">
            <a:avLst>
              <a:gd name="adj" fmla="val 10256"/>
            </a:avLst>
          </a:prstGeom>
          <a:solidFill>
            <a:srgbClr val="FDECE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6592" y="3346704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유럽 · ARA 실측 최대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규격 상한의 8배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35824" y="27980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47888" y="1591056"/>
            <a:ext cx="3273552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85632" y="1792224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ENGINE INLET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485632" y="20116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 입구 요구치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85632" y="2377440"/>
            <a:ext cx="2798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7~15</a:t>
            </a:r>
            <a:pPr indent="0" marL="0">
              <a:buNone/>
            </a:pPr>
            <a:r>
              <a:rPr lang="en-US" sz="14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ppm</a:t>
            </a:r>
            <a:endParaRPr lang="en-US" sz="4800" dirty="0"/>
          </a:p>
        </p:txBody>
      </p:sp>
      <p:sp>
        <p:nvSpPr>
          <p:cNvPr id="24" name="Shape 22"/>
          <p:cNvSpPr/>
          <p:nvPr/>
        </p:nvSpPr>
        <p:spPr>
          <a:xfrm>
            <a:off x="8485632" y="3346704"/>
            <a:ext cx="2798064" cy="713232"/>
          </a:xfrm>
          <a:prstGeom prst="roundRect">
            <a:avLst>
              <a:gd name="adj" fmla="val 10256"/>
            </a:avLst>
          </a:prstGeom>
          <a:solidFill>
            <a:srgbClr val="E9F5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77072" y="3346704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다수 OEM 권장 상한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CIMAC Guideline §6.3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70001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촉매 미분(Al+Si)은 모스 경도 8의 세라믹 입자입니다.  </a:t>
            </a:r>
            <a:pPr algn="ctr"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2행정</a:t>
            </a:r>
            <a:pPr algn="ctr"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라이너 · 피스톤링 · 링그루브 마모와 스커핑,  </a:t>
            </a:r>
            <a:pPr algn="ctr"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4행정</a:t>
            </a:r>
            <a:pPr algn="ctr"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분사노즐 마모 → 불완전 연소 → 터보차저 퇴적으로 이어집니다.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508406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" y="508406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기준점은 벙커 매니폴드가 아니라 엔진 입구에 있습니다. 규격 합격은 출발점일 뿐입니다.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66928" y="599846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CIMAC Guideline 2024 §6.3 · §14 (엔진 입구 목표: 점도 2~20 cSt, Al+Si 15 ppm 미만, 수분 0.3% V/V 미만) · Viswa Group 2025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 원인 ③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벙커링 당일 합격, 두 달 뒤 불합격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7004304" cy="3401568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2084832"/>
          <a:ext cx="6528816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98448"/>
                <a:gridCol w="1298448"/>
                <a:gridCol w="128016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샘플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벙커링 당일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발생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경과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0.08%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0.03%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0.04%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04672" y="2084832"/>
            <a:ext cx="6528816" cy="329184"/>
          </a:xfrm>
          <a:prstGeom prst="rect">
            <a:avLst/>
          </a:prstGeom>
          <a:solidFill>
            <a:srgbClr val="1B3A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208483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샘플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176272" y="208483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벙커링 당일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474720" y="208483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발생 시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773168" y="20848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경과 기간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053328" y="20848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4672" y="17922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 TOTAL SEDIMENT LIMIT  0.10%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04672" y="4443984"/>
            <a:ext cx="6528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샘플이 벙커링 당일 규격을 통과했습니다.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90688" y="1591056"/>
            <a:ext cx="3831336" cy="3401568"/>
          </a:xfrm>
          <a:prstGeom prst="roundRect">
            <a:avLst>
              <a:gd name="adj" fmla="val 3763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028432" y="1810512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중요한가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028432" y="2194560"/>
            <a:ext cx="3355848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시험성적서는 「그날」의 상태입니다.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VLSFO는 저장 중에도 계속 변합니다.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슬러징의 4대 원인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초기 침전물 과다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시간 경과에 따른 열화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블렌드 간 불호환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오염물 혼입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VLSFO는 HSFO보다 열화에 취약하고 저장 수명이 짧습니다.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138928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5528" y="5138928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TSP · TSA 시험 결과는 VLSFO의 장기 안정성을 보증하지 않습니다.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66928" y="60533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2025, Table 3 (실제 문제 사례 샘플) · CIMAC Congress 2023, Paper No. 131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 현상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문제는 결국 정유기에서 터진다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029200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841248" y="1773936"/>
          <a:ext cx="4480560" cy="29626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2395728" y="26883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pPr algn="ctr" indent="0" marL="0">
              <a:buNone/>
            </a:pPr>
            <a:r>
              <a:rPr lang="en-US" sz="20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2395728" y="31089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정유기·필터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852160" y="1591056"/>
            <a:ext cx="5769864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108192" y="179222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IT MEANS ON BOARD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108192" y="202996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 문제는 엔진이 아니라 정화 장비에서 먼저 나타납니다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108192" y="2468880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08192" y="24688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784848" y="243230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막힘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741664" y="2414016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 부하가 분리 능력을 초과. 심하면 보울 손상까지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08192" y="2953512"/>
            <a:ext cx="525780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08192" y="3072384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08192" y="30723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784848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+ 필터 동시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8741664" y="3017520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불안정해진 연료가 계통 전체를 막는 단계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108192" y="3557016"/>
            <a:ext cx="525780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08192" y="3675888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08192" y="367588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9%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784848" y="363931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막힘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741664" y="3621024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왁스 석출 또는 응집된 아스팔텐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108192" y="4160520"/>
            <a:ext cx="525780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08192" y="427939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FDF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08192" y="42793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1%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6784848" y="424281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연료펌프 고착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8741664" y="4224528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늦게, 가장 비싸게 드러나는 증상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66928" y="506577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5528" y="506577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보고된 VLSFO 문제의 70%가 정유기 슬러징과 필터 막힘이었습니다.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566928" y="5925312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2025, Figure 12 (VLSFO 운항 이슈 분포)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  사각지대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MGO는 안전지대가 아니다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429914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CHOKING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2954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막힘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04672" y="2377440"/>
            <a:ext cx="295442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804672" y="3236976"/>
            <a:ext cx="2954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MGO 운항 이슈 중 최다.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오염물 혼입 또는 왁스 석출이 원인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0890" y="1591056"/>
            <a:ext cx="3429914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18634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FLASH POINT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618634" y="2011680"/>
            <a:ext cx="2954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인화점 미달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618634" y="2377440"/>
            <a:ext cx="295442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4618634" y="3236976"/>
            <a:ext cx="2954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MGO 부적합 항목 2위.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품질이 아니라 화재 안전 문제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94853" y="1591056"/>
            <a:ext cx="3429914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432597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BIO-MGO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432597" y="2011680"/>
            <a:ext cx="2954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바이오 혼합 MGO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432597" y="2377440"/>
            <a:ext cx="295442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pPr indent="0" marL="0">
              <a:buNone/>
            </a:pPr>
            <a:r>
              <a:rPr lang="en-US" sz="18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8432597" y="3236976"/>
            <a:ext cx="2954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MGO 부적합률 3.0%의 6배.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BDN 표기와 실제 FAME 함량 불일치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297680"/>
            <a:ext cx="11057839" cy="640080"/>
          </a:xfrm>
          <a:prstGeom prst="roundRect">
            <a:avLst>
              <a:gd name="adj" fmla="val 20000"/>
            </a:avLst>
          </a:prstGeom>
          <a:solidFill>
            <a:srgbClr val="FDF2E9"/>
          </a:solidFill>
          <a:ln w="9525">
            <a:solidFill>
              <a:srgbClr val="FDF2E9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1248" y="4297680"/>
            <a:ext cx="105091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MGO 부적합 항목 구성  </a:t>
            </a:r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유동점 31%  ·  인화점 28%  ·  황분 12%  ·  외관 9%  ·  수분 7%  ·  점도 6%  ·  총침전물 3%  ·  회분 2%  ·  윤활성 2%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" y="508406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ECA 출입 시 연료 전환은 점도와 온도를 급격히 흔듭니다. 그만큼 계통이 예민해집니다.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66928" y="594360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2025, Figure 9 · Figure 16 (MGO 부적합 항목 및 운항 이슈 분포)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  경계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원심분리기가 하는 일, 하지 못하는 일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358384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9222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WITHIN THE SCOPE OF FUEL CLEANING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2029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정화로 처리되는 영역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468880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24323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촉매 미분 (Al+Si)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88720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CIMAC: 효율적인 정화 시스템이 유일하게 효과적인 방법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18211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31455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수분 (담수 · 해수)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34381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 입구 0.3% V/V 미만 유지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389534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3858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침전물 · 응집 슬러지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88720" y="41513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충분히 큰 입자로 응집된 경우에 한함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44074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CFR 규격 · 분리 온도 · 유량이 모두 맞을 때에 한합니다.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0" y="1591056"/>
            <a:ext cx="5358384" cy="3200400"/>
          </a:xfrm>
          <a:prstGeom prst="roundRect">
            <a:avLst>
              <a:gd name="adj" fmla="val 4000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19672" y="179222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OUTSIDE THE SCOPE OF FUEL CLEANING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19672" y="2029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정화로 처리되지 않는 영역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519672" y="2468880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85432" y="24323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화학 오염물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85432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CNSL · 유리지방산 · 스티렌 · 알코올 — 용해되어 있어 분리 불가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19672" y="318211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85432" y="31455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경과 안정성 열화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85432" y="34381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중 진행. 받을 때의 시험 결과로는 예측되지 않음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19672" y="389534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85432" y="3858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블렌드 간 불호환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85432" y="41513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 자체가 원인. CIMAC은 서로 다른 연료의 혼합을 권하지 않음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19672" y="44074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관리 범위를 분리기 밖으로 넓혀야 합니다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99262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95528" y="499262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분석으로 검출되지 않는 유해 물질은 어떤 연료 정화 시스템의 처리 범위 밖에 있습니다.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566928" y="590702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CIMAC Guideline 2024 §6.3 · §6.4 · §7.2 — 인용문은 §6.4 원문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  프레임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Tank to Wake — 탱크에서 배기까지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PRE-COMBUSTION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연소 전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04672" y="24140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· 안정성 · 호환성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85292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76148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연료가 엔진에 도달하기 전 단계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321868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312724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슬러지로 빠져나가는 손실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5844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49300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· 필터 부하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" y="3986784"/>
            <a:ext cx="2954426" cy="402336"/>
          </a:xfrm>
          <a:prstGeom prst="roundRect">
            <a:avLst>
              <a:gd name="adj" fmla="val 15909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986784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 근거  05 · 06 · 07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024274" y="29260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80890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18634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COMBUSTION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618634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연소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618634" y="24140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연소 효율 · 무화 · 에너지 변환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922" y="285292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6378" y="276148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연료가 실제로 일로 바뀌는 단계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36922" y="321868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6378" y="312724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점도 · 잔류탄소분의 영향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36922" y="35844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56378" y="349300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분사 상태와 착화 품질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18634" y="3986784"/>
            <a:ext cx="2954426" cy="402336"/>
          </a:xfrm>
          <a:prstGeom prst="roundRect">
            <a:avLst>
              <a:gd name="adj" fmla="val 15909"/>
            </a:avLst>
          </a:prstGeom>
          <a:solidFill>
            <a:srgbClr val="FDF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8634" y="3986784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 근거  04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838237" y="29260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194853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432597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POST-COMBUSTION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432597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연소 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432597" y="24140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매연 제어 · 열회수 · 계통 청결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450885" y="285292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70341" y="276148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배기가 계통을 빠져나가는 단계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450885" y="321868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70341" y="312724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터보차저 · 열회수면 퇴적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450885" y="35844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70341" y="349300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 주기와 배압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432597" y="3986784"/>
            <a:ext cx="2954426" cy="402336"/>
          </a:xfrm>
          <a:prstGeom prst="roundRect">
            <a:avLst>
              <a:gd name="adj" fmla="val 15909"/>
            </a:avLst>
          </a:prstGeom>
          <a:solidFill>
            <a:srgbClr val="E9F5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32597" y="3986784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 근거  03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" y="479145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5528" y="479145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Well-to-Wake는 규제 보고의 틀이고, Tank-to-Wake는 본선이 실제로 통제할 수 있는 구간입니다.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566928" y="570585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Wilhelmsen Ships Service, “How holistic fuel management supports cleaner and more efficient vessel operations” (Tank to Wake)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  결론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손실은 단계마다 쌓입니다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07008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중 열화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연료가 탱크 안에서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계속 변합니다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034208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445688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83432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6E93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83432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085768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 발생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83432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엔진에 도달하지 못한 연료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손실 확정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912968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24448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62192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62192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964528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연소 품질 저하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62192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착화 불량 · 매연 증가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791727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203207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440951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40951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843287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열회수면 퇴적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440951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모든 연소 사이클의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효율이 함께 떨어집니다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3273552"/>
            <a:ext cx="5358384" cy="1700784"/>
          </a:xfrm>
          <a:prstGeom prst="roundRect">
            <a:avLst>
              <a:gd name="adj" fmla="val 7527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41248" y="3474720"/>
            <a:ext cx="4809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한 곳만 손봐서는 안 됩니다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1248" y="3840480"/>
            <a:ext cx="4809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단계의 손실이 뒤 단계의 손실로 그대로 넘어갑니다.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저장에서 잃은 연료는 연소에서 되찾을 수 없고, 연소에서 만든 매연은 열회수 효율을 계속 갉아먹습니다.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계통은 서로 연결되어 있고, 하나로 관리할 때 반응합니다.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63640" y="3273552"/>
            <a:ext cx="5358384" cy="1700784"/>
          </a:xfrm>
          <a:prstGeom prst="roundRect">
            <a:avLst>
              <a:gd name="adj" fmla="val 752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19672" y="3456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INTEGRATED MANAGEMENT DELIVERS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519672" y="38130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39128" y="37307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 손실 감소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폐기 연료 ↓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970264" y="38130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89720" y="37307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SFOC 저하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출력에 연료 ↓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519672" y="421538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9128" y="4133088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비계획 정비 감소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· 필터 · 펌프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970264" y="421538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89720" y="4133088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 주기 연장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계통 청결 유지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519672" y="46177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39128" y="453542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CII 반영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문서화된 개선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5138928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5528" y="5138928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목표는 벙커링한 모든 연료가 추진력으로 온전히 쓰일 기회를 갖게 하는 것입니다.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566928" y="60533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Wilhelmsen Ships Service, Tank to Wake 및 Pre-combustion treatment 자료 · Section 01 실측 데이터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  안정성 ①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안정성을 해치는 것은 시간과 온도입니다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TIME — 시간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시간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04672" y="2432304"/>
            <a:ext cx="29544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~ 5 개월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95351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852928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벙커 시 On-spec → 항해 중 Off-spec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33756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3236976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TSP가 저장 기간에 비례해 상승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372160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621024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 슬라이드 06의 7개 샘플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024274" y="29260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80890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8634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TEMPERATURE — 온도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618634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온도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618634" y="2432304"/>
            <a:ext cx="29544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열적 스트레스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636922" y="295351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56378" y="2852928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과열이 아스팔텐 응집을 가속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36922" y="333756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6378" y="3236976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 온도를 올려야 하는 고점도 연료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36922" y="372160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6378" y="3621024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VLSFO는 HSFO보다 열에 민감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838237" y="29260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194853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432597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HOT SPIN TEST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432597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예측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432597" y="2432304"/>
            <a:ext cx="29544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진단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450885" y="295351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70341" y="2852928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 생성 가능성을 미리 측정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450885" y="333756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70341" y="3236976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원심관 바닥 축적량 약 0.2% 이상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450885" y="372160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70341" y="3621024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Alfa Laval · CIMAC 2023 Busan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479145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5528" y="479145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TSP는 그날의 상태를 재고, Hot Spin Test는 앞으로 생길 슬러지를 잽니다.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566928" y="570585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 Table 3 · Fig 13 · CIMAC Congress 2023 Busan, Paper No. 014 (Alfa Laval)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  안정성 ②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FuelPower Conditioner — 8개 항구 실측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6967728" cy="3127248"/>
          </a:xfrm>
          <a:prstGeom prst="roundRect">
            <a:avLst>
              <a:gd name="adj" fmla="val 4094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HOT SPIN TEST — BEFORE vs AFTER ADDITIVE</a:t>
            </a:r>
            <a:endParaRPr lang="en-US" sz="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2066544"/>
          <a:ext cx="6473952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786384"/>
                <a:gridCol w="731520"/>
                <a:gridCol w="932688"/>
                <a:gridCol w="841248"/>
                <a:gridCol w="841248"/>
                <a:gridCol w="1133856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MCR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분리온도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Before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After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Zeebrugge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335.2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31.58%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Tuapse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16.67%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Amsterdam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206.6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10.91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46.67%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Flushing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239.7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30.77%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Duqm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230.7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39.39%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Amsterdam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314.4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37.50%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Vlissingen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242.8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46.15%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Callao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335.1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8.84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35.29%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04672" y="2066544"/>
            <a:ext cx="6473952" cy="274320"/>
          </a:xfrm>
          <a:prstGeom prst="rect">
            <a:avLst/>
          </a:prstGeom>
          <a:solidFill>
            <a:srgbClr val="1B3A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" y="206654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항구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2011680" y="206654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점도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798064" y="20665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529584" y="206654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분리온도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462272" y="206654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Before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303520" y="206654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After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144768" y="206654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개선율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04672" y="4425696"/>
            <a:ext cx="6473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RMG380 · 점도 cSt @50°C · MCR % · Hot Spin 침전 % · Tuapse는 분리온도 40°C, 저점도 조건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827264" y="1591056"/>
            <a:ext cx="37947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065008" y="1700784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개선율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65008" y="1956816"/>
            <a:ext cx="3319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35.5</a:t>
            </a:r>
            <a:pPr indent="0" marL="0">
              <a:buNone/>
            </a:pPr>
            <a:r>
              <a:rPr lang="en-US" sz="16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%</a:t>
            </a:r>
            <a:endParaRPr lang="en-US" sz="3400" dirty="0"/>
          </a:p>
        </p:txBody>
      </p:sp>
      <p:sp>
        <p:nvSpPr>
          <p:cNvPr id="21" name="Shape 18"/>
          <p:cNvSpPr/>
          <p:nvPr/>
        </p:nvSpPr>
        <p:spPr>
          <a:xfrm>
            <a:off x="7827264" y="2633472"/>
            <a:ext cx="37947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065008" y="2743200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개선율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065008" y="2999232"/>
            <a:ext cx="3319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46.67</a:t>
            </a:r>
            <a:pPr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%</a:t>
            </a:r>
            <a:endParaRPr lang="en-US" sz="3400" dirty="0"/>
          </a:p>
        </p:txBody>
      </p:sp>
      <p:sp>
        <p:nvSpPr>
          <p:cNvPr id="24" name="Shape 21"/>
          <p:cNvSpPr/>
          <p:nvPr/>
        </p:nvSpPr>
        <p:spPr>
          <a:xfrm>
            <a:off x="7827264" y="3675888"/>
            <a:ext cx="3794760" cy="1042416"/>
          </a:xfrm>
          <a:prstGeom prst="roundRect">
            <a:avLst>
              <a:gd name="adj" fmla="val 12281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8065008" y="3840480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LLOYD'S REGISTER FOBAS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065008" y="4114800"/>
            <a:ext cx="3319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Additive Performance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Certification Scheme 검증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66928" y="490118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95528" y="490118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8개 항구 RMG380 실측에서 Hot Spin 침전이 평균 35.5% 줄었습니다. 제3자 검증을 거친 수치입니다.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566928" y="581558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Wilhelmsen Ships Service 사내 실측 데이터 (Hot Spin, 분리온도 40 · 98°C) · Lloyd's Register FOBAS 인증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  안정성 ③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아스팔텐을 흩어놓습니다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029200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922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UNTREATED — 응집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822960" y="2066544"/>
            <a:ext cx="4517136" cy="1554480"/>
          </a:xfrm>
          <a:prstGeom prst="roundRect">
            <a:avLst>
              <a:gd name="adj" fmla="val 4706"/>
            </a:avLst>
          </a:prstGeom>
          <a:solidFill>
            <a:srgbClr val="FBF2EE"/>
          </a:solidFill>
          <a:ln w="9525">
            <a:solidFill>
              <a:srgbClr val="EBD9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63040" y="252374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0" y="302666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03320" y="245059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307238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330098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74520" y="3364992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56946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675888"/>
            <a:ext cx="4517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입자가 뭉쳐 침전 → 정유기 · 필터 막힘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888736" y="1591056"/>
            <a:ext cx="5029200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44768" y="179222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TREATED — 미세 분산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44768" y="2066544"/>
            <a:ext cx="4517136" cy="1554480"/>
          </a:xfrm>
          <a:prstGeom prst="roundRect">
            <a:avLst>
              <a:gd name="adj" fmla="val 4706"/>
            </a:avLst>
          </a:prstGeom>
          <a:solidFill>
            <a:srgbClr val="F0F6F3"/>
          </a:solidFill>
          <a:ln w="9525">
            <a:solidFill>
              <a:srgbClr val="D6E7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0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15684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22008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28332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34656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40980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47304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53628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59952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66276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72600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78924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985248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291572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55664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1988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68312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74636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80960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7284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93608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599932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906256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212580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518904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25228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131552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437876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09360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615684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922008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228332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534656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840980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147304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53628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759952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066276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372600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678924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985248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291572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55664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61988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068312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74636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680960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987284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293608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599932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906256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12580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518904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25228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131552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437876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309360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15684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922008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228332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534656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840980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147304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453628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759952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066276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372600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678924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985248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291572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144768" y="3675888"/>
            <a:ext cx="4517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입자가 고르게 흩어져 연료가 균질하게 유지됨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566928" y="4261104"/>
            <a:ext cx="2545004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92" name="Text 90"/>
          <p:cNvSpPr/>
          <p:nvPr/>
        </p:nvSpPr>
        <p:spPr>
          <a:xfrm>
            <a:off x="768096" y="4370832"/>
            <a:ext cx="214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아스팔텐 분산</a:t>
            </a:r>
            <a:endParaRPr lang="en-US" sz="1150" dirty="0"/>
          </a:p>
        </p:txBody>
      </p:sp>
      <p:sp>
        <p:nvSpPr>
          <p:cNvPr id="93" name="Text 91"/>
          <p:cNvSpPr/>
          <p:nvPr/>
        </p:nvSpPr>
        <p:spPr>
          <a:xfrm>
            <a:off x="768096" y="4626864"/>
            <a:ext cx="2142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응집 · 침전 방지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3404540" y="4261104"/>
            <a:ext cx="2545004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3605708" y="4370832"/>
            <a:ext cx="214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안정성 · 호환성 확보</a:t>
            </a:r>
            <a:endParaRPr lang="en-US" sz="1150" dirty="0"/>
          </a:p>
        </p:txBody>
      </p:sp>
      <p:sp>
        <p:nvSpPr>
          <p:cNvPr id="96" name="Text 94"/>
          <p:cNvSpPr/>
          <p:nvPr/>
        </p:nvSpPr>
        <p:spPr>
          <a:xfrm>
            <a:off x="3605708" y="4626864"/>
            <a:ext cx="2142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블렌드 간 불호환 완화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6242152" y="4261104"/>
            <a:ext cx="2545004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98" name="Text 96"/>
          <p:cNvSpPr/>
          <p:nvPr/>
        </p:nvSpPr>
        <p:spPr>
          <a:xfrm>
            <a:off x="6443320" y="4370832"/>
            <a:ext cx="214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· 필터 효율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6443320" y="4626864"/>
            <a:ext cx="2142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막힘 방지 — Section 01 슬라이드 07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9079763" y="4261104"/>
            <a:ext cx="2545004" cy="786384"/>
          </a:xfrm>
          <a:prstGeom prst="roundRect">
            <a:avLst>
              <a:gd name="adj" fmla="val 16279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01" name="Text 99"/>
          <p:cNvSpPr/>
          <p:nvPr/>
        </p:nvSpPr>
        <p:spPr>
          <a:xfrm>
            <a:off x="9280931" y="4370832"/>
            <a:ext cx="214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 비율</a:t>
            </a:r>
            <a:endParaRPr lang="en-US" sz="1150" dirty="0"/>
          </a:p>
        </p:txBody>
      </p:sp>
      <p:sp>
        <p:nvSpPr>
          <p:cNvPr id="102" name="Text 100"/>
          <p:cNvSpPr/>
          <p:nvPr/>
        </p:nvSpPr>
        <p:spPr>
          <a:xfrm>
            <a:off x="9280931" y="4626864"/>
            <a:ext cx="2142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: 10,000  (연료 10톤당 1 L)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66928" y="5230368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95528" y="5230368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분리기가 걸러내지 못하는 것은 애초에 뭉치지 않게 만드는 것이 답입니다.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105" name="Text 103"/>
          <p:cNvSpPr/>
          <p:nvPr/>
        </p:nvSpPr>
        <p:spPr>
          <a:xfrm>
            <a:off x="566928" y="614476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Unitor™ FuelPower™ Conditioner 제품 자료 · Lloyd's Register FOBAS 검증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  윤활성 ①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탈황 공정 중 천연 윤활 역할을 하던 성분 동시 제거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4315968" cy="3255264"/>
          </a:xfrm>
          <a:prstGeom prst="roundRect">
            <a:avLst>
              <a:gd name="adj" fmla="val 3933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IT HAPPENS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804672" y="219456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88720" y="2157984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ECA · SECA 확대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188720" y="2450592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저유황 디젤 사용 의무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4672" y="250545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804672" y="285292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2816352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탈황 정제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88720" y="3108960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황을 걷어내는 공정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04672" y="31638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04672" y="35112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88720" y="347472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극성 성분 동반 제거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천연 윤활 성분이 같이 빠짐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4672" y="382219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804672" y="41696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" y="41696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88720" y="4133088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윤활성 저하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88720" y="4425696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금속끼리 직접 닿기 시작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75504" y="1591056"/>
            <a:ext cx="6446520" cy="3255264"/>
          </a:xfrm>
          <a:prstGeom prst="roundRect">
            <a:avLst>
              <a:gd name="adj" fmla="val 3933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31536" y="179222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IMPACT ON MACHINERY — PLUNGER &amp; INJECTOR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31536" y="2011680"/>
            <a:ext cx="5934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윤활성을 잃은 MGO를 그대로 쓰면 금속과 금속이 직접 마찰합니다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31536" y="241401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31536" y="2414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779008" y="2395728"/>
            <a:ext cx="5586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 분사 펌프 플런저 고착  </a:t>
            </a:r>
            <a:pPr indent="0" marL="0">
              <a:buNone/>
            </a:pPr>
            <a:r>
              <a:rPr lang="en-US" sz="9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Seizure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79008" y="2670048"/>
            <a:ext cx="5586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플런저와 배럴 사이 공차는 불과 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µm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단위입니다. 별도 윤활유 없이 MGO 자체가 윤활제 역할을 하는데, 유막이 깨지면 금속 응착과 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스커핑(Scuffing)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일어나 펌프가 굳습니다.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31536" y="3145536"/>
            <a:ext cx="5934456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31536" y="321868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31536" y="3218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779008" y="3200400"/>
            <a:ext cx="5586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인젝터 노즐 마모 및 누설  </a:t>
            </a:r>
            <a:pPr indent="0" marL="0">
              <a:buNone/>
            </a:pPr>
            <a:r>
              <a:rPr lang="en-US" sz="9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Leakage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779008" y="3474720"/>
            <a:ext cx="5586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고압으로 작동하는 니들 밸브가 마모되어 기밀을 잃습니다. 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분사 패턴(Atomization)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무너져 불완전 연소와 스모크로 이어집니다.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31536" y="3950208"/>
            <a:ext cx="5934456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31536" y="402336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31536" y="40233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779008" y="4005072"/>
            <a:ext cx="5586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HFRR 마모흔 직경 초과  </a:t>
            </a:r>
            <a:pPr indent="0" marL="0">
              <a:buNone/>
            </a:pPr>
            <a:r>
              <a:rPr lang="en-US" sz="9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12156-1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779008" y="4279392"/>
            <a:ext cx="5586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12156-1 윤활성 시험에서 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535 µm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측정 — ISO 8217 한계 520 µm, EN 590 한계 460 µm를 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초과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5010912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5528" y="5010912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윤활성은 분리기로 개선할 수 없습니다. 입자가 아니라 연료의 화학적 성질이기 때문입니다.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566928" y="5925312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Unitor™ DieselPower™ Lubricity 제품 매뉴얼 (ISO 12156-1 HFRR 시험) · ISO 8217 / EN 590 규격 한계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  윤활성 ②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DieselPower Lubricity — 실측 결과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6309360" cy="3127248"/>
          </a:xfrm>
          <a:prstGeom prst="roundRect">
            <a:avLst>
              <a:gd name="adj" fmla="val 4094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77824" y="2351837"/>
            <a:ext cx="5687568" cy="0"/>
          </a:xfrm>
          <a:prstGeom prst="line">
            <a:avLst/>
          </a:prstGeom>
          <a:noFill/>
          <a:ln w="12700">
            <a:solidFill>
              <a:srgbClr val="E6A23C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065776" y="2168957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6A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  520 µm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77824" y="2593238"/>
            <a:ext cx="5687568" cy="0"/>
          </a:xfrm>
          <a:prstGeom prst="line">
            <a:avLst/>
          </a:prstGeom>
          <a:noFill/>
          <a:ln w="12700">
            <a:solidFill>
              <a:srgbClr val="B9C4D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65776" y="241035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 590  460 µm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37360" y="2291486"/>
            <a:ext cx="1060704" cy="2152498"/>
          </a:xfrm>
          <a:prstGeom prst="roundRect">
            <a:avLst>
              <a:gd name="adj" fmla="val 431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980590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72768" y="4480560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ULSD 단독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4700016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부적합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64992" y="2850733"/>
            <a:ext cx="1060704" cy="1593251"/>
          </a:xfrm>
          <a:prstGeom prst="roundRect">
            <a:avLst>
              <a:gd name="adj" fmla="val 431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4992" y="2539837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0" y="4480560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+ 100 ppm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200400" y="4700016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992624" y="3015691"/>
            <a:ext cx="1060704" cy="1428293"/>
          </a:xfrm>
          <a:prstGeom prst="roundRect">
            <a:avLst>
              <a:gd name="adj" fmla="val 431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92624" y="2704795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28032" y="4480560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+ 150 ppm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28032" y="4700016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77824" y="4443984"/>
            <a:ext cx="5687568" cy="0"/>
          </a:xfrm>
          <a:prstGeom prst="line">
            <a:avLst/>
          </a:prstGeom>
          <a:noFill/>
          <a:ln w="12700">
            <a:solidFill>
              <a:srgbClr val="DFE5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7824" y="179222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HFRR WEAR SCAR  (ISO 12156-1, WS1.4 µm)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168896" y="1591056"/>
            <a:ext cx="4453128" cy="3127248"/>
          </a:xfrm>
          <a:prstGeom prst="roundRect">
            <a:avLst>
              <a:gd name="adj" fmla="val 4094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24928" y="179222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APPLY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424928" y="206654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 비율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942832" y="2066544"/>
            <a:ext cx="2423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 – 0.2 L/ton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424928" y="2478024"/>
            <a:ext cx="3941064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24928" y="252374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근거 투입량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942832" y="2523744"/>
            <a:ext cx="2423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0.125 L/ton → 460 µm 미만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24928" y="2935224"/>
            <a:ext cx="3941064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24928" y="298094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 지점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942832" y="2980944"/>
            <a:ext cx="2423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 → Settling / Service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Pump 이용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24928" y="3392424"/>
            <a:ext cx="3941064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24928" y="343814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 온도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942832" y="3438144"/>
            <a:ext cx="2423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– 40 °C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424928" y="3849624"/>
            <a:ext cx="3941064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24928" y="389534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병용 가능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942832" y="3895344"/>
            <a:ext cx="2423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유동점 · 세탄가 · 소포제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424928" y="4352544"/>
            <a:ext cx="3941064" cy="292608"/>
          </a:xfrm>
          <a:prstGeom prst="roundRect">
            <a:avLst>
              <a:gd name="adj" fmla="val 18750"/>
            </a:avLst>
          </a:prstGeom>
          <a:solidFill>
            <a:srgbClr val="FDECE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24928" y="4352544"/>
            <a:ext cx="3941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천연고무 · NBR · PVC · 폴리우레탄 부적합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66928" y="490118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5528" y="490118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ppm 투입으로 535 → 355 µm. 마모흔 34% 감소, 두 규격을 모두 여유 있게 통과합니다.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566928" y="581558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Unitor™ DieselPower™ Lubricity 제품 매뉴얼 (Product No. 650-779094) — 사내 Lab Test 결과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선박 연료 품질 동향 - Section 01</dc:title>
  <dc:subject>PptxGenJS Presentation</dc:subject>
  <dc:creator>Fuel Quality Training</dc:creator>
  <cp:lastModifiedBy>Fuel Quality Training</cp:lastModifiedBy>
  <cp:revision>1</cp:revision>
  <dcterms:created xsi:type="dcterms:W3CDTF">2026-08-05T08:42:16Z</dcterms:created>
  <dcterms:modified xsi:type="dcterms:W3CDTF">2026-08-05T08:42:16Z</dcterms:modified>
</cp:coreProperties>
</file>