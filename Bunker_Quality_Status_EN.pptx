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sldIdLst>
    <p:sldId id="256" r:id="rId3"/>
    <p:sldId id="257" r:id="rId4"/>
    <p:sldId id="258" r:id="rId5"/>
    <p:sldId id="259" r:id="rId6"/>
    <p:sldId id="260" r:id="rId7"/>
    <p:sldId id="271" r:id="rId8"/>
    <p:sldId id="272" r:id="rId9"/>
    <p:sldId id="261" r:id="rId10"/>
    <p:sldId id="273" r:id="rId11"/>
    <p:sldId id="262" r:id="rId12"/>
    <p:sldId id="274" r:id="rId13"/>
    <p:sldId id="275" r:id="rId14"/>
    <p:sldId id="26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4C8F1A-6ADF-4B77-89C9-ADF1CE46957C}" v="24" dt="2026-08-28T02:19:27.7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949" autoAdjust="0"/>
  </p:normalViewPr>
  <p:slideViewPr>
    <p:cSldViewPr snapToGrid="0" snapToObjects="1">
      <p:cViewPr varScale="1">
        <p:scale>
          <a:sx n="61" d="100"/>
          <a:sy n="61" d="100"/>
        </p:scale>
        <p:origin x="777" y="3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ong, Peter" userId="84dba6ce-dc99-4d1d-b73d-a1e33699aa70" providerId="ADAL" clId="{BE2B2E2D-DACA-45F7-A15F-EEBD169E5821}"/>
    <pc:docChg chg="custSel addSld modSld">
      <pc:chgData name="Jeong, Peter" userId="84dba6ce-dc99-4d1d-b73d-a1e33699aa70" providerId="ADAL" clId="{BE2B2E2D-DACA-45F7-A15F-EEBD169E5821}" dt="2026-08-28T03:33:32.041" v="22" actId="20577"/>
      <pc:docMkLst>
        <pc:docMk/>
      </pc:docMkLst>
      <pc:sldChg chg="delSp mod">
        <pc:chgData name="Jeong, Peter" userId="84dba6ce-dc99-4d1d-b73d-a1e33699aa70" providerId="ADAL" clId="{BE2B2E2D-DACA-45F7-A15F-EEBD169E5821}" dt="2026-08-28T03:32:46.511" v="16" actId="478"/>
        <pc:sldMkLst>
          <pc:docMk/>
          <pc:sldMk cId="0" sldId="256"/>
        </pc:sldMkLst>
        <pc:spChg chg="del">
          <ac:chgData name="Jeong, Peter" userId="84dba6ce-dc99-4d1d-b73d-a1e33699aa70" providerId="ADAL" clId="{BE2B2E2D-DACA-45F7-A15F-EEBD169E5821}" dt="2026-08-28T03:32:46.511" v="16" actId="478"/>
          <ac:spMkLst>
            <pc:docMk/>
            <pc:sldMk cId="0" sldId="256"/>
            <ac:spMk id="20" creationId="{00000000-0000-0000-0000-000000000000}"/>
          </ac:spMkLst>
        </pc:spChg>
        <pc:spChg chg="del">
          <ac:chgData name="Jeong, Peter" userId="84dba6ce-dc99-4d1d-b73d-a1e33699aa70" providerId="ADAL" clId="{BE2B2E2D-DACA-45F7-A15F-EEBD169E5821}" dt="2026-08-28T03:32:45.591" v="15" actId="478"/>
          <ac:spMkLst>
            <pc:docMk/>
            <pc:sldMk cId="0" sldId="256"/>
            <ac:spMk id="21" creationId="{00000000-0000-0000-0000-000000000000}"/>
          </ac:spMkLst>
        </pc:spChg>
        <pc:spChg chg="del">
          <ac:chgData name="Jeong, Peter" userId="84dba6ce-dc99-4d1d-b73d-a1e33699aa70" providerId="ADAL" clId="{BE2B2E2D-DACA-45F7-A15F-EEBD169E5821}" dt="2026-08-28T03:32:44.623" v="14" actId="478"/>
          <ac:spMkLst>
            <pc:docMk/>
            <pc:sldMk cId="0" sldId="256"/>
            <ac:spMk id="22" creationId="{00000000-0000-0000-0000-000000000000}"/>
          </ac:spMkLst>
        </pc:spChg>
        <pc:spChg chg="del">
          <ac:chgData name="Jeong, Peter" userId="84dba6ce-dc99-4d1d-b73d-a1e33699aa70" providerId="ADAL" clId="{BE2B2E2D-DACA-45F7-A15F-EEBD169E5821}" dt="2026-08-28T03:32:43.160" v="13" actId="478"/>
          <ac:spMkLst>
            <pc:docMk/>
            <pc:sldMk cId="0" sldId="256"/>
            <ac:spMk id="23" creationId="{00000000-0000-0000-0000-000000000000}"/>
          </ac:spMkLst>
        </pc:spChg>
      </pc:sldChg>
      <pc:sldChg chg="modSp mod">
        <pc:chgData name="Jeong, Peter" userId="84dba6ce-dc99-4d1d-b73d-a1e33699aa70" providerId="ADAL" clId="{BE2B2E2D-DACA-45F7-A15F-EEBD169E5821}" dt="2026-08-28T03:32:56.003" v="17" actId="20577"/>
        <pc:sldMkLst>
          <pc:docMk/>
          <pc:sldMk cId="0" sldId="257"/>
        </pc:sldMkLst>
        <pc:spChg chg="mod">
          <ac:chgData name="Jeong, Peter" userId="84dba6ce-dc99-4d1d-b73d-a1e33699aa70" providerId="ADAL" clId="{BE2B2E2D-DACA-45F7-A15F-EEBD169E5821}" dt="2026-08-28T03:32:56.003" v="17" actId="20577"/>
          <ac:spMkLst>
            <pc:docMk/>
            <pc:sldMk cId="0" sldId="257"/>
            <ac:spMk id="7" creationId="{71E6DDBD-ABBD-8EF0-6CBE-18D7BAFE8A0B}"/>
          </ac:spMkLst>
        </pc:spChg>
      </pc:sldChg>
      <pc:sldChg chg="modSp mod">
        <pc:chgData name="Jeong, Peter" userId="84dba6ce-dc99-4d1d-b73d-a1e33699aa70" providerId="ADAL" clId="{BE2B2E2D-DACA-45F7-A15F-EEBD169E5821}" dt="2026-08-28T03:33:05.187" v="18" actId="1076"/>
        <pc:sldMkLst>
          <pc:docMk/>
          <pc:sldMk cId="0" sldId="259"/>
        </pc:sldMkLst>
        <pc:spChg chg="mod">
          <ac:chgData name="Jeong, Peter" userId="84dba6ce-dc99-4d1d-b73d-a1e33699aa70" providerId="ADAL" clId="{BE2B2E2D-DACA-45F7-A15F-EEBD169E5821}" dt="2026-08-28T03:33:05.187" v="18" actId="1076"/>
          <ac:spMkLst>
            <pc:docMk/>
            <pc:sldMk cId="0" sldId="259"/>
            <ac:spMk id="3" creationId="{535F9399-145A-E841-8F4B-5A70250DA3E5}"/>
          </ac:spMkLst>
        </pc:spChg>
      </pc:sldChg>
      <pc:sldChg chg="modSp">
        <pc:chgData name="Jeong, Peter" userId="84dba6ce-dc99-4d1d-b73d-a1e33699aa70" providerId="ADAL" clId="{BE2B2E2D-DACA-45F7-A15F-EEBD169E5821}" dt="2026-08-28T02:19:27.736" v="12"/>
        <pc:sldMkLst>
          <pc:docMk/>
          <pc:sldMk cId="0" sldId="265"/>
        </pc:sldMkLst>
        <pc:spChg chg="mod">
          <ac:chgData name="Jeong, Peter" userId="84dba6ce-dc99-4d1d-b73d-a1e33699aa70" providerId="ADAL" clId="{BE2B2E2D-DACA-45F7-A15F-EEBD169E5821}" dt="2026-08-28T02:19:27.736" v="12"/>
          <ac:spMkLst>
            <pc:docMk/>
            <pc:sldMk cId="0" sldId="265"/>
            <ac:spMk id="739" creationId="{00000000-0000-0000-0000-000000000000}"/>
          </ac:spMkLst>
        </pc:spChg>
      </pc:sldChg>
      <pc:sldChg chg="modSp add mod">
        <pc:chgData name="Jeong, Peter" userId="84dba6ce-dc99-4d1d-b73d-a1e33699aa70" providerId="ADAL" clId="{BE2B2E2D-DACA-45F7-A15F-EEBD169E5821}" dt="2026-08-28T03:33:32.041" v="22" actId="20577"/>
        <pc:sldMkLst>
          <pc:docMk/>
          <pc:sldMk cId="2165748649" sldId="271"/>
        </pc:sldMkLst>
        <pc:spChg chg="mod">
          <ac:chgData name="Jeong, Peter" userId="84dba6ce-dc99-4d1d-b73d-a1e33699aa70" providerId="ADAL" clId="{BE2B2E2D-DACA-45F7-A15F-EEBD169E5821}" dt="2026-08-28T03:33:32.041" v="22" actId="20577"/>
          <ac:spMkLst>
            <pc:docMk/>
            <pc:sldMk cId="2165748649" sldId="271"/>
            <ac:spMk id="4" creationId="{4B1FC2D2-6085-99B2-82C8-7633829AF3FE}"/>
          </ac:spMkLst>
        </pc:spChg>
      </pc:sldChg>
      <pc:sldChg chg="modSp add">
        <pc:chgData name="Jeong, Peter" userId="84dba6ce-dc99-4d1d-b73d-a1e33699aa70" providerId="ADAL" clId="{BE2B2E2D-DACA-45F7-A15F-EEBD169E5821}" dt="2026-08-27T09:10:50.903" v="3"/>
        <pc:sldMkLst>
          <pc:docMk/>
          <pc:sldMk cId="2683954385" sldId="272"/>
        </pc:sldMkLst>
      </pc:sldChg>
      <pc:sldChg chg="add">
        <pc:chgData name="Jeong, Peter" userId="84dba6ce-dc99-4d1d-b73d-a1e33699aa70" providerId="ADAL" clId="{BE2B2E2D-DACA-45F7-A15F-EEBD169E5821}" dt="2026-08-28T01:23:11.485" v="4"/>
        <pc:sldMkLst>
          <pc:docMk/>
          <pc:sldMk cId="97217048" sldId="273"/>
        </pc:sldMkLst>
      </pc:sldChg>
      <pc:sldChg chg="modSp add">
        <pc:chgData name="Jeong, Peter" userId="84dba6ce-dc99-4d1d-b73d-a1e33699aa70" providerId="ADAL" clId="{BE2B2E2D-DACA-45F7-A15F-EEBD169E5821}" dt="2026-08-28T01:54:11.328" v="8"/>
        <pc:sldMkLst>
          <pc:docMk/>
          <pc:sldMk cId="3302341057" sldId="274"/>
        </pc:sldMkLst>
        <pc:spChg chg="mod">
          <ac:chgData name="Jeong, Peter" userId="84dba6ce-dc99-4d1d-b73d-a1e33699aa70" providerId="ADAL" clId="{BE2B2E2D-DACA-45F7-A15F-EEBD169E5821}" dt="2026-08-28T01:52:55.737" v="7"/>
          <ac:spMkLst>
            <pc:docMk/>
            <pc:sldMk cId="3302341057" sldId="274"/>
            <ac:spMk id="3" creationId="{48C7B0A2-CCB2-D095-0E8B-8D0B03542855}"/>
          </ac:spMkLst>
        </pc:spChg>
      </pc:sldChg>
      <pc:sldChg chg="modSp add">
        <pc:chgData name="Jeong, Peter" userId="84dba6ce-dc99-4d1d-b73d-a1e33699aa70" providerId="ADAL" clId="{BE2B2E2D-DACA-45F7-A15F-EEBD169E5821}" dt="2026-08-28T01:58:16.073" v="10"/>
        <pc:sldMkLst>
          <pc:docMk/>
          <pc:sldMk cId="3599884717"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056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t>Good morning, and thank you for your time.</a:t>
            </a:r>
          </a:p>
          <a:p/>
          <a:p>
            <a:r>
              <a:t>What I want to share today is what we are seeing in bunker fuel claims this year, and what it means for your ships.</a:t>
            </a:r>
          </a:p>
          <a:p/>
          <a:p>
            <a:r>
              <a:t>The short version is this. Claims are up about 50 percent. But the bigger change is not the number — it is that fuel which passes the test can still stop a ship.</a:t>
            </a:r>
          </a:p>
          <a:p/>
          <a:p>
            <a:r>
              <a:t>I will show you the data first, then three real cases, then what we can do about it. About 20 minutes, and please stop me any time.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Arial"/>
                <a:sym typeface="Arial"/>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Arial"/>
              <a:sym typeface="Arial"/>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슬라이드 노트 개체 틀 2"/>
          <p:cNvSpPr>
            <a:spLocks noGrp="1"/>
          </p:cNvSpPr>
          <p:nvPr>
            <p:ph type="body" idx="1"/>
          </p:nvPr>
        </p:nvSpPr>
        <p:spPr>
          <a:xfrm>
            <a:off x="685800" y="4400550"/>
            <a:ext cx="5486400" cy="3600450"/>
          </a:xfrm>
          <a:prstGeom prst="rect">
            <a:avLst/>
          </a:prstGeom>
        </p:spPr>
        <p:txBody>
          <a:bodyPr/>
          <a:lstStyle/>
          <a:p>
            <a:r>
              <a:t>Let me make this real with two cases.</a:t>
            </a:r>
          </a:p>
          <a:p/>
          <a:p>
            <a:r>
              <a:t>Case one, Antwerp. The fuel met the spec. Then two cylinder units overheated, the piston rings seized, and the main engine was finished. The ship drifted for three days, was towed for four, declared general average, transhipped the cargo, and spent four weeks in repair. About half a million dollars.</a:t>
            </a:r>
          </a:p>
          <a:p/>
          <a:p>
            <a:r>
              <a:t>The cause was organic acid — over 6,000 parts per million. It is not in the test list, so the standard tests found nothing. Only the extra analysis found it.</a:t>
            </a:r>
          </a:p>
          <a:p/>
          <a:p>
            <a:r>
              <a:t>Case two, Singapore. Again on-spec. This time the filters blocked faster than the back-wash unit could clean them, and main engine fuel pressure fell to a dangerous level.</a:t>
            </a:r>
          </a:p>
          <a:p/>
          <a:p>
            <a:r>
              <a:t>The extra analysis found Cardol and Resorcinol above 22,000 parts per million.</a:t>
            </a:r>
          </a:p>
          <a:p/>
          <a:p>
            <a:r>
              <a:t>The owner made the right call and debunkered the whole stem. Sometimes getting the fuel off the ship is cheaper than living with it.</a:t>
            </a:r>
          </a:p>
        </p:txBody>
      </p:sp>
    </p:spTree>
    <p:extLst>
      <p:ext uri="{BB962C8B-B14F-4D97-AF65-F5344CB8AC3E}">
        <p14:creationId xmlns:p14="http://schemas.microsoft.com/office/powerpoint/2010/main" val="1297066880"/>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Let us start with where the problems are.</a:t>
            </a:r>
          </a:p>
          <a:p/>
          <a:p>
            <a:r>
              <a:t>Every dot on this map is a claim, placed at the port where the ship actually took the fuel. The first thing to notice is that the risk is everywhere. It is not one bad region.</a:t>
            </a:r>
          </a:p>
          <a:p/>
          <a:p>
            <a:r>
              <a:t>Now, one warning about reading this map. Singapore, Houston and the ARA ports look busy — but they also sell far more fuel than anywhere else. This data counts problems, not volume. So a lot of dots does not mean a bad port.</a:t>
            </a:r>
          </a:p>
          <a:p/>
          <a:p>
            <a:r>
              <a:t>The right-hand figures are the fair comparison, because VPS tests every sample. Antwerp is 25.6 percent off-spec and Rotterdam 29 percent. Singapore is 7.3 percent — below the world average of 8.8.</a:t>
            </a:r>
          </a:p>
          <a:p/>
          <a:p>
            <a:r>
              <a:t>So if you bunker in North West Europe, plan for a higher chance of an off-spec result.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Here is the trend.</a:t>
            </a:r>
          </a:p>
          <a:p/>
          <a:p>
            <a:r>
              <a:t>About 70 claims in five months. Around 50 percent more than last year.</a:t>
            </a:r>
          </a:p>
          <a:p/>
          <a:p>
            <a:r>
              <a:t>And look at the timing. Most of the rise came in March to May — the same months the Middle East conflict escalated.</a:t>
            </a:r>
          </a:p>
          <a:p/>
          <a:p>
            <a:r>
              <a:t>I want to be careful here. We cannot prove the conflict caused it. But we can see what changed. Refineries adjusted their crude slates and their output. Off-spec results for sediment and cat fines went up. And with feedstock prices higher, suppliers used more cutter stock to hold the price — which pulls quality down.</a:t>
            </a:r>
          </a:p>
          <a:p/>
          <a:p>
            <a:r>
              <a:t>One more point that matters if any of your ships are waiting in the region. Fuel sitting in a tank for a long time degrades, and biofuel blends degrade fastest. If you have a ship idle out there, check that stock.</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A quick word on who ends up paying, because it surprises people.</a:t>
            </a:r>
          </a:p>
          <a:p/>
          <a:p>
            <a:r>
              <a:t>Most of these claims are not insurance claims at first. They are contract arguments between owner and charterer. That is simply because the charterer usually buys the fuel.</a:t>
            </a:r>
          </a:p>
          <a:p/>
          <a:p>
            <a:r>
              <a:t>It only becomes a Hull and Machinery claim when the engine is actually damaged.</a:t>
            </a:r>
          </a:p>
          <a:p/>
          <a:p>
            <a:r>
              <a:t>The good news for 2026 is that Gard found no serious casualty caused directly by bad fuel this year.</a:t>
            </a:r>
          </a:p>
          <a:p/>
          <a:p>
            <a:r>
              <a:t>The less good news is that several ships lost the ability to move. If that happens in a narrow channel or a busy anchorage, it is no longer a fuel problem. It is a safety problem.</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This is the slide I would ask you to remember.</a:t>
            </a:r>
          </a:p>
          <a:p/>
          <a:p>
            <a:r>
              <a:t>Look at the split on the left. Sixty percent of claims are what you expect — a test parameter is off-spec. Sediment, cat fines, that kind of thing.</a:t>
            </a:r>
          </a:p>
          <a:p/>
          <a:p>
            <a:r>
              <a:t>But forty percent are fuels that passed every single Table 2 test and still caused a problem.</a:t>
            </a:r>
          </a:p>
          <a:p/>
          <a:p>
            <a:r>
              <a:t>Forty percent. That is the gap the standard does not cover.</a:t>
            </a:r>
          </a:p>
          <a:p/>
          <a:p>
            <a:r>
              <a:t>For those cases we rely on Clause 5, and the three steps on the right are what you have to prove. Not just that a substance is present, but that it actually caused harm. Standard tests will not find it — you need GC-MS or similar.</a:t>
            </a:r>
          </a:p>
          <a:p/>
          <a:p>
            <a:r>
              <a:t>The helpful development is at the bottom. ISO 8217:2024 now says clearly that if you can establish cause and effect, the fuel has not met the standard.</a:t>
            </a:r>
          </a:p>
          <a:p/>
          <a:p>
            <a:r>
              <a:t>So the message is simple: passing Table 2 is where you start, not where you finish.</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Now, which fuels are we actually talking about.</a:t>
            </a:r>
          </a:p>
          <a:p/>
          <a:p>
            <a:r>
              <a:t>Over 85 percent of claims involve VLSFO. Partly that is just market share — it has been the main fuel since the sulphur cap in 2020.</a:t>
            </a:r>
          </a:p>
          <a:p/>
          <a:p>
            <a:r>
              <a:t>But there is a real technical reason too. VLSFO is a blend of several components, so what is inside varies from stem to stem, and unexpected chemicals are more likely.</a:t>
            </a:r>
          </a:p>
          <a:p/>
          <a:p>
            <a:r>
              <a:t>Then look at the off-spec table, because two numbers stand out.</a:t>
            </a:r>
          </a:p>
          <a:p/>
          <a:p>
            <a:r>
              <a:t>ULSFO is 28.8 percent. If you trade in emission control areas, that needs separate attention.</a:t>
            </a:r>
          </a:p>
          <a:p/>
          <a:p>
            <a:r>
              <a:t>And biofuel is 0.4 percent — the lowest of all. That surprises most people. Biofuel tests very clean. Its risks are in storage and handling, not on the test certificate.</a:t>
            </a:r>
          </a:p>
          <a:p/>
          <a:p>
            <a:r>
              <a:t>The last block is the same message as before, stated plainly: ISO 8217 on its own cannot tell you whether a fuel is safe.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Case three is the one I would ask you to pay closest attention to, because it involves biofuel.</a:t>
            </a:r>
          </a:p>
          <a:p/>
          <a:p>
            <a:r>
              <a:t>The ship was on a blend of ULSFO and B30 made with CNSL — cashew nut shell liquid. About two days after switching to that tank, while drifting and waiting for the pilot, the main engine would not start.</a:t>
            </a:r>
          </a:p>
          <a:p/>
          <a:p>
            <a:r>
              <a:t>The injectors and pumps were damaged. The surveyor put it down to poor fuel quality and CNSL contamination.</a:t>
            </a:r>
          </a:p>
          <a:p/>
          <a:p>
            <a:r>
              <a:t>Two things to take from this. First, the problem came two days after the switch, not immediately — so a good first day proves nothing. Second, this is a fuel type the industry is actively promoting as an alternative. It can work, but only with the right checks before you burn it.</a:t>
            </a:r>
          </a:p>
          <a:p/>
          <a:p>
            <a:r>
              <a:t>The table on the right is your early warning list. Filters blocking fast, sticky sludge, wear on plungers. If your crew reports any of these, treat it as a fuel problem and take samples immediately — because by the time you see the symptom, the damage has already started.</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These are photographs from other claims this year.</a:t>
            </a:r>
          </a:p>
          <a:p/>
          <a:p>
            <a:r>
              <a:t>I will not go through them one by one. I just want you to see what this actually looks like when it reaches the engine room.</a:t>
            </a:r>
          </a:p>
          <a:p/>
          <a:p>
            <a:r>
              <a:t>The point of showing them is this: every one of these started as a fuel that somebody believed was acceptable.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Now the regulatory side, where the consequences are immediate.</a:t>
            </a:r>
          </a:p>
          <a:p/>
          <a:p>
            <a:r>
              <a:t>Sulphur is nearly 13 percent of all claims. In one case China MSA measured over 2 percent in VLSFO, sealed the tanks, and the ship could not use that fuel until it was removed and the tanks cleaned. And because the charter had already been redelivered, owner and charterer then had to argue about who paid for all of it.</a:t>
            </a:r>
          </a:p>
          <a:p/>
          <a:p>
            <a:r>
              <a:t>Flash point is about 4 percent. Below 60 degrees, the whole stem comes off. No discussion.</a:t>
            </a:r>
          </a:p>
          <a:p/>
          <a:p>
            <a:r>
              <a:t>There is a change worth noting in the box at the bottom left. Since January this year, the Bunker Delivery Note has to show the actual flash point value, or confirm it is 70 degrees or above. That gives you something to check before you accept the fuel.</a:t>
            </a:r>
          </a:p>
          <a:p/>
          <a:p>
            <a:r>
              <a:t>On the right, quantity. In ARA the mass flow meter is now mandatory. In this case the ship was 60 tonnes short, the surveyor was refused a manual sounding, and the meter's calibration certificate was 16 months old.</a:t>
            </a:r>
          </a:p>
          <a:p/>
          <a:p>
            <a:r>
              <a:t>And note what the authorities said: they will not settle commercial disputes. They only confirm whether the meter deviated and whether it was used properly. Everything else is down to what your people recorded on board.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This slide goes one level deeper into Clause 5, because it is where most claims are won or lost.</a:t>
            </a:r>
          </a:p>
          <a:p/>
          <a:p>
            <a:r>
              <a:t>The rule itself is reasonable. A fuel can be unsuitable for use even when it meets every number in Table 2.</a:t>
            </a:r>
          </a:p>
          <a:p/>
          <a:p>
            <a:r>
              <a:t>The difficulty is proof. Finding the contaminant is the easy half. You then have to show it caused the damage — and that is a much higher bar.</a:t>
            </a:r>
          </a:p>
          <a:p/>
          <a:p>
            <a:r>
              <a:t>Three practical implications. Table 2 testing on its own may not be enough, so budget for GC-MS when something looks wrong. An actual use trial can be powerful evidence, but only if it is documented properly. And ISO 8217:2024 will accept the claim once causation is established.</a:t>
            </a:r>
          </a:p>
          <a:p/>
          <a:p>
            <a:r>
              <a:t>In short: collect the evidence early, because you cannot recreate it later.</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Let me pull it together into five points.</a:t>
            </a:r>
          </a:p>
          <a:p/>
          <a:p>
            <a:r>
              <a:t>One. Passing the spec does not mean the fuel is safe. Do not judge risk on compliance alone.</a:t>
            </a:r>
          </a:p>
          <a:p/>
          <a:p>
            <a:r>
              <a:t>Two. Chemical contaminants under Clause 5 are becoming the bigger issue. Cardol, CNSL — none of them appear in Table 2.</a:t>
            </a:r>
          </a:p>
          <a:p/>
          <a:p>
            <a:r>
              <a:t>Three. Bad fuel is not a quality issue. It is an operational one. Engine damage, lost propulsion, delay, debunkering, detention — and real money.</a:t>
            </a:r>
          </a:p>
          <a:p/>
          <a:p>
            <a:r>
              <a:t>Four. When a dispute starts, sampling and joint testing decide it. Proving your sample is representative is the whole game. Agree the test procedure before you need it, not after.</a:t>
            </a:r>
          </a:p>
          <a:p/>
          <a:p>
            <a:r>
              <a:t>Five, and this is the one I would leave with you. Owners and charterers have to work this together. Selection, sampling, testing, response. Stopping bad fuel before it comes on board is far cheaper than proving whose fault it was.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p:cNvSpPr>
            <a:spLocks noGrp="1"/>
          </p:cNvSpPr>
          <p:nvPr>
            <p:ph type="body" sz="quarter" idx="3"/>
          </p:nvPr>
        </p:nvSpPr>
        <p:spPr/>
        <p:txBody>
          <a:bodyPr/>
          <a:lstStyle/>
          <a:p>
            <a:r>
              <a:t>Last slide, and this looks ahead rather than back.</a:t>
            </a:r>
          </a:p>
          <a:p/>
          <a:p>
            <a:r>
              <a:t>The Singapore Shipping Association updated its Biofuels FAQ this year. If you are moving to biofuel blends, this is the practical guide.</a:t>
            </a:r>
          </a:p>
          <a:p/>
          <a:p>
            <a:r>
              <a:t>The left table is the nine things to watch. I would highlight three.</a:t>
            </a:r>
          </a:p>
          <a:p/>
          <a:p>
            <a:r>
              <a:t>The solvent effect — biofuel dissolves the old deposits already in your tank, so filters block heavily right after the first switch. That is old dirt, not new fuel. Clean the tank first.</a:t>
            </a:r>
          </a:p>
          <a:p/>
          <a:p>
            <a:r>
              <a:t>Seals and gaskets — FAME attacks rubber. Check the fuel system materials before the first stem, not after a leak.</a:t>
            </a:r>
          </a:p>
          <a:p/>
          <a:p>
            <a:r>
              <a:t>And cold weather — wax forms in the tank, so confirm you have the heating capacity for the trade.</a:t>
            </a:r>
          </a:p>
          <a:p/>
          <a:p>
            <a:r>
              <a:t>The right side is storage, and it is simple. Ten degrees above pour point, use it within about three months, and re-test if it sits longer. Note that three months is a rule of thumb, not a hard limit — GCMD stored B24 on board for six months and it stayed inside the ISO limits.</a:t>
            </a:r>
          </a:p>
          <a:p/>
          <a:p>
            <a:r>
              <a:t>Fresh in, fresh out. Keep the stock turning and most of these problems never start.</a:t>
            </a:r>
          </a:p>
          <a:p/>
          <a:p>
            <a:r>
              <a:t>That is everything from me.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2896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FBE5D85A-D5CA-3CDB-2D2C-737E2B81245C}"/>
              </a:ext>
            </a:extLst>
          </p:cNvPr>
          <p:cNvSpPr txBox="1"/>
          <p:nvPr userDrawn="1">
            <p:extLst>
              <p:ext uri="{1162E1C5-73C7-4A58-AE30-91384D911F3F}">
                <p184:classification xmlns:p184="http://schemas.microsoft.com/office/powerpoint/2018/4/main" val="ftr"/>
              </p:ext>
            </p:extLst>
          </p:nvPr>
        </p:nvSpPr>
        <p:spPr>
          <a:xfrm>
            <a:off x="63500" y="6642100"/>
            <a:ext cx="56927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Classified as Internal - This content is proprietary information intended for employees and partners only.</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F49DF0-6E37-F7B0-2AA4-A1FA68754445}"/>
              </a:ext>
            </a:extLst>
          </p:cNvPr>
          <p:cNvSpPr txBox="1"/>
          <p:nvPr userDrawn="1">
            <p:extLst>
              <p:ext uri="{1162E1C5-73C7-4A58-AE30-91384D911F3F}">
                <p184:classification xmlns:p184="http://schemas.microsoft.com/office/powerpoint/2018/4/main" val="ftr"/>
              </p:ext>
            </p:extLst>
          </p:nvPr>
        </p:nvSpPr>
        <p:spPr>
          <a:xfrm>
            <a:off x="84667" y="6570134"/>
            <a:ext cx="7590367" cy="205121"/>
          </a:xfrm>
          <a:prstGeom prst="rect">
            <a:avLst/>
          </a:prstGeom>
        </p:spPr>
        <p:txBody>
          <a:bodyPr horzOverflow="overflow" lIns="0" tIns="0" rIns="0" bIns="0">
            <a:spAutoFit/>
          </a:bodyPr>
          <a:lstStyle/>
          <a:p>
            <a:pPr algn="l"/>
            <a:r>
              <a:rPr lang="en-US" sz="1333">
                <a:solidFill>
                  <a:srgbClr val="000000">
                    <a:alpha val="50000"/>
                  </a:srgbClr>
                </a:solidFill>
                <a:latin typeface="Aptos" panose="020B0004020202020204" pitchFamily="34" charset="0"/>
              </a:rPr>
              <a:t>Classified as Internal - This content is proprietary information intended for employees and partners only.</a:t>
            </a:r>
          </a:p>
        </p:txBody>
      </p:sp>
    </p:spTree>
    <p:extLst>
      <p:ext uri="{BB962C8B-B14F-4D97-AF65-F5344CB8AC3E}">
        <p14:creationId xmlns:p14="http://schemas.microsoft.com/office/powerpoint/2010/main" val="4038517432"/>
      </p:ext>
    </p:extLst>
  </p:cSld>
  <p:clrMap bg1="lt1" tx1="dk1" bg2="lt2" tx2="dk2" accent1="accent1" accent2="accent2" accent3="accent3" accent4="accent4" accent5="accent5" accent6="accent6" hlink="hlink" folHlink="folHlink"/>
  <p:sldLayoutIdLst>
    <p:sldLayoutId id="2147483661"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globe_only.png"/>
          <p:cNvPicPr>
            <a:picLocks noChangeAspect="1"/>
          </p:cNvPicPr>
          <p:nvPr/>
        </p:nvPicPr>
        <p:blipFill>
          <a:blip r:embed="rId3"/>
          <a:srcRect/>
          <a:stretch/>
        </p:blipFill>
        <p:spPr>
          <a:xfrm>
            <a:off x="6888175" y="0"/>
            <a:ext cx="5303520" cy="6858000"/>
          </a:xfrm>
          <a:prstGeom prst="rect">
            <a:avLst/>
          </a:prstGeom>
        </p:spPr>
      </p:pic>
      <p:pic>
        <p:nvPicPr>
          <p:cNvPr id="3" name="Image 1" descr="wil_logo.png"/>
          <p:cNvPicPr>
            <a:picLocks noChangeAspect="1"/>
          </p:cNvPicPr>
          <p:nvPr/>
        </p:nvPicPr>
        <p:blipFill>
          <a:blip r:embed="rId4"/>
          <a:srcRect/>
          <a:stretch/>
        </p:blipFill>
        <p:spPr>
          <a:xfrm>
            <a:off x="548640" y="457200"/>
            <a:ext cx="1554480" cy="438912"/>
          </a:xfrm>
          <a:prstGeom prst="rect">
            <a:avLst/>
          </a:prstGeom>
        </p:spPr>
      </p:pic>
      <p:sp>
        <p:nvSpPr>
          <p:cNvPr id="5" name="Text 1"/>
          <p:cNvSpPr/>
          <p:nvPr/>
        </p:nvSpPr>
        <p:spPr>
          <a:xfrm>
            <a:off x="566928" y="896112"/>
            <a:ext cx="8686800" cy="2560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4472C4">
                    <a:lumMod val="75000"/>
                  </a:srgbClr>
                </a:solidFill>
                <a:effectLst/>
                <a:uLnTx/>
                <a:uFillTx/>
                <a:latin typeface="Oswald"/>
                <a:ea typeface="Oswald"/>
                <a:cs typeface="Oswald"/>
                <a:sym typeface="Oswald"/>
              </a:rPr>
              <a:t>AGENDA</a:t>
            </a:r>
            <a:endParaRPr kumimoji="0" lang="en-US" sz="5400" b="0" i="0" u="none" strike="noStrike" kern="0" cap="none" spc="0" normalizeH="0" baseline="0" noProof="0" dirty="0">
              <a:ln>
                <a:noFill/>
              </a:ln>
              <a:solidFill>
                <a:srgbClr val="4472C4">
                  <a:lumMod val="75000"/>
                </a:srgbClr>
              </a:solidFill>
              <a:effectLst/>
              <a:uLnTx/>
              <a:uFillTx/>
              <a:latin typeface="Arial"/>
              <a:cs typeface="Arial"/>
              <a:sym typeface="Arial"/>
            </a:endParaRPr>
          </a:p>
        </p:txBody>
      </p:sp>
      <p:sp>
        <p:nvSpPr>
          <p:cNvPr id="4" name="Google Shape;99;p14">
            <a:extLst>
              <a:ext uri="{FF2B5EF4-FFF2-40B4-BE49-F238E27FC236}">
                <a16:creationId xmlns:a16="http://schemas.microsoft.com/office/drawing/2014/main" id="{A8359433-9952-6A10-0453-926E743CAAF4}"/>
              </a:ext>
            </a:extLst>
          </p:cNvPr>
          <p:cNvSpPr/>
          <p:nvPr/>
        </p:nvSpPr>
        <p:spPr>
          <a:xfrm flipV="1">
            <a:off x="566928" y="2793559"/>
            <a:ext cx="6321247" cy="45719"/>
          </a:xfrm>
          <a:prstGeom prst="rect">
            <a:avLst/>
          </a:prstGeom>
          <a:solidFill>
            <a:schemeClr val="bg1">
              <a:lumMod val="85000"/>
            </a:scheme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prstClr val="black"/>
              </a:solidFill>
              <a:effectLst/>
              <a:uLnTx/>
              <a:uFillTx/>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Rectangle 102"/>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103" name="TextBox 104"/>
          <p:cNvSpPr txBox="1"/>
          <p:nvPr/>
        </p:nvSpPr>
        <p:spPr>
          <a:xfrm>
            <a:off x="673188" y="107205"/>
            <a:ext cx="11155680" cy="749808"/>
          </a:xfrm>
          <a:prstGeom prst="rect">
            <a:avLst/>
          </a:prstGeom>
          <a:noFill/>
        </p:spPr>
        <p:txBody>
          <a:bodyPr wrap="square" lIns="36576" tIns="0" rIns="36576" bIns="0" anchor="ctr"/>
          <a:lstStyle/>
          <a:p>
            <a:pPr algn="l">
              <a:spcAft>
                <a:spcPts val="0"/>
              </a:spcAft>
            </a:pPr>
            <a:r>
              <a:rPr lang="en-US" sz="2500" b="1">
                <a:solidFill>
                  <a:srgbClr val="FFFFFF"/>
                </a:solidFill>
                <a:latin typeface="Calibri"/>
                <a:cs typeface="Calibri"/>
              </a:rPr>
              <a:t>Where the Claims Came From — Ports and Off-Spec Rates</a:t>
            </a:r>
          </a:p>
        </p:txBody>
      </p:sp>
      <p:pic>
        <p:nvPicPr>
          <p:cNvPr id="3" name="그림 2">
            <a:extLst>
              <a:ext uri="{FF2B5EF4-FFF2-40B4-BE49-F238E27FC236}">
                <a16:creationId xmlns:a16="http://schemas.microsoft.com/office/drawing/2014/main" id="{2C0BE062-A628-8BB8-A8B2-3F8ECCD751C2}"/>
              </a:ext>
            </a:extLst>
          </p:cNvPr>
          <p:cNvPicPr>
            <a:picLocks noChangeAspect="1"/>
          </p:cNvPicPr>
          <p:nvPr/>
        </p:nvPicPr>
        <p:blipFill>
          <a:blip r:embed="rId2"/>
          <a:stretch>
            <a:fillRect/>
          </a:stretch>
        </p:blipFill>
        <p:spPr>
          <a:xfrm>
            <a:off x="175807" y="1170432"/>
            <a:ext cx="6509928" cy="4830555"/>
          </a:xfrm>
          <a:prstGeom prst="rect">
            <a:avLst/>
          </a:prstGeom>
        </p:spPr>
      </p:pic>
      <p:sp>
        <p:nvSpPr>
          <p:cNvPr id="7" name="TextBox 6">
            <a:extLst>
              <a:ext uri="{FF2B5EF4-FFF2-40B4-BE49-F238E27FC236}">
                <a16:creationId xmlns:a16="http://schemas.microsoft.com/office/drawing/2014/main" id="{71E6DDBD-ABBD-8EF0-6CBE-18D7BAFE8A0B}"/>
              </a:ext>
            </a:extLst>
          </p:cNvPr>
          <p:cNvSpPr txBox="1"/>
          <p:nvPr/>
        </p:nvSpPr>
        <p:spPr>
          <a:xfrm>
            <a:off x="7151239" y="1393918"/>
            <a:ext cx="4444298" cy="4524315"/>
          </a:xfrm>
          <a:prstGeom prst="rect">
            <a:avLst/>
          </a:prstGeom>
          <a:noFill/>
        </p:spPr>
        <p:txBody>
          <a:bodyPr wrap="square">
            <a:spAutoFit/>
          </a:bodyPr>
          <a:lstStyle/>
          <a:p>
            <a:pPr fontAlgn="t">
              <a:lnSpc>
                <a:spcPct val="100000"/>
              </a:lnSpc>
              <a:buNone/>
            </a:pPr>
            <a:r>
              <a:rPr lang="en-US" sz="1200" b="1" i="0" dirty="0" err="1">
                <a:effectLst/>
                <a:latin typeface="+mn-lt"/>
              </a:rPr>
              <a:t>Where the bad-fuel claims came from</a:t>
            </a:r>
            <a:endParaRPr lang="en-US" sz="1200" b="0" i="0" dirty="0">
              <a:effectLst/>
              <a:latin typeface="+mn-lt"/>
            </a:endParaRPr>
          </a:p>
          <a:p>
            <a:pPr fontAlgn="t">
              <a:lnSpc>
                <a:spcPct val="100000"/>
              </a:lnSpc>
              <a:buNone/>
            </a:pPr>
            <a:r>
              <a:rPr lang="en-US" sz="1200" b="0" i="0" dirty="0" err="1">
                <a:effectLst/>
                <a:latin typeface="+mn-lt"/>
              </a:rPr>
              <a:t>The chart shows the bunker claims recorded in the first five months of 2026, placed at the port where the ship actually took the fuel (stem location).</a:t>
            </a:r>
            <a:endParaRPr lang="en-US" sz="1200" b="0" i="0" dirty="0">
              <a:effectLst/>
              <a:latin typeface="+mn-lt"/>
            </a:endParaRPr>
          </a:p>
          <a:p>
            <a:pPr fontAlgn="t">
              <a:lnSpc>
                <a:spcPct val="100000"/>
              </a:lnSpc>
              <a:buNone/>
            </a:pPr>
            <a:r>
              <a:rPr lang="en-US" sz="1200" b="0" i="0" dirty="0" err="1">
                <a:effectLst/>
                <a:latin typeface="+mn-lt"/>
              </a:rPr>
              <a:t>The risk is spread across the world rather than sitting in one region. That simply follows global supply patterns.</a:t>
            </a:r>
            <a:endParaRPr lang="en-US" sz="1200" b="0" i="0" dirty="0">
              <a:effectLst/>
              <a:latin typeface="+mn-lt"/>
            </a:endParaRPr>
          </a:p>
          <a:p>
            <a:pPr fontAlgn="t">
              <a:lnSpc>
                <a:spcPct val="100000"/>
              </a:lnSpc>
              <a:buNone/>
            </a:pPr>
            <a:r>
              <a:rPr lang="en-US" sz="1200" b="0" i="0" dirty="0" err="1">
                <a:effectLst/>
                <a:latin typeface="+mn-lt"/>
              </a:rPr>
              <a:t>Singapore, Houston and the ARA ports (Amsterdam, Rotterdam, Antwerp) show many cases, but these are also the ports that sell the most fuel.</a:t>
            </a:r>
            <a:endParaRPr lang="en-US" sz="1200" b="0" i="0" dirty="0">
              <a:effectLst/>
              <a:latin typeface="+mn-lt"/>
            </a:endParaRPr>
          </a:p>
          <a:p>
            <a:pPr fontAlgn="t">
              <a:lnSpc>
                <a:spcPct val="100000"/>
              </a:lnSpc>
              <a:buNone/>
            </a:pPr>
            <a:r>
              <a:rPr lang="en-US" sz="1200" b="1" i="0" dirty="0" err="1">
                <a:effectLst/>
                <a:latin typeface="+mn-lt"/>
              </a:rPr>
              <a:t>This data counts quality problems only. It does not count how much fuel was delivered, so more cases does not mean a higher risk rate.</a:t>
            </a:r>
            <a:endParaRPr lang="en-US" sz="1200" b="0" i="0" dirty="0">
              <a:effectLst/>
              <a:latin typeface="+mn-lt"/>
            </a:endParaRPr>
          </a:p>
          <a:p>
            <a:pPr fontAlgn="t">
              <a:lnSpc>
                <a:spcPct val="100000"/>
              </a:lnSpc>
              <a:buNone/>
            </a:pPr>
            <a:endParaRPr lang="en-US" sz="1200" b="0" i="0" dirty="0">
              <a:effectLst/>
              <a:latin typeface="+mn-lt"/>
            </a:endParaRPr>
          </a:p>
          <a:p>
            <a:pPr fontAlgn="t">
              <a:lnSpc>
                <a:spcPct val="100000"/>
              </a:lnSpc>
              <a:buNone/>
            </a:pPr>
            <a:r>
              <a:rPr lang="en-US" sz="1200" b="1" i="0" dirty="0" err="1">
                <a:effectLst/>
                <a:latin typeface="+mn-lt"/>
              </a:rPr>
              <a:t>Ports with the highest off-spec rate</a:t>
            </a:r>
            <a:endParaRPr lang="en-US" sz="1200" b="0" i="0" dirty="0">
              <a:effectLst/>
              <a:latin typeface="+mn-lt"/>
            </a:endParaRPr>
          </a:p>
          <a:p>
            <a:pPr fontAlgn="t">
              <a:lnSpc>
                <a:spcPct val="100000"/>
              </a:lnSpc>
              <a:buNone/>
            </a:pPr>
            <a:r>
              <a:rPr lang="en-US" sz="1200" b="0" i="0" dirty="0" err="1">
                <a:effectLst/>
                <a:latin typeface="+mn-lt"/>
              </a:rPr>
              <a:t>VPS tests every sample, whatever the result. Antwerp came out at 25.6% off-spec and Rotterdam at 29.0% — the highest anywhere.</a:t>
            </a:r>
            <a:endParaRPr lang="en-US" sz="1200" b="0" i="0" dirty="0">
              <a:effectLst/>
              <a:latin typeface="+mn-lt"/>
            </a:endParaRPr>
          </a:p>
          <a:p>
            <a:pPr fontAlgn="t">
              <a:lnSpc>
                <a:spcPct val="100000"/>
              </a:lnSpc>
              <a:buNone/>
            </a:pPr>
            <a:r>
              <a:rPr lang="en-US" sz="1200" b="0" i="0" dirty="0" err="1">
                <a:effectLst/>
                <a:latin typeface="+mn-lt"/>
              </a:rPr>
              <a:t>Singapore, the largest bunker port in the world, was 7.3%. That is below the global average of 8.8% as of May 2026.</a:t>
            </a:r>
            <a:endParaRPr lang="en-US" sz="1200" b="0" i="0" dirty="0">
              <a:effectLst/>
              <a:latin typeface="+mn-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Rectangle 164"/>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165" name="TextBox 166"/>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dirty="0">
                <a:solidFill>
                  <a:srgbClr val="FFFFFF"/>
                </a:solidFill>
                <a:latin typeface="Calibri"/>
                <a:ea typeface="맑은 고딕"/>
                <a:cs typeface="Calibri"/>
              </a:rPr>
              <a:t>Bunker Claims Jan–May 2026 — More Cases, More Complex</a:t>
            </a:r>
            <a:endParaRPr sz="2500" b="1" dirty="0">
              <a:solidFill>
                <a:srgbClr val="FFFFFF"/>
              </a:solidFill>
              <a:latin typeface="Calibri"/>
              <a:ea typeface="맑은 고딕"/>
              <a:cs typeface="Calibri"/>
            </a:endParaRPr>
          </a:p>
        </p:txBody>
      </p:sp>
      <p:sp>
        <p:nvSpPr>
          <p:cNvPr id="3" name="TextBox 2">
            <a:extLst>
              <a:ext uri="{FF2B5EF4-FFF2-40B4-BE49-F238E27FC236}">
                <a16:creationId xmlns:a16="http://schemas.microsoft.com/office/drawing/2014/main" id="{B2D2D857-FF3B-58A6-AA9D-8160A0DAE3E0}"/>
              </a:ext>
            </a:extLst>
          </p:cNvPr>
          <p:cNvSpPr txBox="1"/>
          <p:nvPr/>
        </p:nvSpPr>
        <p:spPr>
          <a:xfrm>
            <a:off x="5828513" y="1568289"/>
            <a:ext cx="6101254" cy="2308324"/>
          </a:xfrm>
          <a:prstGeom prst="rect">
            <a:avLst/>
          </a:prstGeom>
          <a:noFill/>
        </p:spPr>
        <p:txBody>
          <a:bodyPr wrap="square">
            <a:spAutoFit/>
          </a:bodyPr>
          <a:lstStyle/>
          <a:p>
            <a:pPr marL="342900" lvl="0" indent="-342900" fontAlgn="t">
              <a:lnSpc>
                <a:spcPct val="100000"/>
              </a:lnSpc>
              <a:buFont typeface="Arial" panose="020B0604020202020204" pitchFamily="34" charset="0"/>
              <a:buChar char="•"/>
            </a:pPr>
            <a:r>
              <a:rPr lang="en-US" sz="1200" b="0" i="0" dirty="0">
                <a:effectLst/>
                <a:latin typeface="+mn-lt"/>
              </a:rPr>
              <a:t>About 70 fuel quality claims were recorded from January to May 2026 — roughly 50% more than the same period last year.</a:t>
            </a:r>
          </a:p>
          <a:p>
            <a:pPr marL="342900" lvl="0" indent="-342900" fontAlgn="t">
              <a:lnSpc>
                <a:spcPct val="100000"/>
              </a:lnSpc>
              <a:buFont typeface="Arial" panose="020B0604020202020204" pitchFamily="34" charset="0"/>
              <a:buChar char="•"/>
            </a:pPr>
            <a:r>
              <a:rPr lang="en-US" sz="1200" b="0" i="0" dirty="0">
                <a:effectLst/>
                <a:latin typeface="+mn-lt"/>
              </a:rPr>
              <a:t>Most of the increase came in March to May, the same months the Middle East conflict escalated.</a:t>
            </a:r>
          </a:p>
          <a:p>
            <a:pPr marL="342900" lvl="0" indent="-342900" fontAlgn="t">
              <a:lnSpc>
                <a:spcPct val="100000"/>
              </a:lnSpc>
              <a:buFont typeface="Arial" panose="020B0604020202020204" pitchFamily="34" charset="0"/>
              <a:buChar char="•"/>
            </a:pPr>
            <a:r>
              <a:rPr lang="en-US" sz="1200" b="0" i="0" dirty="0">
                <a:effectLst/>
                <a:latin typeface="+mn-lt"/>
              </a:rPr>
              <a:t>We cannot say the conflict is the direct cause. But supply chain disruption and market pressure clearly raised the fuel quality risk.</a:t>
            </a:r>
          </a:p>
          <a:p>
            <a:pPr marL="342900" lvl="0" indent="-342900" fontAlgn="t">
              <a:lnSpc>
                <a:spcPct val="100000"/>
              </a:lnSpc>
              <a:buFont typeface="Arial" panose="020B0604020202020204" pitchFamily="34" charset="0"/>
              <a:buChar char="•"/>
            </a:pPr>
            <a:r>
              <a:rPr lang="en-US" sz="1200" b="0" i="0" dirty="0">
                <a:effectLst/>
                <a:latin typeface="+mn-lt"/>
              </a:rPr>
              <a:t>Refineries have adjusted their crude slates and production. Off-spec results for TSP (sediment) and Al+Si (cat fines) have gone up as a result.</a:t>
            </a:r>
          </a:p>
          <a:p>
            <a:pPr marL="342900" lvl="0" indent="-342900" fontAlgn="t">
              <a:lnSpc>
                <a:spcPct val="100000"/>
              </a:lnSpc>
              <a:buFont typeface="Arial" panose="020B0604020202020204" pitchFamily="34" charset="0"/>
              <a:buChar char="•"/>
            </a:pPr>
            <a:r>
              <a:rPr lang="en-US" sz="1200" b="0" i="0" dirty="0">
                <a:effectLst/>
                <a:latin typeface="+mn-lt"/>
              </a:rPr>
              <a:t>Higher feedstock and bunker prices have pushed suppliers to use more cutter stock, which can pull fuel quality down.</a:t>
            </a:r>
          </a:p>
          <a:p>
            <a:pPr marL="342900" lvl="0" indent="-342900" fontAlgn="t">
              <a:lnSpc>
                <a:spcPct val="100000"/>
              </a:lnSpc>
              <a:buFont typeface="Arial" panose="020B0604020202020204" pitchFamily="34" charset="0"/>
              <a:buChar char="•"/>
            </a:pPr>
            <a:r>
              <a:rPr lang="en-US" sz="1200" b="0" i="0" dirty="0">
                <a:effectLst/>
                <a:latin typeface="+mn-lt"/>
              </a:rPr>
              <a:t>Ships lying idle in the region for long periods also face more fuel degradation. FAME (UCOME) biofuel is the most sensitive to long storage.</a:t>
            </a:r>
          </a:p>
        </p:txBody>
      </p:sp>
      <p:pic>
        <p:nvPicPr>
          <p:cNvPr id="5" name="그림 4">
            <a:extLst>
              <a:ext uri="{FF2B5EF4-FFF2-40B4-BE49-F238E27FC236}">
                <a16:creationId xmlns:a16="http://schemas.microsoft.com/office/drawing/2014/main" id="{60EA2114-05A8-6EBB-401A-2F8C409166F3}"/>
              </a:ext>
            </a:extLst>
          </p:cNvPr>
          <p:cNvPicPr>
            <a:picLocks noChangeAspect="1"/>
          </p:cNvPicPr>
          <p:nvPr/>
        </p:nvPicPr>
        <p:blipFill>
          <a:blip r:embed="rId2"/>
          <a:stretch>
            <a:fillRect/>
          </a:stretch>
        </p:blipFill>
        <p:spPr>
          <a:xfrm>
            <a:off x="157219" y="1283481"/>
            <a:ext cx="5671294" cy="42910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Rectangle 304"/>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305" name="TextBox 306"/>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lang="en-US" sz="2500" b="1" dirty="0">
                <a:solidFill>
                  <a:srgbClr val="FFFFFF"/>
                </a:solidFill>
                <a:latin typeface="Calibri"/>
                <a:ea typeface="맑은 고딕"/>
                <a:cs typeface="Calibri"/>
              </a:rPr>
              <a:t>Claim and ISO standard</a:t>
            </a:r>
            <a:endParaRPr sz="2500" b="1" dirty="0">
              <a:solidFill>
                <a:srgbClr val="FFFFFF"/>
              </a:solidFill>
              <a:latin typeface="Calibri"/>
              <a:ea typeface="맑은 고딕"/>
              <a:cs typeface="Calibri"/>
            </a:endParaRPr>
          </a:p>
        </p:txBody>
      </p:sp>
      <p:sp>
        <p:nvSpPr>
          <p:cNvPr id="3" name="TextBox 2">
            <a:extLst>
              <a:ext uri="{FF2B5EF4-FFF2-40B4-BE49-F238E27FC236}">
                <a16:creationId xmlns:a16="http://schemas.microsoft.com/office/drawing/2014/main" id="{535F9399-145A-E841-8F4B-5A70250DA3E5}"/>
              </a:ext>
            </a:extLst>
          </p:cNvPr>
          <p:cNvSpPr txBox="1"/>
          <p:nvPr/>
        </p:nvSpPr>
        <p:spPr>
          <a:xfrm>
            <a:off x="150630" y="1670228"/>
            <a:ext cx="6101254" cy="1708160"/>
          </a:xfrm>
          <a:prstGeom prst="rect">
            <a:avLst/>
          </a:prstGeom>
          <a:noFill/>
        </p:spPr>
        <p:txBody>
          <a:bodyPr wrap="square">
            <a:spAutoFit/>
          </a:bodyPr>
          <a:lstStyle/>
          <a:p>
            <a:pPr marL="342900" lvl="0" indent="-342900" fontAlgn="t">
              <a:lnSpc>
                <a:spcPct val="100000"/>
              </a:lnSpc>
              <a:buFont typeface="Arial" panose="020B0604020202020204" pitchFamily="34" charset="0"/>
              <a:buChar char="•"/>
            </a:pPr>
            <a:r>
              <a:rPr lang="en-US" sz="1500" b="0" i="0" dirty="0" err="1">
                <a:effectLst/>
                <a:latin typeface="+mn-lt"/>
              </a:rPr>
              <a:t>Most bunker quality claims are disputes between owner and charterer.</a:t>
            </a:r>
          </a:p>
          <a:p>
            <a:pPr marL="342900" lvl="0" indent="-342900" fontAlgn="t">
              <a:lnSpc>
                <a:spcPct val="100000"/>
              </a:lnSpc>
              <a:buFont typeface="Arial" panose="020B0604020202020204" pitchFamily="34" charset="0"/>
              <a:buChar char="•"/>
            </a:pPr>
            <a:r>
              <a:rPr lang="en-US" sz="1500" b="0" i="0" dirty="0" err="1">
                <a:effectLst/>
                <a:latin typeface="+mn-lt"/>
              </a:rPr>
              <a:t>That is because the charterer normally buys and supplies the fuel.</a:t>
            </a:r>
          </a:p>
          <a:p>
            <a:pPr marL="342900" lvl="0" indent="-342900" fontAlgn="t">
              <a:lnSpc>
                <a:spcPct val="100000"/>
              </a:lnSpc>
              <a:buFont typeface="Arial" panose="020B0604020202020204" pitchFamily="34" charset="0"/>
              <a:buChar char="•"/>
            </a:pPr>
            <a:r>
              <a:rPr lang="en-US" sz="1500" b="0" i="0" dirty="0" err="1">
                <a:effectLst/>
                <a:latin typeface="+mn-lt"/>
              </a:rPr>
              <a:t>It becomes a Hull &amp; Machinery claim only when the engine is actually damaged.</a:t>
            </a:r>
          </a:p>
          <a:p>
            <a:pPr marL="342900" lvl="0" indent="-342900" fontAlgn="t">
              <a:lnSpc>
                <a:spcPct val="100000"/>
              </a:lnSpc>
              <a:buFont typeface="Arial" panose="020B0604020202020204" pitchFamily="34" charset="0"/>
              <a:buChar char="•"/>
            </a:pPr>
            <a:r>
              <a:rPr lang="en-US" sz="1500" b="0" i="0" dirty="0" err="1">
                <a:effectLst/>
                <a:latin typeface="+mn-lt"/>
              </a:rPr>
              <a:t>Among the serious casualties Gard handled in 2026, none was confirmed to be caused directly by bad fuel.</a:t>
            </a:r>
          </a:p>
          <a:p>
            <a:pPr marL="342900" lvl="0" indent="-342900" fontAlgn="t">
              <a:lnSpc>
                <a:spcPct val="100000"/>
              </a:lnSpc>
              <a:buFont typeface="Arial" panose="020B0604020202020204" pitchFamily="34" charset="0"/>
              <a:buChar char="•"/>
            </a:pPr>
            <a:r>
              <a:rPr lang="en-US" sz="1500" b="0" i="0" dirty="0" err="1">
                <a:effectLst/>
                <a:latin typeface="+mn-lt"/>
              </a:rPr>
              <a:t>But several ships did lose the ability to move. In coastal or busy waters that is a serious safety risk.</a:t>
            </a:r>
          </a:p>
        </p:txBody>
      </p:sp>
      <p:sp>
        <p:nvSpPr>
          <p:cNvPr id="7" name="TextBox 6">
            <a:extLst>
              <a:ext uri="{FF2B5EF4-FFF2-40B4-BE49-F238E27FC236}">
                <a16:creationId xmlns:a16="http://schemas.microsoft.com/office/drawing/2014/main" id="{D96964AF-047D-354A-3119-352FEA4CC98C}"/>
              </a:ext>
            </a:extLst>
          </p:cNvPr>
          <p:cNvSpPr txBox="1"/>
          <p:nvPr/>
        </p:nvSpPr>
        <p:spPr>
          <a:xfrm>
            <a:off x="282203" y="1170432"/>
            <a:ext cx="6101254" cy="369332"/>
          </a:xfrm>
          <a:prstGeom prst="rect">
            <a:avLst/>
          </a:prstGeom>
          <a:noFill/>
        </p:spPr>
        <p:txBody>
          <a:bodyPr wrap="square">
            <a:spAutoFit/>
          </a:bodyPr>
          <a:lstStyle/>
          <a:p>
            <a:r>
              <a:rPr lang="en-US" dirty="0"/>
              <a:t>Claims by insurance cover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Rectangle 404"/>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405" name="TextBox 406"/>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dirty="0">
                <a:solidFill>
                  <a:srgbClr val="FFFFFF"/>
                </a:solidFill>
                <a:latin typeface="Calibri"/>
                <a:ea typeface="맑은 고딕"/>
                <a:cs typeface="Calibri"/>
              </a:rPr>
              <a:t>The Limits of ISO 8217, and Clause 5</a:t>
            </a:r>
          </a:p>
        </p:txBody>
      </p:sp>
      <p:sp>
        <p:nvSpPr>
          <p:cNvPr id="407" name="Rectangle 408"/>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409" name="TextBox 410"/>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dirty="0" err="1">
                <a:solidFill>
                  <a:srgbClr val="333333"/>
                </a:solidFill>
                <a:latin typeface="Calibri"/>
                <a:ea typeface="맑은 고딕"/>
                <a:cs typeface="Calibri"/>
              </a:rPr>
              <a:t>Claims split two ways</a:t>
            </a:r>
            <a:endParaRPr sz="1200" b="1" dirty="0">
              <a:solidFill>
                <a:srgbClr val="333333"/>
              </a:solidFill>
              <a:latin typeface="Calibri"/>
              <a:ea typeface="맑은 고딕"/>
              <a:cs typeface="Calibri"/>
            </a:endParaRPr>
          </a:p>
        </p:txBody>
      </p:sp>
      <p:sp>
        <p:nvSpPr>
          <p:cNvPr id="411" name="Rectangle 412"/>
          <p:cNvSpPr/>
          <p:nvPr/>
        </p:nvSpPr>
        <p:spPr>
          <a:xfrm>
            <a:off x="502920" y="1783080"/>
            <a:ext cx="1234440" cy="402336"/>
          </a:xfrm>
          <a:prstGeom prst="rect">
            <a:avLst/>
          </a:prstGeom>
          <a:solidFill>
            <a:srgbClr val="172A4A"/>
          </a:solidFill>
          <a:ln>
            <a:noFill/>
          </a:ln>
          <a:effectLst/>
        </p:spPr>
        <p:txBody>
          <a:bodyPr rtlCol="0" anchor="ctr"/>
          <a:lstStyle/>
          <a:p>
            <a:pPr algn="ctr"/>
            <a:endParaRPr/>
          </a:p>
        </p:txBody>
      </p:sp>
      <p:sp>
        <p:nvSpPr>
          <p:cNvPr id="413" name="TextBox 414"/>
          <p:cNvSpPr txBox="1"/>
          <p:nvPr/>
        </p:nvSpPr>
        <p:spPr>
          <a:xfrm>
            <a:off x="576072" y="1783080"/>
            <a:ext cx="108813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Share</a:t>
            </a:r>
          </a:p>
        </p:txBody>
      </p:sp>
      <p:sp>
        <p:nvSpPr>
          <p:cNvPr id="415" name="Rectangle 416"/>
          <p:cNvSpPr/>
          <p:nvPr/>
        </p:nvSpPr>
        <p:spPr>
          <a:xfrm>
            <a:off x="1737360" y="1783080"/>
            <a:ext cx="4206240" cy="402336"/>
          </a:xfrm>
          <a:prstGeom prst="rect">
            <a:avLst/>
          </a:prstGeom>
          <a:solidFill>
            <a:srgbClr val="172A4A"/>
          </a:solidFill>
          <a:ln>
            <a:noFill/>
          </a:ln>
          <a:effectLst/>
        </p:spPr>
        <p:txBody>
          <a:bodyPr rtlCol="0" anchor="ctr"/>
          <a:lstStyle/>
          <a:p>
            <a:pPr algn="ctr"/>
            <a:endParaRPr/>
          </a:p>
        </p:txBody>
      </p:sp>
      <p:sp>
        <p:nvSpPr>
          <p:cNvPr id="417" name="TextBox 418"/>
          <p:cNvSpPr txBox="1"/>
          <p:nvPr/>
        </p:nvSpPr>
        <p:spPr>
          <a:xfrm>
            <a:off x="1810512" y="1783080"/>
            <a:ext cx="405993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Type</a:t>
            </a:r>
          </a:p>
        </p:txBody>
      </p:sp>
      <p:sp>
        <p:nvSpPr>
          <p:cNvPr id="419" name="Rectangle 420"/>
          <p:cNvSpPr/>
          <p:nvPr/>
        </p:nvSpPr>
        <p:spPr>
          <a:xfrm>
            <a:off x="502920" y="2185416"/>
            <a:ext cx="1234440" cy="868680"/>
          </a:xfrm>
          <a:prstGeom prst="rect">
            <a:avLst/>
          </a:prstGeom>
          <a:solidFill>
            <a:srgbClr val="FFFFFF"/>
          </a:solidFill>
          <a:ln w="9525">
            <a:solidFill>
              <a:srgbClr val="D0D4DA"/>
            </a:solidFill>
          </a:ln>
          <a:effectLst/>
        </p:spPr>
        <p:txBody>
          <a:bodyPr rtlCol="0" anchor="ctr"/>
          <a:lstStyle/>
          <a:p>
            <a:pPr algn="ctr"/>
            <a:endParaRPr/>
          </a:p>
        </p:txBody>
      </p:sp>
      <p:sp>
        <p:nvSpPr>
          <p:cNvPr id="421" name="TextBox 422"/>
          <p:cNvSpPr txBox="1"/>
          <p:nvPr/>
        </p:nvSpPr>
        <p:spPr>
          <a:xfrm>
            <a:off x="576072" y="2185416"/>
            <a:ext cx="1088136" cy="86868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60%</a:t>
            </a:r>
          </a:p>
        </p:txBody>
      </p:sp>
      <p:sp>
        <p:nvSpPr>
          <p:cNvPr id="423" name="Rectangle 424"/>
          <p:cNvSpPr/>
          <p:nvPr/>
        </p:nvSpPr>
        <p:spPr>
          <a:xfrm>
            <a:off x="1737360" y="2185416"/>
            <a:ext cx="4206240" cy="868680"/>
          </a:xfrm>
          <a:prstGeom prst="rect">
            <a:avLst/>
          </a:prstGeom>
          <a:solidFill>
            <a:srgbClr val="FFFFFF"/>
          </a:solidFill>
          <a:ln w="9525">
            <a:solidFill>
              <a:srgbClr val="D0D4DA"/>
            </a:solidFill>
          </a:ln>
          <a:effectLst/>
        </p:spPr>
        <p:txBody>
          <a:bodyPr rtlCol="0" anchor="ctr"/>
          <a:lstStyle/>
          <a:p>
            <a:pPr algn="ctr"/>
            <a:endParaRPr/>
          </a:p>
        </p:txBody>
      </p:sp>
      <p:sp>
        <p:nvSpPr>
          <p:cNvPr id="425" name="TextBox 426"/>
          <p:cNvSpPr txBox="1"/>
          <p:nvPr/>
        </p:nvSpPr>
        <p:spPr>
          <a:xfrm>
            <a:off x="1810512" y="2185416"/>
            <a:ext cx="4059936" cy="868680"/>
          </a:xfrm>
          <a:prstGeom prst="rect">
            <a:avLst/>
          </a:prstGeom>
          <a:noFill/>
        </p:spPr>
        <p:txBody>
          <a:bodyPr wrap="square" lIns="36576" tIns="0" rIns="36576" bIns="0" anchor="ctr"/>
          <a:lstStyle/>
          <a:p>
            <a:pPr algn="l">
              <a:lnSpc>
                <a:spcPct val="110000"/>
              </a:lnSpc>
              <a:spcAft>
                <a:spcPts val="0"/>
              </a:spcAft>
            </a:pPr>
            <a:r>
              <a:rPr sz="1200" b="0" dirty="0">
                <a:solidFill>
                  <a:srgbClr val="1A1A1A"/>
                </a:solidFill>
                <a:latin typeface="Calibri"/>
                <a:ea typeface="맑은 고딕"/>
                <a:cs typeface="Calibri"/>
              </a:rPr>
              <a:t>A Table 2 parameter is itself off-spec (TSP, cat fines). In many of these, other harmful substances were suspected as well.</a:t>
            </a:r>
            <a:endParaRPr sz="1200" b="0" dirty="0">
              <a:solidFill>
                <a:srgbClr val="1A1A1A"/>
              </a:solidFill>
              <a:latin typeface="Calibri"/>
              <a:ea typeface="맑은 고딕"/>
              <a:cs typeface="Calibri"/>
            </a:endParaRPr>
          </a:p>
        </p:txBody>
      </p:sp>
      <p:sp>
        <p:nvSpPr>
          <p:cNvPr id="427" name="Rectangle 428"/>
          <p:cNvSpPr/>
          <p:nvPr/>
        </p:nvSpPr>
        <p:spPr>
          <a:xfrm>
            <a:off x="502920" y="3054096"/>
            <a:ext cx="1234440" cy="658368"/>
          </a:xfrm>
          <a:prstGeom prst="rect">
            <a:avLst/>
          </a:prstGeom>
          <a:solidFill>
            <a:srgbClr val="FFFFFF"/>
          </a:solidFill>
          <a:ln w="9525">
            <a:solidFill>
              <a:srgbClr val="D0D4DA"/>
            </a:solidFill>
          </a:ln>
          <a:effectLst/>
        </p:spPr>
        <p:txBody>
          <a:bodyPr rtlCol="0" anchor="ctr"/>
          <a:lstStyle/>
          <a:p>
            <a:pPr algn="ctr"/>
            <a:endParaRPr/>
          </a:p>
        </p:txBody>
      </p:sp>
      <p:sp>
        <p:nvSpPr>
          <p:cNvPr id="429" name="TextBox 430"/>
          <p:cNvSpPr txBox="1"/>
          <p:nvPr/>
        </p:nvSpPr>
        <p:spPr>
          <a:xfrm>
            <a:off x="576072" y="3054096"/>
            <a:ext cx="1088136" cy="658368"/>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40%</a:t>
            </a:r>
          </a:p>
        </p:txBody>
      </p:sp>
      <p:sp>
        <p:nvSpPr>
          <p:cNvPr id="431" name="Rectangle 432"/>
          <p:cNvSpPr/>
          <p:nvPr/>
        </p:nvSpPr>
        <p:spPr>
          <a:xfrm>
            <a:off x="1737360" y="3054096"/>
            <a:ext cx="4206240" cy="658368"/>
          </a:xfrm>
          <a:prstGeom prst="rect">
            <a:avLst/>
          </a:prstGeom>
          <a:solidFill>
            <a:srgbClr val="FFFFFF"/>
          </a:solidFill>
          <a:ln w="9525">
            <a:solidFill>
              <a:srgbClr val="D0D4DA"/>
            </a:solidFill>
          </a:ln>
          <a:effectLst/>
        </p:spPr>
        <p:txBody>
          <a:bodyPr rtlCol="0" anchor="ctr"/>
          <a:lstStyle/>
          <a:p>
            <a:pPr algn="ctr"/>
            <a:endParaRPr/>
          </a:p>
        </p:txBody>
      </p:sp>
      <p:sp>
        <p:nvSpPr>
          <p:cNvPr id="433" name="TextBox 434"/>
          <p:cNvSpPr txBox="1"/>
          <p:nvPr/>
        </p:nvSpPr>
        <p:spPr>
          <a:xfrm>
            <a:off x="1810512" y="3054096"/>
            <a:ext cx="4059936" cy="658368"/>
          </a:xfrm>
          <a:prstGeom prst="rect">
            <a:avLst/>
          </a:prstGeom>
          <a:noFill/>
        </p:spPr>
        <p:txBody>
          <a:bodyPr wrap="square" lIns="36576" tIns="0" rIns="36576" bIns="0" anchor="ctr"/>
          <a:lstStyle/>
          <a:p>
            <a:pPr algn="l">
              <a:lnSpc>
                <a:spcPct val="110000"/>
              </a:lnSpc>
              <a:spcAft>
                <a:spcPts val="0"/>
              </a:spcAft>
            </a:pPr>
            <a:r>
              <a:rPr sz="1200" b="0" dirty="0">
                <a:solidFill>
                  <a:srgbClr val="1A1A1A"/>
                </a:solidFill>
                <a:latin typeface="Calibri"/>
                <a:ea typeface="맑은 고딕"/>
                <a:cs typeface="Calibri"/>
              </a:rPr>
              <a:t>Table 2 passed in full, but other problem substances were alleged.</a:t>
            </a:r>
            <a:endParaRPr sz="1200" b="0" dirty="0">
              <a:solidFill>
                <a:srgbClr val="1A1A1A"/>
              </a:solidFill>
              <a:latin typeface="Calibri"/>
              <a:ea typeface="맑은 고딕"/>
              <a:cs typeface="Calibri"/>
            </a:endParaRPr>
          </a:p>
        </p:txBody>
      </p:sp>
      <p:sp>
        <p:nvSpPr>
          <p:cNvPr id="441" name="Rectangle 442"/>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443" name="TextBox 444"/>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Clause 5 — what you have to prove</a:t>
            </a:r>
          </a:p>
        </p:txBody>
      </p:sp>
      <p:sp>
        <p:nvSpPr>
          <p:cNvPr id="445" name="Rectangle 446"/>
          <p:cNvSpPr/>
          <p:nvPr/>
        </p:nvSpPr>
        <p:spPr>
          <a:xfrm>
            <a:off x="6245352" y="1783080"/>
            <a:ext cx="566928" cy="621792"/>
          </a:xfrm>
          <a:prstGeom prst="rect">
            <a:avLst/>
          </a:prstGeom>
          <a:solidFill>
            <a:srgbClr val="FFFFFF"/>
          </a:solidFill>
          <a:ln w="9525">
            <a:solidFill>
              <a:srgbClr val="D0D4DA"/>
            </a:solidFill>
          </a:ln>
          <a:effectLst/>
        </p:spPr>
        <p:txBody>
          <a:bodyPr rtlCol="0" anchor="ctr"/>
          <a:lstStyle/>
          <a:p>
            <a:pPr algn="ctr"/>
            <a:endParaRPr/>
          </a:p>
        </p:txBody>
      </p:sp>
      <p:sp>
        <p:nvSpPr>
          <p:cNvPr id="447" name="TextBox 448"/>
          <p:cNvSpPr txBox="1"/>
          <p:nvPr/>
        </p:nvSpPr>
        <p:spPr>
          <a:xfrm>
            <a:off x="6318504" y="1783080"/>
            <a:ext cx="420624" cy="621792"/>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1</a:t>
            </a:r>
          </a:p>
        </p:txBody>
      </p:sp>
      <p:sp>
        <p:nvSpPr>
          <p:cNvPr id="449" name="Rectangle 450"/>
          <p:cNvSpPr/>
          <p:nvPr/>
        </p:nvSpPr>
        <p:spPr>
          <a:xfrm>
            <a:off x="6812280" y="1783080"/>
            <a:ext cx="4873752" cy="621792"/>
          </a:xfrm>
          <a:prstGeom prst="rect">
            <a:avLst/>
          </a:prstGeom>
          <a:solidFill>
            <a:srgbClr val="FFFFFF"/>
          </a:solidFill>
          <a:ln w="9525">
            <a:solidFill>
              <a:srgbClr val="D0D4DA"/>
            </a:solidFill>
          </a:ln>
          <a:effectLst/>
        </p:spPr>
        <p:txBody>
          <a:bodyPr rtlCol="0" anchor="ctr"/>
          <a:lstStyle/>
          <a:p>
            <a:pPr algn="ctr"/>
            <a:endParaRPr/>
          </a:p>
        </p:txBody>
      </p:sp>
      <p:sp>
        <p:nvSpPr>
          <p:cNvPr id="451" name="TextBox 452"/>
          <p:cNvSpPr txBox="1"/>
          <p:nvPr/>
        </p:nvSpPr>
        <p:spPr>
          <a:xfrm>
            <a:off x="6885432" y="1783080"/>
            <a:ext cx="4727448" cy="621792"/>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Show the harmful substance is there — standard tests are not enough, so GC-MS or similar analysis is needed.</a:t>
            </a:r>
          </a:p>
        </p:txBody>
      </p:sp>
      <p:sp>
        <p:nvSpPr>
          <p:cNvPr id="453" name="Rectangle 454"/>
          <p:cNvSpPr/>
          <p:nvPr/>
        </p:nvSpPr>
        <p:spPr>
          <a:xfrm>
            <a:off x="6245352" y="2404872"/>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455" name="TextBox 456"/>
          <p:cNvSpPr txBox="1"/>
          <p:nvPr/>
        </p:nvSpPr>
        <p:spPr>
          <a:xfrm>
            <a:off x="6318504" y="2404872"/>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2</a:t>
            </a:r>
          </a:p>
        </p:txBody>
      </p:sp>
      <p:sp>
        <p:nvSpPr>
          <p:cNvPr id="457" name="Rectangle 458"/>
          <p:cNvSpPr/>
          <p:nvPr/>
        </p:nvSpPr>
        <p:spPr>
          <a:xfrm>
            <a:off x="6812280" y="2404872"/>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459" name="TextBox 460"/>
          <p:cNvSpPr txBox="1"/>
          <p:nvPr/>
        </p:nvSpPr>
        <p:spPr>
          <a:xfrm>
            <a:off x="6885432" y="2404872"/>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Show that the substance actually harmed the machinery or safety.</a:t>
            </a:r>
          </a:p>
        </p:txBody>
      </p:sp>
      <p:sp>
        <p:nvSpPr>
          <p:cNvPr id="461" name="Rectangle 462"/>
          <p:cNvSpPr/>
          <p:nvPr/>
        </p:nvSpPr>
        <p:spPr>
          <a:xfrm>
            <a:off x="6245352" y="2907792"/>
            <a:ext cx="566928" cy="502920"/>
          </a:xfrm>
          <a:prstGeom prst="rect">
            <a:avLst/>
          </a:prstGeom>
          <a:solidFill>
            <a:srgbClr val="FFFFFF"/>
          </a:solidFill>
          <a:ln w="9525">
            <a:solidFill>
              <a:srgbClr val="D0D4DA"/>
            </a:solidFill>
          </a:ln>
          <a:effectLst/>
        </p:spPr>
        <p:txBody>
          <a:bodyPr rtlCol="0" anchor="ctr"/>
          <a:lstStyle/>
          <a:p>
            <a:pPr algn="ctr"/>
            <a:endParaRPr/>
          </a:p>
        </p:txBody>
      </p:sp>
      <p:sp>
        <p:nvSpPr>
          <p:cNvPr id="463" name="TextBox 464"/>
          <p:cNvSpPr txBox="1"/>
          <p:nvPr/>
        </p:nvSpPr>
        <p:spPr>
          <a:xfrm>
            <a:off x="6318504" y="2907792"/>
            <a:ext cx="420624" cy="502920"/>
          </a:xfrm>
          <a:prstGeom prst="rect">
            <a:avLst/>
          </a:prstGeom>
          <a:noFill/>
        </p:spPr>
        <p:txBody>
          <a:bodyPr wrap="square" lIns="36576" tIns="0" rIns="36576" bIns="0" anchor="ctr"/>
          <a:lstStyle/>
          <a:p>
            <a:pPr algn="l">
              <a:lnSpc>
                <a:spcPct val="110000"/>
              </a:lnSpc>
              <a:spcAft>
                <a:spcPts val="0"/>
              </a:spcAft>
            </a:pPr>
            <a:r>
              <a:rPr sz="1200" b="1">
                <a:solidFill>
                  <a:srgbClr val="172A4A"/>
                </a:solidFill>
                <a:latin typeface="Calibri"/>
                <a:ea typeface="맑은 고딕"/>
                <a:cs typeface="Calibri"/>
              </a:rPr>
              <a:t>3</a:t>
            </a:r>
          </a:p>
        </p:txBody>
      </p:sp>
      <p:sp>
        <p:nvSpPr>
          <p:cNvPr id="465" name="Rectangle 466"/>
          <p:cNvSpPr/>
          <p:nvPr/>
        </p:nvSpPr>
        <p:spPr>
          <a:xfrm>
            <a:off x="6812280" y="2907792"/>
            <a:ext cx="4873752" cy="502920"/>
          </a:xfrm>
          <a:prstGeom prst="rect">
            <a:avLst/>
          </a:prstGeom>
          <a:solidFill>
            <a:srgbClr val="FFFFFF"/>
          </a:solidFill>
          <a:ln w="9525">
            <a:solidFill>
              <a:srgbClr val="D0D4DA"/>
            </a:solidFill>
          </a:ln>
          <a:effectLst/>
        </p:spPr>
        <p:txBody>
          <a:bodyPr rtlCol="0" anchor="ctr"/>
          <a:lstStyle/>
          <a:p>
            <a:pPr algn="ctr"/>
            <a:endParaRPr/>
          </a:p>
        </p:txBody>
      </p:sp>
      <p:sp>
        <p:nvSpPr>
          <p:cNvPr id="467" name="TextBox 468"/>
          <p:cNvSpPr txBox="1"/>
          <p:nvPr/>
        </p:nvSpPr>
        <p:spPr>
          <a:xfrm>
            <a:off x="6885432" y="2907792"/>
            <a:ext cx="4727448" cy="502920"/>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So the key is causation, not simply detection.</a:t>
            </a:r>
          </a:p>
        </p:txBody>
      </p:sp>
      <p:sp>
        <p:nvSpPr>
          <p:cNvPr id="469" name="TextBox 470"/>
          <p:cNvSpPr txBox="1"/>
          <p:nvPr/>
        </p:nvSpPr>
        <p:spPr>
          <a:xfrm>
            <a:off x="6245352" y="3474720"/>
            <a:ext cx="5440680" cy="146304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ISO 8217:2024 Annex B states that where a factual cause-and-effect link between a chemical and an operational problem can be established, the fuel is treated as not meeting the standard.</a:t>
            </a:r>
          </a:p>
          <a:p>
            <a:pPr algn="l">
              <a:lnSpc>
                <a:spcPct val="125000"/>
              </a:lnSpc>
              <a:spcAft>
                <a:spcPts val="700"/>
              </a:spcAft>
            </a:pPr>
            <a:r>
              <a:rPr sz="1200" b="0">
                <a:solidFill>
                  <a:srgbClr val="1A1A1A"/>
                </a:solidFill>
                <a:latin typeface="Calibri"/>
                <a:ea typeface="맑은 고딕"/>
                <a:cs typeface="Calibri"/>
              </a:rPr>
              <a:t>Trial consumption or fuel treatment can also prove it in practice, but it carries operational risk and needs careful records.</a:t>
            </a:r>
          </a:p>
        </p:txBody>
      </p:sp>
      <p:sp>
        <p:nvSpPr>
          <p:cNvPr id="471" name="Rectangle 472"/>
          <p:cNvSpPr/>
          <p:nvPr/>
        </p:nvSpPr>
        <p:spPr>
          <a:xfrm>
            <a:off x="6245352" y="5029200"/>
            <a:ext cx="5440680" cy="640080"/>
          </a:xfrm>
          <a:prstGeom prst="rect">
            <a:avLst/>
          </a:prstGeom>
          <a:solidFill>
            <a:srgbClr val="EFEFEF"/>
          </a:solidFill>
          <a:ln>
            <a:noFill/>
          </a:ln>
          <a:effectLst/>
        </p:spPr>
        <p:txBody>
          <a:bodyPr rtlCol="0" anchor="ctr"/>
          <a:lstStyle/>
          <a:p>
            <a:pPr algn="ctr"/>
            <a:endParaRPr/>
          </a:p>
        </p:txBody>
      </p:sp>
      <p:sp>
        <p:nvSpPr>
          <p:cNvPr id="473" name="TextBox 474"/>
          <p:cNvSpPr txBox="1"/>
          <p:nvPr/>
        </p:nvSpPr>
        <p:spPr>
          <a:xfrm>
            <a:off x="6428232" y="5029200"/>
            <a:ext cx="5074920" cy="640080"/>
          </a:xfrm>
          <a:prstGeom prst="rect">
            <a:avLst/>
          </a:prstGeom>
          <a:noFill/>
        </p:spPr>
        <p:txBody>
          <a:bodyPr wrap="square" lIns="36576" tIns="0" rIns="36576" bIns="0" anchor="ctr"/>
          <a:lstStyle/>
          <a:p>
            <a:pPr algn="l">
              <a:lnSpc>
                <a:spcPct val="125000"/>
              </a:lnSpc>
              <a:spcAft>
                <a:spcPts val="0"/>
              </a:spcAft>
            </a:pPr>
            <a:r>
              <a:rPr sz="1400" b="1">
                <a:solidFill>
                  <a:srgbClr val="172A4A"/>
                </a:solidFill>
                <a:latin typeface="Calibri"/>
                <a:ea typeface="맑은 고딕"/>
                <a:cs typeface="Calibri"/>
              </a:rPr>
              <a:t>Passing Table 2 is a starting point, not proof that the fuel is fit for use.</a:t>
            </a:r>
          </a:p>
        </p:txBody>
      </p:sp>
      <p:pic>
        <p:nvPicPr>
          <p:cNvPr id="3" name="그림 2">
            <a:extLst>
              <a:ext uri="{FF2B5EF4-FFF2-40B4-BE49-F238E27FC236}">
                <a16:creationId xmlns:a16="http://schemas.microsoft.com/office/drawing/2014/main" id="{80197B54-E1AA-1B94-1E8A-D859B30E4CAD}"/>
              </a:ext>
            </a:extLst>
          </p:cNvPr>
          <p:cNvPicPr>
            <a:picLocks noChangeAspect="1"/>
          </p:cNvPicPr>
          <p:nvPr/>
        </p:nvPicPr>
        <p:blipFill>
          <a:blip r:embed="rId2"/>
          <a:stretch>
            <a:fillRect/>
          </a:stretch>
        </p:blipFill>
        <p:spPr>
          <a:xfrm>
            <a:off x="502920" y="4206240"/>
            <a:ext cx="4964561" cy="192867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2035E-5651-C646-AFBD-566BEC6BF420}"/>
            </a:ext>
          </a:extLst>
        </p:cNvPr>
        <p:cNvGrpSpPr/>
        <p:nvPr/>
      </p:nvGrpSpPr>
      <p:grpSpPr>
        <a:xfrm>
          <a:off x="0" y="0"/>
          <a:ext cx="0" cy="0"/>
          <a:chOff x="0" y="0"/>
          <a:chExt cx="0" cy="0"/>
        </a:xfrm>
      </p:grpSpPr>
      <p:sp>
        <p:nvSpPr>
          <p:cNvPr id="403" name="Rectangle 404">
            <a:extLst>
              <a:ext uri="{FF2B5EF4-FFF2-40B4-BE49-F238E27FC236}">
                <a16:creationId xmlns:a16="http://schemas.microsoft.com/office/drawing/2014/main" id="{ADE87818-EB76-DDF9-8A29-E68004F0ED50}"/>
              </a:ext>
            </a:extLst>
          </p:cNvPr>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405" name="TextBox 406">
            <a:extLst>
              <a:ext uri="{FF2B5EF4-FFF2-40B4-BE49-F238E27FC236}">
                <a16:creationId xmlns:a16="http://schemas.microsoft.com/office/drawing/2014/main" id="{F84395B4-2410-6D49-3A33-C5FE9DE09B84}"/>
              </a:ext>
            </a:extLst>
          </p:cNvPr>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dirty="0">
                <a:solidFill>
                  <a:srgbClr val="FFFFFF"/>
                </a:solidFill>
                <a:latin typeface="Calibri"/>
                <a:ea typeface="맑은 고딕"/>
                <a:cs typeface="Calibri"/>
              </a:rPr>
              <a:t>Fuel Types and Off-Spec Rates</a:t>
            </a:r>
          </a:p>
        </p:txBody>
      </p:sp>
      <p:sp>
        <p:nvSpPr>
          <p:cNvPr id="4" name="TextBox 3">
            <a:extLst>
              <a:ext uri="{FF2B5EF4-FFF2-40B4-BE49-F238E27FC236}">
                <a16:creationId xmlns:a16="http://schemas.microsoft.com/office/drawing/2014/main" id="{4B1FC2D2-6085-99B2-82C8-7633829AF3FE}"/>
              </a:ext>
            </a:extLst>
          </p:cNvPr>
          <p:cNvSpPr txBox="1"/>
          <p:nvPr/>
        </p:nvSpPr>
        <p:spPr>
          <a:xfrm>
            <a:off x="69367" y="1113178"/>
            <a:ext cx="11255125" cy="5078313"/>
          </a:xfrm>
          <a:prstGeom prst="rect">
            <a:avLst/>
          </a:prstGeom>
          <a:noFill/>
        </p:spPr>
        <p:txBody>
          <a:bodyPr wrap="square">
            <a:spAutoFit/>
          </a:bodyPr>
          <a:lstStyle/>
          <a:p>
            <a:pPr fontAlgn="t">
              <a:lnSpc>
                <a:spcPct val="100000"/>
              </a:lnSpc>
              <a:buNone/>
            </a:pPr>
            <a:r>
              <a:rPr lang="en-US" sz="1200" b="1" i="0" dirty="0" err="1">
                <a:effectLst/>
                <a:latin typeface="+mn-lt"/>
              </a:rPr>
              <a:t>Which fuel types the claims came from</a:t>
            </a:r>
            <a:endParaRPr lang="en-US" sz="1200" b="1" i="0" dirty="0">
              <a:effectLst/>
              <a:latin typeface="+mn-lt"/>
            </a:endParaRPr>
          </a:p>
          <a:p>
            <a:pPr fontAlgn="t">
              <a:lnSpc>
                <a:spcPct val="100000"/>
              </a:lnSpc>
              <a:buNone/>
            </a:pPr>
            <a:r>
              <a:rPr lang="en-US" sz="1200" b="0" i="0" dirty="0" err="1">
                <a:effectLst/>
                <a:latin typeface="+mn-lt"/>
              </a:rPr>
              <a:t>More than 85% of the bunker claims in the first five months of 2026 involved VLSFO. Cases involving LSMGO and HSFO were far fewer.</a:t>
            </a:r>
            <a:endParaRPr lang="en-US" sz="1200" b="1" i="0" dirty="0">
              <a:effectLst/>
              <a:latin typeface="+mn-lt"/>
            </a:endParaRPr>
          </a:p>
          <a:p>
            <a:pPr fontAlgn="t">
              <a:lnSpc>
                <a:spcPct val="100000"/>
              </a:lnSpc>
              <a:buNone/>
            </a:pPr>
            <a:r>
              <a:rPr lang="en-US" sz="1200" b="0" i="0" dirty="0" err="1">
                <a:effectLst/>
                <a:latin typeface="+mn-lt"/>
              </a:rPr>
              <a:t>That follows the market. Since the global sulphur cap came in during 2020, VLSFO has been the main marine fuel.</a:t>
            </a:r>
            <a:endParaRPr lang="en-US" sz="1200" b="1" i="0" dirty="0">
              <a:effectLst/>
              <a:latin typeface="+mn-lt"/>
            </a:endParaRPr>
          </a:p>
          <a:p>
            <a:pPr fontAlgn="t">
              <a:lnSpc>
                <a:spcPct val="100000"/>
              </a:lnSpc>
              <a:buNone/>
            </a:pPr>
            <a:r>
              <a:rPr lang="en-US" sz="1200" b="0" i="0" dirty="0" err="1">
                <a:effectLst/>
                <a:latin typeface="+mn-lt"/>
              </a:rPr>
              <a:t>There is a technical reason too. VLSFO is usually a blend of several components, so its composition varies a lot and unexpected chemical contaminants are more likely.</a:t>
            </a:r>
            <a:endParaRPr lang="en-US" sz="1200" b="1" i="0" dirty="0">
              <a:effectLst/>
              <a:latin typeface="+mn-lt"/>
            </a:endParaRPr>
          </a:p>
          <a:p>
            <a:pPr fontAlgn="t">
              <a:lnSpc>
                <a:spcPct val="100000"/>
              </a:lnSpc>
              <a:buNone/>
            </a:pPr>
            <a:r>
              <a:rPr lang="en-US" sz="1200" b="0" i="0" dirty="0" err="1">
                <a:effectLst/>
                <a:latin typeface="+mn-lt"/>
              </a:rPr>
              <a:t>Quality disputes can happen with any grade, but VLSFO carries the largest quality risk in the market today.</a:t>
            </a:r>
            <a:endParaRPr lang="en-US" sz="1200" b="1" i="0" dirty="0">
              <a:effectLst/>
              <a:latin typeface="+mn-lt"/>
            </a:endParaRPr>
          </a:p>
          <a:p>
            <a:pPr fontAlgn="t">
              <a:lnSpc>
                <a:spcPct val="100000"/>
              </a:lnSpc>
              <a:buNone/>
            </a:pPr>
            <a:endParaRPr lang="en-US" sz="1200" b="1" i="0" dirty="0">
              <a:effectLst/>
              <a:latin typeface="+mn-lt"/>
            </a:endParaRPr>
          </a:p>
          <a:p>
            <a:pPr fontAlgn="t">
              <a:lnSpc>
                <a:spcPct val="100000"/>
              </a:lnSpc>
              <a:buNone/>
            </a:pPr>
            <a:r>
              <a:rPr lang="en-US" sz="1200" b="1" i="0" dirty="0" err="1">
                <a:effectLst/>
                <a:latin typeface="+mn-lt"/>
              </a:rPr>
              <a:t>VPS off-spec data (Jan–May 2026)</a:t>
            </a:r>
            <a:endParaRPr lang="en-US" sz="1200" b="1" i="0" dirty="0">
              <a:effectLst/>
              <a:latin typeface="+mn-lt"/>
            </a:endParaRPr>
          </a:p>
          <a:p>
            <a:pPr fontAlgn="t">
              <a:lnSpc>
                <a:spcPct val="100000"/>
              </a:lnSpc>
              <a:buNone/>
            </a:pPr>
            <a:r>
              <a:rPr lang="en-US" sz="1200" b="0" i="0" dirty="0" err="1">
                <a:effectLst/>
                <a:latin typeface="+mn-lt"/>
              </a:rPr>
              <a:t>Worldwide, 8.8% of fuels failed at least one test parameter.</a:t>
            </a:r>
            <a:endParaRPr lang="en-US" sz="1200" b="1" i="0" dirty="0">
              <a:effectLst/>
              <a:latin typeface="+mn-lt"/>
            </a:endParaRPr>
          </a:p>
          <a:p>
            <a:pPr fontAlgn="t">
              <a:lnSpc>
                <a:spcPct val="100000"/>
              </a:lnSpc>
              <a:buNone/>
            </a:pPr>
            <a:r>
              <a:rPr lang="en-US" sz="1200" b="0" i="0" dirty="0" err="1">
                <a:effectLst/>
                <a:latin typeface="+mn-lt"/>
              </a:rPr>
              <a:t>By fuel type — VLSFO 8.7% · HSFO 8.5% · Distillates 8.8% · ULSFO 28.8% · Biofuel 0.4%</a:t>
            </a:r>
            <a:endParaRPr lang="en-US" sz="1200" b="1" i="0" dirty="0">
              <a:effectLst/>
              <a:latin typeface="+mn-lt"/>
            </a:endParaRPr>
          </a:p>
          <a:p>
            <a:pPr fontAlgn="t">
              <a:lnSpc>
                <a:spcPct val="100000"/>
              </a:lnSpc>
              <a:buNone/>
            </a:pPr>
            <a:r>
              <a:rPr lang="en-US" sz="1200" b="0" i="0" dirty="0" err="1">
                <a:effectLst/>
                <a:latin typeface="+mn-lt"/>
              </a:rPr>
              <a:t>The interesting point: almost all claims come from VLSFO, yet biofuel has the lowest off-spec rate of all.</a:t>
            </a:r>
            <a:endParaRPr lang="en-US" sz="1200" b="1" i="0" dirty="0">
              <a:effectLst/>
              <a:latin typeface="+mn-lt"/>
            </a:endParaRPr>
          </a:p>
          <a:p>
            <a:pPr fontAlgn="t">
              <a:lnSpc>
                <a:spcPct val="100000"/>
              </a:lnSpc>
              <a:buNone/>
            </a:pPr>
            <a:endParaRPr lang="en-US" sz="1200" b="1" i="0" dirty="0">
              <a:effectLst/>
              <a:latin typeface="+mn-lt"/>
            </a:endParaRPr>
          </a:p>
          <a:p>
            <a:pPr fontAlgn="t">
              <a:lnSpc>
                <a:spcPct val="100000"/>
              </a:lnSpc>
              <a:buNone/>
            </a:pPr>
            <a:r>
              <a:rPr lang="en-US" sz="1200" b="1" i="0" dirty="0" err="1">
                <a:effectLst/>
                <a:latin typeface="+mn-lt"/>
              </a:rPr>
              <a:t>ISO 8217 alone cannot judge fuel quality</a:t>
            </a:r>
            <a:endParaRPr lang="en-US" sz="1200" b="1" i="0" dirty="0">
              <a:effectLst/>
              <a:latin typeface="+mn-lt"/>
            </a:endParaRPr>
          </a:p>
          <a:p>
            <a:pPr fontAlgn="t">
              <a:lnSpc>
                <a:spcPct val="100000"/>
              </a:lnSpc>
              <a:buNone/>
            </a:pPr>
            <a:r>
              <a:rPr lang="en-US" sz="1200" b="0" i="0" dirty="0" err="1">
                <a:effectLst/>
                <a:latin typeface="+mn-lt"/>
              </a:rPr>
              <a:t>The ISO standard only shows part of the picture.</a:t>
            </a:r>
            <a:endParaRPr lang="en-US" sz="1200" b="1" i="0" dirty="0">
              <a:effectLst/>
              <a:latin typeface="+mn-lt"/>
            </a:endParaRPr>
          </a:p>
          <a:p>
            <a:pPr fontAlgn="t">
              <a:lnSpc>
                <a:spcPct val="100000"/>
              </a:lnSpc>
              <a:buNone/>
            </a:pPr>
            <a:r>
              <a:rPr lang="en-US" sz="1200" b="0" i="0" dirty="0" err="1">
                <a:effectLst/>
                <a:latin typeface="+mn-lt"/>
              </a:rPr>
              <a:t>Recent cases passed every ISO 8217 test and still caused serious problems on board.</a:t>
            </a:r>
            <a:endParaRPr lang="en-US" sz="1200" b="1" i="0" dirty="0">
              <a:effectLst/>
              <a:latin typeface="+mn-lt"/>
            </a:endParaRPr>
          </a:p>
          <a:p>
            <a:pPr fontAlgn="t">
              <a:lnSpc>
                <a:spcPct val="100000"/>
              </a:lnSpc>
              <a:buNone/>
            </a:pPr>
            <a:r>
              <a:rPr lang="en-US" sz="1200" b="0" i="0" dirty="0" err="1">
                <a:effectLst/>
                <a:latin typeface="+mn-lt"/>
              </a:rPr>
              <a:t>Where fuel has been cut with other blend stock, chemicals that Table 2 does not test for can still affect performance.</a:t>
            </a:r>
            <a:endParaRPr lang="en-US" sz="1200" b="1" i="0" dirty="0">
              <a:effectLst/>
              <a:latin typeface="+mn-lt"/>
            </a:endParaRPr>
          </a:p>
          <a:p>
            <a:pPr fontAlgn="t">
              <a:lnSpc>
                <a:spcPct val="100000"/>
              </a:lnSpc>
              <a:buNone/>
            </a:pPr>
            <a:r>
              <a:rPr lang="en-US" sz="1200" b="0" i="0" dirty="0" err="1">
                <a:effectLst/>
                <a:latin typeface="+mn-lt"/>
              </a:rPr>
              <a:t>Finding those substances needs extra analysis such as GC-MS.</a:t>
            </a:r>
            <a:endParaRPr lang="en-US" sz="1200" b="1" i="0" dirty="0">
              <a:effectLst/>
              <a:latin typeface="+mn-lt"/>
            </a:endParaRPr>
          </a:p>
        </p:txBody>
      </p:sp>
    </p:spTree>
    <p:extLst>
      <p:ext uri="{BB962C8B-B14F-4D97-AF65-F5344CB8AC3E}">
        <p14:creationId xmlns:p14="http://schemas.microsoft.com/office/powerpoint/2010/main" val="2165748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2F584-F2BE-18D8-EEA0-DF0273DAF893}"/>
            </a:ext>
          </a:extLst>
        </p:cNvPr>
        <p:cNvGrpSpPr/>
        <p:nvPr/>
      </p:nvGrpSpPr>
      <p:grpSpPr>
        <a:xfrm>
          <a:off x="0" y="0"/>
          <a:ext cx="0" cy="0"/>
          <a:chOff x="0" y="0"/>
          <a:chExt cx="0" cy="0"/>
        </a:xfrm>
      </p:grpSpPr>
      <p:sp>
        <p:nvSpPr>
          <p:cNvPr id="475" name="Rectangle 476">
            <a:extLst>
              <a:ext uri="{FF2B5EF4-FFF2-40B4-BE49-F238E27FC236}">
                <a16:creationId xmlns:a16="http://schemas.microsoft.com/office/drawing/2014/main" id="{CD8EDBBB-6153-508A-FB39-B8F7A9766EE7}"/>
              </a:ext>
            </a:extLst>
          </p:cNvPr>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477" name="TextBox 478">
            <a:extLst>
              <a:ext uri="{FF2B5EF4-FFF2-40B4-BE49-F238E27FC236}">
                <a16:creationId xmlns:a16="http://schemas.microsoft.com/office/drawing/2014/main" id="{831745BB-1EEF-D1B4-5558-6565C67A00F4}"/>
              </a:ext>
            </a:extLst>
          </p:cNvPr>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What Actually Happened — Three Cases</a:t>
            </a:r>
          </a:p>
        </p:txBody>
      </p:sp>
      <p:sp>
        <p:nvSpPr>
          <p:cNvPr id="479" name="Rectangle 480">
            <a:extLst>
              <a:ext uri="{FF2B5EF4-FFF2-40B4-BE49-F238E27FC236}">
                <a16:creationId xmlns:a16="http://schemas.microsoft.com/office/drawing/2014/main" id="{F67D374D-DCA8-AAB5-4A12-B25DA93EDEC3}"/>
              </a:ext>
            </a:extLst>
          </p:cNvPr>
          <p:cNvSpPr/>
          <p:nvPr/>
        </p:nvSpPr>
        <p:spPr>
          <a:xfrm>
            <a:off x="477696" y="1130388"/>
            <a:ext cx="5440680" cy="329184"/>
          </a:xfrm>
          <a:prstGeom prst="rect">
            <a:avLst/>
          </a:prstGeom>
          <a:solidFill>
            <a:srgbClr val="EFEFEF"/>
          </a:solidFill>
          <a:ln>
            <a:noFill/>
          </a:ln>
          <a:effectLst/>
        </p:spPr>
        <p:txBody>
          <a:bodyPr rtlCol="0" anchor="ctr"/>
          <a:lstStyle/>
          <a:p>
            <a:pPr algn="ctr"/>
            <a:endParaRPr/>
          </a:p>
        </p:txBody>
      </p:sp>
      <p:sp>
        <p:nvSpPr>
          <p:cNvPr id="481" name="TextBox 482">
            <a:extLst>
              <a:ext uri="{FF2B5EF4-FFF2-40B4-BE49-F238E27FC236}">
                <a16:creationId xmlns:a16="http://schemas.microsoft.com/office/drawing/2014/main" id="{75469CF5-2741-144F-1185-6F79A0E40058}"/>
              </a:ext>
            </a:extLst>
          </p:cNvPr>
          <p:cNvSpPr txBox="1"/>
          <p:nvPr/>
        </p:nvSpPr>
        <p:spPr>
          <a:xfrm>
            <a:off x="587424" y="1130388"/>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Case 1 — Antwerp VLSFO (ISO 8217:2005)</a:t>
            </a:r>
          </a:p>
        </p:txBody>
      </p:sp>
      <p:sp>
        <p:nvSpPr>
          <p:cNvPr id="483" name="TextBox 484">
            <a:extLst>
              <a:ext uri="{FF2B5EF4-FFF2-40B4-BE49-F238E27FC236}">
                <a16:creationId xmlns:a16="http://schemas.microsoft.com/office/drawing/2014/main" id="{0B660905-A096-3B39-EC3B-9B4E0878480F}"/>
              </a:ext>
            </a:extLst>
          </p:cNvPr>
          <p:cNvSpPr txBox="1"/>
          <p:nvPr/>
        </p:nvSpPr>
        <p:spPr>
          <a:xfrm>
            <a:off x="502920" y="1538240"/>
            <a:ext cx="5440680" cy="1188720"/>
          </a:xfrm>
          <a:prstGeom prst="rect">
            <a:avLst/>
          </a:prstGeom>
          <a:noFill/>
        </p:spPr>
        <p:txBody>
          <a:bodyPr wrap="square" lIns="36576" tIns="0" rIns="36576" bIns="0" anchor="t"/>
          <a:lstStyle/>
          <a:p>
            <a:pPr fontAlgn="t">
              <a:lnSpc>
                <a:spcPct val="100000"/>
              </a:lnSpc>
              <a:buNone/>
            </a:pPr>
            <a:r>
              <a:rPr lang="en-US" sz="1100" b="1" dirty="0" err="1"/>
              <a:t>Key points (Case 1)</a:t>
            </a:r>
          </a:p>
          <a:p>
            <a:pPr fontAlgn="t">
              <a:lnSpc>
                <a:spcPct val="100000"/>
              </a:lnSpc>
              <a:buNone/>
            </a:pPr>
            <a:r>
              <a:rPr lang="en-US" sz="1100" b="0" dirty="0" err="1"/>
              <a:t>Passing ISO 8217 Table 2 does not mean the fuel is safe. This fuel met the spec, yet the engine was damaged and the main engine stopped.</a:t>
            </a:r>
          </a:p>
          <a:p>
            <a:pPr fontAlgn="t">
              <a:lnSpc>
                <a:spcPct val="100000"/>
              </a:lnSpc>
              <a:buNone/>
            </a:pPr>
            <a:r>
              <a:rPr lang="en-US" sz="1100" b="0" dirty="0" err="1"/>
              <a:t>Clause 5 is what matters. An organic acid — not listed in the spec table — caused the damage.</a:t>
            </a:r>
          </a:p>
          <a:p>
            <a:pPr fontAlgn="t">
              <a:lnSpc>
                <a:spcPct val="100000"/>
              </a:lnSpc>
              <a:buNone/>
            </a:pPr>
            <a:r>
              <a:rPr lang="en-US" sz="1100" b="0" dirty="0" err="1"/>
              <a:t>What counts is whether harmful substances are present, not whether the fuel passed the test list.</a:t>
            </a:r>
          </a:p>
          <a:p>
            <a:pPr fontAlgn="t">
              <a:lnSpc>
                <a:spcPct val="100000"/>
              </a:lnSpc>
              <a:buNone/>
            </a:pPr>
            <a:r>
              <a:rPr lang="en-US" sz="1100" b="0" dirty="0" err="1"/>
              <a:t>Extra analysis such as GC-MS may be needed. Standard ISO tests found nothing; the extra analysis found the cause.</a:t>
            </a:r>
          </a:p>
          <a:p>
            <a:pPr fontAlgn="t">
              <a:lnSpc>
                <a:spcPct val="100000"/>
              </a:lnSpc>
              <a:buNone/>
            </a:pPr>
            <a:r>
              <a:rPr lang="en-US" sz="1100" b="0" dirty="0" err="1"/>
              <a:t>A fuel problem can grow into a major operational problem — drifting, towage, cargo transhipment and heavy repair cost.</a:t>
            </a:r>
          </a:p>
        </p:txBody>
      </p:sp>
      <p:sp>
        <p:nvSpPr>
          <p:cNvPr id="485" name="Rectangle 486">
            <a:extLst>
              <a:ext uri="{FF2B5EF4-FFF2-40B4-BE49-F238E27FC236}">
                <a16:creationId xmlns:a16="http://schemas.microsoft.com/office/drawing/2014/main" id="{0C195930-8B26-D8EC-74E3-78FE0031F8EB}"/>
              </a:ext>
            </a:extLst>
          </p:cNvPr>
          <p:cNvSpPr/>
          <p:nvPr/>
        </p:nvSpPr>
        <p:spPr>
          <a:xfrm>
            <a:off x="6223178" y="1128811"/>
            <a:ext cx="5440680" cy="329184"/>
          </a:xfrm>
          <a:prstGeom prst="rect">
            <a:avLst/>
          </a:prstGeom>
          <a:solidFill>
            <a:srgbClr val="EFEFEF"/>
          </a:solidFill>
          <a:ln>
            <a:noFill/>
          </a:ln>
          <a:effectLst/>
        </p:spPr>
        <p:txBody>
          <a:bodyPr rtlCol="0" anchor="ctr"/>
          <a:lstStyle/>
          <a:p>
            <a:pPr algn="ctr"/>
            <a:endParaRPr/>
          </a:p>
        </p:txBody>
      </p:sp>
      <p:sp>
        <p:nvSpPr>
          <p:cNvPr id="487" name="TextBox 488">
            <a:extLst>
              <a:ext uri="{FF2B5EF4-FFF2-40B4-BE49-F238E27FC236}">
                <a16:creationId xmlns:a16="http://schemas.microsoft.com/office/drawing/2014/main" id="{A34213ED-7722-CF1C-1709-544FFA9E1E16}"/>
              </a:ext>
            </a:extLst>
          </p:cNvPr>
          <p:cNvSpPr txBox="1"/>
          <p:nvPr/>
        </p:nvSpPr>
        <p:spPr>
          <a:xfrm>
            <a:off x="6332906" y="1128811"/>
            <a:ext cx="5221224" cy="329184"/>
          </a:xfrm>
          <a:prstGeom prst="rect">
            <a:avLst/>
          </a:prstGeom>
          <a:noFill/>
        </p:spPr>
        <p:txBody>
          <a:bodyPr wrap="square" lIns="36576" tIns="0" rIns="36576" bIns="0" anchor="ctr"/>
          <a:lstStyle/>
          <a:p>
            <a:pPr algn="l">
              <a:lnSpc>
                <a:spcPct val="100000"/>
              </a:lnSpc>
              <a:spcAft>
                <a:spcPts val="0"/>
              </a:spcAft>
            </a:pPr>
            <a:r>
              <a:rPr sz="1200" b="1" dirty="0">
                <a:solidFill>
                  <a:srgbClr val="333333"/>
                </a:solidFill>
                <a:latin typeface="Calibri"/>
                <a:ea typeface="맑은 고딕"/>
                <a:cs typeface="Calibri"/>
              </a:rPr>
              <a:t>Case 2 — Singapore VLSFO</a:t>
            </a:r>
          </a:p>
        </p:txBody>
      </p:sp>
      <p:pic>
        <p:nvPicPr>
          <p:cNvPr id="3" name="그림 2">
            <a:extLst>
              <a:ext uri="{FF2B5EF4-FFF2-40B4-BE49-F238E27FC236}">
                <a16:creationId xmlns:a16="http://schemas.microsoft.com/office/drawing/2014/main" id="{E9F3F32E-D320-BD8A-02AB-EFD0FA520F70}"/>
              </a:ext>
            </a:extLst>
          </p:cNvPr>
          <p:cNvPicPr>
            <a:picLocks noChangeAspect="1"/>
          </p:cNvPicPr>
          <p:nvPr/>
        </p:nvPicPr>
        <p:blipFill>
          <a:blip r:embed="rId3"/>
          <a:stretch>
            <a:fillRect/>
          </a:stretch>
        </p:blipFill>
        <p:spPr>
          <a:xfrm>
            <a:off x="477696" y="3831174"/>
            <a:ext cx="5440679" cy="2739893"/>
          </a:xfrm>
          <a:prstGeom prst="rect">
            <a:avLst/>
          </a:prstGeom>
        </p:spPr>
      </p:pic>
      <p:sp>
        <p:nvSpPr>
          <p:cNvPr id="5" name="TextBox 4">
            <a:extLst>
              <a:ext uri="{FF2B5EF4-FFF2-40B4-BE49-F238E27FC236}">
                <a16:creationId xmlns:a16="http://schemas.microsoft.com/office/drawing/2014/main" id="{0C70CC60-41E1-E681-5E67-245D0314322F}"/>
              </a:ext>
            </a:extLst>
          </p:cNvPr>
          <p:cNvSpPr txBox="1"/>
          <p:nvPr/>
        </p:nvSpPr>
        <p:spPr>
          <a:xfrm>
            <a:off x="6223177" y="1538240"/>
            <a:ext cx="5758615" cy="2292935"/>
          </a:xfrm>
          <a:prstGeom prst="rect">
            <a:avLst/>
          </a:prstGeom>
          <a:noFill/>
        </p:spPr>
        <p:txBody>
          <a:bodyPr wrap="square">
            <a:spAutoFit/>
          </a:bodyPr>
          <a:lstStyle/>
          <a:p>
            <a:pPr fontAlgn="t">
              <a:lnSpc>
                <a:spcPct val="100000"/>
              </a:lnSpc>
              <a:buNone/>
            </a:pPr>
            <a:r>
              <a:rPr lang="en-US" sz="1100" b="1" i="0" dirty="0" err="1">
                <a:effectLst/>
                <a:latin typeface="+mn-lt"/>
              </a:rPr>
              <a:t>Key points (Case 2)</a:t>
            </a:r>
          </a:p>
          <a:p>
            <a:pPr fontAlgn="t">
              <a:lnSpc>
                <a:spcPct val="100000"/>
              </a:lnSpc>
              <a:buNone/>
            </a:pPr>
            <a:r>
              <a:rPr lang="en-US" sz="1100" b="0" i="0" dirty="0" err="1">
                <a:effectLst/>
                <a:latin typeface="+mn-lt"/>
              </a:rPr>
              <a:t>On-spec fuel can still cause operating problems. This VLSFO met the spec, but the fuel system filters blocked badly.</a:t>
            </a:r>
          </a:p>
          <a:p>
            <a:pPr fontAlgn="t">
              <a:lnSpc>
                <a:spcPct val="100000"/>
              </a:lnSpc>
              <a:buNone/>
            </a:pPr>
            <a:r>
              <a:rPr lang="en-US" sz="1100" b="0" i="0" dirty="0" err="1">
                <a:effectLst/>
                <a:latin typeface="+mn-lt"/>
              </a:rPr>
              <a:t>Further analysis found Cardol and Resorcinol above 22,000 ppm — substances that Table 2 does not test for.</a:t>
            </a:r>
          </a:p>
          <a:p>
            <a:pPr fontAlgn="t">
              <a:lnSpc>
                <a:spcPct val="100000"/>
              </a:lnSpc>
              <a:buNone/>
            </a:pPr>
            <a:r>
              <a:rPr lang="en-US" sz="1100" b="0" i="0" dirty="0" err="1">
                <a:effectLst/>
                <a:latin typeface="+mn-lt"/>
              </a:rPr>
              <a:t>Filter clogging is an immediate operational risk. The generator fuel filters blocked, and the main engine auto back-wash filter could not keep up.</a:t>
            </a:r>
          </a:p>
          <a:p>
            <a:pPr fontAlgn="t">
              <a:lnSpc>
                <a:spcPct val="100000"/>
              </a:lnSpc>
              <a:buNone/>
            </a:pPr>
            <a:r>
              <a:rPr lang="en-US" sz="1100" b="0" i="0" dirty="0" err="1">
                <a:effectLst/>
                <a:latin typeface="+mn-lt"/>
              </a:rPr>
              <a:t>Main engine fuel pressure then dropped to a dangerous level.</a:t>
            </a:r>
          </a:p>
          <a:p>
            <a:pPr fontAlgn="t">
              <a:lnSpc>
                <a:spcPct val="100000"/>
              </a:lnSpc>
              <a:buNone/>
            </a:pPr>
            <a:r>
              <a:rPr lang="en-US" sz="1100" b="0" i="0" dirty="0" err="1">
                <a:effectLst/>
                <a:latin typeface="+mn-lt"/>
              </a:rPr>
              <a:t>Sometimes removing the fuel beats carrying on with it. The owner debunkered the whole stem.</a:t>
            </a:r>
          </a:p>
        </p:txBody>
      </p:sp>
      <p:pic>
        <p:nvPicPr>
          <p:cNvPr id="7" name="그림 6">
            <a:extLst>
              <a:ext uri="{FF2B5EF4-FFF2-40B4-BE49-F238E27FC236}">
                <a16:creationId xmlns:a16="http://schemas.microsoft.com/office/drawing/2014/main" id="{41C8E0EA-3335-FF19-3A93-6C250DD55277}"/>
              </a:ext>
            </a:extLst>
          </p:cNvPr>
          <p:cNvPicPr>
            <a:picLocks noChangeAspect="1"/>
          </p:cNvPicPr>
          <p:nvPr/>
        </p:nvPicPr>
        <p:blipFill>
          <a:blip r:embed="rId4"/>
          <a:stretch>
            <a:fillRect/>
          </a:stretch>
        </p:blipFill>
        <p:spPr>
          <a:xfrm>
            <a:off x="6298966" y="3831176"/>
            <a:ext cx="5364892" cy="2739892"/>
          </a:xfrm>
          <a:prstGeom prst="rect">
            <a:avLst/>
          </a:prstGeom>
        </p:spPr>
      </p:pic>
    </p:spTree>
    <p:extLst>
      <p:ext uri="{BB962C8B-B14F-4D97-AF65-F5344CB8AC3E}">
        <p14:creationId xmlns:p14="http://schemas.microsoft.com/office/powerpoint/2010/main" val="2683954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Rectangle 476"/>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477" name="TextBox 478"/>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What Actually Happened — Three Cases</a:t>
            </a:r>
          </a:p>
        </p:txBody>
      </p:sp>
      <p:sp>
        <p:nvSpPr>
          <p:cNvPr id="491" name="Rectangle 492"/>
          <p:cNvSpPr/>
          <p:nvPr/>
        </p:nvSpPr>
        <p:spPr>
          <a:xfrm>
            <a:off x="248152" y="1202436"/>
            <a:ext cx="5440680" cy="329184"/>
          </a:xfrm>
          <a:prstGeom prst="rect">
            <a:avLst/>
          </a:prstGeom>
          <a:solidFill>
            <a:srgbClr val="EFEFEF"/>
          </a:solidFill>
          <a:ln>
            <a:noFill/>
          </a:ln>
          <a:effectLst/>
        </p:spPr>
        <p:txBody>
          <a:bodyPr rtlCol="0" anchor="ctr"/>
          <a:lstStyle/>
          <a:p>
            <a:pPr algn="ctr"/>
            <a:endParaRPr/>
          </a:p>
        </p:txBody>
      </p:sp>
      <p:sp>
        <p:nvSpPr>
          <p:cNvPr id="493" name="TextBox 494"/>
          <p:cNvSpPr txBox="1"/>
          <p:nvPr/>
        </p:nvSpPr>
        <p:spPr>
          <a:xfrm>
            <a:off x="357880" y="1202436"/>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Case 3 — ULSFO + B30 (CNSL)</a:t>
            </a:r>
          </a:p>
        </p:txBody>
      </p:sp>
      <p:sp>
        <p:nvSpPr>
          <p:cNvPr id="495" name="TextBox 496"/>
          <p:cNvSpPr txBox="1"/>
          <p:nvPr/>
        </p:nvSpPr>
        <p:spPr>
          <a:xfrm>
            <a:off x="248152" y="1677924"/>
            <a:ext cx="5440680" cy="1188720"/>
          </a:xfrm>
          <a:prstGeom prst="rect">
            <a:avLst/>
          </a:prstGeom>
          <a:noFill/>
        </p:spPr>
        <p:txBody>
          <a:bodyPr wrap="square" lIns="36576" tIns="0" rIns="36576" bIns="0" anchor="t"/>
          <a:lstStyle/>
          <a:p>
            <a:pPr fontAlgn="t">
              <a:lnSpc>
                <a:spcPct val="100000"/>
              </a:lnSpc>
              <a:buNone/>
            </a:pPr>
            <a:r>
              <a:rPr lang="en-US" sz="1100" b="1" dirty="0" err="1"/>
              <a:t>Key points (Case 3)</a:t>
            </a:r>
          </a:p>
          <a:p>
            <a:pPr fontAlgn="t">
              <a:lnSpc>
                <a:spcPct val="100000"/>
              </a:lnSpc>
              <a:buNone/>
            </a:pPr>
            <a:r>
              <a:rPr lang="en-US" sz="1100" b="0" dirty="0" err="1"/>
              <a:t>1. CNSL contamination can cause serious machinery damage — fuel injectors and pumps were found damaged.</a:t>
            </a:r>
          </a:p>
          <a:p>
            <a:pPr fontAlgn="t">
              <a:lnSpc>
                <a:spcPct val="100000"/>
              </a:lnSpc>
              <a:buNone/>
            </a:pPr>
            <a:r>
              <a:rPr lang="en-US" sz="1100" b="0" dirty="0" err="1"/>
              <a:t>2. A fuel problem can cost the ship its propulsion — the main engine would not start.</a:t>
            </a:r>
          </a:p>
          <a:p>
            <a:pPr fontAlgn="t">
              <a:lnSpc>
                <a:spcPct val="100000"/>
              </a:lnSpc>
              <a:buNone/>
            </a:pPr>
            <a:r>
              <a:rPr lang="en-US" sz="1100" b="0" dirty="0" err="1"/>
              <a:t>3. The problem can appear late — about two days after switching to that tank.</a:t>
            </a:r>
          </a:p>
          <a:p>
            <a:pPr fontAlgn="t">
              <a:lnSpc>
                <a:spcPct val="100000"/>
              </a:lnSpc>
              <a:buNone/>
            </a:pPr>
            <a:r>
              <a:rPr lang="en-US" sz="1100" b="0" dirty="0" err="1"/>
              <a:t>4. It happened while preparing to take the pilot on board, which makes it a serious operational risk.</a:t>
            </a:r>
          </a:p>
          <a:p>
            <a:pPr fontAlgn="t">
              <a:lnSpc>
                <a:spcPct val="100000"/>
              </a:lnSpc>
              <a:buNone/>
            </a:pPr>
            <a:r>
              <a:rPr lang="en-US" sz="1100" b="0" dirty="0" err="1"/>
              <a:t>5. Investigation pointed to poor-quality fuel with CNSL contamination as the main cause.</a:t>
            </a:r>
          </a:p>
        </p:txBody>
      </p:sp>
      <p:sp>
        <p:nvSpPr>
          <p:cNvPr id="497" name="Rectangle 498"/>
          <p:cNvSpPr/>
          <p:nvPr/>
        </p:nvSpPr>
        <p:spPr>
          <a:xfrm>
            <a:off x="6245352" y="3670211"/>
            <a:ext cx="5440680" cy="374575"/>
          </a:xfrm>
          <a:prstGeom prst="rect">
            <a:avLst/>
          </a:prstGeom>
          <a:solidFill>
            <a:srgbClr val="EFEFEF"/>
          </a:solidFill>
          <a:ln>
            <a:noFill/>
          </a:ln>
          <a:effectLst/>
        </p:spPr>
        <p:txBody>
          <a:bodyPr rtlCol="0" anchor="ctr"/>
          <a:lstStyle/>
          <a:p>
            <a:pPr algn="ctr"/>
            <a:endParaRPr/>
          </a:p>
        </p:txBody>
      </p:sp>
      <p:sp>
        <p:nvSpPr>
          <p:cNvPr id="499" name="TextBox 500"/>
          <p:cNvSpPr txBox="1"/>
          <p:nvPr/>
        </p:nvSpPr>
        <p:spPr>
          <a:xfrm>
            <a:off x="6355080" y="3670211"/>
            <a:ext cx="5221224" cy="356287"/>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Symptoms seen again and again</a:t>
            </a:r>
          </a:p>
        </p:txBody>
      </p:sp>
      <p:sp>
        <p:nvSpPr>
          <p:cNvPr id="501" name="Rectangle 502"/>
          <p:cNvSpPr/>
          <p:nvPr/>
        </p:nvSpPr>
        <p:spPr>
          <a:xfrm>
            <a:off x="6251658" y="4138170"/>
            <a:ext cx="2103120" cy="455256"/>
          </a:xfrm>
          <a:prstGeom prst="rect">
            <a:avLst/>
          </a:prstGeom>
          <a:solidFill>
            <a:srgbClr val="172A4A"/>
          </a:solidFill>
          <a:ln>
            <a:noFill/>
          </a:ln>
          <a:effectLst/>
        </p:spPr>
        <p:txBody>
          <a:bodyPr rtlCol="0" anchor="ctr"/>
          <a:lstStyle/>
          <a:p>
            <a:pPr algn="ctr"/>
            <a:endParaRPr/>
          </a:p>
        </p:txBody>
      </p:sp>
      <p:sp>
        <p:nvSpPr>
          <p:cNvPr id="503" name="TextBox 504"/>
          <p:cNvSpPr txBox="1"/>
          <p:nvPr/>
        </p:nvSpPr>
        <p:spPr>
          <a:xfrm>
            <a:off x="6324810" y="4138170"/>
            <a:ext cx="1956816" cy="45525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Symptom</a:t>
            </a:r>
          </a:p>
        </p:txBody>
      </p:sp>
      <p:sp>
        <p:nvSpPr>
          <p:cNvPr id="505" name="Rectangle 506"/>
          <p:cNvSpPr/>
          <p:nvPr/>
        </p:nvSpPr>
        <p:spPr>
          <a:xfrm>
            <a:off x="8354778" y="4138170"/>
            <a:ext cx="3337560" cy="455256"/>
          </a:xfrm>
          <a:prstGeom prst="rect">
            <a:avLst/>
          </a:prstGeom>
          <a:solidFill>
            <a:srgbClr val="172A4A"/>
          </a:solidFill>
          <a:ln>
            <a:noFill/>
          </a:ln>
          <a:effectLst/>
        </p:spPr>
        <p:txBody>
          <a:bodyPr rtlCol="0" anchor="ctr"/>
          <a:lstStyle/>
          <a:p>
            <a:pPr algn="ctr"/>
            <a:endParaRPr/>
          </a:p>
        </p:txBody>
      </p:sp>
      <p:sp>
        <p:nvSpPr>
          <p:cNvPr id="507" name="TextBox 508"/>
          <p:cNvSpPr txBox="1"/>
          <p:nvPr/>
        </p:nvSpPr>
        <p:spPr>
          <a:xfrm>
            <a:off x="8427930" y="4138170"/>
            <a:ext cx="3191256" cy="455256"/>
          </a:xfrm>
          <a:prstGeom prst="rect">
            <a:avLst/>
          </a:prstGeom>
          <a:noFill/>
        </p:spPr>
        <p:txBody>
          <a:bodyPr wrap="square" lIns="36576" tIns="0" rIns="36576" bIns="0" anchor="ctr"/>
          <a:lstStyle/>
          <a:p>
            <a:pPr algn="l">
              <a:lnSpc>
                <a:spcPct val="110000"/>
              </a:lnSpc>
              <a:spcAft>
                <a:spcPts val="0"/>
              </a:spcAft>
            </a:pPr>
            <a:r>
              <a:rPr sz="1150" b="1">
                <a:solidFill>
                  <a:srgbClr val="FFFFFF"/>
                </a:solidFill>
                <a:latin typeface="Calibri"/>
                <a:ea typeface="맑은 고딕"/>
                <a:cs typeface="Calibri"/>
              </a:rPr>
              <a:t>Where</a:t>
            </a:r>
          </a:p>
        </p:txBody>
      </p:sp>
      <p:sp>
        <p:nvSpPr>
          <p:cNvPr id="509" name="Rectangle 510"/>
          <p:cNvSpPr/>
          <p:nvPr/>
        </p:nvSpPr>
        <p:spPr>
          <a:xfrm>
            <a:off x="6251658" y="4558794"/>
            <a:ext cx="2103120" cy="455256"/>
          </a:xfrm>
          <a:prstGeom prst="rect">
            <a:avLst/>
          </a:prstGeom>
          <a:solidFill>
            <a:srgbClr val="FFFFFF"/>
          </a:solidFill>
          <a:ln w="9525">
            <a:solidFill>
              <a:srgbClr val="D0D4DA"/>
            </a:solidFill>
          </a:ln>
          <a:effectLst/>
        </p:spPr>
        <p:txBody>
          <a:bodyPr rtlCol="0" anchor="ctr"/>
          <a:lstStyle/>
          <a:p>
            <a:pPr algn="ctr"/>
            <a:endParaRPr/>
          </a:p>
        </p:txBody>
      </p:sp>
      <p:sp>
        <p:nvSpPr>
          <p:cNvPr id="511" name="TextBox 512"/>
          <p:cNvSpPr txBox="1"/>
          <p:nvPr/>
        </p:nvSpPr>
        <p:spPr>
          <a:xfrm>
            <a:off x="6324810" y="4558794"/>
            <a:ext cx="1956816" cy="45525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Filters and purifiers block fast</a:t>
            </a:r>
          </a:p>
        </p:txBody>
      </p:sp>
      <p:sp>
        <p:nvSpPr>
          <p:cNvPr id="513" name="Rectangle 514"/>
          <p:cNvSpPr/>
          <p:nvPr/>
        </p:nvSpPr>
        <p:spPr>
          <a:xfrm>
            <a:off x="8354778" y="4558794"/>
            <a:ext cx="3337560" cy="455256"/>
          </a:xfrm>
          <a:prstGeom prst="rect">
            <a:avLst/>
          </a:prstGeom>
          <a:solidFill>
            <a:srgbClr val="FFFFFF"/>
          </a:solidFill>
          <a:ln w="9525">
            <a:solidFill>
              <a:srgbClr val="D0D4DA"/>
            </a:solidFill>
          </a:ln>
          <a:effectLst/>
        </p:spPr>
        <p:txBody>
          <a:bodyPr rtlCol="0" anchor="ctr"/>
          <a:lstStyle/>
          <a:p>
            <a:pPr algn="ctr"/>
            <a:endParaRPr/>
          </a:p>
        </p:txBody>
      </p:sp>
      <p:sp>
        <p:nvSpPr>
          <p:cNvPr id="515" name="TextBox 516"/>
          <p:cNvSpPr txBox="1"/>
          <p:nvPr/>
        </p:nvSpPr>
        <p:spPr>
          <a:xfrm>
            <a:off x="8427930" y="4558794"/>
            <a:ext cx="3191256" cy="45525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Auto back-wash filter, purifier</a:t>
            </a:r>
          </a:p>
        </p:txBody>
      </p:sp>
      <p:sp>
        <p:nvSpPr>
          <p:cNvPr id="517" name="Rectangle 518"/>
          <p:cNvSpPr/>
          <p:nvPr/>
        </p:nvSpPr>
        <p:spPr>
          <a:xfrm>
            <a:off x="6251658" y="4979418"/>
            <a:ext cx="2103120" cy="455256"/>
          </a:xfrm>
          <a:prstGeom prst="rect">
            <a:avLst/>
          </a:prstGeom>
          <a:solidFill>
            <a:srgbClr val="FFFFFF"/>
          </a:solidFill>
          <a:ln w="9525">
            <a:solidFill>
              <a:srgbClr val="D0D4DA"/>
            </a:solidFill>
          </a:ln>
          <a:effectLst/>
        </p:spPr>
        <p:txBody>
          <a:bodyPr rtlCol="0" anchor="ctr"/>
          <a:lstStyle/>
          <a:p>
            <a:pPr algn="ctr"/>
            <a:endParaRPr/>
          </a:p>
        </p:txBody>
      </p:sp>
      <p:sp>
        <p:nvSpPr>
          <p:cNvPr id="519" name="TextBox 520"/>
          <p:cNvSpPr txBox="1"/>
          <p:nvPr/>
        </p:nvSpPr>
        <p:spPr>
          <a:xfrm>
            <a:off x="6324810" y="4979418"/>
            <a:ext cx="1956816" cy="45525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Sticky sludge and carbon deposits</a:t>
            </a:r>
          </a:p>
        </p:txBody>
      </p:sp>
      <p:sp>
        <p:nvSpPr>
          <p:cNvPr id="521" name="Rectangle 522"/>
          <p:cNvSpPr/>
          <p:nvPr/>
        </p:nvSpPr>
        <p:spPr>
          <a:xfrm>
            <a:off x="8354778" y="4979418"/>
            <a:ext cx="3337560" cy="455256"/>
          </a:xfrm>
          <a:prstGeom prst="rect">
            <a:avLst/>
          </a:prstGeom>
          <a:solidFill>
            <a:srgbClr val="FFFFFF"/>
          </a:solidFill>
          <a:ln w="9525">
            <a:solidFill>
              <a:srgbClr val="D0D4DA"/>
            </a:solidFill>
          </a:ln>
          <a:effectLst/>
        </p:spPr>
        <p:txBody>
          <a:bodyPr rtlCol="0" anchor="ctr"/>
          <a:lstStyle/>
          <a:p>
            <a:pPr algn="ctr"/>
            <a:endParaRPr/>
          </a:p>
        </p:txBody>
      </p:sp>
      <p:sp>
        <p:nvSpPr>
          <p:cNvPr id="523" name="TextBox 524"/>
          <p:cNvSpPr txBox="1"/>
          <p:nvPr/>
        </p:nvSpPr>
        <p:spPr>
          <a:xfrm>
            <a:off x="8427930" y="4979418"/>
            <a:ext cx="3191256" cy="45525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Injector tips, injection control units</a:t>
            </a:r>
          </a:p>
        </p:txBody>
      </p:sp>
      <p:sp>
        <p:nvSpPr>
          <p:cNvPr id="525" name="Rectangle 526"/>
          <p:cNvSpPr/>
          <p:nvPr/>
        </p:nvSpPr>
        <p:spPr>
          <a:xfrm>
            <a:off x="6251658" y="5400042"/>
            <a:ext cx="2103120" cy="455256"/>
          </a:xfrm>
          <a:prstGeom prst="rect">
            <a:avLst/>
          </a:prstGeom>
          <a:solidFill>
            <a:srgbClr val="FFFFFF"/>
          </a:solidFill>
          <a:ln w="9525">
            <a:solidFill>
              <a:srgbClr val="D0D4DA"/>
            </a:solidFill>
          </a:ln>
          <a:effectLst/>
        </p:spPr>
        <p:txBody>
          <a:bodyPr rtlCol="0" anchor="ctr"/>
          <a:lstStyle/>
          <a:p>
            <a:pPr algn="ctr"/>
            <a:endParaRPr/>
          </a:p>
        </p:txBody>
      </p:sp>
      <p:sp>
        <p:nvSpPr>
          <p:cNvPr id="527" name="TextBox 528"/>
          <p:cNvSpPr txBox="1"/>
          <p:nvPr/>
        </p:nvSpPr>
        <p:spPr>
          <a:xfrm>
            <a:off x="6324810" y="5400042"/>
            <a:ext cx="1956816" cy="45525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Wear, scratches, overheating</a:t>
            </a:r>
          </a:p>
        </p:txBody>
      </p:sp>
      <p:sp>
        <p:nvSpPr>
          <p:cNvPr id="529" name="Rectangle 530"/>
          <p:cNvSpPr/>
          <p:nvPr/>
        </p:nvSpPr>
        <p:spPr>
          <a:xfrm>
            <a:off x="8354778" y="5400042"/>
            <a:ext cx="3337560" cy="455256"/>
          </a:xfrm>
          <a:prstGeom prst="rect">
            <a:avLst/>
          </a:prstGeom>
          <a:solidFill>
            <a:srgbClr val="FFFFFF"/>
          </a:solidFill>
          <a:ln w="9525">
            <a:solidFill>
              <a:srgbClr val="D0D4DA"/>
            </a:solidFill>
          </a:ln>
          <a:effectLst/>
        </p:spPr>
        <p:txBody>
          <a:bodyPr rtlCol="0" anchor="ctr"/>
          <a:lstStyle/>
          <a:p>
            <a:pPr algn="ctr"/>
            <a:endParaRPr/>
          </a:p>
        </p:txBody>
      </p:sp>
      <p:sp>
        <p:nvSpPr>
          <p:cNvPr id="531" name="TextBox 532"/>
          <p:cNvSpPr txBox="1"/>
          <p:nvPr/>
        </p:nvSpPr>
        <p:spPr>
          <a:xfrm>
            <a:off x="8427930" y="5400042"/>
            <a:ext cx="3191256" cy="455256"/>
          </a:xfrm>
          <a:prstGeom prst="rect">
            <a:avLst/>
          </a:prstGeom>
          <a:noFill/>
        </p:spPr>
        <p:txBody>
          <a:bodyPr wrap="square" lIns="36576" tIns="0" rIns="36576" bIns="0" anchor="ctr"/>
          <a:lstStyle/>
          <a:p>
            <a:pPr algn="l">
              <a:lnSpc>
                <a:spcPct val="110000"/>
              </a:lnSpc>
              <a:spcAft>
                <a:spcPts val="0"/>
              </a:spcAft>
            </a:pPr>
            <a:r>
              <a:rPr sz="1150" b="0">
                <a:solidFill>
                  <a:srgbClr val="1A1A1A"/>
                </a:solidFill>
                <a:latin typeface="Calibri"/>
                <a:ea typeface="맑은 고딕"/>
                <a:cs typeface="Calibri"/>
              </a:rPr>
              <a:t>Plungers, piston rings, liners</a:t>
            </a:r>
          </a:p>
        </p:txBody>
      </p:sp>
      <p:sp>
        <p:nvSpPr>
          <p:cNvPr id="537" name="TextBox 538"/>
          <p:cNvSpPr txBox="1"/>
          <p:nvPr/>
        </p:nvSpPr>
        <p:spPr>
          <a:xfrm>
            <a:off x="6251658" y="6013443"/>
            <a:ext cx="5440680" cy="445359"/>
          </a:xfrm>
          <a:prstGeom prst="rect">
            <a:avLst/>
          </a:prstGeom>
          <a:noFill/>
        </p:spPr>
        <p:txBody>
          <a:bodyPr wrap="square" lIns="36576" tIns="0" rIns="36576" bIns="0" anchor="t"/>
          <a:lstStyle/>
          <a:p>
            <a:pPr algn="l">
              <a:lnSpc>
                <a:spcPct val="110000"/>
              </a:lnSpc>
              <a:spcAft>
                <a:spcPts val="0"/>
              </a:spcAft>
            </a:pPr>
            <a:r>
              <a:rPr sz="1050" b="0">
                <a:solidFill>
                  <a:srgbClr val="595959"/>
                </a:solidFill>
                <a:latin typeface="Calibri"/>
                <a:ea typeface="맑은 고딕"/>
                <a:cs typeface="Calibri"/>
              </a:rPr>
              <a:t>→ Once the symptoms show, damage is already under way. Watching for the early signs is the key.</a:t>
            </a:r>
          </a:p>
        </p:txBody>
      </p:sp>
      <p:pic>
        <p:nvPicPr>
          <p:cNvPr id="3" name="그림 2">
            <a:extLst>
              <a:ext uri="{FF2B5EF4-FFF2-40B4-BE49-F238E27FC236}">
                <a16:creationId xmlns:a16="http://schemas.microsoft.com/office/drawing/2014/main" id="{3A253430-6FFF-37BE-D816-428174E8DB41}"/>
              </a:ext>
            </a:extLst>
          </p:cNvPr>
          <p:cNvPicPr>
            <a:picLocks noChangeAspect="1"/>
          </p:cNvPicPr>
          <p:nvPr/>
        </p:nvPicPr>
        <p:blipFill>
          <a:blip r:embed="rId2"/>
          <a:stretch>
            <a:fillRect/>
          </a:stretch>
        </p:blipFill>
        <p:spPr>
          <a:xfrm>
            <a:off x="275583" y="3670211"/>
            <a:ext cx="5333425" cy="27885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A2329-8AE0-C2A0-B28E-563482D68249}"/>
            </a:ext>
          </a:extLst>
        </p:cNvPr>
        <p:cNvGrpSpPr/>
        <p:nvPr/>
      </p:nvGrpSpPr>
      <p:grpSpPr>
        <a:xfrm>
          <a:off x="0" y="0"/>
          <a:ext cx="0" cy="0"/>
          <a:chOff x="0" y="0"/>
          <a:chExt cx="0" cy="0"/>
        </a:xfrm>
      </p:grpSpPr>
      <p:sp>
        <p:nvSpPr>
          <p:cNvPr id="475" name="Rectangle 476">
            <a:extLst>
              <a:ext uri="{FF2B5EF4-FFF2-40B4-BE49-F238E27FC236}">
                <a16:creationId xmlns:a16="http://schemas.microsoft.com/office/drawing/2014/main" id="{0D9F081A-5A8A-D386-0F2C-E5E4ABE5D229}"/>
              </a:ext>
            </a:extLst>
          </p:cNvPr>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477" name="TextBox 478">
            <a:extLst>
              <a:ext uri="{FF2B5EF4-FFF2-40B4-BE49-F238E27FC236}">
                <a16:creationId xmlns:a16="http://schemas.microsoft.com/office/drawing/2014/main" id="{7F57486B-3155-BBDB-0A4D-8E87580B70BA}"/>
              </a:ext>
            </a:extLst>
          </p:cNvPr>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lang="en-US" sz="2500" b="1" dirty="0">
                <a:solidFill>
                  <a:srgbClr val="FFFFFF"/>
                </a:solidFill>
                <a:latin typeface="Calibri"/>
                <a:ea typeface="맑은 고딕"/>
                <a:cs typeface="Calibri"/>
              </a:rPr>
              <a:t>Other claims</a:t>
            </a:r>
          </a:p>
        </p:txBody>
      </p:sp>
      <p:pic>
        <p:nvPicPr>
          <p:cNvPr id="4" name="그림 3">
            <a:extLst>
              <a:ext uri="{FF2B5EF4-FFF2-40B4-BE49-F238E27FC236}">
                <a16:creationId xmlns:a16="http://schemas.microsoft.com/office/drawing/2014/main" id="{34236695-0ADE-593C-A260-08EA30A2452F}"/>
              </a:ext>
            </a:extLst>
          </p:cNvPr>
          <p:cNvPicPr>
            <a:picLocks noChangeAspect="1"/>
          </p:cNvPicPr>
          <p:nvPr/>
        </p:nvPicPr>
        <p:blipFill>
          <a:blip r:embed="rId2"/>
          <a:stretch>
            <a:fillRect/>
          </a:stretch>
        </p:blipFill>
        <p:spPr>
          <a:xfrm>
            <a:off x="184351" y="1170433"/>
            <a:ext cx="2401194" cy="2258568"/>
          </a:xfrm>
          <a:prstGeom prst="rect">
            <a:avLst/>
          </a:prstGeom>
        </p:spPr>
      </p:pic>
      <p:pic>
        <p:nvPicPr>
          <p:cNvPr id="6" name="그림 5">
            <a:extLst>
              <a:ext uri="{FF2B5EF4-FFF2-40B4-BE49-F238E27FC236}">
                <a16:creationId xmlns:a16="http://schemas.microsoft.com/office/drawing/2014/main" id="{3F22040D-7477-22DE-B270-E8DFF9D57EC9}"/>
              </a:ext>
            </a:extLst>
          </p:cNvPr>
          <p:cNvPicPr>
            <a:picLocks noChangeAspect="1"/>
          </p:cNvPicPr>
          <p:nvPr/>
        </p:nvPicPr>
        <p:blipFill>
          <a:blip r:embed="rId3"/>
          <a:stretch>
            <a:fillRect/>
          </a:stretch>
        </p:blipFill>
        <p:spPr>
          <a:xfrm>
            <a:off x="2694220" y="1170432"/>
            <a:ext cx="5687539" cy="2258569"/>
          </a:xfrm>
          <a:prstGeom prst="rect">
            <a:avLst/>
          </a:prstGeom>
        </p:spPr>
      </p:pic>
      <p:pic>
        <p:nvPicPr>
          <p:cNvPr id="8" name="그림 7">
            <a:extLst>
              <a:ext uri="{FF2B5EF4-FFF2-40B4-BE49-F238E27FC236}">
                <a16:creationId xmlns:a16="http://schemas.microsoft.com/office/drawing/2014/main" id="{8687EEA9-B032-7ACE-C58A-FDC98E6C444D}"/>
              </a:ext>
            </a:extLst>
          </p:cNvPr>
          <p:cNvPicPr>
            <a:picLocks noChangeAspect="1"/>
          </p:cNvPicPr>
          <p:nvPr/>
        </p:nvPicPr>
        <p:blipFill>
          <a:blip r:embed="rId4"/>
          <a:stretch>
            <a:fillRect/>
          </a:stretch>
        </p:blipFill>
        <p:spPr>
          <a:xfrm>
            <a:off x="184352" y="3473775"/>
            <a:ext cx="8197408" cy="2258568"/>
          </a:xfrm>
          <a:prstGeom prst="rect">
            <a:avLst/>
          </a:prstGeom>
        </p:spPr>
      </p:pic>
    </p:spTree>
    <p:extLst>
      <p:ext uri="{BB962C8B-B14F-4D97-AF65-F5344CB8AC3E}">
        <p14:creationId xmlns:p14="http://schemas.microsoft.com/office/powerpoint/2010/main" val="97217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Rectangle 540"/>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541" name="TextBox 542"/>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Breaking the Rules Stops the Ship Immediately</a:t>
            </a:r>
          </a:p>
        </p:txBody>
      </p:sp>
      <p:sp>
        <p:nvSpPr>
          <p:cNvPr id="543" name="Rectangle 544"/>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545" name="TextBox 546"/>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Sulphur — 12.86% of all claims</a:t>
            </a:r>
          </a:p>
        </p:txBody>
      </p:sp>
      <p:sp>
        <p:nvSpPr>
          <p:cNvPr id="547" name="TextBox 548"/>
          <p:cNvSpPr txBox="1"/>
          <p:nvPr/>
        </p:nvSpPr>
        <p:spPr>
          <a:xfrm>
            <a:off x="502920" y="1783080"/>
            <a:ext cx="5440680" cy="1371600"/>
          </a:xfrm>
          <a:prstGeom prst="rect">
            <a:avLst/>
          </a:prstGeom>
          <a:noFill/>
        </p:spPr>
        <p:txBody>
          <a:bodyPr wrap="square" lIns="36576" tIns="0" rIns="36576" bIns="0" anchor="t"/>
          <a:lstStyle/>
          <a:p>
            <a:pPr fontAlgn="t">
              <a:lnSpc>
                <a:spcPct val="100000"/>
              </a:lnSpc>
              <a:buNone/>
            </a:pPr>
            <a:r>
              <a:rPr lang="en-US" sz="1000" b="1" dirty="0" err="1"/>
              <a:t>Key points</a:t>
            </a:r>
            <a:endParaRPr lang="en-US" sz="1000" b="1" dirty="0"/>
          </a:p>
          <a:p>
            <a:pPr fontAlgn="t">
              <a:lnSpc>
                <a:spcPct val="100000"/>
              </a:lnSpc>
              <a:buNone/>
            </a:pPr>
            <a:r>
              <a:rPr lang="en-US" sz="1000" b="0" dirty="0" err="1"/>
              <a:t>1. Excess sulphur breaks MARPOL. Over 2% was measured in VLSFO.</a:t>
            </a:r>
            <a:endParaRPr lang="en-US" sz="1000" b="1" dirty="0"/>
          </a:p>
          <a:p>
            <a:pPr fontAlgn="t">
              <a:lnSpc>
                <a:spcPct val="100000"/>
              </a:lnSpc>
              <a:buNone/>
            </a:pPr>
            <a:r>
              <a:rPr lang="en-US" sz="1000" b="0" dirty="0" err="1"/>
              <a:t>2. Non-compliant fuel stops the ship at once — the bunker tanks were sealed and could not be used.</a:t>
            </a:r>
            <a:endParaRPr lang="en-US" sz="1000" b="1" dirty="0"/>
          </a:p>
          <a:p>
            <a:pPr fontAlgn="t">
              <a:lnSpc>
                <a:spcPct val="100000"/>
              </a:lnSpc>
              <a:buNone/>
            </a:pPr>
            <a:r>
              <a:rPr lang="en-US" sz="1000" b="0" dirty="0" err="1"/>
              <a:t>3. Debunkering and tank cleaning are expensive. The tanks must be cleaned once the fuel is removed.</a:t>
            </a:r>
            <a:endParaRPr lang="en-US" sz="1000" b="1" dirty="0"/>
          </a:p>
          <a:p>
            <a:pPr fontAlgn="t">
              <a:lnSpc>
                <a:spcPct val="100000"/>
              </a:lnSpc>
              <a:buNone/>
            </a:pPr>
            <a:r>
              <a:rPr lang="en-US" sz="1000" b="0" dirty="0" err="1"/>
              <a:t>4. If it is found after redelivery, owner and charterer end up arguing over who pays.</a:t>
            </a:r>
            <a:endParaRPr lang="en-US" sz="1000" b="1" dirty="0"/>
          </a:p>
          <a:p>
            <a:pPr fontAlgn="t">
              <a:lnSpc>
                <a:spcPct val="100000"/>
              </a:lnSpc>
              <a:buNone/>
            </a:pPr>
            <a:r>
              <a:rPr lang="en-US" sz="1000" b="0" dirty="0" err="1"/>
              <a:t>5. Report to the authorities as soon as non-compliance is confirmed. Port State Control can check that this was done.</a:t>
            </a:r>
            <a:endParaRPr lang="en-US" sz="1000" b="1" dirty="0"/>
          </a:p>
        </p:txBody>
      </p:sp>
      <p:sp>
        <p:nvSpPr>
          <p:cNvPr id="549" name="Rectangle 550"/>
          <p:cNvSpPr/>
          <p:nvPr/>
        </p:nvSpPr>
        <p:spPr>
          <a:xfrm>
            <a:off x="502920" y="3808946"/>
            <a:ext cx="5440680" cy="329184"/>
          </a:xfrm>
          <a:prstGeom prst="rect">
            <a:avLst/>
          </a:prstGeom>
          <a:solidFill>
            <a:srgbClr val="EFEFEF"/>
          </a:solidFill>
          <a:ln>
            <a:noFill/>
          </a:ln>
          <a:effectLst/>
        </p:spPr>
        <p:txBody>
          <a:bodyPr rtlCol="0" anchor="ctr"/>
          <a:lstStyle/>
          <a:p>
            <a:pPr algn="ctr"/>
            <a:endParaRPr/>
          </a:p>
        </p:txBody>
      </p:sp>
      <p:sp>
        <p:nvSpPr>
          <p:cNvPr id="551" name="TextBox 552"/>
          <p:cNvSpPr txBox="1"/>
          <p:nvPr/>
        </p:nvSpPr>
        <p:spPr>
          <a:xfrm>
            <a:off x="612648" y="3808946"/>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Flash point — 4.11% of all claims</a:t>
            </a:r>
          </a:p>
        </p:txBody>
      </p:sp>
      <p:sp>
        <p:nvSpPr>
          <p:cNvPr id="553" name="TextBox 554"/>
          <p:cNvSpPr txBox="1"/>
          <p:nvPr/>
        </p:nvSpPr>
        <p:spPr>
          <a:xfrm>
            <a:off x="502920" y="4266146"/>
            <a:ext cx="5440680" cy="1097280"/>
          </a:xfrm>
          <a:prstGeom prst="rect">
            <a:avLst/>
          </a:prstGeom>
          <a:noFill/>
        </p:spPr>
        <p:txBody>
          <a:bodyPr wrap="square" lIns="36576" tIns="0" rIns="36576" bIns="0" anchor="t"/>
          <a:lstStyle/>
          <a:p>
            <a:pPr algn="l">
              <a:lnSpc>
                <a:spcPct val="125000"/>
              </a:lnSpc>
              <a:spcAft>
                <a:spcPts val="0"/>
              </a:spcAft>
            </a:pPr>
            <a:r>
              <a:rPr sz="1200" b="0">
                <a:solidFill>
                  <a:srgbClr val="1A1A1A"/>
                </a:solidFill>
                <a:latin typeface="Calibri"/>
                <a:ea typeface="맑은 고딕"/>
                <a:cs typeface="Calibri"/>
              </a:rPr>
              <a:t>Under SOLAS II-2 Reg.4, fuel used on board must have a flash point of at least 60 °C. Below that, the whole stem has to be debunkered.</a:t>
            </a:r>
          </a:p>
        </p:txBody>
      </p:sp>
      <p:sp>
        <p:nvSpPr>
          <p:cNvPr id="555" name="Rectangle 556"/>
          <p:cNvSpPr/>
          <p:nvPr/>
        </p:nvSpPr>
        <p:spPr>
          <a:xfrm>
            <a:off x="502920" y="5670855"/>
            <a:ext cx="5440680" cy="777240"/>
          </a:xfrm>
          <a:prstGeom prst="rect">
            <a:avLst/>
          </a:prstGeom>
          <a:solidFill>
            <a:srgbClr val="EFEFEF"/>
          </a:solidFill>
          <a:ln>
            <a:noFill/>
          </a:ln>
          <a:effectLst/>
        </p:spPr>
        <p:txBody>
          <a:bodyPr rtlCol="0" anchor="ctr"/>
          <a:lstStyle/>
          <a:p>
            <a:pPr algn="ctr"/>
            <a:endParaRPr/>
          </a:p>
        </p:txBody>
      </p:sp>
      <p:sp>
        <p:nvSpPr>
          <p:cNvPr id="557" name="TextBox 558"/>
          <p:cNvSpPr txBox="1"/>
          <p:nvPr/>
        </p:nvSpPr>
        <p:spPr>
          <a:xfrm>
            <a:off x="685800" y="5670855"/>
            <a:ext cx="5074920" cy="777240"/>
          </a:xfrm>
          <a:prstGeom prst="rect">
            <a:avLst/>
          </a:prstGeom>
          <a:noFill/>
        </p:spPr>
        <p:txBody>
          <a:bodyPr wrap="square" lIns="36576" tIns="0" rIns="36576" bIns="0" anchor="ctr"/>
          <a:lstStyle/>
          <a:p>
            <a:pPr algn="l">
              <a:lnSpc>
                <a:spcPct val="125000"/>
              </a:lnSpc>
              <a:spcAft>
                <a:spcPts val="0"/>
              </a:spcAft>
            </a:pPr>
            <a:r>
              <a:rPr sz="1300" b="1">
                <a:solidFill>
                  <a:srgbClr val="172A4A"/>
                </a:solidFill>
                <a:latin typeface="Calibri"/>
                <a:ea typeface="맑은 고딕"/>
                <a:cs typeface="Calibri"/>
              </a:rPr>
              <a:t>SOLAS change, January 2026 — the BDN must now state the measured flash point, or confirm it is 70 °C or above.</a:t>
            </a:r>
          </a:p>
        </p:txBody>
      </p:sp>
      <p:sp>
        <p:nvSpPr>
          <p:cNvPr id="559" name="Rectangle 560"/>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561" name="TextBox 562"/>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Quantity disputes — MFM now required in ARA</a:t>
            </a:r>
          </a:p>
        </p:txBody>
      </p:sp>
      <p:sp>
        <p:nvSpPr>
          <p:cNvPr id="563" name="Rectangle 564"/>
          <p:cNvSpPr/>
          <p:nvPr/>
        </p:nvSpPr>
        <p:spPr>
          <a:xfrm>
            <a:off x="6245352" y="1783080"/>
            <a:ext cx="2331720" cy="420624"/>
          </a:xfrm>
          <a:prstGeom prst="rect">
            <a:avLst/>
          </a:prstGeom>
          <a:solidFill>
            <a:srgbClr val="172A4A"/>
          </a:solidFill>
          <a:ln>
            <a:noFill/>
          </a:ln>
          <a:effectLst/>
        </p:spPr>
        <p:txBody>
          <a:bodyPr rtlCol="0" anchor="ctr"/>
          <a:lstStyle/>
          <a:p>
            <a:pPr algn="ctr"/>
            <a:endParaRPr/>
          </a:p>
        </p:txBody>
      </p:sp>
      <p:sp>
        <p:nvSpPr>
          <p:cNvPr id="565" name="TextBox 566"/>
          <p:cNvSpPr txBox="1"/>
          <p:nvPr/>
        </p:nvSpPr>
        <p:spPr>
          <a:xfrm>
            <a:off x="6318504" y="1783080"/>
            <a:ext cx="2185416" cy="420624"/>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Issue</a:t>
            </a:r>
          </a:p>
        </p:txBody>
      </p:sp>
      <p:sp>
        <p:nvSpPr>
          <p:cNvPr id="567" name="Rectangle 568"/>
          <p:cNvSpPr/>
          <p:nvPr/>
        </p:nvSpPr>
        <p:spPr>
          <a:xfrm>
            <a:off x="8577072" y="1783080"/>
            <a:ext cx="3108960" cy="420624"/>
          </a:xfrm>
          <a:prstGeom prst="rect">
            <a:avLst/>
          </a:prstGeom>
          <a:solidFill>
            <a:srgbClr val="172A4A"/>
          </a:solidFill>
          <a:ln>
            <a:noFill/>
          </a:ln>
          <a:effectLst/>
        </p:spPr>
        <p:txBody>
          <a:bodyPr rtlCol="0" anchor="ctr"/>
          <a:lstStyle/>
          <a:p>
            <a:pPr algn="ctr"/>
            <a:endParaRPr/>
          </a:p>
        </p:txBody>
      </p:sp>
      <p:sp>
        <p:nvSpPr>
          <p:cNvPr id="569" name="TextBox 570"/>
          <p:cNvSpPr txBox="1"/>
          <p:nvPr/>
        </p:nvSpPr>
        <p:spPr>
          <a:xfrm>
            <a:off x="8650224" y="1783080"/>
            <a:ext cx="2962656" cy="420624"/>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What happened</a:t>
            </a:r>
          </a:p>
        </p:txBody>
      </p:sp>
      <p:sp>
        <p:nvSpPr>
          <p:cNvPr id="571" name="Rectangle 572"/>
          <p:cNvSpPr/>
          <p:nvPr/>
        </p:nvSpPr>
        <p:spPr>
          <a:xfrm>
            <a:off x="6245352" y="2203704"/>
            <a:ext cx="2331720" cy="420624"/>
          </a:xfrm>
          <a:prstGeom prst="rect">
            <a:avLst/>
          </a:prstGeom>
          <a:solidFill>
            <a:srgbClr val="FFFFFF"/>
          </a:solidFill>
          <a:ln w="9525">
            <a:solidFill>
              <a:srgbClr val="D0D4DA"/>
            </a:solidFill>
          </a:ln>
          <a:effectLst/>
        </p:spPr>
        <p:txBody>
          <a:bodyPr rtlCol="0" anchor="ctr"/>
          <a:lstStyle/>
          <a:p>
            <a:pPr algn="ctr"/>
            <a:endParaRPr/>
          </a:p>
        </p:txBody>
      </p:sp>
      <p:sp>
        <p:nvSpPr>
          <p:cNvPr id="573" name="TextBox 574"/>
          <p:cNvSpPr txBox="1"/>
          <p:nvPr/>
        </p:nvSpPr>
        <p:spPr>
          <a:xfrm>
            <a:off x="6318504" y="2203704"/>
            <a:ext cx="218541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Figures do not match</a:t>
            </a:r>
          </a:p>
        </p:txBody>
      </p:sp>
      <p:sp>
        <p:nvSpPr>
          <p:cNvPr id="575" name="Rectangle 576"/>
          <p:cNvSpPr/>
          <p:nvPr/>
        </p:nvSpPr>
        <p:spPr>
          <a:xfrm>
            <a:off x="8577072" y="2203704"/>
            <a:ext cx="3108960" cy="420624"/>
          </a:xfrm>
          <a:prstGeom prst="rect">
            <a:avLst/>
          </a:prstGeom>
          <a:solidFill>
            <a:srgbClr val="FFFFFF"/>
          </a:solidFill>
          <a:ln w="9525">
            <a:solidFill>
              <a:srgbClr val="D0D4DA"/>
            </a:solidFill>
          </a:ln>
          <a:effectLst/>
        </p:spPr>
        <p:txBody>
          <a:bodyPr rtlCol="0" anchor="ctr"/>
          <a:lstStyle/>
          <a:p>
            <a:pPr algn="ctr"/>
            <a:endParaRPr/>
          </a:p>
        </p:txBody>
      </p:sp>
      <p:sp>
        <p:nvSpPr>
          <p:cNvPr id="577" name="TextBox 578"/>
          <p:cNvSpPr txBox="1"/>
          <p:nvPr/>
        </p:nvSpPr>
        <p:spPr>
          <a:xfrm>
            <a:off x="8650224" y="2203704"/>
            <a:ext cx="296265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About 60 tonnes short of the BDN</a:t>
            </a:r>
          </a:p>
        </p:txBody>
      </p:sp>
      <p:sp>
        <p:nvSpPr>
          <p:cNvPr id="579" name="Rectangle 580"/>
          <p:cNvSpPr/>
          <p:nvPr/>
        </p:nvSpPr>
        <p:spPr>
          <a:xfrm>
            <a:off x="6245352" y="2624328"/>
            <a:ext cx="2331720" cy="420624"/>
          </a:xfrm>
          <a:prstGeom prst="rect">
            <a:avLst/>
          </a:prstGeom>
          <a:solidFill>
            <a:srgbClr val="FFFFFF"/>
          </a:solidFill>
          <a:ln w="9525">
            <a:solidFill>
              <a:srgbClr val="D0D4DA"/>
            </a:solidFill>
          </a:ln>
          <a:effectLst/>
        </p:spPr>
        <p:txBody>
          <a:bodyPr rtlCol="0" anchor="ctr"/>
          <a:lstStyle/>
          <a:p>
            <a:pPr algn="ctr"/>
            <a:endParaRPr/>
          </a:p>
        </p:txBody>
      </p:sp>
      <p:sp>
        <p:nvSpPr>
          <p:cNvPr id="581" name="TextBox 582"/>
          <p:cNvSpPr txBox="1"/>
          <p:nvPr/>
        </p:nvSpPr>
        <p:spPr>
          <a:xfrm>
            <a:off x="6318504" y="2624328"/>
            <a:ext cx="218541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No chance to verify</a:t>
            </a:r>
          </a:p>
        </p:txBody>
      </p:sp>
      <p:sp>
        <p:nvSpPr>
          <p:cNvPr id="583" name="Rectangle 584"/>
          <p:cNvSpPr/>
          <p:nvPr/>
        </p:nvSpPr>
        <p:spPr>
          <a:xfrm>
            <a:off x="8577072" y="2624328"/>
            <a:ext cx="3108960" cy="420624"/>
          </a:xfrm>
          <a:prstGeom prst="rect">
            <a:avLst/>
          </a:prstGeom>
          <a:solidFill>
            <a:srgbClr val="FFFFFF"/>
          </a:solidFill>
          <a:ln w="9525">
            <a:solidFill>
              <a:srgbClr val="D0D4DA"/>
            </a:solidFill>
          </a:ln>
          <a:effectLst/>
        </p:spPr>
        <p:txBody>
          <a:bodyPr rtlCol="0" anchor="ctr"/>
          <a:lstStyle/>
          <a:p>
            <a:pPr algn="ctr"/>
            <a:endParaRPr/>
          </a:p>
        </p:txBody>
      </p:sp>
      <p:sp>
        <p:nvSpPr>
          <p:cNvPr id="585" name="TextBox 586"/>
          <p:cNvSpPr txBox="1"/>
          <p:nvPr/>
        </p:nvSpPr>
        <p:spPr>
          <a:xfrm>
            <a:off x="8650224" y="2624328"/>
            <a:ext cx="2962656" cy="420624"/>
          </a:xfrm>
          <a:prstGeom prst="rect">
            <a:avLst/>
          </a:prstGeom>
          <a:noFill/>
        </p:spPr>
        <p:txBody>
          <a:bodyPr wrap="square" lIns="36576" tIns="0" rIns="36576" bIns="0" anchor="ctr"/>
          <a:lstStyle/>
          <a:p>
            <a:pPr algn="l">
              <a:lnSpc>
                <a:spcPct val="110000"/>
              </a:lnSpc>
              <a:spcAft>
                <a:spcPts val="0"/>
              </a:spcAft>
            </a:pPr>
            <a:r>
              <a:rPr sz="1200" b="1">
                <a:solidFill>
                  <a:srgbClr val="C00000"/>
                </a:solidFill>
                <a:latin typeface="Calibri"/>
                <a:ea typeface="맑은 고딕"/>
                <a:cs typeface="Calibri"/>
              </a:rPr>
              <a:t>Manual sounding of the barge was refused</a:t>
            </a:r>
          </a:p>
        </p:txBody>
      </p:sp>
      <p:sp>
        <p:nvSpPr>
          <p:cNvPr id="587" name="Rectangle 588"/>
          <p:cNvSpPr/>
          <p:nvPr/>
        </p:nvSpPr>
        <p:spPr>
          <a:xfrm>
            <a:off x="6245352" y="3044952"/>
            <a:ext cx="2331720" cy="420624"/>
          </a:xfrm>
          <a:prstGeom prst="rect">
            <a:avLst/>
          </a:prstGeom>
          <a:solidFill>
            <a:srgbClr val="FFFFFF"/>
          </a:solidFill>
          <a:ln w="9525">
            <a:solidFill>
              <a:srgbClr val="D0D4DA"/>
            </a:solidFill>
          </a:ln>
          <a:effectLst/>
        </p:spPr>
        <p:txBody>
          <a:bodyPr rtlCol="0" anchor="ctr"/>
          <a:lstStyle/>
          <a:p>
            <a:pPr algn="ctr"/>
            <a:endParaRPr/>
          </a:p>
        </p:txBody>
      </p:sp>
      <p:sp>
        <p:nvSpPr>
          <p:cNvPr id="589" name="TextBox 590"/>
          <p:cNvSpPr txBox="1"/>
          <p:nvPr/>
        </p:nvSpPr>
        <p:spPr>
          <a:xfrm>
            <a:off x="6318504" y="3044952"/>
            <a:ext cx="218541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Calibration status</a:t>
            </a:r>
          </a:p>
        </p:txBody>
      </p:sp>
      <p:sp>
        <p:nvSpPr>
          <p:cNvPr id="591" name="Rectangle 592"/>
          <p:cNvSpPr/>
          <p:nvPr/>
        </p:nvSpPr>
        <p:spPr>
          <a:xfrm>
            <a:off x="8577072" y="3044952"/>
            <a:ext cx="3108960" cy="420624"/>
          </a:xfrm>
          <a:prstGeom prst="rect">
            <a:avLst/>
          </a:prstGeom>
          <a:solidFill>
            <a:srgbClr val="FFFFFF"/>
          </a:solidFill>
          <a:ln w="9525">
            <a:solidFill>
              <a:srgbClr val="D0D4DA"/>
            </a:solidFill>
          </a:ln>
          <a:effectLst/>
        </p:spPr>
        <p:txBody>
          <a:bodyPr rtlCol="0" anchor="ctr"/>
          <a:lstStyle/>
          <a:p>
            <a:pPr algn="ctr"/>
            <a:endParaRPr/>
          </a:p>
        </p:txBody>
      </p:sp>
      <p:sp>
        <p:nvSpPr>
          <p:cNvPr id="593" name="TextBox 594"/>
          <p:cNvSpPr txBox="1"/>
          <p:nvPr/>
        </p:nvSpPr>
        <p:spPr>
          <a:xfrm>
            <a:off x="8650224" y="3044952"/>
            <a:ext cx="2962656" cy="420624"/>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MFM calibration certificate 16 months old</a:t>
            </a:r>
          </a:p>
        </p:txBody>
      </p:sp>
      <p:sp>
        <p:nvSpPr>
          <p:cNvPr id="595" name="TextBox 596"/>
          <p:cNvSpPr txBox="1"/>
          <p:nvPr/>
        </p:nvSpPr>
        <p:spPr>
          <a:xfrm>
            <a:off x="6245352" y="3566160"/>
            <a:ext cx="5440680" cy="146304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The authorities have made clear they will not step into commercial disputes. Their role is only to say whether the MFM deviation is significant and whether the system was operated correctly.</a:t>
            </a:r>
          </a:p>
          <a:p>
            <a:pPr algn="l">
              <a:lnSpc>
                <a:spcPct val="125000"/>
              </a:lnSpc>
              <a:spcAft>
                <a:spcPts val="700"/>
              </a:spcAft>
            </a:pPr>
            <a:r>
              <a:rPr sz="1200" b="0">
                <a:solidFill>
                  <a:srgbClr val="1A1A1A"/>
                </a:solidFill>
                <a:latin typeface="Calibri"/>
                <a:ea typeface="맑은 고딕"/>
                <a:cs typeface="Calibri"/>
              </a:rPr>
              <a:t>Everything after that is for the parties to settle — which makes the checks done on board that much more important.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C7B5D-B9FB-C001-37FF-F09786EF89DE}"/>
            </a:ext>
          </a:extLst>
        </p:cNvPr>
        <p:cNvGrpSpPr/>
        <p:nvPr/>
      </p:nvGrpSpPr>
      <p:grpSpPr>
        <a:xfrm>
          <a:off x="0" y="0"/>
          <a:ext cx="0" cy="0"/>
          <a:chOff x="0" y="0"/>
          <a:chExt cx="0" cy="0"/>
        </a:xfrm>
      </p:grpSpPr>
      <p:sp>
        <p:nvSpPr>
          <p:cNvPr id="539" name="Rectangle 540">
            <a:extLst>
              <a:ext uri="{FF2B5EF4-FFF2-40B4-BE49-F238E27FC236}">
                <a16:creationId xmlns:a16="http://schemas.microsoft.com/office/drawing/2014/main" id="{A7044080-48A9-F861-BAE4-8A815C324D54}"/>
              </a:ext>
            </a:extLst>
          </p:cNvPr>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541" name="TextBox 542">
            <a:extLst>
              <a:ext uri="{FF2B5EF4-FFF2-40B4-BE49-F238E27FC236}">
                <a16:creationId xmlns:a16="http://schemas.microsoft.com/office/drawing/2014/main" id="{54789679-D01B-A4AE-1D96-ACBDA3060D2D}"/>
              </a:ext>
            </a:extLst>
          </p:cNvPr>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When On-Spec Fuel Still Fails — Clause 5</a:t>
            </a:r>
          </a:p>
        </p:txBody>
      </p:sp>
      <p:sp>
        <p:nvSpPr>
          <p:cNvPr id="3" name="TextBox 2">
            <a:extLst>
              <a:ext uri="{FF2B5EF4-FFF2-40B4-BE49-F238E27FC236}">
                <a16:creationId xmlns:a16="http://schemas.microsoft.com/office/drawing/2014/main" id="{48C7B0A2-CCB2-D095-0E8B-8D0B03542855}"/>
              </a:ext>
            </a:extLst>
          </p:cNvPr>
          <p:cNvSpPr txBox="1"/>
          <p:nvPr/>
        </p:nvSpPr>
        <p:spPr>
          <a:xfrm>
            <a:off x="241213" y="1437288"/>
            <a:ext cx="6101254" cy="1754326"/>
          </a:xfrm>
          <a:prstGeom prst="rect">
            <a:avLst/>
          </a:prstGeom>
          <a:noFill/>
        </p:spPr>
        <p:txBody>
          <a:bodyPr wrap="square">
            <a:spAutoFit/>
          </a:bodyPr>
          <a:lstStyle/>
          <a:p>
            <a:pPr fontAlgn="t">
              <a:lnSpc>
                <a:spcPct val="100000"/>
              </a:lnSpc>
              <a:buNone/>
            </a:pPr>
            <a:r>
              <a:rPr lang="en-US" sz="1200" b="1" i="0" dirty="0">
                <a:effectLst/>
                <a:latin typeface="+mn-lt"/>
              </a:rPr>
              <a:t>When Table 2 is on-spec but problems still happen: applying Clause 5</a:t>
            </a:r>
            <a:endParaRPr lang="en-US" sz="1200" b="1" i="0" dirty="0">
              <a:effectLst/>
              <a:latin typeface="+mn-lt"/>
            </a:endParaRPr>
          </a:p>
          <a:p>
            <a:pPr fontAlgn="t">
              <a:lnSpc>
                <a:spcPct val="100000"/>
              </a:lnSpc>
              <a:buNone/>
            </a:pPr>
            <a:r>
              <a:rPr lang="en-US" sz="1200" b="0" i="0" dirty="0">
                <a:effectLst/>
                <a:latin typeface="+mn-lt"/>
              </a:rPr>
              <a:t>The harder cases are fuels that meet every Table 2 limit and still cause operational problems.</a:t>
            </a:r>
            <a:endParaRPr lang="en-US" sz="1200" b="1" i="0" dirty="0">
              <a:effectLst/>
              <a:latin typeface="+mn-lt"/>
            </a:endParaRPr>
          </a:p>
          <a:p>
            <a:pPr fontAlgn="t">
              <a:lnSpc>
                <a:spcPct val="100000"/>
              </a:lnSpc>
              <a:buNone/>
            </a:pPr>
            <a:r>
              <a:rPr lang="en-US" sz="1200" b="0" i="0" dirty="0">
                <a:effectLst/>
                <a:latin typeface="+mn-lt"/>
              </a:rPr>
              <a:t>ISO 8217 Clause 5 covers exactly this. It says a fuel can be unsuitable for use even when it technically meets the Table 2 limits.</a:t>
            </a:r>
            <a:endParaRPr lang="en-US" sz="1200" b="1" i="0" dirty="0">
              <a:effectLst/>
              <a:latin typeface="+mn-lt"/>
            </a:endParaRPr>
          </a:p>
          <a:p>
            <a:pPr fontAlgn="t">
              <a:lnSpc>
                <a:spcPct val="100000"/>
              </a:lnSpc>
              <a:buNone/>
            </a:pPr>
            <a:r>
              <a:rPr lang="en-US" sz="1200" b="0" i="0" dirty="0">
                <a:effectLst/>
                <a:latin typeface="+mn-lt"/>
              </a:rPr>
              <a:t>The big hurdle for anyone relying on Clause 5 is proving causation.</a:t>
            </a:r>
            <a:endParaRPr lang="en-US" sz="1200" b="1" i="0" dirty="0">
              <a:effectLst/>
              <a:latin typeface="+mn-lt"/>
            </a:endParaRPr>
          </a:p>
          <a:p>
            <a:pPr fontAlgn="t">
              <a:lnSpc>
                <a:spcPct val="100000"/>
              </a:lnSpc>
              <a:buNone/>
            </a:pPr>
            <a:r>
              <a:rPr lang="en-US" sz="1200" b="0" i="0" dirty="0">
                <a:effectLst/>
                <a:latin typeface="+mn-lt"/>
              </a:rPr>
              <a:t>(You have to show the problem came from the characteristics of the fuel.)</a:t>
            </a:r>
            <a:endParaRPr lang="en-US" sz="1200" b="1" i="0" dirty="0">
              <a:effectLst/>
              <a:latin typeface="+mn-lt"/>
            </a:endParaRPr>
          </a:p>
          <a:p>
            <a:pPr fontAlgn="t">
              <a:lnSpc>
                <a:spcPct val="100000"/>
              </a:lnSpc>
              <a:buNone/>
            </a:pPr>
            <a:endParaRPr lang="en-US" sz="1200" b="1" i="0" dirty="0">
              <a:effectLst/>
              <a:latin typeface="+mn-lt"/>
            </a:endParaRPr>
          </a:p>
        </p:txBody>
      </p:sp>
      <p:sp>
        <p:nvSpPr>
          <p:cNvPr id="5" name="TextBox 4">
            <a:extLst>
              <a:ext uri="{FF2B5EF4-FFF2-40B4-BE49-F238E27FC236}">
                <a16:creationId xmlns:a16="http://schemas.microsoft.com/office/drawing/2014/main" id="{D4BF4D07-499E-D976-FA52-7356714F62AE}"/>
              </a:ext>
            </a:extLst>
          </p:cNvPr>
          <p:cNvSpPr txBox="1"/>
          <p:nvPr/>
        </p:nvSpPr>
        <p:spPr>
          <a:xfrm>
            <a:off x="241213" y="3370715"/>
            <a:ext cx="6101254" cy="2123658"/>
          </a:xfrm>
          <a:prstGeom prst="rect">
            <a:avLst/>
          </a:prstGeom>
          <a:noFill/>
        </p:spPr>
        <p:txBody>
          <a:bodyPr wrap="square">
            <a:spAutoFit/>
          </a:bodyPr>
          <a:lstStyle/>
          <a:p>
            <a:pPr fontAlgn="t">
              <a:lnSpc>
                <a:spcPct val="100000"/>
              </a:lnSpc>
              <a:buNone/>
            </a:pPr>
            <a:r>
              <a:rPr lang="en-US" sz="1200" b="1" i="0" dirty="0" err="1">
                <a:effectLst/>
                <a:latin typeface="+mn-lt"/>
              </a:rPr>
              <a:t>Key points</a:t>
            </a:r>
            <a:endParaRPr lang="en-US" sz="1200" b="1" i="0" dirty="0">
              <a:effectLst/>
              <a:latin typeface="+mn-lt"/>
            </a:endParaRPr>
          </a:p>
          <a:p>
            <a:pPr fontAlgn="t">
              <a:lnSpc>
                <a:spcPct val="100000"/>
              </a:lnSpc>
              <a:buNone/>
            </a:pPr>
            <a:r>
              <a:rPr lang="en-US" sz="1200" b="0" i="0" dirty="0" err="1">
                <a:effectLst/>
                <a:latin typeface="+mn-lt"/>
              </a:rPr>
              <a:t>1. Detecting a contaminant is not enough — you must prove it caused the problem.</a:t>
            </a:r>
            <a:endParaRPr lang="en-US" sz="1200" b="1" i="0" dirty="0">
              <a:effectLst/>
              <a:latin typeface="+mn-lt"/>
            </a:endParaRPr>
          </a:p>
          <a:p>
            <a:pPr fontAlgn="t">
              <a:lnSpc>
                <a:spcPct val="100000"/>
              </a:lnSpc>
              <a:buNone/>
            </a:pPr>
            <a:r>
              <a:rPr lang="en-US" sz="1200" b="0" i="0" dirty="0" err="1">
                <a:effectLst/>
                <a:latin typeface="+mn-lt"/>
              </a:rPr>
              <a:t>2. Causation matters most. Proving “this caused it” beats proving “this was detected”.</a:t>
            </a:r>
            <a:endParaRPr lang="en-US" sz="1200" b="1" i="0" dirty="0">
              <a:effectLst/>
              <a:latin typeface="+mn-lt"/>
            </a:endParaRPr>
          </a:p>
          <a:p>
            <a:pPr fontAlgn="t">
              <a:lnSpc>
                <a:spcPct val="100000"/>
              </a:lnSpc>
              <a:buNone/>
            </a:pPr>
            <a:r>
              <a:rPr lang="en-US" sz="1200" b="0" i="0" dirty="0" err="1">
                <a:effectLst/>
                <a:latin typeface="+mn-lt"/>
              </a:rPr>
              <a:t>3. Table 2 tests alone may not be enough — GC-MS or similar may be needed.</a:t>
            </a:r>
            <a:endParaRPr lang="en-US" sz="1200" b="1" i="0" dirty="0">
              <a:effectLst/>
              <a:latin typeface="+mn-lt"/>
            </a:endParaRPr>
          </a:p>
          <a:p>
            <a:pPr fontAlgn="t">
              <a:lnSpc>
                <a:spcPct val="100000"/>
              </a:lnSpc>
              <a:buNone/>
            </a:pPr>
            <a:r>
              <a:rPr lang="en-US" sz="1200" b="0" i="0" dirty="0" err="1">
                <a:effectLst/>
                <a:latin typeface="+mn-lt"/>
              </a:rPr>
              <a:t>4. An actual use trial can be strong evidence, but it carries operational risk and needs full records.</a:t>
            </a:r>
            <a:endParaRPr lang="en-US" sz="1200" b="1" i="0" dirty="0">
              <a:effectLst/>
              <a:latin typeface="+mn-lt"/>
            </a:endParaRPr>
          </a:p>
          <a:p>
            <a:pPr fontAlgn="t">
              <a:lnSpc>
                <a:spcPct val="100000"/>
              </a:lnSpc>
              <a:buNone/>
            </a:pPr>
            <a:r>
              <a:rPr lang="en-US" sz="1200" b="0" i="0" dirty="0" err="1">
                <a:effectLst/>
                <a:latin typeface="+mn-lt"/>
              </a:rPr>
              <a:t>5. ISO 8217:2024 accepts a Clause 5 breach once causation is established.</a:t>
            </a:r>
            <a:endParaRPr lang="en-US" sz="1200" b="1" i="0" dirty="0">
              <a:effectLst/>
              <a:latin typeface="+mn-lt"/>
            </a:endParaRPr>
          </a:p>
        </p:txBody>
      </p:sp>
    </p:spTree>
    <p:extLst>
      <p:ext uri="{BB962C8B-B14F-4D97-AF65-F5344CB8AC3E}">
        <p14:creationId xmlns:p14="http://schemas.microsoft.com/office/powerpoint/2010/main" val="3302341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AFB3-EE8D-00E7-708C-A89E4B7860F2}"/>
            </a:ext>
          </a:extLst>
        </p:cNvPr>
        <p:cNvGrpSpPr/>
        <p:nvPr/>
      </p:nvGrpSpPr>
      <p:grpSpPr>
        <a:xfrm>
          <a:off x="0" y="0"/>
          <a:ext cx="0" cy="0"/>
          <a:chOff x="0" y="0"/>
          <a:chExt cx="0" cy="0"/>
        </a:xfrm>
      </p:grpSpPr>
      <p:sp>
        <p:nvSpPr>
          <p:cNvPr id="539" name="Rectangle 540">
            <a:extLst>
              <a:ext uri="{FF2B5EF4-FFF2-40B4-BE49-F238E27FC236}">
                <a16:creationId xmlns:a16="http://schemas.microsoft.com/office/drawing/2014/main" id="{416A66C5-BD64-71A4-AF43-C18ABEE26585}"/>
              </a:ext>
            </a:extLst>
          </p:cNvPr>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541" name="TextBox 542">
            <a:extLst>
              <a:ext uri="{FF2B5EF4-FFF2-40B4-BE49-F238E27FC236}">
                <a16:creationId xmlns:a16="http://schemas.microsoft.com/office/drawing/2014/main" id="{73D504B3-7BA0-40CF-A139-EFF007628494}"/>
              </a:ext>
            </a:extLst>
          </p:cNvPr>
          <p:cNvSpPr txBox="1"/>
          <p:nvPr/>
        </p:nvSpPr>
        <p:spPr>
          <a:xfrm>
            <a:off x="502920" y="146304"/>
            <a:ext cx="11155680" cy="749808"/>
          </a:xfrm>
          <a:prstGeom prst="rect">
            <a:avLst/>
          </a:prstGeom>
          <a:noFill/>
        </p:spPr>
        <p:txBody>
          <a:bodyPr wrap="square" lIns="36576" tIns="0" rIns="36576" bIns="0" anchor="ctr"/>
          <a:lstStyle/>
          <a:p>
            <a:pPr algn="l">
              <a:lnSpc>
                <a:spcPct val="125000"/>
              </a:lnSpc>
              <a:spcAft>
                <a:spcPts val="0"/>
              </a:spcAft>
            </a:pPr>
            <a:r>
              <a:rPr sz="2500" b="1">
                <a:solidFill>
                  <a:srgbClr val="FFFFFF"/>
                </a:solidFill>
                <a:latin typeface="Calibri"/>
                <a:ea typeface="맑은 고딕"/>
                <a:cs typeface="Calibri"/>
              </a:rPr>
              <a:t>Five Takeaways</a:t>
            </a:r>
          </a:p>
        </p:txBody>
      </p:sp>
      <p:sp>
        <p:nvSpPr>
          <p:cNvPr id="4" name="TextBox 3">
            <a:extLst>
              <a:ext uri="{FF2B5EF4-FFF2-40B4-BE49-F238E27FC236}">
                <a16:creationId xmlns:a16="http://schemas.microsoft.com/office/drawing/2014/main" id="{1874F54E-1CD2-006F-0204-7DB672B5A780}"/>
              </a:ext>
            </a:extLst>
          </p:cNvPr>
          <p:cNvSpPr txBox="1"/>
          <p:nvPr/>
        </p:nvSpPr>
        <p:spPr>
          <a:xfrm>
            <a:off x="502920" y="1432712"/>
            <a:ext cx="10441501" cy="3170099"/>
          </a:xfrm>
          <a:prstGeom prst="rect">
            <a:avLst/>
          </a:prstGeom>
          <a:noFill/>
        </p:spPr>
        <p:txBody>
          <a:bodyPr wrap="square">
            <a:spAutoFit/>
          </a:bodyPr>
          <a:lstStyle/>
          <a:p>
            <a:pPr fontAlgn="t">
              <a:lnSpc>
                <a:spcPct val="100000"/>
              </a:lnSpc>
              <a:buNone/>
            </a:pPr>
            <a:r>
              <a:rPr lang="en-US" sz="1300" b="1" i="0" dirty="0">
                <a:effectLst/>
                <a:latin typeface="+mn-lt"/>
              </a:rPr>
              <a:t>1. Passing ISO 8217 Table 2 does not guarantee the fuel is safe to use.</a:t>
            </a:r>
            <a:endParaRPr lang="en-US" sz="1300" b="0" i="0" dirty="0">
              <a:effectLst/>
              <a:latin typeface="+mn-lt"/>
            </a:endParaRPr>
          </a:p>
          <a:p>
            <a:pPr fontAlgn="t">
              <a:lnSpc>
                <a:spcPct val="100000"/>
              </a:lnSpc>
              <a:buNone/>
            </a:pPr>
            <a:r>
              <a:rPr lang="en-US" sz="1300" b="0" i="0" dirty="0">
                <a:effectLst/>
                <a:latin typeface="+mn-lt"/>
              </a:rPr>
              <a:t>Fuel that passes the tests can still block filters and damage the fuel system.</a:t>
            </a:r>
            <a:endParaRPr lang="en-US" sz="1300" b="0" i="0" dirty="0">
              <a:effectLst/>
              <a:latin typeface="+mn-lt"/>
            </a:endParaRPr>
          </a:p>
          <a:p>
            <a:pPr fontAlgn="t">
              <a:lnSpc>
                <a:spcPct val="100000"/>
              </a:lnSpc>
              <a:buNone/>
            </a:pPr>
            <a:r>
              <a:rPr lang="en-US" sz="1300" b="0" i="0" dirty="0">
                <a:effectLst/>
                <a:latin typeface="+mn-lt"/>
              </a:rPr>
              <a:t>So never judge fuel risk on spec compliance alone.</a:t>
            </a:r>
            <a:endParaRPr lang="en-US" sz="1300" b="0" i="0" dirty="0">
              <a:effectLst/>
              <a:latin typeface="+mn-lt"/>
            </a:endParaRPr>
          </a:p>
          <a:p>
            <a:pPr fontAlgn="t">
              <a:lnSpc>
                <a:spcPct val="100000"/>
              </a:lnSpc>
              <a:buNone/>
            </a:pPr>
            <a:r>
              <a:rPr lang="en-US" sz="1300" b="1" i="0" dirty="0">
                <a:effectLst/>
                <a:latin typeface="+mn-lt"/>
              </a:rPr>
              <a:t>2. Managing chemical contaminants under Clause 5 matters more and more.</a:t>
            </a:r>
            <a:endParaRPr lang="en-US" sz="1300" b="0" i="0" dirty="0">
              <a:effectLst/>
              <a:latin typeface="+mn-lt"/>
            </a:endParaRPr>
          </a:p>
          <a:p>
            <a:pPr fontAlgn="t">
              <a:lnSpc>
                <a:spcPct val="100000"/>
              </a:lnSpc>
              <a:buNone/>
            </a:pPr>
            <a:r>
              <a:rPr lang="en-US" sz="1300" b="0" i="0" dirty="0">
                <a:effectLst/>
                <a:latin typeface="+mn-lt"/>
              </a:rPr>
              <a:t>Substances such as Cardol and CNSL are not covered by Table 2, yet they can stop the ship.</a:t>
            </a:r>
            <a:endParaRPr lang="en-US" sz="1300" b="0" i="0" dirty="0">
              <a:effectLst/>
              <a:latin typeface="+mn-lt"/>
            </a:endParaRPr>
          </a:p>
          <a:p>
            <a:pPr fontAlgn="t">
              <a:lnSpc>
                <a:spcPct val="100000"/>
              </a:lnSpc>
              <a:buNone/>
            </a:pPr>
            <a:r>
              <a:rPr lang="en-US" sz="1300" b="0" i="0" dirty="0">
                <a:effectLst/>
                <a:latin typeface="+mn-lt"/>
              </a:rPr>
              <a:t>Use GC-MS or similar analysis when you need to check for hidden risk.</a:t>
            </a:r>
            <a:endParaRPr lang="en-US" sz="1300" b="0" i="0" dirty="0">
              <a:effectLst/>
              <a:latin typeface="+mn-lt"/>
            </a:endParaRPr>
          </a:p>
          <a:p>
            <a:pPr fontAlgn="t">
              <a:lnSpc>
                <a:spcPct val="100000"/>
              </a:lnSpc>
              <a:buNone/>
            </a:pPr>
            <a:r>
              <a:rPr lang="en-US" sz="1300" b="1" i="0" dirty="0">
                <a:effectLst/>
                <a:latin typeface="+mn-lt"/>
              </a:rPr>
              <a:t>3. Poor fuel is an operational risk, not just a quality issue.</a:t>
            </a:r>
            <a:endParaRPr lang="en-US" sz="1300" b="0" i="0" dirty="0">
              <a:effectLst/>
              <a:latin typeface="+mn-lt"/>
            </a:endParaRPr>
          </a:p>
          <a:p>
            <a:pPr fontAlgn="t">
              <a:lnSpc>
                <a:spcPct val="100000"/>
              </a:lnSpc>
              <a:buNone/>
            </a:pPr>
            <a:r>
              <a:rPr lang="en-US" sz="1300" b="0" i="0" dirty="0">
                <a:effectLst/>
                <a:latin typeface="+mn-lt"/>
              </a:rPr>
              <a:t>It leads to engine damage, loss of propulsion, delay, debunkering and PSC detention — and to real cost.</a:t>
            </a:r>
            <a:endParaRPr lang="en-US" sz="1300" b="0" i="0" dirty="0">
              <a:effectLst/>
              <a:latin typeface="+mn-lt"/>
            </a:endParaRPr>
          </a:p>
          <a:p>
            <a:pPr fontAlgn="t">
              <a:lnSpc>
                <a:spcPct val="100000"/>
              </a:lnSpc>
              <a:buNone/>
            </a:pPr>
            <a:r>
              <a:rPr lang="en-US" sz="1300" b="1" i="0" dirty="0">
                <a:effectLst/>
                <a:latin typeface="+mn-lt"/>
              </a:rPr>
              <a:t>4. When a dispute starts, sample handling and joint testing decide the outcome.</a:t>
            </a:r>
            <a:endParaRPr lang="en-US" sz="1300" b="0" i="0" dirty="0">
              <a:effectLst/>
              <a:latin typeface="+mn-lt"/>
            </a:endParaRPr>
          </a:p>
          <a:p>
            <a:pPr fontAlgn="t">
              <a:lnSpc>
                <a:spcPct val="100000"/>
              </a:lnSpc>
              <a:buNone/>
            </a:pPr>
            <a:r>
              <a:rPr lang="en-US" sz="1300" b="0" i="0" dirty="0">
                <a:effectLst/>
                <a:latin typeface="+mn-lt"/>
              </a:rPr>
              <a:t>Proving the sample is representative and reliable is the core of any claim.</a:t>
            </a:r>
            <a:endParaRPr lang="en-US" sz="1300" b="0" i="0" dirty="0">
              <a:effectLst/>
              <a:latin typeface="+mn-lt"/>
            </a:endParaRPr>
          </a:p>
          <a:p>
            <a:pPr fontAlgn="t">
              <a:lnSpc>
                <a:spcPct val="100000"/>
              </a:lnSpc>
              <a:buNone/>
            </a:pPr>
            <a:r>
              <a:rPr lang="en-US" sz="1300" b="0" i="0" dirty="0">
                <a:effectLst/>
                <a:latin typeface="+mn-lt"/>
              </a:rPr>
              <a:t>Fingerprinting analysis and a clear, agreed test procedure show who is responsible.</a:t>
            </a:r>
            <a:endParaRPr lang="en-US" sz="1300" b="0" i="0" dirty="0">
              <a:effectLst/>
              <a:latin typeface="+mn-lt"/>
            </a:endParaRPr>
          </a:p>
          <a:p>
            <a:pPr fontAlgn="t">
              <a:lnSpc>
                <a:spcPct val="100000"/>
              </a:lnSpc>
              <a:buNone/>
            </a:pPr>
            <a:r>
              <a:rPr lang="en-US" sz="1300" b="1" i="0" dirty="0">
                <a:effectLst/>
                <a:latin typeface="+mn-lt"/>
              </a:rPr>
              <a:t>5. Owners and charterers have to work together.</a:t>
            </a:r>
            <a:endParaRPr lang="en-US" sz="1300" b="0" i="0" dirty="0">
              <a:effectLst/>
              <a:latin typeface="+mn-lt"/>
            </a:endParaRPr>
          </a:p>
          <a:p>
            <a:pPr fontAlgn="t">
              <a:lnSpc>
                <a:spcPct val="100000"/>
              </a:lnSpc>
              <a:buNone/>
            </a:pPr>
            <a:r>
              <a:rPr lang="en-US" sz="1300" b="0" i="0" dirty="0">
                <a:effectLst/>
                <a:latin typeface="+mn-lt"/>
              </a:rPr>
              <a:t>Fuel selection, sampling, testing and problem response all need both sides.</a:t>
            </a:r>
            <a:endParaRPr lang="en-US" sz="1300" b="0" i="0" dirty="0">
              <a:effectLst/>
              <a:latin typeface="+mn-lt"/>
            </a:endParaRPr>
          </a:p>
          <a:p>
            <a:pPr fontAlgn="t">
              <a:lnSpc>
                <a:spcPct val="100000"/>
              </a:lnSpc>
              <a:buNone/>
            </a:pPr>
            <a:r>
              <a:rPr lang="en-US" sz="1300" b="0" i="0" dirty="0">
                <a:effectLst/>
                <a:latin typeface="+mn-lt"/>
              </a:rPr>
              <a:t>Stopping poor fuel before it is supplied and used is the most effective risk management of all.</a:t>
            </a:r>
            <a:endParaRPr lang="en-US" sz="1300" b="0" i="0" dirty="0">
              <a:effectLst/>
              <a:latin typeface="+mn-lt"/>
            </a:endParaRPr>
          </a:p>
        </p:txBody>
      </p:sp>
    </p:spTree>
    <p:extLst>
      <p:ext uri="{BB962C8B-B14F-4D97-AF65-F5344CB8AC3E}">
        <p14:creationId xmlns:p14="http://schemas.microsoft.com/office/powerpoint/2010/main" val="3599884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 name="Rectangle 738"/>
          <p:cNvSpPr/>
          <p:nvPr/>
        </p:nvSpPr>
        <p:spPr>
          <a:xfrm>
            <a:off x="0" y="0"/>
            <a:ext cx="12191695" cy="1024128"/>
          </a:xfrm>
          <a:prstGeom prst="rect">
            <a:avLst/>
          </a:prstGeom>
          <a:solidFill>
            <a:srgbClr val="172A4A"/>
          </a:solidFill>
          <a:ln>
            <a:noFill/>
          </a:ln>
          <a:effectLst/>
        </p:spPr>
        <p:txBody>
          <a:bodyPr rtlCol="0" anchor="ctr"/>
          <a:lstStyle/>
          <a:p>
            <a:pPr algn="ctr"/>
            <a:endParaRPr/>
          </a:p>
        </p:txBody>
      </p:sp>
      <p:sp>
        <p:nvSpPr>
          <p:cNvPr id="739" name="TextBox 740"/>
          <p:cNvSpPr txBox="1"/>
          <p:nvPr/>
        </p:nvSpPr>
        <p:spPr>
          <a:xfrm>
            <a:off x="502920" y="146304"/>
            <a:ext cx="11155680" cy="749808"/>
          </a:xfrm>
          <a:prstGeom prst="rect">
            <a:avLst/>
          </a:prstGeom>
          <a:noFill/>
        </p:spPr>
        <p:txBody>
          <a:bodyPr wrap="square" lIns="36576" tIns="0" rIns="36576" bIns="0" anchor="ctr"/>
          <a:lstStyle/>
          <a:p>
            <a:pPr fontAlgn="t">
              <a:lnSpc>
                <a:spcPct val="100000"/>
              </a:lnSpc>
              <a:buNone/>
            </a:pPr>
            <a:r>
              <a:rPr lang="en-US" sz="1500" b="1" dirty="0">
                <a:solidFill>
                  <a:schemeClr val="bg1"/>
                </a:solidFill>
              </a:rPr>
              <a:t>SSA Biofuels FAQ 2026 — Guide for FAME Blends</a:t>
            </a:r>
          </a:p>
        </p:txBody>
      </p:sp>
      <p:sp>
        <p:nvSpPr>
          <p:cNvPr id="741" name="Rectangle 742"/>
          <p:cNvSpPr/>
          <p:nvPr/>
        </p:nvSpPr>
        <p:spPr>
          <a:xfrm>
            <a:off x="502920" y="1325880"/>
            <a:ext cx="5440680" cy="329184"/>
          </a:xfrm>
          <a:prstGeom prst="rect">
            <a:avLst/>
          </a:prstGeom>
          <a:solidFill>
            <a:srgbClr val="EFEFEF"/>
          </a:solidFill>
          <a:ln>
            <a:noFill/>
          </a:ln>
          <a:effectLst/>
        </p:spPr>
        <p:txBody>
          <a:bodyPr rtlCol="0" anchor="ctr"/>
          <a:lstStyle/>
          <a:p>
            <a:pPr algn="ctr"/>
            <a:endParaRPr/>
          </a:p>
        </p:txBody>
      </p:sp>
      <p:sp>
        <p:nvSpPr>
          <p:cNvPr id="743" name="TextBox 744"/>
          <p:cNvSpPr txBox="1"/>
          <p:nvPr/>
        </p:nvSpPr>
        <p:spPr>
          <a:xfrm>
            <a:off x="612648"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Nine things to watch</a:t>
            </a:r>
          </a:p>
        </p:txBody>
      </p:sp>
      <p:sp>
        <p:nvSpPr>
          <p:cNvPr id="745" name="Rectangle 746"/>
          <p:cNvSpPr/>
          <p:nvPr/>
        </p:nvSpPr>
        <p:spPr>
          <a:xfrm>
            <a:off x="502920" y="1783080"/>
            <a:ext cx="1554480" cy="384048"/>
          </a:xfrm>
          <a:prstGeom prst="rect">
            <a:avLst/>
          </a:prstGeom>
          <a:solidFill>
            <a:srgbClr val="172A4A"/>
          </a:solidFill>
          <a:ln>
            <a:noFill/>
          </a:ln>
          <a:effectLst/>
        </p:spPr>
        <p:txBody>
          <a:bodyPr rtlCol="0" anchor="ctr"/>
          <a:lstStyle/>
          <a:p>
            <a:pPr algn="ctr"/>
            <a:endParaRPr/>
          </a:p>
        </p:txBody>
      </p:sp>
      <p:sp>
        <p:nvSpPr>
          <p:cNvPr id="747" name="TextBox 748"/>
          <p:cNvSpPr txBox="1"/>
          <p:nvPr/>
        </p:nvSpPr>
        <p:spPr>
          <a:xfrm>
            <a:off x="576072" y="1783080"/>
            <a:ext cx="140817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Item</a:t>
            </a:r>
          </a:p>
        </p:txBody>
      </p:sp>
      <p:sp>
        <p:nvSpPr>
          <p:cNvPr id="749" name="Rectangle 750"/>
          <p:cNvSpPr/>
          <p:nvPr/>
        </p:nvSpPr>
        <p:spPr>
          <a:xfrm>
            <a:off x="2057400" y="1783080"/>
            <a:ext cx="3886200" cy="384048"/>
          </a:xfrm>
          <a:prstGeom prst="rect">
            <a:avLst/>
          </a:prstGeom>
          <a:solidFill>
            <a:srgbClr val="172A4A"/>
          </a:solidFill>
          <a:ln>
            <a:noFill/>
          </a:ln>
          <a:effectLst/>
        </p:spPr>
        <p:txBody>
          <a:bodyPr rtlCol="0" anchor="ctr"/>
          <a:lstStyle/>
          <a:p>
            <a:pPr algn="ctr"/>
            <a:endParaRPr/>
          </a:p>
        </p:txBody>
      </p:sp>
      <p:sp>
        <p:nvSpPr>
          <p:cNvPr id="751" name="TextBox 752"/>
          <p:cNvSpPr txBox="1"/>
          <p:nvPr/>
        </p:nvSpPr>
        <p:spPr>
          <a:xfrm>
            <a:off x="2130552" y="1783080"/>
            <a:ext cx="3739896" cy="384048"/>
          </a:xfrm>
          <a:prstGeom prst="rect">
            <a:avLst/>
          </a:prstGeom>
          <a:noFill/>
        </p:spPr>
        <p:txBody>
          <a:bodyPr wrap="square" lIns="36576" tIns="0" rIns="36576" bIns="0" anchor="ctr"/>
          <a:lstStyle/>
          <a:p>
            <a:pPr algn="l">
              <a:lnSpc>
                <a:spcPct val="110000"/>
              </a:lnSpc>
              <a:spcAft>
                <a:spcPts val="0"/>
              </a:spcAft>
            </a:pPr>
            <a:r>
              <a:rPr sz="1100" b="1">
                <a:solidFill>
                  <a:srgbClr val="FFFFFF"/>
                </a:solidFill>
                <a:latin typeface="Calibri"/>
                <a:ea typeface="맑은 고딕"/>
                <a:cs typeface="Calibri"/>
              </a:rPr>
              <a:t>What happens</a:t>
            </a:r>
          </a:p>
        </p:txBody>
      </p:sp>
      <p:sp>
        <p:nvSpPr>
          <p:cNvPr id="753" name="Rectangle 754"/>
          <p:cNvSpPr/>
          <p:nvPr/>
        </p:nvSpPr>
        <p:spPr>
          <a:xfrm>
            <a:off x="502920" y="2167128"/>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55" name="TextBox 756"/>
          <p:cNvSpPr txBox="1"/>
          <p:nvPr/>
        </p:nvSpPr>
        <p:spPr>
          <a:xfrm>
            <a:off x="576072" y="2167128"/>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Storage ageing</a:t>
            </a:r>
          </a:p>
        </p:txBody>
      </p:sp>
      <p:sp>
        <p:nvSpPr>
          <p:cNvPr id="757" name="Rectangle 758"/>
          <p:cNvSpPr/>
          <p:nvPr/>
        </p:nvSpPr>
        <p:spPr>
          <a:xfrm>
            <a:off x="2057400" y="2167128"/>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59" name="TextBox 760"/>
          <p:cNvSpPr txBox="1"/>
          <p:nvPr/>
        </p:nvSpPr>
        <p:spPr>
          <a:xfrm>
            <a:off x="2130552" y="2167128"/>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Sludge forms if the fuel is not used in time</a:t>
            </a:r>
          </a:p>
        </p:txBody>
      </p:sp>
      <p:sp>
        <p:nvSpPr>
          <p:cNvPr id="761" name="Rectangle 762"/>
          <p:cNvSpPr/>
          <p:nvPr/>
        </p:nvSpPr>
        <p:spPr>
          <a:xfrm>
            <a:off x="502920" y="2551176"/>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63" name="TextBox 764"/>
          <p:cNvSpPr txBox="1"/>
          <p:nvPr/>
        </p:nvSpPr>
        <p:spPr>
          <a:xfrm>
            <a:off x="576072" y="2551176"/>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Cold-weather wax</a:t>
            </a:r>
          </a:p>
        </p:txBody>
      </p:sp>
      <p:sp>
        <p:nvSpPr>
          <p:cNvPr id="765" name="Rectangle 766"/>
          <p:cNvSpPr/>
          <p:nvPr/>
        </p:nvSpPr>
        <p:spPr>
          <a:xfrm>
            <a:off x="2057400" y="2551176"/>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67" name="TextBox 768"/>
          <p:cNvSpPr txBox="1"/>
          <p:nvPr/>
        </p:nvSpPr>
        <p:spPr>
          <a:xfrm>
            <a:off x="2130552" y="2551176"/>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Wax forms in cold trades — check heating capacity</a:t>
            </a:r>
          </a:p>
        </p:txBody>
      </p:sp>
      <p:sp>
        <p:nvSpPr>
          <p:cNvPr id="769" name="Rectangle 770"/>
          <p:cNvSpPr/>
          <p:nvPr/>
        </p:nvSpPr>
        <p:spPr>
          <a:xfrm>
            <a:off x="502920" y="2935224"/>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71" name="TextBox 772"/>
          <p:cNvSpPr txBox="1"/>
          <p:nvPr/>
        </p:nvSpPr>
        <p:spPr>
          <a:xfrm>
            <a:off x="576072" y="2935224"/>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Microbial growth</a:t>
            </a:r>
          </a:p>
        </p:txBody>
      </p:sp>
      <p:sp>
        <p:nvSpPr>
          <p:cNvPr id="773" name="Rectangle 774"/>
          <p:cNvSpPr/>
          <p:nvPr/>
        </p:nvSpPr>
        <p:spPr>
          <a:xfrm>
            <a:off x="2057400" y="2935224"/>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75" name="TextBox 776"/>
          <p:cNvSpPr txBox="1"/>
          <p:nvPr/>
        </p:nvSpPr>
        <p:spPr>
          <a:xfrm>
            <a:off x="2130552" y="2935224"/>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Water and oxygen let biofilm form</a:t>
            </a:r>
          </a:p>
        </p:txBody>
      </p:sp>
      <p:sp>
        <p:nvSpPr>
          <p:cNvPr id="777" name="Rectangle 778"/>
          <p:cNvSpPr/>
          <p:nvPr/>
        </p:nvSpPr>
        <p:spPr>
          <a:xfrm>
            <a:off x="502920" y="3319272"/>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79" name="TextBox 780"/>
          <p:cNvSpPr txBox="1"/>
          <p:nvPr/>
        </p:nvSpPr>
        <p:spPr>
          <a:xfrm>
            <a:off x="576072" y="3319272"/>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Compatibility</a:t>
            </a:r>
          </a:p>
        </p:txBody>
      </p:sp>
      <p:sp>
        <p:nvSpPr>
          <p:cNvPr id="781" name="Rectangle 782"/>
          <p:cNvSpPr/>
          <p:nvPr/>
        </p:nvSpPr>
        <p:spPr>
          <a:xfrm>
            <a:off x="2057400" y="3319272"/>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83" name="TextBox 784"/>
          <p:cNvSpPr txBox="1"/>
          <p:nvPr/>
        </p:nvSpPr>
        <p:spPr>
          <a:xfrm>
            <a:off x="2130552" y="3319272"/>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Unstable when mixed with other fuels — clean the tank</a:t>
            </a:r>
          </a:p>
        </p:txBody>
      </p:sp>
      <p:sp>
        <p:nvSpPr>
          <p:cNvPr id="785" name="Rectangle 786"/>
          <p:cNvSpPr/>
          <p:nvPr/>
        </p:nvSpPr>
        <p:spPr>
          <a:xfrm>
            <a:off x="502920" y="3703320"/>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87" name="TextBox 788"/>
          <p:cNvSpPr txBox="1"/>
          <p:nvPr/>
        </p:nvSpPr>
        <p:spPr>
          <a:xfrm>
            <a:off x="576072" y="3703320"/>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Corrosion</a:t>
            </a:r>
          </a:p>
        </p:txBody>
      </p:sp>
      <p:sp>
        <p:nvSpPr>
          <p:cNvPr id="789" name="Rectangle 790"/>
          <p:cNvSpPr/>
          <p:nvPr/>
        </p:nvSpPr>
        <p:spPr>
          <a:xfrm>
            <a:off x="2057400" y="3703320"/>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91" name="TextBox 792"/>
          <p:cNvSpPr txBox="1"/>
          <p:nvPr/>
        </p:nvSpPr>
        <p:spPr>
          <a:xfrm>
            <a:off x="2130552" y="3703320"/>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Auto-oxidation makes the fuel more corrosive</a:t>
            </a:r>
          </a:p>
        </p:txBody>
      </p:sp>
      <p:sp>
        <p:nvSpPr>
          <p:cNvPr id="793" name="Rectangle 794"/>
          <p:cNvSpPr/>
          <p:nvPr/>
        </p:nvSpPr>
        <p:spPr>
          <a:xfrm>
            <a:off x="502920" y="4087368"/>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795" name="TextBox 796"/>
          <p:cNvSpPr txBox="1"/>
          <p:nvPr/>
        </p:nvSpPr>
        <p:spPr>
          <a:xfrm>
            <a:off x="576072" y="4087368"/>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Seals and gaskets</a:t>
            </a:r>
          </a:p>
        </p:txBody>
      </p:sp>
      <p:sp>
        <p:nvSpPr>
          <p:cNvPr id="797" name="Rectangle 798"/>
          <p:cNvSpPr/>
          <p:nvPr/>
        </p:nvSpPr>
        <p:spPr>
          <a:xfrm>
            <a:off x="2057400" y="4087368"/>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799" name="TextBox 800"/>
          <p:cNvSpPr txBox="1"/>
          <p:nvPr/>
        </p:nvSpPr>
        <p:spPr>
          <a:xfrm>
            <a:off x="2130552" y="4087368"/>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Rubber degrades — check fuel system materials</a:t>
            </a:r>
          </a:p>
        </p:txBody>
      </p:sp>
      <p:sp>
        <p:nvSpPr>
          <p:cNvPr id="801" name="Rectangle 802"/>
          <p:cNvSpPr/>
          <p:nvPr/>
        </p:nvSpPr>
        <p:spPr>
          <a:xfrm>
            <a:off x="502920" y="4471416"/>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803" name="TextBox 804"/>
          <p:cNvSpPr txBox="1"/>
          <p:nvPr/>
        </p:nvSpPr>
        <p:spPr>
          <a:xfrm>
            <a:off x="576072" y="4471416"/>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Lube oil</a:t>
            </a:r>
          </a:p>
        </p:txBody>
      </p:sp>
      <p:sp>
        <p:nvSpPr>
          <p:cNvPr id="805" name="Rectangle 806"/>
          <p:cNvSpPr/>
          <p:nvPr/>
        </p:nvSpPr>
        <p:spPr>
          <a:xfrm>
            <a:off x="2057400" y="4471416"/>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807" name="TextBox 808"/>
          <p:cNvSpPr txBox="1"/>
          <p:nvPr/>
        </p:nvSpPr>
        <p:spPr>
          <a:xfrm>
            <a:off x="2130552" y="4471416"/>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Some engines need a different lubricating oil</a:t>
            </a:r>
          </a:p>
        </p:txBody>
      </p:sp>
      <p:sp>
        <p:nvSpPr>
          <p:cNvPr id="809" name="Rectangle 810"/>
          <p:cNvSpPr/>
          <p:nvPr/>
        </p:nvSpPr>
        <p:spPr>
          <a:xfrm>
            <a:off x="502920" y="4855464"/>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811" name="TextBox 812"/>
          <p:cNvSpPr txBox="1"/>
          <p:nvPr/>
        </p:nvSpPr>
        <p:spPr>
          <a:xfrm>
            <a:off x="576072" y="4855464"/>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Solvent effect</a:t>
            </a:r>
          </a:p>
        </p:txBody>
      </p:sp>
      <p:sp>
        <p:nvSpPr>
          <p:cNvPr id="813" name="Rectangle 814"/>
          <p:cNvSpPr/>
          <p:nvPr/>
        </p:nvSpPr>
        <p:spPr>
          <a:xfrm>
            <a:off x="2057400" y="4855464"/>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815" name="TextBox 816"/>
          <p:cNvSpPr txBox="1"/>
          <p:nvPr/>
        </p:nvSpPr>
        <p:spPr>
          <a:xfrm>
            <a:off x="2130552" y="4855464"/>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Lifts old tank deposits and blocks the filters</a:t>
            </a:r>
          </a:p>
        </p:txBody>
      </p:sp>
      <p:sp>
        <p:nvSpPr>
          <p:cNvPr id="817" name="Rectangle 818"/>
          <p:cNvSpPr/>
          <p:nvPr/>
        </p:nvSpPr>
        <p:spPr>
          <a:xfrm>
            <a:off x="502920" y="5239512"/>
            <a:ext cx="1554480" cy="384048"/>
          </a:xfrm>
          <a:prstGeom prst="rect">
            <a:avLst/>
          </a:prstGeom>
          <a:solidFill>
            <a:srgbClr val="FFFFFF"/>
          </a:solidFill>
          <a:ln w="9525">
            <a:solidFill>
              <a:srgbClr val="D0D4DA"/>
            </a:solidFill>
          </a:ln>
          <a:effectLst/>
        </p:spPr>
        <p:txBody>
          <a:bodyPr rtlCol="0" anchor="ctr"/>
          <a:lstStyle/>
          <a:p>
            <a:pPr algn="ctr"/>
            <a:endParaRPr/>
          </a:p>
        </p:txBody>
      </p:sp>
      <p:sp>
        <p:nvSpPr>
          <p:cNvPr id="819" name="TextBox 820"/>
          <p:cNvSpPr txBox="1"/>
          <p:nvPr/>
        </p:nvSpPr>
        <p:spPr>
          <a:xfrm>
            <a:off x="576072" y="5239512"/>
            <a:ext cx="140817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Energy and viscosity</a:t>
            </a:r>
          </a:p>
        </p:txBody>
      </p:sp>
      <p:sp>
        <p:nvSpPr>
          <p:cNvPr id="821" name="Rectangle 822"/>
          <p:cNvSpPr/>
          <p:nvPr/>
        </p:nvSpPr>
        <p:spPr>
          <a:xfrm>
            <a:off x="2057400" y="5239512"/>
            <a:ext cx="3886200" cy="384048"/>
          </a:xfrm>
          <a:prstGeom prst="rect">
            <a:avLst/>
          </a:prstGeom>
          <a:solidFill>
            <a:srgbClr val="FFFFFF"/>
          </a:solidFill>
          <a:ln w="9525">
            <a:solidFill>
              <a:srgbClr val="D0D4DA"/>
            </a:solidFill>
          </a:ln>
          <a:effectLst/>
        </p:spPr>
        <p:txBody>
          <a:bodyPr rtlCol="0" anchor="ctr"/>
          <a:lstStyle/>
          <a:p>
            <a:pPr algn="ctr"/>
            <a:endParaRPr/>
          </a:p>
        </p:txBody>
      </p:sp>
      <p:sp>
        <p:nvSpPr>
          <p:cNvPr id="823" name="TextBox 824"/>
          <p:cNvSpPr txBox="1"/>
          <p:nvPr/>
        </p:nvSpPr>
        <p:spPr>
          <a:xfrm>
            <a:off x="2130552" y="5239512"/>
            <a:ext cx="3739896" cy="384048"/>
          </a:xfrm>
          <a:prstGeom prst="rect">
            <a:avLst/>
          </a:prstGeom>
          <a:noFill/>
        </p:spPr>
        <p:txBody>
          <a:bodyPr wrap="square" lIns="36576" tIns="0" rIns="36576" bIns="0" anchor="ctr"/>
          <a:lstStyle/>
          <a:p>
            <a:pPr algn="l">
              <a:lnSpc>
                <a:spcPct val="110000"/>
              </a:lnSpc>
              <a:spcAft>
                <a:spcPts val="0"/>
              </a:spcAft>
            </a:pPr>
            <a:r>
              <a:rPr sz="1100" b="0">
                <a:solidFill>
                  <a:srgbClr val="1A1A1A"/>
                </a:solidFill>
                <a:latin typeface="Calibri"/>
                <a:ea typeface="맑은 고딕"/>
                <a:cs typeface="Calibri"/>
              </a:rPr>
              <a:t>More fuel for the same voyage — pump capacity limit</a:t>
            </a:r>
          </a:p>
        </p:txBody>
      </p:sp>
      <p:sp>
        <p:nvSpPr>
          <p:cNvPr id="825" name="Rectangle 826"/>
          <p:cNvSpPr/>
          <p:nvPr/>
        </p:nvSpPr>
        <p:spPr>
          <a:xfrm>
            <a:off x="6245352" y="1325880"/>
            <a:ext cx="5440680" cy="329184"/>
          </a:xfrm>
          <a:prstGeom prst="rect">
            <a:avLst/>
          </a:prstGeom>
          <a:solidFill>
            <a:srgbClr val="EFEFEF"/>
          </a:solidFill>
          <a:ln>
            <a:noFill/>
          </a:ln>
          <a:effectLst/>
        </p:spPr>
        <p:txBody>
          <a:bodyPr rtlCol="0" anchor="ctr"/>
          <a:lstStyle/>
          <a:p>
            <a:pPr algn="ctr"/>
            <a:endParaRPr/>
          </a:p>
        </p:txBody>
      </p:sp>
      <p:sp>
        <p:nvSpPr>
          <p:cNvPr id="827" name="TextBox 828"/>
          <p:cNvSpPr txBox="1"/>
          <p:nvPr/>
        </p:nvSpPr>
        <p:spPr>
          <a:xfrm>
            <a:off x="6355080" y="1325880"/>
            <a:ext cx="5221224" cy="329184"/>
          </a:xfrm>
          <a:prstGeom prst="rect">
            <a:avLst/>
          </a:prstGeom>
          <a:noFill/>
        </p:spPr>
        <p:txBody>
          <a:bodyPr wrap="square" lIns="36576" tIns="0" rIns="36576" bIns="0" anchor="ctr"/>
          <a:lstStyle/>
          <a:p>
            <a:pPr algn="l">
              <a:lnSpc>
                <a:spcPct val="100000"/>
              </a:lnSpc>
              <a:spcAft>
                <a:spcPts val="0"/>
              </a:spcAft>
            </a:pPr>
            <a:r>
              <a:rPr sz="1200" b="1">
                <a:solidFill>
                  <a:srgbClr val="333333"/>
                </a:solidFill>
                <a:latin typeface="Calibri"/>
                <a:ea typeface="맑은 고딕"/>
                <a:cs typeface="Calibri"/>
              </a:rPr>
              <a:t>Storage — four things to monitor</a:t>
            </a:r>
          </a:p>
        </p:txBody>
      </p:sp>
      <p:sp>
        <p:nvSpPr>
          <p:cNvPr id="829" name="Rectangle 830"/>
          <p:cNvSpPr/>
          <p:nvPr/>
        </p:nvSpPr>
        <p:spPr>
          <a:xfrm>
            <a:off x="6245352" y="1783080"/>
            <a:ext cx="2103120" cy="402336"/>
          </a:xfrm>
          <a:prstGeom prst="rect">
            <a:avLst/>
          </a:prstGeom>
          <a:solidFill>
            <a:srgbClr val="172A4A"/>
          </a:solidFill>
          <a:ln>
            <a:noFill/>
          </a:ln>
          <a:effectLst/>
        </p:spPr>
        <p:txBody>
          <a:bodyPr rtlCol="0" anchor="ctr"/>
          <a:lstStyle/>
          <a:p>
            <a:pPr algn="ctr"/>
            <a:endParaRPr/>
          </a:p>
        </p:txBody>
      </p:sp>
      <p:sp>
        <p:nvSpPr>
          <p:cNvPr id="831" name="TextBox 832"/>
          <p:cNvSpPr txBox="1"/>
          <p:nvPr/>
        </p:nvSpPr>
        <p:spPr>
          <a:xfrm>
            <a:off x="6318504" y="1783080"/>
            <a:ext cx="195681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Indicator</a:t>
            </a:r>
          </a:p>
        </p:txBody>
      </p:sp>
      <p:sp>
        <p:nvSpPr>
          <p:cNvPr id="833" name="Rectangle 834"/>
          <p:cNvSpPr/>
          <p:nvPr/>
        </p:nvSpPr>
        <p:spPr>
          <a:xfrm>
            <a:off x="8348472" y="1783080"/>
            <a:ext cx="3337560" cy="402336"/>
          </a:xfrm>
          <a:prstGeom prst="rect">
            <a:avLst/>
          </a:prstGeom>
          <a:solidFill>
            <a:srgbClr val="172A4A"/>
          </a:solidFill>
          <a:ln>
            <a:noFill/>
          </a:ln>
          <a:effectLst/>
        </p:spPr>
        <p:txBody>
          <a:bodyPr rtlCol="0" anchor="ctr"/>
          <a:lstStyle/>
          <a:p>
            <a:pPr algn="ctr"/>
            <a:endParaRPr/>
          </a:p>
        </p:txBody>
      </p:sp>
      <p:sp>
        <p:nvSpPr>
          <p:cNvPr id="835" name="TextBox 836"/>
          <p:cNvSpPr txBox="1"/>
          <p:nvPr/>
        </p:nvSpPr>
        <p:spPr>
          <a:xfrm>
            <a:off x="8421624" y="1783080"/>
            <a:ext cx="3191256" cy="402336"/>
          </a:xfrm>
          <a:prstGeom prst="rect">
            <a:avLst/>
          </a:prstGeom>
          <a:noFill/>
        </p:spPr>
        <p:txBody>
          <a:bodyPr wrap="square" lIns="36576" tIns="0" rIns="36576" bIns="0" anchor="ctr"/>
          <a:lstStyle/>
          <a:p>
            <a:pPr algn="l">
              <a:lnSpc>
                <a:spcPct val="110000"/>
              </a:lnSpc>
              <a:spcAft>
                <a:spcPts val="0"/>
              </a:spcAft>
            </a:pPr>
            <a:r>
              <a:rPr sz="1200" b="1">
                <a:solidFill>
                  <a:srgbClr val="FFFFFF"/>
                </a:solidFill>
                <a:latin typeface="Calibri"/>
                <a:ea typeface="맑은 고딕"/>
                <a:cs typeface="Calibri"/>
              </a:rPr>
              <a:t>What it tells you</a:t>
            </a:r>
          </a:p>
        </p:txBody>
      </p:sp>
      <p:sp>
        <p:nvSpPr>
          <p:cNvPr id="837" name="Rectangle 838"/>
          <p:cNvSpPr/>
          <p:nvPr/>
        </p:nvSpPr>
        <p:spPr>
          <a:xfrm>
            <a:off x="6245352" y="2185416"/>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839" name="TextBox 840"/>
          <p:cNvSpPr txBox="1"/>
          <p:nvPr/>
        </p:nvSpPr>
        <p:spPr>
          <a:xfrm>
            <a:off x="6318504" y="2185416"/>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Oxidation stability</a:t>
            </a:r>
          </a:p>
        </p:txBody>
      </p:sp>
      <p:sp>
        <p:nvSpPr>
          <p:cNvPr id="841" name="Rectangle 842"/>
          <p:cNvSpPr/>
          <p:nvPr/>
        </p:nvSpPr>
        <p:spPr>
          <a:xfrm>
            <a:off x="8348472" y="2185416"/>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843" name="TextBox 844"/>
          <p:cNvSpPr txBox="1"/>
          <p:nvPr/>
        </p:nvSpPr>
        <p:spPr>
          <a:xfrm>
            <a:off x="8421624" y="2185416"/>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The most direct sign of ageing</a:t>
            </a:r>
          </a:p>
        </p:txBody>
      </p:sp>
      <p:sp>
        <p:nvSpPr>
          <p:cNvPr id="845" name="Rectangle 846"/>
          <p:cNvSpPr/>
          <p:nvPr/>
        </p:nvSpPr>
        <p:spPr>
          <a:xfrm>
            <a:off x="6245352" y="2587752"/>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847" name="TextBox 848"/>
          <p:cNvSpPr txBox="1"/>
          <p:nvPr/>
        </p:nvSpPr>
        <p:spPr>
          <a:xfrm>
            <a:off x="6318504" y="2587752"/>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FAME content</a:t>
            </a:r>
          </a:p>
        </p:txBody>
      </p:sp>
      <p:sp>
        <p:nvSpPr>
          <p:cNvPr id="849" name="Rectangle 850"/>
          <p:cNvSpPr/>
          <p:nvPr/>
        </p:nvSpPr>
        <p:spPr>
          <a:xfrm>
            <a:off x="8348472" y="2587752"/>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851" name="TextBox 852"/>
          <p:cNvSpPr txBox="1"/>
          <p:nvPr/>
        </p:nvSpPr>
        <p:spPr>
          <a:xfrm>
            <a:off x="8421624" y="2587752"/>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Falls when esters break down or the blend is diluted</a:t>
            </a:r>
          </a:p>
        </p:txBody>
      </p:sp>
      <p:sp>
        <p:nvSpPr>
          <p:cNvPr id="853" name="Rectangle 854"/>
          <p:cNvSpPr/>
          <p:nvPr/>
        </p:nvSpPr>
        <p:spPr>
          <a:xfrm>
            <a:off x="6245352" y="2990088"/>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855" name="TextBox 856"/>
          <p:cNvSpPr txBox="1"/>
          <p:nvPr/>
        </p:nvSpPr>
        <p:spPr>
          <a:xfrm>
            <a:off x="6318504" y="2990088"/>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Acid value</a:t>
            </a:r>
          </a:p>
        </p:txBody>
      </p:sp>
      <p:sp>
        <p:nvSpPr>
          <p:cNvPr id="857" name="Rectangle 858"/>
          <p:cNvSpPr/>
          <p:nvPr/>
        </p:nvSpPr>
        <p:spPr>
          <a:xfrm>
            <a:off x="8348472" y="2990088"/>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859" name="TextBox 860"/>
          <p:cNvSpPr txBox="1"/>
          <p:nvPr/>
        </p:nvSpPr>
        <p:spPr>
          <a:xfrm>
            <a:off x="8421624" y="2990088"/>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Rises as free fatty acids form</a:t>
            </a:r>
          </a:p>
        </p:txBody>
      </p:sp>
      <p:sp>
        <p:nvSpPr>
          <p:cNvPr id="861" name="Rectangle 862"/>
          <p:cNvSpPr/>
          <p:nvPr/>
        </p:nvSpPr>
        <p:spPr>
          <a:xfrm>
            <a:off x="6245352" y="3392424"/>
            <a:ext cx="2103120" cy="402336"/>
          </a:xfrm>
          <a:prstGeom prst="rect">
            <a:avLst/>
          </a:prstGeom>
          <a:solidFill>
            <a:srgbClr val="FFFFFF"/>
          </a:solidFill>
          <a:ln w="9525">
            <a:solidFill>
              <a:srgbClr val="D0D4DA"/>
            </a:solidFill>
          </a:ln>
          <a:effectLst/>
        </p:spPr>
        <p:txBody>
          <a:bodyPr rtlCol="0" anchor="ctr"/>
          <a:lstStyle/>
          <a:p>
            <a:pPr algn="ctr"/>
            <a:endParaRPr/>
          </a:p>
        </p:txBody>
      </p:sp>
      <p:sp>
        <p:nvSpPr>
          <p:cNvPr id="863" name="TextBox 864"/>
          <p:cNvSpPr txBox="1"/>
          <p:nvPr/>
        </p:nvSpPr>
        <p:spPr>
          <a:xfrm>
            <a:off x="6318504" y="3392424"/>
            <a:ext cx="195681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Water content</a:t>
            </a:r>
          </a:p>
        </p:txBody>
      </p:sp>
      <p:sp>
        <p:nvSpPr>
          <p:cNvPr id="865" name="Rectangle 866"/>
          <p:cNvSpPr/>
          <p:nvPr/>
        </p:nvSpPr>
        <p:spPr>
          <a:xfrm>
            <a:off x="8348472" y="3392424"/>
            <a:ext cx="3337560" cy="402336"/>
          </a:xfrm>
          <a:prstGeom prst="rect">
            <a:avLst/>
          </a:prstGeom>
          <a:solidFill>
            <a:srgbClr val="FFFFFF"/>
          </a:solidFill>
          <a:ln w="9525">
            <a:solidFill>
              <a:srgbClr val="D0D4DA"/>
            </a:solidFill>
          </a:ln>
          <a:effectLst/>
        </p:spPr>
        <p:txBody>
          <a:bodyPr rtlCol="0" anchor="ctr"/>
          <a:lstStyle/>
          <a:p>
            <a:pPr algn="ctr"/>
            <a:endParaRPr/>
          </a:p>
        </p:txBody>
      </p:sp>
      <p:sp>
        <p:nvSpPr>
          <p:cNvPr id="867" name="TextBox 868"/>
          <p:cNvSpPr txBox="1"/>
          <p:nvPr/>
        </p:nvSpPr>
        <p:spPr>
          <a:xfrm>
            <a:off x="8421624" y="3392424"/>
            <a:ext cx="3191256" cy="402336"/>
          </a:xfrm>
          <a:prstGeom prst="rect">
            <a:avLst/>
          </a:prstGeom>
          <a:noFill/>
        </p:spPr>
        <p:txBody>
          <a:bodyPr wrap="square" lIns="36576" tIns="0" rIns="36576" bIns="0" anchor="ctr"/>
          <a:lstStyle/>
          <a:p>
            <a:pPr algn="l">
              <a:lnSpc>
                <a:spcPct val="110000"/>
              </a:lnSpc>
              <a:spcAft>
                <a:spcPts val="0"/>
              </a:spcAft>
            </a:pPr>
            <a:r>
              <a:rPr sz="1200" b="0">
                <a:solidFill>
                  <a:srgbClr val="1A1A1A"/>
                </a:solidFill>
                <a:latin typeface="Calibri"/>
                <a:ea typeface="맑은 고딕"/>
                <a:cs typeface="Calibri"/>
              </a:rPr>
              <a:t>Rises with moisture and speeds up oxidation</a:t>
            </a:r>
          </a:p>
        </p:txBody>
      </p:sp>
      <p:sp>
        <p:nvSpPr>
          <p:cNvPr id="869" name="TextBox 870"/>
          <p:cNvSpPr txBox="1"/>
          <p:nvPr/>
        </p:nvSpPr>
        <p:spPr>
          <a:xfrm>
            <a:off x="6245352" y="3931920"/>
            <a:ext cx="5440680" cy="1143000"/>
          </a:xfrm>
          <a:prstGeom prst="rect">
            <a:avLst/>
          </a:prstGeom>
          <a:noFill/>
        </p:spPr>
        <p:txBody>
          <a:bodyPr wrap="square" lIns="36576" tIns="0" rIns="36576" bIns="0" anchor="t"/>
          <a:lstStyle/>
          <a:p>
            <a:pPr algn="l">
              <a:lnSpc>
                <a:spcPct val="125000"/>
              </a:lnSpc>
              <a:spcAft>
                <a:spcPts val="700"/>
              </a:spcAft>
            </a:pPr>
            <a:r>
              <a:rPr sz="1200" b="0">
                <a:solidFill>
                  <a:srgbClr val="1A1A1A"/>
                </a:solidFill>
                <a:latin typeface="Calibri"/>
                <a:ea typeface="맑은 고딕"/>
                <a:cs typeface="Calibri"/>
              </a:rPr>
              <a:t>The rules are simple — keep the fuel about 10 °C above the pour point, use it within three months, and re-test it if it is stored for long.</a:t>
            </a:r>
          </a:p>
          <a:p>
            <a:pPr algn="l">
              <a:lnSpc>
                <a:spcPct val="125000"/>
              </a:lnSpc>
              <a:spcAft>
                <a:spcPts val="700"/>
              </a:spcAft>
            </a:pPr>
            <a:r>
              <a:rPr sz="1200" b="0">
                <a:solidFill>
                  <a:srgbClr val="1A1A1A"/>
                </a:solidFill>
                <a:latin typeface="Calibri"/>
                <a:ea typeface="맑은 고딕"/>
                <a:cs typeface="Calibri"/>
              </a:rPr>
              <a:t>GCMD's Project LOTUS stored B24 on board for six months: the acid value rose but stayed within ISO 8217 limits.</a:t>
            </a:r>
          </a:p>
        </p:txBody>
      </p:sp>
      <p:sp>
        <p:nvSpPr>
          <p:cNvPr id="871" name="Rectangle 872"/>
          <p:cNvSpPr/>
          <p:nvPr/>
        </p:nvSpPr>
        <p:spPr>
          <a:xfrm>
            <a:off x="6245352" y="5166360"/>
            <a:ext cx="5440680" cy="566928"/>
          </a:xfrm>
          <a:prstGeom prst="rect">
            <a:avLst/>
          </a:prstGeom>
          <a:solidFill>
            <a:srgbClr val="EFEFEF"/>
          </a:solidFill>
          <a:ln>
            <a:noFill/>
          </a:ln>
          <a:effectLst/>
        </p:spPr>
        <p:txBody>
          <a:bodyPr rtlCol="0" anchor="ctr"/>
          <a:lstStyle/>
          <a:p>
            <a:pPr algn="ctr"/>
            <a:endParaRPr/>
          </a:p>
        </p:txBody>
      </p:sp>
      <p:sp>
        <p:nvSpPr>
          <p:cNvPr id="873" name="TextBox 874"/>
          <p:cNvSpPr txBox="1"/>
          <p:nvPr/>
        </p:nvSpPr>
        <p:spPr>
          <a:xfrm>
            <a:off x="6428232" y="5166360"/>
            <a:ext cx="5074920" cy="566928"/>
          </a:xfrm>
          <a:prstGeom prst="rect">
            <a:avLst/>
          </a:prstGeom>
          <a:noFill/>
        </p:spPr>
        <p:txBody>
          <a:bodyPr wrap="square" lIns="36576" tIns="0" rIns="36576" bIns="0" anchor="ctr"/>
          <a:lstStyle/>
          <a:p>
            <a:pPr algn="l">
              <a:lnSpc>
                <a:spcPct val="125000"/>
              </a:lnSpc>
              <a:spcAft>
                <a:spcPts val="0"/>
              </a:spcAft>
            </a:pPr>
            <a:r>
              <a:rPr sz="1400" b="1" dirty="0">
                <a:solidFill>
                  <a:srgbClr val="172A4A"/>
                </a:solidFill>
                <a:latin typeface="Calibri"/>
                <a:ea typeface="맑은 고딕"/>
                <a:cs typeface="Calibri"/>
              </a:rPr>
              <a:t>Fresh in, fresh out — first in, first out is the best defence.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pPr>
      <a:bodyPr wrap="square" lIns="0" tIns="0" rIns="0" bIns="0" rtlCol="0" anchor="ctr"/>
      <a:lstStyle>
        <a:defPPr algn="l">
          <a:lnSpc>
            <a:spcPct val="160000"/>
          </a:lnSpc>
          <a:defRPr sz="2800" b="1" dirty="0">
            <a:solidFill>
              <a:schemeClr val="bg1"/>
            </a:solidFill>
            <a:latin typeface="Roboto"/>
            <a:ea typeface="Roboto"/>
            <a:cs typeface="Roboto"/>
            <a:sym typeface="Roboto"/>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22c0d03a-4a30-4ecd-86b9-2064bc46f2a0}" enabled="1" method="Standard" siteId="{5d0227ad-3bcc-4106-8cf3-16e735f3b4c4}" removed="0"/>
</clbl:labelList>
</file>

<file path=docProps/app.xml><?xml version="1.0" encoding="utf-8"?>
<Properties xmlns="http://schemas.openxmlformats.org/officeDocument/2006/extended-properties" xmlns:vt="http://schemas.openxmlformats.org/officeDocument/2006/docPropsVTypes">
  <TotalTime>1877</TotalTime>
  <Words>2305</Words>
  <Application>Microsoft Office PowerPoint</Application>
  <PresentationFormat>와이드스크린</PresentationFormat>
  <Paragraphs>220</Paragraphs>
  <Slides>13</Slides>
  <Notes>2</Notes>
  <HiddenSlides>0</HiddenSlides>
  <MMClips>0</MMClips>
  <ScaleCrop>false</ScaleCrop>
  <HeadingPairs>
    <vt:vector size="6" baseType="variant">
      <vt:variant>
        <vt:lpstr>사용한 글꼴</vt:lpstr>
      </vt:variant>
      <vt:variant>
        <vt:i4>5</vt:i4>
      </vt:variant>
      <vt:variant>
        <vt:lpstr>테마</vt:lpstr>
      </vt:variant>
      <vt:variant>
        <vt:i4>2</vt:i4>
      </vt:variant>
      <vt:variant>
        <vt:lpstr>슬라이드 제목</vt:lpstr>
      </vt:variant>
      <vt:variant>
        <vt:i4>13</vt:i4>
      </vt:variant>
    </vt:vector>
  </HeadingPairs>
  <TitlesOfParts>
    <vt:vector size="20" baseType="lpstr">
      <vt:lpstr>Aptos</vt:lpstr>
      <vt:lpstr>Arial</vt:lpstr>
      <vt:lpstr>Calibri</vt:lpstr>
      <vt:lpstr>Oswald</vt:lpstr>
      <vt:lpstr>Segoe UI</vt:lpstr>
      <vt:lpstr>Office Theme</vt:lpstr>
      <vt:lpstr>1_Office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Jeong, Peter</dc:creator>
  <cp:keywords/>
  <dc:description>generated using python-pptx</dc:description>
  <cp:lastModifiedBy>Jeong, Peter</cp:lastModifiedBy>
  <cp:revision>5</cp:revision>
  <dcterms:created xsi:type="dcterms:W3CDTF">2013-01-27T09:14:16Z</dcterms:created>
  <dcterms:modified xsi:type="dcterms:W3CDTF">2026-08-28T03:33:40Z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Classified as Internal - This content is proprietary information intended for employees and partners only.</vt:lpwstr>
  </property>
</Properties>
</file>