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how do we pick the oil for a real machine.</a:t>
            </a:r>
          </a:p>
          <a:p/>
          <a:p>
            <a:r>
              <a:t>For rolling bearings we compare two numbers. First, the viscosity the bearing needs — that comes from its size and its speed. Second, the viscosity the oil really has at working temperature. Divide one by the other and you get kappa. Above one is good. Below one means the film is too thin and the metal starts to touch.</a:t>
            </a:r>
          </a:p>
          <a:p/>
          <a:p>
            <a:r>
              <a:t>For hydraulics there are only two questions. Zinc or zinc free, and standard or high viscosity index. Zinc free is for low toxicity, and for servo valves, because zinc can break down and leave deposits in very small clearances. High VI is for wide temperature swings and mobile equipment.</a:t>
            </a:r>
          </a:p>
          <a:p/>
          <a:p>
            <a:r>
              <a:t>Cost goes up as you move to the top right of that box. But expensive is not automatically the right answer — come back to slide one, it depends on the machine.</a:t>
            </a:r>
          </a:p>
          <a:p/>
          <a:p>
            <a:r>
              <a:t>For gears, check the API GL class on the spec. GL-4 for manual gearboxes, GL-5 for hypoid axles.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Around eighty percent of hydraulic failures start with dirty oil, so we measure cleanliness — we do not guess it.</a:t>
            </a:r>
          </a:p>
          <a:p/>
          <a:p>
            <a:r>
              <a:t>The ISO code is three numbers. Particles bigger than four microns, bigger than six, and bigger than fourteen. Each step up the scale is double. So going from twenty to twenty-two is not a little worse, it is four times more dirt. Walk through the table on the slide once, slowly.</a:t>
            </a:r>
          </a:p>
          <a:p/>
          <a:p>
            <a:r>
              <a:t>There are several ways to count. A microscope, a laser, a patch test, or a blocked-pore method. The patch test also shows you what the particles look like, which tells you where they came from.</a:t>
            </a:r>
          </a:p>
          <a:p/>
          <a:p>
            <a:r>
              <a:t>Now filters. A surface filter is a screen — nothing wider than the gap gets through. A depth filter is a mat of fibres and catches small particles inside it. Magnetic plugs pick up large steel pieces.</a:t>
            </a:r>
          </a:p>
          <a:p/>
          <a:p>
            <a:r>
              <a:t>Last point, and this is the one people forget. Delta P tells you how blocked the filter is. When it gets too high the bypass valve opens, and from that moment the oil is not being filtered at 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 first.</a:t>
            </a:r>
          </a:p>
          <a:p/>
          <a:p>
            <a:r>
              <a:t>Oil pulls water in. Many oils are hygroscopic, which means they take moisture straight out of the air. Water shows up three ways. Dissolved, which you cannot see at all. Emulsified, which makes the oil look cloudy. And free water, which settles at the bottom.</a:t>
            </a:r>
          </a:p>
          <a:p/>
          <a:p>
            <a:r>
              <a:t>Free water is the easy one — you drain it. Dissolved and emulsified are the hard ones to remove.</a:t>
            </a:r>
          </a:p>
          <a:p/>
          <a:p>
            <a:r>
              <a:t>And water does more than rust metal. Look at the reaction on the slide. The additives were built by taking water out. Put water back in and the reaction runs backwards. The additive breaks apart and you get acid, so TAN goes up.</a:t>
            </a:r>
          </a:p>
          <a:p/>
          <a:p>
            <a:r>
              <a:t>Now air. Everybody worries about the foam they can see on top of the tank. That is not the dangerous one. The dangerous one is entrained air — small bubbles carried inside the oil. Those go into the pump and cause cavitation, vibration, spongy controls, and low oil pressure alarms.</a:t>
            </a:r>
          </a:p>
          <a:p/>
          <a:p>
            <a:r>
              <a:t>One more thing worth saying: most foam problems are not the oil's fault. They come from contamination or from oxidation.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the oil itself goes bad.</a:t>
            </a:r>
          </a:p>
          <a:p/>
          <a:p>
            <a:r>
              <a:t>Oxidation. Oxygen attacks the oil, makes acid, thickens it and darkens it. Heat, metals, contamination and water all speed it up.</a:t>
            </a:r>
          </a:p>
          <a:p/>
          <a:p>
            <a:r>
              <a:t>Nitration. This comes from combustion gases, so it is an engine problem. It also makes acid, and it leaves a red varnish.</a:t>
            </a:r>
          </a:p>
          <a:p/>
          <a:p>
            <a:r>
              <a:t>Thermal degradation, above about two hundred and twenty degrees. This one can go both ways — coke and carbon make the oil thicker, but cracking the molecules makes it thinner.</a:t>
            </a:r>
          </a:p>
          <a:p/>
          <a:p>
            <a:r>
              <a:t>If the crew remembers one number, make it this one: above sixty degrees, every extra ten degrees cuts the oil life in half.</a:t>
            </a:r>
          </a:p>
          <a:p/>
          <a:p>
            <a:r>
              <a:t>Additives disappear as well. They break down, or the filter and the centrifuge take them out, or they stick to surfaces and to particles.</a:t>
            </a:r>
          </a:p>
          <a:p/>
          <a:p>
            <a:r>
              <a:t>On the right, four wear types. Adhesive is metal welding to metal and tearing — scuffing. Abrasive is hard particles cutting grooves — scoring. Corrosive is acid and water. Surface fatigue is repeated loading, and it shows as micropitting.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Oil analysis only works if the sample represents the machine. Where and how you take it matters more than which laboratory you use.</a:t>
            </a:r>
          </a:p>
          <a:p/>
          <a:p>
            <a:r>
              <a:t>Use a clean bottle — a dirty bottle gives you a dirty result and you will chase a problem that is not there. Take the sample where the answer is. If you are looking for pump wear, sample after the pump and before the filter, because the filter removes the evidence.</a:t>
            </a:r>
          </a:p>
          <a:p/>
          <a:p>
            <a:r>
              <a:t>ICP tells you which metals are in the oil, and each one points somewhere. Iron is engine parts or rust. Copper is bearings, bushings and oil coolers. Silicon is dirt. Sodium and potassium usually mean coolant or seawater.</a:t>
            </a:r>
          </a:p>
          <a:p/>
          <a:p>
            <a:r>
              <a:t>Be careful with calcium, magnesium, zinc and phosphorus. Those are normally additives, not wear metals. Do not raise an alarm for those.</a:t>
            </a:r>
          </a:p>
          <a:p/>
          <a:p>
            <a:r>
              <a:t>On the right, greasing. Greasing by hand swings between too much and too little. Small amounts, more often, keeps it inside the safe band. That is what automatic lubricators are good at — but somebody still has to check them. Fit and forget is how you find an empty unit two years later.</a:t>
            </a:r>
          </a:p>
          <a:p/>
          <a:p>
            <a:r>
              <a:t>Close the session with three words. Clean, cool, dry. And two habits: check what was delivered against what was ordered, and do not store drums somewhere hot.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here. If most failures come from dirty or worn-out oil, then looking after the oil is real maintenance work — not cleaning.</a:t>
            </a:r>
          </a:p>
          <a:p/>
          <a:p>
            <a:r>
              <a:t>Use the health example. Eating well and a blood test twice a year costs very little. Heart surgery does not. Same idea with machines.</a:t>
            </a:r>
          </a:p>
          <a:p/>
          <a:p>
            <a:r>
              <a:t>Then the second point, and it is the important one. We do not buy the best oil for everything. For a small pump with a spare in the store, a basic oil is fine. For a stern tube or a thruster — expensive, hard to reach, and the ship stops if it fails — we buy the best available.</a:t>
            </a:r>
          </a:p>
          <a:p/>
          <a:p>
            <a:r>
              <a:t>So the rule is simple: how critical the machine is decides the oil. Not the price of the drum.</a:t>
            </a:r>
          </a:p>
          <a:p/>
          <a:p>
            <a:r>
              <a:t>Finish by reading the six functions. Most people only think of the first two.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curve is the core idea of lubrication. Take your time here.</a:t>
            </a:r>
          </a:p>
          <a:p/>
          <a:p>
            <a:r>
              <a:t>On the left, metal touches metal. In the middle, the film is starting to build. On the right, a full oil film carries the load and the surfaces never touch.</a:t>
            </a:r>
          </a:p>
          <a:p/>
          <a:p>
            <a:r>
              <a:t>The axis is Z N over P. Z is viscosity, N is speed, P is load.</a:t>
            </a:r>
          </a:p>
          <a:p/>
          <a:p>
            <a:r>
              <a:t>Use the block example. Pushing a heavy box across concrete is hardest right at the start, and going faster does not help. Now add oil and it becomes much easier. But keep increasing the speed and it gets harder again — because now you are pushing the oil itself out of the way, like a ship pushing water.</a:t>
            </a:r>
          </a:p>
          <a:p/>
          <a:p>
            <a:r>
              <a:t>The practical point for the crew: a slow machine carrying a heavy load needs thicker oil, because the film needs help to form. Start-up and shut-down are always boundary — that is when most wear happens.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make a base oil.</a:t>
            </a:r>
          </a:p>
          <a:p/>
          <a:p>
            <a:r>
              <a:t>Mineral oil comes from crude. Think of a box of mixed Lego — many shapes and sizes, because that is what the barrel gave us.</a:t>
            </a:r>
          </a:p>
          <a:p/>
          <a:p>
            <a:r>
              <a:t>Synthetic is built from chosen molecules, so every piece is the same shape. That is why it behaves more predictably.</a:t>
            </a:r>
          </a:p>
          <a:p/>
          <a:p>
            <a:r>
              <a:t>Now the API table. Groups one and two are mineral. Group three is still refined mineral stock, but most markets are allowed to sell it as synthetic. Worth knowing when you compare two quotations. Group four, PAO, is the common true synthetic — gears and some compressors. Group five is everything else, and that does not mean better.</a:t>
            </a:r>
          </a:p>
          <a:p/>
          <a:p>
            <a:r>
              <a:t>Last point. Viscosity index tells you how much the oil thins when it gets hot. Higher VI, flatter response, fewer surprises between cold start and full load.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Additives do three jobs. Change how the oil performs, protect the oil itself, and protect the metal. Point at each column as you say it.</a:t>
            </a:r>
          </a:p>
          <a:p/>
          <a:p>
            <a:r>
              <a:t>Then the money point. Additives are the most expensive part of the blend, so we only pay for what the machine actually needs. Open to the air — more antioxidant. Heavy load — EP. Hydraulic pump — antiwear. Compressor or turbine — R and O, rust and oxidation.</a:t>
            </a:r>
          </a:p>
          <a:p/>
          <a:p>
            <a:r>
              <a:t>On the right: if they remember one word from the whole session, it is viscosity. Viscosity itself, how it changes with temperature, and how it changes with pressure. Kinematic viscosity is the number on the datasheet, and ISO VG is the grade.</a:t>
            </a:r>
          </a:p>
          <a:p/>
          <a:p>
            <a:r>
              <a:t>Finally grease. Grease is oil held in a sponge. The thickener is the sponge; the base oil does the actual lubricating. Squeeze it and the oil comes out. That is exactly what happens when the bearing turns and load comes on.</a:t>
            </a:r>
          </a:p>
          <a:p/>
          <a:p>
            <a:r>
              <a:t>NLGI is the consistency grade, measured by worked penetration. NLGI 2 is the normal all-purpose grease. NLGI 0 is for centralised systems, because it has to be pumped.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Lubrication Strategy Follows Criticality</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Why lubrication is preventive maintenance</a:t>
            </a:r>
          </a:p>
        </p:txBody>
      </p:sp>
      <p:sp>
        <p:nvSpPr>
          <p:cNvPr id="7" name="TextBox 6"/>
          <p:cNvSpPr txBox="1"/>
          <p:nvPr/>
        </p:nvSpPr>
        <p:spPr>
          <a:xfrm>
            <a:off x="502920" y="1783080"/>
            <a:ext cx="5440680" cy="1371600"/>
          </a:xfrm>
          <a:prstGeom prst="rect">
            <a:avLst/>
          </a:prstGeom>
          <a:noFill/>
        </p:spPr>
        <p:txBody>
          <a:bodyPr wrap="square" anchor="t" lIns="36576" rIns="36576" tIns="0" bIns="0">
            <a:spAutoFit/>
          </a:bodyPr>
          <a:lstStyle/>
          <a:p>
            <a:pPr algn="l">
              <a:lnSpc>
                <a:spcPct val="125000"/>
              </a:lnSpc>
              <a:spcAft>
                <a:spcPts val="800"/>
              </a:spcAft>
            </a:pPr>
            <a:r>
              <a:rPr sz="1300" b="0">
                <a:solidFill>
                  <a:srgbClr val="1A1A1A"/>
                </a:solidFill>
                <a:latin typeface="Calibri"/>
                <a:ea typeface="맑은 고딕"/>
                <a:cs typeface="Calibri"/>
              </a:rPr>
              <a:t>If roughly 80% of failures trace back to contaminated or degraded oil, then every lubrication action counts as preventive maintenance — not housekeeping.</a:t>
            </a:r>
          </a:p>
          <a:p>
            <a:pPr algn="l">
              <a:lnSpc>
                <a:spcPct val="125000"/>
              </a:lnSpc>
              <a:spcAft>
                <a:spcPts val="0"/>
              </a:spcAft>
            </a:pPr>
            <a:r>
              <a:rPr sz="1300" b="0">
                <a:solidFill>
                  <a:srgbClr val="595959"/>
                </a:solidFill>
                <a:latin typeface="Calibri"/>
                <a:ea typeface="맑은 고딕"/>
                <a:cs typeface="Calibri"/>
              </a:rPr>
              <a:t>The same logic as heart health: diet and a blood test every six months cost very little. Surgery does not.</a:t>
            </a:r>
          </a:p>
        </p:txBody>
      </p:sp>
      <p:sp>
        <p:nvSpPr>
          <p:cNvPr id="8" name="Rectangle 7"/>
          <p:cNvSpPr/>
          <p:nvPr/>
        </p:nvSpPr>
        <p:spPr>
          <a:xfrm>
            <a:off x="502920" y="320040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320040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The six functions of a lubricant</a:t>
            </a:r>
          </a:p>
        </p:txBody>
      </p:sp>
      <p:sp>
        <p:nvSpPr>
          <p:cNvPr id="10" name="Rectangle 9"/>
          <p:cNvSpPr/>
          <p:nvPr/>
        </p:nvSpPr>
        <p:spPr>
          <a:xfrm>
            <a:off x="502920" y="3657600"/>
            <a:ext cx="2720340" cy="38404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3657600"/>
            <a:ext cx="2574036" cy="384048"/>
          </a:xfrm>
          <a:prstGeom prst="rect">
            <a:avLst/>
          </a:prstGeom>
          <a:noFill/>
        </p:spPr>
        <p:txBody>
          <a:bodyPr wrap="square" anchor="ctr" lIns="36576" rIns="36576" tIns="0" bIns="0">
            <a:spAutoFit/>
          </a:bodyPr>
          <a:lstStyle/>
          <a:p>
            <a:pPr algn="ctr">
              <a:spcAft>
                <a:spcPts val="0"/>
              </a:spcAft>
            </a:pPr>
            <a:r>
              <a:rPr sz="1250" b="0">
                <a:solidFill>
                  <a:srgbClr val="1A1A1A"/>
                </a:solidFill>
                <a:latin typeface="Calibri"/>
                <a:ea typeface="맑은 고딕"/>
                <a:cs typeface="Calibri"/>
              </a:rPr>
              <a:t>Reduce friction</a:t>
            </a:r>
          </a:p>
        </p:txBody>
      </p:sp>
      <p:sp>
        <p:nvSpPr>
          <p:cNvPr id="12" name="Rectangle 11"/>
          <p:cNvSpPr/>
          <p:nvPr/>
        </p:nvSpPr>
        <p:spPr>
          <a:xfrm>
            <a:off x="3223260" y="3657600"/>
            <a:ext cx="2720340" cy="38404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6412" y="3657600"/>
            <a:ext cx="2574036" cy="384048"/>
          </a:xfrm>
          <a:prstGeom prst="rect">
            <a:avLst/>
          </a:prstGeom>
          <a:noFill/>
        </p:spPr>
        <p:txBody>
          <a:bodyPr wrap="square" anchor="ctr" lIns="36576" rIns="36576" tIns="0" bIns="0">
            <a:spAutoFit/>
          </a:bodyPr>
          <a:lstStyle/>
          <a:p>
            <a:pPr algn="ctr">
              <a:spcAft>
                <a:spcPts val="0"/>
              </a:spcAft>
            </a:pPr>
            <a:r>
              <a:rPr sz="1250" b="0">
                <a:solidFill>
                  <a:srgbClr val="1A1A1A"/>
                </a:solidFill>
                <a:latin typeface="Calibri"/>
                <a:ea typeface="맑은 고딕"/>
                <a:cs typeface="Calibri"/>
              </a:rPr>
              <a:t>Reduce wear</a:t>
            </a:r>
          </a:p>
        </p:txBody>
      </p:sp>
      <p:sp>
        <p:nvSpPr>
          <p:cNvPr id="14" name="Rectangle 13"/>
          <p:cNvSpPr/>
          <p:nvPr/>
        </p:nvSpPr>
        <p:spPr>
          <a:xfrm>
            <a:off x="502920" y="4041648"/>
            <a:ext cx="2720340" cy="38404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4041648"/>
            <a:ext cx="2574036" cy="384048"/>
          </a:xfrm>
          <a:prstGeom prst="rect">
            <a:avLst/>
          </a:prstGeom>
          <a:noFill/>
        </p:spPr>
        <p:txBody>
          <a:bodyPr wrap="square" anchor="ctr" lIns="36576" rIns="36576" tIns="0" bIns="0">
            <a:spAutoFit/>
          </a:bodyPr>
          <a:lstStyle/>
          <a:p>
            <a:pPr algn="ctr">
              <a:spcAft>
                <a:spcPts val="0"/>
              </a:spcAft>
            </a:pPr>
            <a:r>
              <a:rPr sz="1250" b="0">
                <a:solidFill>
                  <a:srgbClr val="1A1A1A"/>
                </a:solidFill>
                <a:latin typeface="Calibri"/>
                <a:ea typeface="맑은 고딕"/>
                <a:cs typeface="Calibri"/>
              </a:rPr>
              <a:t>Prevent corrosion</a:t>
            </a:r>
          </a:p>
        </p:txBody>
      </p:sp>
      <p:sp>
        <p:nvSpPr>
          <p:cNvPr id="16" name="Rectangle 15"/>
          <p:cNvSpPr/>
          <p:nvPr/>
        </p:nvSpPr>
        <p:spPr>
          <a:xfrm>
            <a:off x="3223260" y="4041648"/>
            <a:ext cx="2720340" cy="38404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6412" y="4041648"/>
            <a:ext cx="2574036" cy="384048"/>
          </a:xfrm>
          <a:prstGeom prst="rect">
            <a:avLst/>
          </a:prstGeom>
          <a:noFill/>
        </p:spPr>
        <p:txBody>
          <a:bodyPr wrap="square" anchor="ctr" lIns="36576" rIns="36576" tIns="0" bIns="0">
            <a:spAutoFit/>
          </a:bodyPr>
          <a:lstStyle/>
          <a:p>
            <a:pPr algn="ctr">
              <a:spcAft>
                <a:spcPts val="0"/>
              </a:spcAft>
            </a:pPr>
            <a:r>
              <a:rPr sz="1250" b="0">
                <a:solidFill>
                  <a:srgbClr val="1A1A1A"/>
                </a:solidFill>
                <a:latin typeface="Calibri"/>
                <a:ea typeface="맑은 고딕"/>
                <a:cs typeface="Calibri"/>
              </a:rPr>
              <a:t>Remove heat</a:t>
            </a:r>
          </a:p>
        </p:txBody>
      </p:sp>
      <p:sp>
        <p:nvSpPr>
          <p:cNvPr id="18" name="Rectangle 17"/>
          <p:cNvSpPr/>
          <p:nvPr/>
        </p:nvSpPr>
        <p:spPr>
          <a:xfrm>
            <a:off x="502920" y="4425696"/>
            <a:ext cx="2720340" cy="38404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 y="4425696"/>
            <a:ext cx="2574036" cy="384048"/>
          </a:xfrm>
          <a:prstGeom prst="rect">
            <a:avLst/>
          </a:prstGeom>
          <a:noFill/>
        </p:spPr>
        <p:txBody>
          <a:bodyPr wrap="square" anchor="ctr" lIns="36576" rIns="36576" tIns="0" bIns="0">
            <a:spAutoFit/>
          </a:bodyPr>
          <a:lstStyle/>
          <a:p>
            <a:pPr algn="ctr">
              <a:spcAft>
                <a:spcPts val="0"/>
              </a:spcAft>
            </a:pPr>
            <a:r>
              <a:rPr sz="1250" b="0">
                <a:solidFill>
                  <a:srgbClr val="1A1A1A"/>
                </a:solidFill>
                <a:latin typeface="Calibri"/>
                <a:ea typeface="맑은 고딕"/>
                <a:cs typeface="Calibri"/>
              </a:rPr>
              <a:t>Remove contaminants</a:t>
            </a:r>
          </a:p>
        </p:txBody>
      </p:sp>
      <p:sp>
        <p:nvSpPr>
          <p:cNvPr id="20" name="Rectangle 19"/>
          <p:cNvSpPr/>
          <p:nvPr/>
        </p:nvSpPr>
        <p:spPr>
          <a:xfrm>
            <a:off x="3223260" y="4425696"/>
            <a:ext cx="2720340" cy="38404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6412" y="4425696"/>
            <a:ext cx="2574036" cy="384048"/>
          </a:xfrm>
          <a:prstGeom prst="rect">
            <a:avLst/>
          </a:prstGeom>
          <a:noFill/>
        </p:spPr>
        <p:txBody>
          <a:bodyPr wrap="square" anchor="ctr" lIns="36576" rIns="36576" tIns="0" bIns="0">
            <a:spAutoFit/>
          </a:bodyPr>
          <a:lstStyle/>
          <a:p>
            <a:pPr algn="ctr">
              <a:spcAft>
                <a:spcPts val="0"/>
              </a:spcAft>
            </a:pPr>
            <a:r>
              <a:rPr sz="1250" b="0">
                <a:solidFill>
                  <a:srgbClr val="1A1A1A"/>
                </a:solidFill>
                <a:latin typeface="Calibri"/>
                <a:ea typeface="맑은 고딕"/>
                <a:cs typeface="Calibri"/>
              </a:rPr>
              <a:t>Transmit fluid power</a:t>
            </a:r>
          </a:p>
        </p:txBody>
      </p:sp>
      <p:sp>
        <p:nvSpPr>
          <p:cNvPr id="22" name="Rectangle 21"/>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There is no single right answer — spend where it counts</a:t>
            </a:r>
          </a:p>
        </p:txBody>
      </p:sp>
      <p:sp>
        <p:nvSpPr>
          <p:cNvPr id="24" name="Rectangle 23"/>
          <p:cNvSpPr/>
          <p:nvPr/>
        </p:nvSpPr>
        <p:spPr>
          <a:xfrm>
            <a:off x="6245352" y="1783080"/>
            <a:ext cx="2606040" cy="5669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8504" y="1783080"/>
            <a:ext cx="2459736" cy="566928"/>
          </a:xfrm>
          <a:prstGeom prst="rect">
            <a:avLst/>
          </a:prstGeom>
          <a:noFill/>
        </p:spPr>
        <p:txBody>
          <a:bodyPr wrap="square" anchor="ctr" lIns="36576" rIns="36576" tIns="0" bIns="0">
            <a:spAutoFit/>
          </a:bodyPr>
          <a:lstStyle/>
          <a:p>
            <a:pPr algn="l">
              <a:spcAft>
                <a:spcPts val="0"/>
              </a:spcAft>
            </a:pPr>
            <a:r>
              <a:rPr sz="1200" b="1">
                <a:solidFill>
                  <a:srgbClr val="FFFFFF"/>
                </a:solidFill>
                <a:latin typeface="Calibri"/>
                <a:ea typeface="맑은 고딕"/>
                <a:cs typeface="Calibri"/>
              </a:rPr>
              <a:t>Equipment character</a:t>
            </a:r>
          </a:p>
        </p:txBody>
      </p:sp>
      <p:sp>
        <p:nvSpPr>
          <p:cNvPr id="26" name="Rectangle 25"/>
          <p:cNvSpPr/>
          <p:nvPr/>
        </p:nvSpPr>
        <p:spPr>
          <a:xfrm>
            <a:off x="8851392" y="1783080"/>
            <a:ext cx="2834640" cy="5669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24544" y="1783080"/>
            <a:ext cx="2688336" cy="566928"/>
          </a:xfrm>
          <a:prstGeom prst="rect">
            <a:avLst/>
          </a:prstGeom>
          <a:noFill/>
        </p:spPr>
        <p:txBody>
          <a:bodyPr wrap="square" anchor="ctr" lIns="36576" rIns="36576" tIns="0" bIns="0">
            <a:spAutoFit/>
          </a:bodyPr>
          <a:lstStyle/>
          <a:p>
            <a:pPr algn="l">
              <a:spcAft>
                <a:spcPts val="0"/>
              </a:spcAft>
            </a:pPr>
            <a:r>
              <a:rPr sz="1200" b="1">
                <a:solidFill>
                  <a:srgbClr val="FFFFFF"/>
                </a:solidFill>
                <a:latin typeface="Calibri"/>
                <a:ea typeface="맑은 고딕"/>
                <a:cs typeface="Calibri"/>
              </a:rPr>
              <a:t>What to specify</a:t>
            </a:r>
          </a:p>
        </p:txBody>
      </p:sp>
      <p:sp>
        <p:nvSpPr>
          <p:cNvPr id="28" name="Rectangle 27"/>
          <p:cNvSpPr/>
          <p:nvPr/>
        </p:nvSpPr>
        <p:spPr>
          <a:xfrm>
            <a:off x="6245352" y="2350008"/>
            <a:ext cx="2606040" cy="56692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18504" y="2350008"/>
            <a:ext cx="2459736" cy="56692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Cheap, easy to replace,
not critical</a:t>
            </a:r>
          </a:p>
        </p:txBody>
      </p:sp>
      <p:sp>
        <p:nvSpPr>
          <p:cNvPr id="30" name="Rectangle 29"/>
          <p:cNvSpPr/>
          <p:nvPr/>
        </p:nvSpPr>
        <p:spPr>
          <a:xfrm>
            <a:off x="8851392" y="2350008"/>
            <a:ext cx="2834640" cy="56692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24544" y="2350008"/>
            <a:ext cx="2688336" cy="56692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A basic lubricant is enough</a:t>
            </a:r>
          </a:p>
        </p:txBody>
      </p:sp>
      <p:sp>
        <p:nvSpPr>
          <p:cNvPr id="32" name="Rectangle 31"/>
          <p:cNvSpPr/>
          <p:nvPr/>
        </p:nvSpPr>
        <p:spPr>
          <a:xfrm>
            <a:off x="6245352" y="2916936"/>
            <a:ext cx="2606040" cy="56692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18504" y="2916936"/>
            <a:ext cx="2459736" cy="56692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Spare held on board,
quick swap</a:t>
            </a:r>
          </a:p>
        </p:txBody>
      </p:sp>
      <p:sp>
        <p:nvSpPr>
          <p:cNvPr id="34" name="Rectangle 33"/>
          <p:cNvSpPr/>
          <p:nvPr/>
        </p:nvSpPr>
        <p:spPr>
          <a:xfrm>
            <a:off x="8851392" y="2916936"/>
            <a:ext cx="2834640" cy="56692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24544" y="2916936"/>
            <a:ext cx="2688336" cy="56692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Standard grade</a:t>
            </a:r>
          </a:p>
        </p:txBody>
      </p:sp>
      <p:sp>
        <p:nvSpPr>
          <p:cNvPr id="36" name="Rectangle 35"/>
          <p:cNvSpPr/>
          <p:nvPr/>
        </p:nvSpPr>
        <p:spPr>
          <a:xfrm>
            <a:off x="6245352" y="3483864"/>
            <a:ext cx="2606040" cy="56692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18504" y="3483864"/>
            <a:ext cx="2459736" cy="566928"/>
          </a:xfrm>
          <a:prstGeom prst="rect">
            <a:avLst/>
          </a:prstGeom>
          <a:noFill/>
        </p:spPr>
        <p:txBody>
          <a:bodyPr wrap="square" anchor="ctr" lIns="36576" rIns="36576" tIns="0" bIns="0">
            <a:spAutoFit/>
          </a:bodyPr>
          <a:lstStyle/>
          <a:p>
            <a:pPr algn="l">
              <a:spcAft>
                <a:spcPts val="0"/>
              </a:spcAft>
            </a:pPr>
            <a:r>
              <a:rPr sz="1200" b="1">
                <a:solidFill>
                  <a:srgbClr val="1F6F3D"/>
                </a:solidFill>
                <a:latin typeface="Calibri"/>
                <a:ea typeface="맑은 고딕"/>
                <a:cs typeface="Calibri"/>
              </a:rPr>
              <a:t>Stern tube, thruster —
costly, hard to reach,
expensive downtime</a:t>
            </a:r>
          </a:p>
        </p:txBody>
      </p:sp>
      <p:sp>
        <p:nvSpPr>
          <p:cNvPr id="38" name="Rectangle 37"/>
          <p:cNvSpPr/>
          <p:nvPr/>
        </p:nvSpPr>
        <p:spPr>
          <a:xfrm>
            <a:off x="8851392" y="3483864"/>
            <a:ext cx="2834640" cy="56692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24544" y="3483864"/>
            <a:ext cx="2688336" cy="566928"/>
          </a:xfrm>
          <a:prstGeom prst="rect">
            <a:avLst/>
          </a:prstGeom>
          <a:noFill/>
        </p:spPr>
        <p:txBody>
          <a:bodyPr wrap="square" anchor="ctr" lIns="36576" rIns="36576" tIns="0" bIns="0">
            <a:spAutoFit/>
          </a:bodyPr>
          <a:lstStyle/>
          <a:p>
            <a:pPr algn="l">
              <a:spcAft>
                <a:spcPts val="0"/>
              </a:spcAft>
            </a:pPr>
            <a:r>
              <a:rPr sz="1200" b="1">
                <a:solidFill>
                  <a:srgbClr val="1F6F3D"/>
                </a:solidFill>
                <a:latin typeface="Calibri"/>
                <a:ea typeface="맑은 고딕"/>
                <a:cs typeface="Calibri"/>
              </a:rPr>
              <a:t>Specify the best available</a:t>
            </a:r>
          </a:p>
        </p:txBody>
      </p:sp>
      <p:sp>
        <p:nvSpPr>
          <p:cNvPr id="40" name="Rectangle 39"/>
          <p:cNvSpPr/>
          <p:nvPr/>
        </p:nvSpPr>
        <p:spPr>
          <a:xfrm>
            <a:off x="6245352" y="4279392"/>
            <a:ext cx="5440680" cy="640080"/>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28232" y="4279392"/>
            <a:ext cx="5074920" cy="640080"/>
          </a:xfrm>
          <a:prstGeom prst="rect">
            <a:avLst/>
          </a:prstGeom>
          <a:noFill/>
        </p:spPr>
        <p:txBody>
          <a:bodyPr wrap="square" anchor="ctr" lIns="36576" rIns="36576" tIns="0" bIns="0">
            <a:spAutoFit/>
          </a:bodyPr>
          <a:lstStyle/>
          <a:p>
            <a:pPr algn="l">
              <a:lnSpc>
                <a:spcPct val="125000"/>
              </a:lnSpc>
              <a:spcAft>
                <a:spcPts val="0"/>
              </a:spcAft>
            </a:pPr>
            <a:r>
              <a:rPr sz="1400" b="1">
                <a:solidFill>
                  <a:srgbClr val="172A4A"/>
                </a:solidFill>
                <a:latin typeface="Calibri"/>
                <a:ea typeface="맑은 고딕"/>
                <a:cs typeface="Calibri"/>
              </a:rPr>
              <a:t>Criticality — not price — sets the specification.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Friction and the Four Lubrication Regimes</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Stribeck curve</a:t>
            </a:r>
          </a:p>
        </p:txBody>
      </p:sp>
      <p:pic>
        <p:nvPicPr>
          <p:cNvPr id="7" name="Picture 6" descr="image5.png"/>
          <p:cNvPicPr>
            <a:picLocks noChangeAspect="1"/>
          </p:cNvPicPr>
          <p:nvPr/>
        </p:nvPicPr>
        <p:blipFill>
          <a:blip r:embed="rId2"/>
          <a:stretch>
            <a:fillRect/>
          </a:stretch>
        </p:blipFill>
        <p:spPr>
          <a:xfrm>
            <a:off x="502920" y="1783080"/>
            <a:ext cx="5440680" cy="2728949"/>
          </a:xfrm>
          <a:prstGeom prst="rect">
            <a:avLst/>
          </a:prstGeom>
        </p:spPr>
      </p:pic>
      <p:sp>
        <p:nvSpPr>
          <p:cNvPr id="8" name="TextBox 7"/>
          <p:cNvSpPr txBox="1"/>
          <p:nvPr/>
        </p:nvSpPr>
        <p:spPr>
          <a:xfrm>
            <a:off x="502920" y="4636008"/>
            <a:ext cx="5440680" cy="292608"/>
          </a:xfrm>
          <a:prstGeom prst="rect">
            <a:avLst/>
          </a:prstGeom>
          <a:noFill/>
        </p:spPr>
        <p:txBody>
          <a:bodyPr wrap="square" anchor="t" lIns="36576" rIns="36576" tIns="0" bIns="0">
            <a:spAutoFit/>
          </a:bodyPr>
          <a:lstStyle/>
          <a:p>
            <a:pPr algn="ctr">
              <a:spcAft>
                <a:spcPts val="0"/>
              </a:spcAft>
            </a:pPr>
            <a:r>
              <a:rPr sz="1200" b="0">
                <a:solidFill>
                  <a:srgbClr val="595959"/>
                </a:solidFill>
                <a:latin typeface="Calibri"/>
                <a:ea typeface="맑은 고딕"/>
                <a:cs typeface="Calibri"/>
              </a:rPr>
              <a:t>Friction against ZN/P, and where each regime shows up on board</a:t>
            </a:r>
          </a:p>
        </p:txBody>
      </p:sp>
      <p:sp>
        <p:nvSpPr>
          <p:cNvPr id="9" name="Rectangle 8"/>
          <p:cNvSpPr/>
          <p:nvPr/>
        </p:nvSpPr>
        <p:spPr>
          <a:xfrm>
            <a:off x="502920" y="5074920"/>
            <a:ext cx="5440680" cy="640080"/>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074920"/>
            <a:ext cx="5074920" cy="640080"/>
          </a:xfrm>
          <a:prstGeom prst="rect">
            <a:avLst/>
          </a:prstGeom>
          <a:noFill/>
        </p:spPr>
        <p:txBody>
          <a:bodyPr wrap="square" anchor="ctr" lIns="36576" rIns="36576" tIns="0" bIns="0">
            <a:spAutoFit/>
          </a:bodyPr>
          <a:lstStyle/>
          <a:p>
            <a:pPr algn="l">
              <a:lnSpc>
                <a:spcPct val="125000"/>
              </a:lnSpc>
              <a:spcAft>
                <a:spcPts val="0"/>
              </a:spcAft>
            </a:pPr>
            <a:r>
              <a:rPr sz="1400" b="1">
                <a:solidFill>
                  <a:srgbClr val="172A4A"/>
                </a:solidFill>
                <a:latin typeface="Calibri"/>
                <a:ea typeface="맑은 고딕"/>
                <a:cs typeface="Calibri"/>
              </a:rPr>
              <a:t>Slow and heavily loaded → higher viscosity, so the film forms sooner.</a:t>
            </a:r>
          </a:p>
        </p:txBody>
      </p:sp>
      <p:sp>
        <p:nvSpPr>
          <p:cNvPr id="11" name="Rectangle 10"/>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The intuition</a:t>
            </a:r>
          </a:p>
        </p:txBody>
      </p:sp>
      <p:pic>
        <p:nvPicPr>
          <p:cNvPr id="13" name="Picture 12" descr="image3.png"/>
          <p:cNvPicPr>
            <a:picLocks noChangeAspect="1"/>
          </p:cNvPicPr>
          <p:nvPr/>
        </p:nvPicPr>
        <p:blipFill>
          <a:blip r:embed="rId3"/>
          <a:stretch>
            <a:fillRect/>
          </a:stretch>
        </p:blipFill>
        <p:spPr>
          <a:xfrm>
            <a:off x="6245352" y="1783080"/>
            <a:ext cx="5440680" cy="2641831"/>
          </a:xfrm>
          <a:prstGeom prst="rect">
            <a:avLst/>
          </a:prstGeom>
        </p:spPr>
      </p:pic>
      <p:sp>
        <p:nvSpPr>
          <p:cNvPr id="14" name="TextBox 13"/>
          <p:cNvSpPr txBox="1"/>
          <p:nvPr/>
        </p:nvSpPr>
        <p:spPr>
          <a:xfrm>
            <a:off x="6245352" y="4544568"/>
            <a:ext cx="5440680" cy="1371600"/>
          </a:xfrm>
          <a:prstGeom prst="rect">
            <a:avLst/>
          </a:prstGeom>
          <a:noFill/>
        </p:spPr>
        <p:txBody>
          <a:bodyPr wrap="square" anchor="t" lIns="36576" rIns="36576" tIns="0" bIns="0">
            <a:spAutoFit/>
          </a:bodyPr>
          <a:lstStyle/>
          <a:p>
            <a:pPr algn="l">
              <a:lnSpc>
                <a:spcPct val="125000"/>
              </a:lnSpc>
              <a:spcAft>
                <a:spcPts val="800"/>
              </a:spcAft>
            </a:pPr>
            <a:r>
              <a:rPr sz="1300" b="0">
                <a:solidFill>
                  <a:srgbClr val="1A1A1A"/>
                </a:solidFill>
                <a:latin typeface="Calibri"/>
                <a:ea typeface="맑은 고딕"/>
                <a:cs typeface="Calibri"/>
              </a:rPr>
              <a:t>Push a block across concrete and friction is highest before it moves — and barely depends on speed.</a:t>
            </a:r>
          </a:p>
          <a:p>
            <a:pPr algn="l">
              <a:lnSpc>
                <a:spcPct val="125000"/>
              </a:lnSpc>
              <a:spcAft>
                <a:spcPts val="0"/>
              </a:spcAft>
            </a:pPr>
            <a:r>
              <a:rPr sz="1300" b="0">
                <a:solidFill>
                  <a:srgbClr val="1A1A1A"/>
                </a:solidFill>
                <a:latin typeface="Calibri"/>
                <a:ea typeface="맑은 고딕"/>
                <a:cs typeface="Calibri"/>
              </a:rPr>
              <a:t>Add a lubricant and friction drops sharply. Keep raising the speed and it climbs again, the way a ship has to push aside more water the faster it goes: now the oil itself is what must be sheared.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Base Oils — Mineral and Synthetic</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Two ways to make a base oil</a:t>
            </a:r>
          </a:p>
        </p:txBody>
      </p:sp>
      <p:pic>
        <p:nvPicPr>
          <p:cNvPr id="7" name="Picture 6" descr="image9_crop.png"/>
          <p:cNvPicPr>
            <a:picLocks noChangeAspect="1"/>
          </p:cNvPicPr>
          <p:nvPr/>
        </p:nvPicPr>
        <p:blipFill>
          <a:blip r:embed="rId2"/>
          <a:stretch>
            <a:fillRect/>
          </a:stretch>
        </p:blipFill>
        <p:spPr>
          <a:xfrm>
            <a:off x="502920" y="1783080"/>
            <a:ext cx="5440680" cy="2402967"/>
          </a:xfrm>
          <a:prstGeom prst="rect">
            <a:avLst/>
          </a:prstGeom>
        </p:spPr>
      </p:pic>
      <p:sp>
        <p:nvSpPr>
          <p:cNvPr id="8" name="TextBox 7"/>
          <p:cNvSpPr txBox="1"/>
          <p:nvPr/>
        </p:nvSpPr>
        <p:spPr>
          <a:xfrm>
            <a:off x="502920" y="4325112"/>
            <a:ext cx="5440680" cy="1371600"/>
          </a:xfrm>
          <a:prstGeom prst="rect">
            <a:avLst/>
          </a:prstGeom>
          <a:noFill/>
        </p:spPr>
        <p:txBody>
          <a:bodyPr wrap="square" anchor="t" lIns="36576" rIns="36576" tIns="0" bIns="0">
            <a:spAutoFit/>
          </a:bodyPr>
          <a:lstStyle/>
          <a:p>
            <a:pPr algn="l">
              <a:lnSpc>
                <a:spcPct val="125000"/>
              </a:lnSpc>
              <a:spcAft>
                <a:spcPts val="800"/>
              </a:spcAft>
            </a:pPr>
            <a:r>
              <a:rPr sz="1300" b="0">
                <a:solidFill>
                  <a:srgbClr val="1A1A1A"/>
                </a:solidFill>
                <a:latin typeface="Calibri"/>
                <a:ea typeface="맑은 고딕"/>
                <a:cs typeface="Calibri"/>
              </a:rPr>
              <a:t>Mineral — refined from crude oil. A box of mixed Lego: many shapes, many sizes, whatever the barrel gave you.</a:t>
            </a:r>
          </a:p>
          <a:p>
            <a:pPr algn="l">
              <a:lnSpc>
                <a:spcPct val="125000"/>
              </a:lnSpc>
              <a:spcAft>
                <a:spcPts val="0"/>
              </a:spcAft>
            </a:pPr>
            <a:r>
              <a:rPr sz="1300" b="0">
                <a:solidFill>
                  <a:srgbClr val="1A1A1A"/>
                </a:solidFill>
                <a:latin typeface="Calibri"/>
                <a:ea typeface="맑은 고딕"/>
                <a:cs typeface="Calibri"/>
              </a:rPr>
              <a:t>Synthetic — known molecules assembled into the structure you actually want.</a:t>
            </a:r>
          </a:p>
        </p:txBody>
      </p:sp>
      <p:sp>
        <p:nvSpPr>
          <p:cNvPr id="9" name="Rectangle 8"/>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API base oil groups</a:t>
            </a:r>
          </a:p>
        </p:txBody>
      </p:sp>
      <p:pic>
        <p:nvPicPr>
          <p:cNvPr id="11" name="Picture 10" descr="image10.png"/>
          <p:cNvPicPr>
            <a:picLocks noChangeAspect="1"/>
          </p:cNvPicPr>
          <p:nvPr/>
        </p:nvPicPr>
        <p:blipFill>
          <a:blip r:embed="rId3"/>
          <a:stretch>
            <a:fillRect/>
          </a:stretch>
        </p:blipFill>
        <p:spPr>
          <a:xfrm>
            <a:off x="6245352" y="1783080"/>
            <a:ext cx="5440680" cy="2642974"/>
          </a:xfrm>
          <a:prstGeom prst="rect">
            <a:avLst/>
          </a:prstGeom>
        </p:spPr>
      </p:pic>
      <p:sp>
        <p:nvSpPr>
          <p:cNvPr id="12" name="TextBox 11"/>
          <p:cNvSpPr txBox="1"/>
          <p:nvPr/>
        </p:nvSpPr>
        <p:spPr>
          <a:xfrm>
            <a:off x="6245352" y="4572000"/>
            <a:ext cx="5440680" cy="1463040"/>
          </a:xfrm>
          <a:prstGeom prst="rect">
            <a:avLst/>
          </a:prstGeom>
          <a:noFill/>
        </p:spPr>
        <p:txBody>
          <a:bodyPr wrap="square" anchor="t" lIns="36576" rIns="36576" tIns="0" bIns="0">
            <a:spAutoFit/>
          </a:bodyPr>
          <a:lstStyle/>
          <a:p>
            <a:pPr algn="l">
              <a:lnSpc>
                <a:spcPct val="120000"/>
              </a:lnSpc>
              <a:spcAft>
                <a:spcPts val="600"/>
              </a:spcAft>
            </a:pPr>
            <a:r>
              <a:rPr sz="1250" b="0">
                <a:solidFill>
                  <a:srgbClr val="1A1A1A"/>
                </a:solidFill>
                <a:latin typeface="Calibri"/>
                <a:ea typeface="맑은 고딕"/>
                <a:cs typeface="Calibri"/>
              </a:rPr>
              <a:t>Group III is sold as synthetic in most markets, but it is still refined mineral stock — synthetic in name.</a:t>
            </a:r>
          </a:p>
          <a:p>
            <a:pPr algn="l">
              <a:lnSpc>
                <a:spcPct val="120000"/>
              </a:lnSpc>
              <a:spcAft>
                <a:spcPts val="600"/>
              </a:spcAft>
            </a:pPr>
            <a:r>
              <a:rPr sz="1250" b="0">
                <a:solidFill>
                  <a:srgbClr val="1A1A1A"/>
                </a:solidFill>
                <a:latin typeface="Calibri"/>
                <a:ea typeface="맑은 고딕"/>
                <a:cs typeface="Calibri"/>
              </a:rPr>
              <a:t>Group IV (PAO) is the workhorse synthetic — gears and some compressors.</a:t>
            </a:r>
          </a:p>
          <a:p>
            <a:pPr algn="l">
              <a:lnSpc>
                <a:spcPct val="120000"/>
              </a:lnSpc>
              <a:spcAft>
                <a:spcPts val="0"/>
              </a:spcAft>
            </a:pPr>
            <a:r>
              <a:rPr sz="1250" b="0">
                <a:solidFill>
                  <a:srgbClr val="1A1A1A"/>
                </a:solidFill>
                <a:latin typeface="Calibri"/>
                <a:ea typeface="맑은 고딕"/>
                <a:cs typeface="Calibri"/>
              </a:rPr>
              <a:t>Group V is everything that fits nowhere else, which does not make it better.</a:t>
            </a:r>
          </a:p>
        </p:txBody>
      </p:sp>
      <p:sp>
        <p:nvSpPr>
          <p:cNvPr id="13" name="Rectangle 12"/>
          <p:cNvSpPr/>
          <p:nvPr/>
        </p:nvSpPr>
        <p:spPr>
          <a:xfrm>
            <a:off x="6245352" y="5669280"/>
            <a:ext cx="5440680" cy="594360"/>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5669280"/>
            <a:ext cx="5074920" cy="594360"/>
          </a:xfrm>
          <a:prstGeom prst="rect">
            <a:avLst/>
          </a:prstGeom>
          <a:noFill/>
        </p:spPr>
        <p:txBody>
          <a:bodyPr wrap="square" anchor="ctr" lIns="36576" rIns="36576" tIns="0" bIns="0">
            <a:spAutoFit/>
          </a:bodyPr>
          <a:lstStyle/>
          <a:p>
            <a:pPr algn="l">
              <a:lnSpc>
                <a:spcPct val="125000"/>
              </a:lnSpc>
              <a:spcAft>
                <a:spcPts val="0"/>
              </a:spcAft>
            </a:pPr>
            <a:r>
              <a:rPr sz="1300" b="1">
                <a:solidFill>
                  <a:srgbClr val="172A4A"/>
                </a:solidFill>
                <a:latin typeface="Calibri"/>
                <a:ea typeface="맑은 고딕"/>
                <a:cs typeface="Calibri"/>
              </a:rPr>
              <a:t>Viscosity Index = how much the oil thins as it heats. Higher VI, flatter response.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Additives, Viscosity and Grease</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Additive families</a:t>
            </a:r>
          </a:p>
        </p:txBody>
      </p:sp>
      <p:pic>
        <p:nvPicPr>
          <p:cNvPr id="7" name="Picture 6" descr="image11_crop.png"/>
          <p:cNvPicPr>
            <a:picLocks noChangeAspect="1"/>
          </p:cNvPicPr>
          <p:nvPr/>
        </p:nvPicPr>
        <p:blipFill>
          <a:blip r:embed="rId2"/>
          <a:stretch>
            <a:fillRect/>
          </a:stretch>
        </p:blipFill>
        <p:spPr>
          <a:xfrm>
            <a:off x="1069848" y="1783080"/>
            <a:ext cx="4297680" cy="2730241"/>
          </a:xfrm>
          <a:prstGeom prst="rect">
            <a:avLst/>
          </a:prstGeom>
        </p:spPr>
      </p:pic>
      <p:sp>
        <p:nvSpPr>
          <p:cNvPr id="8" name="TextBox 7"/>
          <p:cNvSpPr txBox="1"/>
          <p:nvPr/>
        </p:nvSpPr>
        <p:spPr>
          <a:xfrm>
            <a:off x="502920" y="4636008"/>
            <a:ext cx="5440680" cy="502920"/>
          </a:xfrm>
          <a:prstGeom prst="rect">
            <a:avLst/>
          </a:prstGeom>
          <a:noFill/>
        </p:spPr>
        <p:txBody>
          <a:bodyPr wrap="square" anchor="t" lIns="36576" rIns="36576" tIns="0" bIns="0">
            <a:spAutoFit/>
          </a:bodyPr>
          <a:lstStyle/>
          <a:p>
            <a:pPr algn="l">
              <a:lnSpc>
                <a:spcPct val="120000"/>
              </a:lnSpc>
              <a:spcAft>
                <a:spcPts val="0"/>
              </a:spcAft>
            </a:pPr>
            <a:r>
              <a:rPr sz="1250" b="1">
                <a:solidFill>
                  <a:srgbClr val="1F6F3D"/>
                </a:solidFill>
                <a:latin typeface="Calibri"/>
                <a:ea typeface="맑은 고딕"/>
                <a:cs typeface="Calibri"/>
              </a:rPr>
              <a:t>Additives are the most expensive part of the blend — do not pay for what the application does not need.</a:t>
            </a:r>
          </a:p>
        </p:txBody>
      </p:sp>
      <p:sp>
        <p:nvSpPr>
          <p:cNvPr id="9" name="Rectangle 8"/>
          <p:cNvSpPr/>
          <p:nvPr/>
        </p:nvSpPr>
        <p:spPr>
          <a:xfrm>
            <a:off x="502920" y="5166360"/>
            <a:ext cx="2240280" cy="29260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 y="5166360"/>
            <a:ext cx="2093976" cy="29260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Open to atmosphere</a:t>
            </a:r>
          </a:p>
        </p:txBody>
      </p:sp>
      <p:sp>
        <p:nvSpPr>
          <p:cNvPr id="11" name="Rectangle 10"/>
          <p:cNvSpPr/>
          <p:nvPr/>
        </p:nvSpPr>
        <p:spPr>
          <a:xfrm>
            <a:off x="2743200" y="5166360"/>
            <a:ext cx="3200400" cy="29260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16352" y="5166360"/>
            <a:ext cx="3054096" cy="29260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More oxidation inhibitor</a:t>
            </a:r>
          </a:p>
        </p:txBody>
      </p:sp>
      <p:sp>
        <p:nvSpPr>
          <p:cNvPr id="13" name="Rectangle 12"/>
          <p:cNvSpPr/>
          <p:nvPr/>
        </p:nvSpPr>
        <p:spPr>
          <a:xfrm>
            <a:off x="502920" y="5458968"/>
            <a:ext cx="2240280" cy="29260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5458968"/>
            <a:ext cx="2093976" cy="29260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Heavily loaded</a:t>
            </a:r>
          </a:p>
        </p:txBody>
      </p:sp>
      <p:sp>
        <p:nvSpPr>
          <p:cNvPr id="15" name="Rectangle 14"/>
          <p:cNvSpPr/>
          <p:nvPr/>
        </p:nvSpPr>
        <p:spPr>
          <a:xfrm>
            <a:off x="2743200" y="5458968"/>
            <a:ext cx="3200400" cy="29260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16352" y="5458968"/>
            <a:ext cx="3054096" cy="29260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Extreme pressure (EP)</a:t>
            </a:r>
          </a:p>
        </p:txBody>
      </p:sp>
      <p:sp>
        <p:nvSpPr>
          <p:cNvPr id="17" name="Rectangle 16"/>
          <p:cNvSpPr/>
          <p:nvPr/>
        </p:nvSpPr>
        <p:spPr>
          <a:xfrm>
            <a:off x="502920" y="5751576"/>
            <a:ext cx="2240280" cy="29260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 y="5751576"/>
            <a:ext cx="2093976" cy="29260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Hydraulic pump</a:t>
            </a:r>
          </a:p>
        </p:txBody>
      </p:sp>
      <p:sp>
        <p:nvSpPr>
          <p:cNvPr id="19" name="Rectangle 18"/>
          <p:cNvSpPr/>
          <p:nvPr/>
        </p:nvSpPr>
        <p:spPr>
          <a:xfrm>
            <a:off x="2743200" y="5751576"/>
            <a:ext cx="3200400" cy="29260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16352" y="5751576"/>
            <a:ext cx="3054096" cy="29260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Antiwear (AW)</a:t>
            </a:r>
          </a:p>
        </p:txBody>
      </p:sp>
      <p:sp>
        <p:nvSpPr>
          <p:cNvPr id="21" name="Rectangle 20"/>
          <p:cNvSpPr/>
          <p:nvPr/>
        </p:nvSpPr>
        <p:spPr>
          <a:xfrm>
            <a:off x="502920" y="6044184"/>
            <a:ext cx="2240280" cy="29260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 y="6044184"/>
            <a:ext cx="2093976" cy="29260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Compressor, turbine</a:t>
            </a:r>
          </a:p>
        </p:txBody>
      </p:sp>
      <p:sp>
        <p:nvSpPr>
          <p:cNvPr id="23" name="Rectangle 22"/>
          <p:cNvSpPr/>
          <p:nvPr/>
        </p:nvSpPr>
        <p:spPr>
          <a:xfrm>
            <a:off x="2743200" y="6044184"/>
            <a:ext cx="3200400" cy="292608"/>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16352" y="6044184"/>
            <a:ext cx="3054096" cy="292608"/>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R&amp;O — rust and oxidation</a:t>
            </a:r>
          </a:p>
        </p:txBody>
      </p:sp>
      <p:sp>
        <p:nvSpPr>
          <p:cNvPr id="25" name="Rectangle 24"/>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The three properties that matter most</a:t>
            </a:r>
          </a:p>
        </p:txBody>
      </p:sp>
      <p:sp>
        <p:nvSpPr>
          <p:cNvPr id="27" name="Rectangle 26"/>
          <p:cNvSpPr/>
          <p:nvPr/>
        </p:nvSpPr>
        <p:spPr>
          <a:xfrm>
            <a:off x="6245352" y="1783080"/>
            <a:ext cx="594360" cy="329184"/>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18504" y="1783080"/>
            <a:ext cx="448056" cy="329184"/>
          </a:xfrm>
          <a:prstGeom prst="rect">
            <a:avLst/>
          </a:prstGeom>
          <a:noFill/>
        </p:spPr>
        <p:txBody>
          <a:bodyPr wrap="square" anchor="ctr" lIns="36576" rIns="36576" tIns="0" bIns="0">
            <a:spAutoFit/>
          </a:bodyPr>
          <a:lstStyle/>
          <a:p>
            <a:pPr algn="ctr">
              <a:spcAft>
                <a:spcPts val="0"/>
              </a:spcAft>
            </a:pPr>
            <a:r>
              <a:rPr sz="1250" b="1">
                <a:solidFill>
                  <a:srgbClr val="172A4A"/>
                </a:solidFill>
                <a:latin typeface="Calibri"/>
                <a:ea typeface="맑은 고딕"/>
                <a:cs typeface="Calibri"/>
              </a:rPr>
              <a:t>1</a:t>
            </a:r>
          </a:p>
        </p:txBody>
      </p:sp>
      <p:sp>
        <p:nvSpPr>
          <p:cNvPr id="29" name="Rectangle 28"/>
          <p:cNvSpPr/>
          <p:nvPr/>
        </p:nvSpPr>
        <p:spPr>
          <a:xfrm>
            <a:off x="6839712" y="1783080"/>
            <a:ext cx="4846320" cy="329184"/>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4" y="1783080"/>
            <a:ext cx="4700016" cy="329184"/>
          </a:xfrm>
          <a:prstGeom prst="rect">
            <a:avLst/>
          </a:prstGeom>
          <a:noFill/>
        </p:spPr>
        <p:txBody>
          <a:bodyPr wrap="square" anchor="ctr" lIns="36576" rIns="36576" tIns="0" bIns="0">
            <a:spAutoFit/>
          </a:bodyPr>
          <a:lstStyle/>
          <a:p>
            <a:pPr algn="l">
              <a:spcAft>
                <a:spcPts val="0"/>
              </a:spcAft>
            </a:pPr>
            <a:r>
              <a:rPr sz="1250" b="0">
                <a:solidFill>
                  <a:srgbClr val="1A1A1A"/>
                </a:solidFill>
                <a:latin typeface="Calibri"/>
                <a:ea typeface="맑은 고딕"/>
                <a:cs typeface="Calibri"/>
              </a:rPr>
              <a:t>Viscosity</a:t>
            </a:r>
          </a:p>
        </p:txBody>
      </p:sp>
      <p:sp>
        <p:nvSpPr>
          <p:cNvPr id="31" name="Rectangle 30"/>
          <p:cNvSpPr/>
          <p:nvPr/>
        </p:nvSpPr>
        <p:spPr>
          <a:xfrm>
            <a:off x="6245352" y="2112264"/>
            <a:ext cx="594360" cy="329184"/>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18504" y="2112264"/>
            <a:ext cx="448056" cy="329184"/>
          </a:xfrm>
          <a:prstGeom prst="rect">
            <a:avLst/>
          </a:prstGeom>
          <a:noFill/>
        </p:spPr>
        <p:txBody>
          <a:bodyPr wrap="square" anchor="ctr" lIns="36576" rIns="36576" tIns="0" bIns="0">
            <a:spAutoFit/>
          </a:bodyPr>
          <a:lstStyle/>
          <a:p>
            <a:pPr algn="ctr">
              <a:spcAft>
                <a:spcPts val="0"/>
              </a:spcAft>
            </a:pPr>
            <a:r>
              <a:rPr sz="1250" b="1">
                <a:solidFill>
                  <a:srgbClr val="172A4A"/>
                </a:solidFill>
                <a:latin typeface="Calibri"/>
                <a:ea typeface="맑은 고딕"/>
                <a:cs typeface="Calibri"/>
              </a:rPr>
              <a:t>2</a:t>
            </a:r>
          </a:p>
        </p:txBody>
      </p:sp>
      <p:sp>
        <p:nvSpPr>
          <p:cNvPr id="33" name="Rectangle 32"/>
          <p:cNvSpPr/>
          <p:nvPr/>
        </p:nvSpPr>
        <p:spPr>
          <a:xfrm>
            <a:off x="6839712" y="2112264"/>
            <a:ext cx="4846320" cy="329184"/>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4" y="2112264"/>
            <a:ext cx="4700016" cy="329184"/>
          </a:xfrm>
          <a:prstGeom prst="rect">
            <a:avLst/>
          </a:prstGeom>
          <a:noFill/>
        </p:spPr>
        <p:txBody>
          <a:bodyPr wrap="square" anchor="ctr" lIns="36576" rIns="36576" tIns="0" bIns="0">
            <a:spAutoFit/>
          </a:bodyPr>
          <a:lstStyle/>
          <a:p>
            <a:pPr algn="l">
              <a:spcAft>
                <a:spcPts val="0"/>
              </a:spcAft>
            </a:pPr>
            <a:r>
              <a:rPr sz="1250" b="0">
                <a:solidFill>
                  <a:srgbClr val="1A1A1A"/>
                </a:solidFill>
                <a:latin typeface="Calibri"/>
                <a:ea typeface="맑은 고딕"/>
                <a:cs typeface="Calibri"/>
              </a:rPr>
              <a:t>Viscosity against temperature</a:t>
            </a:r>
          </a:p>
        </p:txBody>
      </p:sp>
      <p:sp>
        <p:nvSpPr>
          <p:cNvPr id="35" name="Rectangle 34"/>
          <p:cNvSpPr/>
          <p:nvPr/>
        </p:nvSpPr>
        <p:spPr>
          <a:xfrm>
            <a:off x="6245352" y="2441448"/>
            <a:ext cx="594360" cy="329184"/>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18504" y="2441448"/>
            <a:ext cx="448056" cy="329184"/>
          </a:xfrm>
          <a:prstGeom prst="rect">
            <a:avLst/>
          </a:prstGeom>
          <a:noFill/>
        </p:spPr>
        <p:txBody>
          <a:bodyPr wrap="square" anchor="ctr" lIns="36576" rIns="36576" tIns="0" bIns="0">
            <a:spAutoFit/>
          </a:bodyPr>
          <a:lstStyle/>
          <a:p>
            <a:pPr algn="ctr">
              <a:spcAft>
                <a:spcPts val="0"/>
              </a:spcAft>
            </a:pPr>
            <a:r>
              <a:rPr sz="1250" b="1">
                <a:solidFill>
                  <a:srgbClr val="172A4A"/>
                </a:solidFill>
                <a:latin typeface="Calibri"/>
                <a:ea typeface="맑은 고딕"/>
                <a:cs typeface="Calibri"/>
              </a:rPr>
              <a:t>3</a:t>
            </a:r>
          </a:p>
        </p:txBody>
      </p:sp>
      <p:sp>
        <p:nvSpPr>
          <p:cNvPr id="37" name="Rectangle 36"/>
          <p:cNvSpPr/>
          <p:nvPr/>
        </p:nvSpPr>
        <p:spPr>
          <a:xfrm>
            <a:off x="6839712" y="2441448"/>
            <a:ext cx="4846320" cy="329184"/>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12864" y="2441448"/>
            <a:ext cx="4700016" cy="329184"/>
          </a:xfrm>
          <a:prstGeom prst="rect">
            <a:avLst/>
          </a:prstGeom>
          <a:noFill/>
        </p:spPr>
        <p:txBody>
          <a:bodyPr wrap="square" anchor="ctr" lIns="36576" rIns="36576" tIns="0" bIns="0">
            <a:spAutoFit/>
          </a:bodyPr>
          <a:lstStyle/>
          <a:p>
            <a:pPr algn="l">
              <a:spcAft>
                <a:spcPts val="0"/>
              </a:spcAft>
            </a:pPr>
            <a:r>
              <a:rPr sz="1250" b="0">
                <a:solidFill>
                  <a:srgbClr val="1A1A1A"/>
                </a:solidFill>
                <a:latin typeface="Calibri"/>
                <a:ea typeface="맑은 고딕"/>
                <a:cs typeface="Calibri"/>
              </a:rPr>
              <a:t>Viscosity against pressure</a:t>
            </a:r>
          </a:p>
        </p:txBody>
      </p:sp>
      <p:sp>
        <p:nvSpPr>
          <p:cNvPr id="39" name="TextBox 38"/>
          <p:cNvSpPr txBox="1"/>
          <p:nvPr/>
        </p:nvSpPr>
        <p:spPr>
          <a:xfrm>
            <a:off x="6245352" y="2880360"/>
            <a:ext cx="5440680" cy="457200"/>
          </a:xfrm>
          <a:prstGeom prst="rect">
            <a:avLst/>
          </a:prstGeom>
          <a:noFill/>
        </p:spPr>
        <p:txBody>
          <a:bodyPr wrap="square" anchor="t" lIns="36576" rIns="36576" tIns="0" bIns="0">
            <a:spAutoFit/>
          </a:bodyPr>
          <a:lstStyle/>
          <a:p>
            <a:pPr algn="l">
              <a:lnSpc>
                <a:spcPct val="120000"/>
              </a:lnSpc>
              <a:spcAft>
                <a:spcPts val="0"/>
              </a:spcAft>
            </a:pPr>
            <a:r>
              <a:rPr sz="1250" b="0">
                <a:solidFill>
                  <a:srgbClr val="595959"/>
                </a:solidFill>
                <a:latin typeface="Calibri"/>
                <a:ea typeface="맑은 고딕"/>
                <a:cs typeface="Calibri"/>
              </a:rPr>
              <a:t>Kinematic viscosity is the figure normally quoted; ISO VG is the grading standard.</a:t>
            </a:r>
          </a:p>
        </p:txBody>
      </p:sp>
      <p:sp>
        <p:nvSpPr>
          <p:cNvPr id="40" name="Rectangle 39"/>
          <p:cNvSpPr/>
          <p:nvPr/>
        </p:nvSpPr>
        <p:spPr>
          <a:xfrm>
            <a:off x="6245352" y="3456432"/>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456432"/>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Grease = base oil + thickener + additives</a:t>
            </a:r>
          </a:p>
        </p:txBody>
      </p:sp>
      <p:sp>
        <p:nvSpPr>
          <p:cNvPr id="42" name="TextBox 41"/>
          <p:cNvSpPr txBox="1"/>
          <p:nvPr/>
        </p:nvSpPr>
        <p:spPr>
          <a:xfrm>
            <a:off x="6245352" y="3913632"/>
            <a:ext cx="5440680" cy="1463040"/>
          </a:xfrm>
          <a:prstGeom prst="rect">
            <a:avLst/>
          </a:prstGeom>
          <a:noFill/>
        </p:spPr>
        <p:txBody>
          <a:bodyPr wrap="square" anchor="t" lIns="36576" rIns="36576" tIns="0" bIns="0">
            <a:spAutoFit/>
          </a:bodyPr>
          <a:lstStyle/>
          <a:p>
            <a:pPr algn="l">
              <a:lnSpc>
                <a:spcPct val="125000"/>
              </a:lnSpc>
              <a:spcAft>
                <a:spcPts val="800"/>
              </a:spcAft>
            </a:pPr>
            <a:r>
              <a:rPr sz="1300" b="0">
                <a:solidFill>
                  <a:srgbClr val="1A1A1A"/>
                </a:solidFill>
                <a:latin typeface="Calibri"/>
                <a:ea typeface="맑은 고딕"/>
                <a:cs typeface="Calibri"/>
              </a:rPr>
              <a:t>Think of a sponge holding water. Squeeze it and water comes out; release it and the sponge takes the water back.</a:t>
            </a:r>
          </a:p>
          <a:p>
            <a:pPr algn="l">
              <a:lnSpc>
                <a:spcPct val="125000"/>
              </a:lnSpc>
              <a:spcAft>
                <a:spcPts val="0"/>
              </a:spcAft>
            </a:pPr>
            <a:r>
              <a:rPr sz="1300" b="0">
                <a:solidFill>
                  <a:srgbClr val="1A1A1A"/>
                </a:solidFill>
                <a:latin typeface="Calibri"/>
                <a:ea typeface="맑은 고딕"/>
                <a:cs typeface="Calibri"/>
              </a:rPr>
              <a:t>The thickener matrix holds the base oil until the bearing turns and load comes on. The oil is pushed out, and it is the base oil that does the lubricating.</a:t>
            </a:r>
          </a:p>
        </p:txBody>
      </p:sp>
      <p:sp>
        <p:nvSpPr>
          <p:cNvPr id="43" name="Rectangle 42"/>
          <p:cNvSpPr/>
          <p:nvPr/>
        </p:nvSpPr>
        <p:spPr>
          <a:xfrm>
            <a:off x="6245352" y="5513832"/>
            <a:ext cx="5440680" cy="731520"/>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28232" y="5513832"/>
            <a:ext cx="5074920" cy="731520"/>
          </a:xfrm>
          <a:prstGeom prst="rect">
            <a:avLst/>
          </a:prstGeom>
          <a:noFill/>
        </p:spPr>
        <p:txBody>
          <a:bodyPr wrap="square" anchor="ctr" lIns="36576" rIns="36576" tIns="0" bIns="0">
            <a:spAutoFit/>
          </a:bodyPr>
          <a:lstStyle/>
          <a:p>
            <a:pPr algn="l">
              <a:lnSpc>
                <a:spcPct val="125000"/>
              </a:lnSpc>
              <a:spcAft>
                <a:spcPts val="0"/>
              </a:spcAft>
            </a:pPr>
            <a:r>
              <a:rPr sz="1300" b="1">
                <a:solidFill>
                  <a:srgbClr val="172A4A"/>
                </a:solidFill>
                <a:latin typeface="Calibri"/>
                <a:ea typeface="맑은 고딕"/>
                <a:cs typeface="Calibri"/>
              </a:rPr>
              <a:t>Consistency is graded by worked penetration (NLGI). NLGI 2 is the general multipurpose grade.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Selecting for the Application</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Rolling bearings — viscosity from size and speed</a:t>
            </a:r>
          </a:p>
        </p:txBody>
      </p:sp>
      <p:pic>
        <p:nvPicPr>
          <p:cNvPr id="7" name="Picture 6" descr="trim_image4.png"/>
          <p:cNvPicPr>
            <a:picLocks noChangeAspect="1"/>
          </p:cNvPicPr>
          <p:nvPr/>
        </p:nvPicPr>
        <p:blipFill>
          <a:blip r:embed="rId2"/>
          <a:stretch>
            <a:fillRect/>
          </a:stretch>
        </p:blipFill>
        <p:spPr>
          <a:xfrm>
            <a:off x="502920" y="1783080"/>
            <a:ext cx="5440680" cy="3031157"/>
          </a:xfrm>
          <a:prstGeom prst="rect">
            <a:avLst/>
          </a:prstGeom>
        </p:spPr>
      </p:pic>
      <p:sp>
        <p:nvSpPr>
          <p:cNvPr id="8" name="TextBox 7"/>
          <p:cNvSpPr txBox="1"/>
          <p:nvPr/>
        </p:nvSpPr>
        <p:spPr>
          <a:xfrm>
            <a:off x="502920" y="5129784"/>
            <a:ext cx="5440680" cy="1280160"/>
          </a:xfrm>
          <a:prstGeom prst="rect">
            <a:avLst/>
          </a:prstGeom>
          <a:noFill/>
        </p:spPr>
        <p:txBody>
          <a:bodyPr wrap="square" anchor="t" lIns="36576" rIns="36576" tIns="0" bIns="0">
            <a:spAutoFit/>
          </a:bodyPr>
          <a:lstStyle/>
          <a:p>
            <a:pPr algn="l">
              <a:lnSpc>
                <a:spcPct val="125000"/>
              </a:lnSpc>
              <a:spcAft>
                <a:spcPts val="800"/>
              </a:spcAft>
            </a:pPr>
            <a:r>
              <a:rPr sz="1250" b="0">
                <a:solidFill>
                  <a:srgbClr val="1A1A1A"/>
                </a:solidFill>
                <a:latin typeface="Calibri"/>
                <a:ea typeface="맑은 고딕"/>
                <a:cs typeface="Calibri"/>
              </a:rPr>
              <a:t>Read the viscosity the bearing needs from its mean diameter and speed, then read what the oil actually gives at working temperature.</a:t>
            </a:r>
          </a:p>
          <a:p>
            <a:pPr algn="l">
              <a:lnSpc>
                <a:spcPct val="120000"/>
              </a:lnSpc>
              <a:spcAft>
                <a:spcPts val="0"/>
              </a:spcAft>
            </a:pPr>
            <a:r>
              <a:rPr sz="1300" b="1">
                <a:solidFill>
                  <a:srgbClr val="1F6F3D"/>
                </a:solidFill>
                <a:latin typeface="Calibri"/>
                <a:ea typeface="맑은 고딕"/>
                <a:cs typeface="Calibri"/>
              </a:rPr>
              <a:t>κ = actual ÷ rated. Below 1 the film is too thin.</a:t>
            </a:r>
          </a:p>
        </p:txBody>
      </p:sp>
      <p:sp>
        <p:nvSpPr>
          <p:cNvPr id="9" name="Rectangle 8"/>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Hydraulics — zinc and viscosity index</a:t>
            </a:r>
          </a:p>
        </p:txBody>
      </p:sp>
      <p:pic>
        <p:nvPicPr>
          <p:cNvPr id="11" name="Picture 10" descr="image8.png"/>
          <p:cNvPicPr>
            <a:picLocks noChangeAspect="1"/>
          </p:cNvPicPr>
          <p:nvPr/>
        </p:nvPicPr>
        <p:blipFill>
          <a:blip r:embed="rId3"/>
          <a:stretch>
            <a:fillRect/>
          </a:stretch>
        </p:blipFill>
        <p:spPr>
          <a:xfrm>
            <a:off x="6912864" y="1783080"/>
            <a:ext cx="4114800" cy="2849429"/>
          </a:xfrm>
          <a:prstGeom prst="rect">
            <a:avLst/>
          </a:prstGeom>
        </p:spPr>
      </p:pic>
      <p:sp>
        <p:nvSpPr>
          <p:cNvPr id="12" name="TextBox 11"/>
          <p:cNvSpPr txBox="1"/>
          <p:nvPr/>
        </p:nvSpPr>
        <p:spPr>
          <a:xfrm>
            <a:off x="6245352" y="4754880"/>
            <a:ext cx="5440680" cy="868680"/>
          </a:xfrm>
          <a:prstGeom prst="rect">
            <a:avLst/>
          </a:prstGeom>
          <a:noFill/>
        </p:spPr>
        <p:txBody>
          <a:bodyPr wrap="square" anchor="t" lIns="36576" rIns="36576" tIns="0" bIns="0">
            <a:spAutoFit/>
          </a:bodyPr>
          <a:lstStyle/>
          <a:p>
            <a:pPr algn="l">
              <a:lnSpc>
                <a:spcPct val="125000"/>
              </a:lnSpc>
              <a:spcAft>
                <a:spcPts val="0"/>
              </a:spcAft>
            </a:pPr>
            <a:r>
              <a:rPr sz="1250" b="0">
                <a:solidFill>
                  <a:srgbClr val="1A1A1A"/>
                </a:solidFill>
                <a:latin typeface="Calibri"/>
                <a:ea typeface="맑은 고딕"/>
                <a:cs typeface="Calibri"/>
              </a:rPr>
              <a:t>Zinc-free where toxicity matters or servo valves are fitted; high VI for wide temperature swings. Gear oils are specified by API GL class — GL-4 for manual gearboxes, GL-5 for hypoid axles.</a:t>
            </a:r>
          </a:p>
        </p:txBody>
      </p:sp>
      <p:sp>
        <p:nvSpPr>
          <p:cNvPr id="13" name="Rectangle 12"/>
          <p:cNvSpPr/>
          <p:nvPr/>
        </p:nvSpPr>
        <p:spPr>
          <a:xfrm>
            <a:off x="6245352" y="5715000"/>
            <a:ext cx="5440680" cy="566928"/>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5715000"/>
            <a:ext cx="5074920" cy="566928"/>
          </a:xfrm>
          <a:prstGeom prst="rect">
            <a:avLst/>
          </a:prstGeom>
          <a:noFill/>
        </p:spPr>
        <p:txBody>
          <a:bodyPr wrap="square" anchor="ctr" lIns="36576" rIns="36576" tIns="0" bIns="0">
            <a:spAutoFit/>
          </a:bodyPr>
          <a:lstStyle/>
          <a:p>
            <a:pPr algn="l">
              <a:lnSpc>
                <a:spcPct val="125000"/>
              </a:lnSpc>
              <a:spcAft>
                <a:spcPts val="0"/>
              </a:spcAft>
            </a:pPr>
            <a:r>
              <a:rPr sz="1300" b="1">
                <a:solidFill>
                  <a:srgbClr val="172A4A"/>
                </a:solidFill>
                <a:latin typeface="Calibri"/>
                <a:ea typeface="맑은 고딕"/>
                <a:cs typeface="Calibri"/>
              </a:rPr>
              <a:t>Cost rises toward the top right. Expensive is not automatically correct.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Contamination Control I — Particles</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How to read an ISO cleanliness code</a:t>
            </a:r>
          </a:p>
        </p:txBody>
      </p:sp>
      <p:pic>
        <p:nvPicPr>
          <p:cNvPr id="7" name="Picture 6" descr="trim_image16.png"/>
          <p:cNvPicPr>
            <a:picLocks noChangeAspect="1"/>
          </p:cNvPicPr>
          <p:nvPr/>
        </p:nvPicPr>
        <p:blipFill>
          <a:blip r:embed="rId2"/>
          <a:stretch>
            <a:fillRect/>
          </a:stretch>
        </p:blipFill>
        <p:spPr>
          <a:xfrm>
            <a:off x="502920" y="1783080"/>
            <a:ext cx="5440680" cy="2795488"/>
          </a:xfrm>
          <a:prstGeom prst="rect">
            <a:avLst/>
          </a:prstGeom>
        </p:spPr>
      </p:pic>
      <p:sp>
        <p:nvSpPr>
          <p:cNvPr id="8" name="TextBox 7"/>
          <p:cNvSpPr txBox="1"/>
          <p:nvPr/>
        </p:nvSpPr>
        <p:spPr>
          <a:xfrm>
            <a:off x="502920" y="4946904"/>
            <a:ext cx="5440680" cy="1280160"/>
          </a:xfrm>
          <a:prstGeom prst="rect">
            <a:avLst/>
          </a:prstGeom>
          <a:noFill/>
        </p:spPr>
        <p:txBody>
          <a:bodyPr wrap="square" anchor="t" lIns="36576" rIns="36576" tIns="0" bIns="0">
            <a:spAutoFit/>
          </a:bodyPr>
          <a:lstStyle/>
          <a:p>
            <a:pPr algn="l">
              <a:lnSpc>
                <a:spcPct val="125000"/>
              </a:lnSpc>
              <a:spcAft>
                <a:spcPts val="800"/>
              </a:spcAft>
            </a:pPr>
            <a:r>
              <a:rPr sz="1250" b="0">
                <a:solidFill>
                  <a:srgbClr val="1A1A1A"/>
                </a:solidFill>
                <a:latin typeface="Calibri"/>
                <a:ea typeface="맑은 고딕"/>
                <a:cs typeface="Calibri"/>
              </a:rPr>
              <a:t>Three numbers, for particles larger than 4, 6 and 14 µm. Each step doubles the count — so 20 to 22 is four times the dirt.</a:t>
            </a:r>
          </a:p>
          <a:p>
            <a:pPr algn="l">
              <a:lnSpc>
                <a:spcPct val="125000"/>
              </a:lnSpc>
              <a:spcAft>
                <a:spcPts val="0"/>
              </a:spcAft>
            </a:pPr>
            <a:r>
              <a:rPr sz="1250" b="0">
                <a:solidFill>
                  <a:srgbClr val="595959"/>
                </a:solidFill>
                <a:latin typeface="Calibri"/>
                <a:ea typeface="맑은 고딕"/>
                <a:cs typeface="Calibri"/>
              </a:rPr>
              <a:t>Counted by microscopy (ISO 4407), light extinction (ISO 11500), patch test, pore blockage or laser net fines.</a:t>
            </a:r>
          </a:p>
        </p:txBody>
      </p:sp>
      <p:sp>
        <p:nvSpPr>
          <p:cNvPr id="9" name="Rectangle 8"/>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Filters — and when they stop filtering</a:t>
            </a:r>
          </a:p>
        </p:txBody>
      </p:sp>
      <p:pic>
        <p:nvPicPr>
          <p:cNvPr id="11" name="Picture 10" descr="trim_image18.png"/>
          <p:cNvPicPr>
            <a:picLocks noChangeAspect="1"/>
          </p:cNvPicPr>
          <p:nvPr/>
        </p:nvPicPr>
        <p:blipFill>
          <a:blip r:embed="rId3"/>
          <a:stretch>
            <a:fillRect/>
          </a:stretch>
        </p:blipFill>
        <p:spPr>
          <a:xfrm>
            <a:off x="6245352" y="1783080"/>
            <a:ext cx="5440680" cy="2830527"/>
          </a:xfrm>
          <a:prstGeom prst="rect">
            <a:avLst/>
          </a:prstGeom>
        </p:spPr>
      </p:pic>
      <p:sp>
        <p:nvSpPr>
          <p:cNvPr id="12" name="TextBox 11"/>
          <p:cNvSpPr txBox="1"/>
          <p:nvPr/>
        </p:nvSpPr>
        <p:spPr>
          <a:xfrm>
            <a:off x="6245352" y="5349240"/>
            <a:ext cx="5440680" cy="914400"/>
          </a:xfrm>
          <a:prstGeom prst="rect">
            <a:avLst/>
          </a:prstGeom>
          <a:noFill/>
        </p:spPr>
        <p:txBody>
          <a:bodyPr wrap="square" anchor="t" lIns="36576" rIns="36576" tIns="0" bIns="0">
            <a:spAutoFit/>
          </a:bodyPr>
          <a:lstStyle/>
          <a:p>
            <a:pPr algn="l">
              <a:lnSpc>
                <a:spcPct val="125000"/>
              </a:lnSpc>
              <a:spcAft>
                <a:spcPts val="800"/>
              </a:spcAft>
            </a:pPr>
            <a:r>
              <a:rPr sz="1250" b="0">
                <a:solidFill>
                  <a:srgbClr val="1A1A1A"/>
                </a:solidFill>
                <a:latin typeface="Calibri"/>
                <a:ea typeface="맑은 고딕"/>
                <a:cs typeface="Calibri"/>
              </a:rPr>
              <a:t>Surface media stop anything wider than the gap; depth media trap fine particles inside the fibres; magnets catch large steel.</a:t>
            </a:r>
          </a:p>
          <a:p>
            <a:pPr algn="l">
              <a:lnSpc>
                <a:spcPct val="125000"/>
              </a:lnSpc>
              <a:spcAft>
                <a:spcPts val="0"/>
              </a:spcAft>
            </a:pPr>
            <a:r>
              <a:rPr sz="1250" b="1">
                <a:solidFill>
                  <a:srgbClr val="C00000"/>
                </a:solidFill>
                <a:latin typeface="Calibri"/>
                <a:ea typeface="맑은 고딕"/>
                <a:cs typeface="Calibri"/>
              </a:rPr>
              <a:t>ΔP shows how blocked the element is. Past a set point the bypass opens and unfiltered oil goes straight through.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Contamination Control II — Water and Air</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Water attacks the additives, not just the metal</a:t>
            </a:r>
          </a:p>
        </p:txBody>
      </p:sp>
      <p:pic>
        <p:nvPicPr>
          <p:cNvPr id="7" name="Picture 6" descr="trim_image12.png"/>
          <p:cNvPicPr>
            <a:picLocks noChangeAspect="1"/>
          </p:cNvPicPr>
          <p:nvPr/>
        </p:nvPicPr>
        <p:blipFill>
          <a:blip r:embed="rId2"/>
          <a:stretch>
            <a:fillRect/>
          </a:stretch>
        </p:blipFill>
        <p:spPr>
          <a:xfrm>
            <a:off x="502920" y="1783080"/>
            <a:ext cx="5440680" cy="2725830"/>
          </a:xfrm>
          <a:prstGeom prst="rect">
            <a:avLst/>
          </a:prstGeom>
        </p:spPr>
      </p:pic>
      <p:sp>
        <p:nvSpPr>
          <p:cNvPr id="8" name="TextBox 7"/>
          <p:cNvSpPr txBox="1"/>
          <p:nvPr/>
        </p:nvSpPr>
        <p:spPr>
          <a:xfrm>
            <a:off x="502920" y="4855464"/>
            <a:ext cx="5440680" cy="1371600"/>
          </a:xfrm>
          <a:prstGeom prst="rect">
            <a:avLst/>
          </a:prstGeom>
          <a:noFill/>
        </p:spPr>
        <p:txBody>
          <a:bodyPr wrap="square" anchor="t" lIns="36576" rIns="36576" tIns="0" bIns="0">
            <a:spAutoFit/>
          </a:bodyPr>
          <a:lstStyle/>
          <a:p>
            <a:pPr algn="l">
              <a:lnSpc>
                <a:spcPct val="125000"/>
              </a:lnSpc>
              <a:spcAft>
                <a:spcPts val="800"/>
              </a:spcAft>
            </a:pPr>
            <a:r>
              <a:rPr sz="1250" b="0">
                <a:solidFill>
                  <a:srgbClr val="1A1A1A"/>
                </a:solidFill>
                <a:latin typeface="Calibri"/>
                <a:ea typeface="맑은 고딕"/>
                <a:cs typeface="Calibri"/>
              </a:rPr>
              <a:t>Oils are hygroscopic — they pull water in, even out of the air. Water appears dissolved, emulsified, then free.</a:t>
            </a:r>
          </a:p>
          <a:p>
            <a:pPr algn="l">
              <a:lnSpc>
                <a:spcPct val="125000"/>
              </a:lnSpc>
              <a:spcAft>
                <a:spcPts val="0"/>
              </a:spcAft>
            </a:pPr>
            <a:r>
              <a:rPr sz="1250" b="0">
                <a:solidFill>
                  <a:srgbClr val="1A1A1A"/>
                </a:solidFill>
                <a:latin typeface="Calibri"/>
                <a:ea typeface="맑은 고딕"/>
                <a:cs typeface="Calibri"/>
              </a:rPr>
              <a:t>Free water drains. Dissolved and emulsified are the hard ones — and they drive the additive reactions backwards, making acid.</a:t>
            </a:r>
          </a:p>
        </p:txBody>
      </p:sp>
      <p:sp>
        <p:nvSpPr>
          <p:cNvPr id="9" name="Rectangle 8"/>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Air — foam is not the dangerous one</a:t>
            </a:r>
          </a:p>
        </p:txBody>
      </p:sp>
      <p:pic>
        <p:nvPicPr>
          <p:cNvPr id="11" name="Picture 10" descr="image15.png"/>
          <p:cNvPicPr>
            <a:picLocks noChangeAspect="1"/>
          </p:cNvPicPr>
          <p:nvPr/>
        </p:nvPicPr>
        <p:blipFill>
          <a:blip r:embed="rId3"/>
          <a:stretch>
            <a:fillRect/>
          </a:stretch>
        </p:blipFill>
        <p:spPr>
          <a:xfrm>
            <a:off x="6245352" y="1783080"/>
            <a:ext cx="5440680" cy="3201048"/>
          </a:xfrm>
          <a:prstGeom prst="rect">
            <a:avLst/>
          </a:prstGeom>
        </p:spPr>
      </p:pic>
      <p:sp>
        <p:nvSpPr>
          <p:cNvPr id="12" name="TextBox 11"/>
          <p:cNvSpPr txBox="1"/>
          <p:nvPr/>
        </p:nvSpPr>
        <p:spPr>
          <a:xfrm>
            <a:off x="6245352" y="5093208"/>
            <a:ext cx="5440680" cy="1371600"/>
          </a:xfrm>
          <a:prstGeom prst="rect">
            <a:avLst/>
          </a:prstGeom>
          <a:noFill/>
        </p:spPr>
        <p:txBody>
          <a:bodyPr wrap="square" anchor="t" lIns="36576" rIns="36576" tIns="0" bIns="0">
            <a:spAutoFit/>
          </a:bodyPr>
          <a:lstStyle/>
          <a:p>
            <a:pPr algn="l">
              <a:lnSpc>
                <a:spcPct val="125000"/>
              </a:lnSpc>
              <a:spcAft>
                <a:spcPts val="800"/>
              </a:spcAft>
            </a:pPr>
            <a:r>
              <a:rPr sz="1250" b="0">
                <a:solidFill>
                  <a:srgbClr val="1A1A1A"/>
                </a:solidFill>
                <a:latin typeface="Calibri"/>
                <a:ea typeface="맑은 고딕"/>
                <a:cs typeface="Calibri"/>
              </a:rPr>
              <a:t>Free air sits on top as foam. Dissolved air is invisible. Entrained air — bubbles carried inside the oil — is the damaging one.</a:t>
            </a:r>
          </a:p>
          <a:p>
            <a:pPr algn="l">
              <a:lnSpc>
                <a:spcPct val="125000"/>
              </a:lnSpc>
              <a:spcAft>
                <a:spcPts val="0"/>
              </a:spcAft>
            </a:pPr>
            <a:r>
              <a:rPr sz="1250" b="1">
                <a:solidFill>
                  <a:srgbClr val="C00000"/>
                </a:solidFill>
                <a:latin typeface="Calibri"/>
                <a:ea typeface="맑은 고딕"/>
                <a:cs typeface="Calibri"/>
              </a:rPr>
              <a:t>It reaches the pump and causes cavitation, spongy control and low oil pressure trips.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Degradation and Wear</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Three ways the oil itself goes bad</a:t>
            </a:r>
          </a:p>
        </p:txBody>
      </p:sp>
      <p:pic>
        <p:nvPicPr>
          <p:cNvPr id="7" name="Picture 6" descr="trim_image11.png"/>
          <p:cNvPicPr>
            <a:picLocks noChangeAspect="1"/>
          </p:cNvPicPr>
          <p:nvPr/>
        </p:nvPicPr>
        <p:blipFill>
          <a:blip r:embed="rId2"/>
          <a:stretch>
            <a:fillRect/>
          </a:stretch>
        </p:blipFill>
        <p:spPr>
          <a:xfrm>
            <a:off x="658368" y="1783080"/>
            <a:ext cx="5120640" cy="2998388"/>
          </a:xfrm>
          <a:prstGeom prst="rect">
            <a:avLst/>
          </a:prstGeom>
        </p:spPr>
      </p:pic>
      <p:sp>
        <p:nvSpPr>
          <p:cNvPr id="8" name="Rectangle 7"/>
          <p:cNvSpPr/>
          <p:nvPr/>
        </p:nvSpPr>
        <p:spPr>
          <a:xfrm>
            <a:off x="502920" y="5129784"/>
            <a:ext cx="5440680" cy="566928"/>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129784"/>
            <a:ext cx="5074920" cy="566928"/>
          </a:xfrm>
          <a:prstGeom prst="rect">
            <a:avLst/>
          </a:prstGeom>
          <a:noFill/>
        </p:spPr>
        <p:txBody>
          <a:bodyPr wrap="square" anchor="ctr" lIns="36576" rIns="36576" tIns="0" bIns="0">
            <a:spAutoFit/>
          </a:bodyPr>
          <a:lstStyle/>
          <a:p>
            <a:pPr algn="l">
              <a:lnSpc>
                <a:spcPct val="125000"/>
              </a:lnSpc>
              <a:spcAft>
                <a:spcPts val="0"/>
              </a:spcAft>
            </a:pPr>
            <a:r>
              <a:rPr sz="1300" b="1">
                <a:solidFill>
                  <a:srgbClr val="172A4A"/>
                </a:solidFill>
                <a:latin typeface="Calibri"/>
                <a:ea typeface="맑은 고딕"/>
                <a:cs typeface="Calibri"/>
              </a:rPr>
              <a:t>Above 60 °C, every extra 10 °C halves the oil's service life.</a:t>
            </a:r>
          </a:p>
        </p:txBody>
      </p:sp>
      <p:sp>
        <p:nvSpPr>
          <p:cNvPr id="10" name="TextBox 9"/>
          <p:cNvSpPr txBox="1"/>
          <p:nvPr/>
        </p:nvSpPr>
        <p:spPr>
          <a:xfrm>
            <a:off x="502920" y="5824728"/>
            <a:ext cx="5440680" cy="457200"/>
          </a:xfrm>
          <a:prstGeom prst="rect">
            <a:avLst/>
          </a:prstGeom>
          <a:noFill/>
        </p:spPr>
        <p:txBody>
          <a:bodyPr wrap="square" anchor="t" lIns="36576" rIns="36576" tIns="0" bIns="0">
            <a:spAutoFit/>
          </a:bodyPr>
          <a:lstStyle/>
          <a:p>
            <a:pPr algn="l">
              <a:lnSpc>
                <a:spcPct val="120000"/>
              </a:lnSpc>
              <a:spcAft>
                <a:spcPts val="0"/>
              </a:spcAft>
            </a:pPr>
            <a:r>
              <a:rPr sz="1200" b="0">
                <a:solidFill>
                  <a:srgbClr val="595959"/>
                </a:solidFill>
                <a:latin typeface="Calibri"/>
                <a:ea typeface="맑은 고딕"/>
                <a:cs typeface="Calibri"/>
              </a:rPr>
              <a:t>Additives leave three ways too: they decompose, they are separated out by filters and centrifuges, or they adsorb onto surfaces and particles.</a:t>
            </a:r>
          </a:p>
        </p:txBody>
      </p:sp>
      <p:sp>
        <p:nvSpPr>
          <p:cNvPr id="11" name="Rectangle 10"/>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Four ways surfaces wear</a:t>
            </a:r>
          </a:p>
        </p:txBody>
      </p:sp>
      <p:pic>
        <p:nvPicPr>
          <p:cNvPr id="13" name="Picture 12" descr="image19.png"/>
          <p:cNvPicPr>
            <a:picLocks noChangeAspect="1"/>
          </p:cNvPicPr>
          <p:nvPr/>
        </p:nvPicPr>
        <p:blipFill>
          <a:blip r:embed="rId3"/>
          <a:stretch>
            <a:fillRect/>
          </a:stretch>
        </p:blipFill>
        <p:spPr>
          <a:xfrm>
            <a:off x="6245352" y="1783080"/>
            <a:ext cx="5440680" cy="2935410"/>
          </a:xfrm>
          <a:prstGeom prst="rect">
            <a:avLst/>
          </a:prstGeom>
        </p:spPr>
      </p:pic>
      <p:sp>
        <p:nvSpPr>
          <p:cNvPr id="14" name="Rectangle 13"/>
          <p:cNvSpPr/>
          <p:nvPr/>
        </p:nvSpPr>
        <p:spPr>
          <a:xfrm>
            <a:off x="6245352" y="4837176"/>
            <a:ext cx="1600200" cy="310896"/>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4837176"/>
            <a:ext cx="1453896" cy="310896"/>
          </a:xfrm>
          <a:prstGeom prst="rect">
            <a:avLst/>
          </a:prstGeom>
          <a:noFill/>
        </p:spPr>
        <p:txBody>
          <a:bodyPr wrap="square" anchor="ctr" lIns="36576" rIns="36576" tIns="0" bIns="0">
            <a:spAutoFit/>
          </a:bodyPr>
          <a:lstStyle/>
          <a:p>
            <a:pPr algn="l">
              <a:spcAft>
                <a:spcPts val="0"/>
              </a:spcAft>
            </a:pPr>
            <a:r>
              <a:rPr sz="1200" b="1">
                <a:solidFill>
                  <a:srgbClr val="1A1A1A"/>
                </a:solidFill>
                <a:latin typeface="Calibri"/>
                <a:ea typeface="맑은 고딕"/>
                <a:cs typeface="Calibri"/>
              </a:rPr>
              <a:t>Adhesive</a:t>
            </a:r>
          </a:p>
        </p:txBody>
      </p:sp>
      <p:sp>
        <p:nvSpPr>
          <p:cNvPr id="16" name="Rectangle 15"/>
          <p:cNvSpPr/>
          <p:nvPr/>
        </p:nvSpPr>
        <p:spPr>
          <a:xfrm>
            <a:off x="7845552" y="4837176"/>
            <a:ext cx="3840480" cy="310896"/>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8704" y="4837176"/>
            <a:ext cx="3694176" cy="310896"/>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Metal welds and tears — scuffing</a:t>
            </a:r>
          </a:p>
        </p:txBody>
      </p:sp>
      <p:sp>
        <p:nvSpPr>
          <p:cNvPr id="18" name="Rectangle 17"/>
          <p:cNvSpPr/>
          <p:nvPr/>
        </p:nvSpPr>
        <p:spPr>
          <a:xfrm>
            <a:off x="6245352" y="5148072"/>
            <a:ext cx="1600200" cy="310896"/>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8504" y="5148072"/>
            <a:ext cx="1453896" cy="310896"/>
          </a:xfrm>
          <a:prstGeom prst="rect">
            <a:avLst/>
          </a:prstGeom>
          <a:noFill/>
        </p:spPr>
        <p:txBody>
          <a:bodyPr wrap="square" anchor="ctr" lIns="36576" rIns="36576" tIns="0" bIns="0">
            <a:spAutoFit/>
          </a:bodyPr>
          <a:lstStyle/>
          <a:p>
            <a:pPr algn="l">
              <a:spcAft>
                <a:spcPts val="0"/>
              </a:spcAft>
            </a:pPr>
            <a:r>
              <a:rPr sz="1200" b="1">
                <a:solidFill>
                  <a:srgbClr val="1A1A1A"/>
                </a:solidFill>
                <a:latin typeface="Calibri"/>
                <a:ea typeface="맑은 고딕"/>
                <a:cs typeface="Calibri"/>
              </a:rPr>
              <a:t>Abrasive</a:t>
            </a:r>
          </a:p>
        </p:txBody>
      </p:sp>
      <p:sp>
        <p:nvSpPr>
          <p:cNvPr id="20" name="Rectangle 19"/>
          <p:cNvSpPr/>
          <p:nvPr/>
        </p:nvSpPr>
        <p:spPr>
          <a:xfrm>
            <a:off x="7845552" y="5148072"/>
            <a:ext cx="3840480" cy="310896"/>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18704" y="5148072"/>
            <a:ext cx="3694176" cy="310896"/>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Hard particles cut — scoring</a:t>
            </a:r>
          </a:p>
        </p:txBody>
      </p:sp>
      <p:sp>
        <p:nvSpPr>
          <p:cNvPr id="22" name="Rectangle 21"/>
          <p:cNvSpPr/>
          <p:nvPr/>
        </p:nvSpPr>
        <p:spPr>
          <a:xfrm>
            <a:off x="6245352" y="5458968"/>
            <a:ext cx="1600200" cy="310896"/>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5458968"/>
            <a:ext cx="1453896" cy="310896"/>
          </a:xfrm>
          <a:prstGeom prst="rect">
            <a:avLst/>
          </a:prstGeom>
          <a:noFill/>
        </p:spPr>
        <p:txBody>
          <a:bodyPr wrap="square" anchor="ctr" lIns="36576" rIns="36576" tIns="0" bIns="0">
            <a:spAutoFit/>
          </a:bodyPr>
          <a:lstStyle/>
          <a:p>
            <a:pPr algn="l">
              <a:spcAft>
                <a:spcPts val="0"/>
              </a:spcAft>
            </a:pPr>
            <a:r>
              <a:rPr sz="1200" b="1">
                <a:solidFill>
                  <a:srgbClr val="1A1A1A"/>
                </a:solidFill>
                <a:latin typeface="Calibri"/>
                <a:ea typeface="맑은 고딕"/>
                <a:cs typeface="Calibri"/>
              </a:rPr>
              <a:t>Corrosive</a:t>
            </a:r>
          </a:p>
        </p:txBody>
      </p:sp>
      <p:sp>
        <p:nvSpPr>
          <p:cNvPr id="24" name="Rectangle 23"/>
          <p:cNvSpPr/>
          <p:nvPr/>
        </p:nvSpPr>
        <p:spPr>
          <a:xfrm>
            <a:off x="7845552" y="5458968"/>
            <a:ext cx="3840480" cy="310896"/>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18704" y="5458968"/>
            <a:ext cx="3694176" cy="310896"/>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Acid and water attack the surface</a:t>
            </a:r>
          </a:p>
        </p:txBody>
      </p:sp>
      <p:sp>
        <p:nvSpPr>
          <p:cNvPr id="26" name="Rectangle 25"/>
          <p:cNvSpPr/>
          <p:nvPr/>
        </p:nvSpPr>
        <p:spPr>
          <a:xfrm>
            <a:off x="6245352" y="5769864"/>
            <a:ext cx="1600200" cy="310896"/>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18504" y="5769864"/>
            <a:ext cx="1453896" cy="310896"/>
          </a:xfrm>
          <a:prstGeom prst="rect">
            <a:avLst/>
          </a:prstGeom>
          <a:noFill/>
        </p:spPr>
        <p:txBody>
          <a:bodyPr wrap="square" anchor="ctr" lIns="36576" rIns="36576" tIns="0" bIns="0">
            <a:spAutoFit/>
          </a:bodyPr>
          <a:lstStyle/>
          <a:p>
            <a:pPr algn="l">
              <a:spcAft>
                <a:spcPts val="0"/>
              </a:spcAft>
            </a:pPr>
            <a:r>
              <a:rPr sz="1200" b="1">
                <a:solidFill>
                  <a:srgbClr val="1A1A1A"/>
                </a:solidFill>
                <a:latin typeface="Calibri"/>
                <a:ea typeface="맑은 고딕"/>
                <a:cs typeface="Calibri"/>
              </a:rPr>
              <a:t>Surface fatigue</a:t>
            </a:r>
          </a:p>
        </p:txBody>
      </p:sp>
      <p:sp>
        <p:nvSpPr>
          <p:cNvPr id="28" name="Rectangle 27"/>
          <p:cNvSpPr/>
          <p:nvPr/>
        </p:nvSpPr>
        <p:spPr>
          <a:xfrm>
            <a:off x="7845552" y="5769864"/>
            <a:ext cx="3840480" cy="310896"/>
          </a:xfrm>
          <a:prstGeom prst="rect">
            <a:avLst/>
          </a:prstGeom>
          <a:solidFill>
            <a:srgbClr val="FFFFFF"/>
          </a:solidFill>
          <a:ln w="9525">
            <a:solidFill>
              <a:srgbClr val="D0D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8704" y="5769864"/>
            <a:ext cx="3694176" cy="310896"/>
          </a:xfrm>
          <a:prstGeom prst="rect">
            <a:avLst/>
          </a:prstGeom>
          <a:noFill/>
        </p:spPr>
        <p:txBody>
          <a:bodyPr wrap="square" anchor="ctr" lIns="36576" rIns="36576" tIns="0" bIns="0">
            <a:spAutoFit/>
          </a:bodyPr>
          <a:lstStyle/>
          <a:p>
            <a:pPr algn="l">
              <a:spcAft>
                <a:spcPts val="0"/>
              </a:spcAft>
            </a:pPr>
            <a:r>
              <a:rPr sz="1200" b="0">
                <a:solidFill>
                  <a:srgbClr val="1A1A1A"/>
                </a:solidFill>
                <a:latin typeface="Calibri"/>
                <a:ea typeface="맑은 고딕"/>
                <a:cs typeface="Calibri"/>
              </a:rPr>
              <a:t>Repeated load — micropitting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17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749808"/>
          </a:xfrm>
          <a:prstGeom prst="rect">
            <a:avLst/>
          </a:prstGeom>
          <a:noFill/>
        </p:spPr>
        <p:txBody>
          <a:bodyPr wrap="square" anchor="ctr" lIns="36576" rIns="36576" tIns="0" bIns="0">
            <a:spAutoFit/>
          </a:bodyPr>
          <a:lstStyle/>
          <a:p>
            <a:pPr algn="l">
              <a:spcAft>
                <a:spcPts val="0"/>
              </a:spcAft>
            </a:pPr>
            <a:r>
              <a:rPr sz="2500" b="1">
                <a:solidFill>
                  <a:srgbClr val="FFFFFF"/>
                </a:solidFill>
                <a:latin typeface="Calibri"/>
                <a:ea typeface="맑은 고딕"/>
                <a:cs typeface="Calibri"/>
              </a:rPr>
              <a:t>Oil Analysis and the Programme</a:t>
            </a:r>
          </a:p>
        </p:txBody>
      </p:sp>
      <p:sp>
        <p:nvSpPr>
          <p:cNvPr id="4" name="TextBox 3"/>
          <p:cNvSpPr txBox="1"/>
          <p:nvPr/>
        </p:nvSpPr>
        <p:spPr>
          <a:xfrm>
            <a:off x="502920" y="6473952"/>
            <a:ext cx="11155680" cy="274320"/>
          </a:xfrm>
          <a:prstGeom prst="rect">
            <a:avLst/>
          </a:prstGeom>
          <a:noFill/>
        </p:spPr>
        <p:txBody>
          <a:bodyPr wrap="square" anchor="t" lIns="36576" rIns="36576" tIns="0" bIns="0">
            <a:spAutoFit/>
          </a:bodyPr>
          <a:lstStyle/>
          <a:p>
            <a:pPr algn="l">
              <a:spcAft>
                <a:spcPts val="0"/>
              </a:spcAft>
            </a:pPr>
            <a:r>
              <a:rPr sz="1000" b="0">
                <a:solidFill>
                  <a:srgbClr val="8C8C8C"/>
                </a:solidFill>
                <a:latin typeface="Calibri"/>
                <a:ea typeface="맑은 고딕"/>
                <a:cs typeface="Calibri"/>
              </a:rPr>
              <a:t>Classified as Internal - This content is proprietary information intended for employees and partners only.</a:t>
            </a:r>
          </a:p>
        </p:txBody>
      </p:sp>
      <p:sp>
        <p:nvSpPr>
          <p:cNvPr id="5" name="Rectangle 4"/>
          <p:cNvSpPr/>
          <p:nvPr/>
        </p:nvSpPr>
        <p:spPr>
          <a:xfrm>
            <a:off x="502920"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ICP metals — where each element points</a:t>
            </a:r>
          </a:p>
        </p:txBody>
      </p:sp>
      <p:pic>
        <p:nvPicPr>
          <p:cNvPr id="7" name="Picture 6" descr="image14.png"/>
          <p:cNvPicPr>
            <a:picLocks noChangeAspect="1"/>
          </p:cNvPicPr>
          <p:nvPr/>
        </p:nvPicPr>
        <p:blipFill>
          <a:blip r:embed="rId2"/>
          <a:stretch>
            <a:fillRect/>
          </a:stretch>
        </p:blipFill>
        <p:spPr>
          <a:xfrm>
            <a:off x="502920" y="1783080"/>
            <a:ext cx="5440680" cy="3350284"/>
          </a:xfrm>
          <a:prstGeom prst="rect">
            <a:avLst/>
          </a:prstGeom>
        </p:spPr>
      </p:pic>
      <p:sp>
        <p:nvSpPr>
          <p:cNvPr id="8" name="TextBox 7"/>
          <p:cNvSpPr txBox="1"/>
          <p:nvPr/>
        </p:nvSpPr>
        <p:spPr>
          <a:xfrm>
            <a:off x="502920" y="5239512"/>
            <a:ext cx="5440680" cy="1188720"/>
          </a:xfrm>
          <a:prstGeom prst="rect">
            <a:avLst/>
          </a:prstGeom>
          <a:noFill/>
        </p:spPr>
        <p:txBody>
          <a:bodyPr wrap="square" anchor="t" lIns="36576" rIns="36576" tIns="0" bIns="0">
            <a:spAutoFit/>
          </a:bodyPr>
          <a:lstStyle/>
          <a:p>
            <a:pPr algn="l">
              <a:lnSpc>
                <a:spcPct val="125000"/>
              </a:lnSpc>
              <a:spcAft>
                <a:spcPts val="800"/>
              </a:spcAft>
            </a:pPr>
            <a:r>
              <a:rPr sz="1250" b="0">
                <a:solidFill>
                  <a:srgbClr val="1A1A1A"/>
                </a:solidFill>
                <a:latin typeface="Calibri"/>
                <a:ea typeface="맑은 고딕"/>
                <a:cs typeface="Calibri"/>
              </a:rPr>
              <a:t>Sampling decides the result. Use a clean bottle, and take the sample where the answer is — after the pump and before the filter when hunting pump wear.</a:t>
            </a:r>
          </a:p>
          <a:p>
            <a:pPr algn="l">
              <a:lnSpc>
                <a:spcPct val="120000"/>
              </a:lnSpc>
              <a:spcAft>
                <a:spcPts val="0"/>
              </a:spcAft>
            </a:pPr>
            <a:r>
              <a:rPr sz="1250" b="1">
                <a:solidFill>
                  <a:srgbClr val="1F6F3D"/>
                </a:solidFill>
                <a:latin typeface="Calibri"/>
                <a:ea typeface="맑은 고딕"/>
                <a:cs typeface="Calibri"/>
              </a:rPr>
              <a:t>Ca, Mg, Zn and P are usually additives, not wear.</a:t>
            </a:r>
          </a:p>
        </p:txBody>
      </p:sp>
      <p:sp>
        <p:nvSpPr>
          <p:cNvPr id="9" name="Rectangle 8"/>
          <p:cNvSpPr/>
          <p:nvPr/>
        </p:nvSpPr>
        <p:spPr>
          <a:xfrm>
            <a:off x="6245352" y="1325880"/>
            <a:ext cx="5440680" cy="329184"/>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5257800" cy="329184"/>
          </a:xfrm>
          <a:prstGeom prst="rect">
            <a:avLst/>
          </a:prstGeom>
          <a:noFill/>
        </p:spPr>
        <p:txBody>
          <a:bodyPr wrap="square" anchor="ctr" lIns="36576" rIns="36576" tIns="0" bIns="0">
            <a:spAutoFit/>
          </a:bodyPr>
          <a:lstStyle/>
          <a:p>
            <a:pPr algn="l">
              <a:spcAft>
                <a:spcPts val="0"/>
              </a:spcAft>
            </a:pPr>
            <a:r>
              <a:rPr sz="1200" b="1">
                <a:solidFill>
                  <a:srgbClr val="333333"/>
                </a:solidFill>
                <a:latin typeface="Calibri"/>
                <a:ea typeface="맑은 고딕"/>
                <a:cs typeface="Calibri"/>
              </a:rPr>
              <a:t>Relubrication — little and often</a:t>
            </a:r>
          </a:p>
        </p:txBody>
      </p:sp>
      <p:pic>
        <p:nvPicPr>
          <p:cNvPr id="11" name="Picture 10" descr="trim_image22.png"/>
          <p:cNvPicPr>
            <a:picLocks noChangeAspect="1"/>
          </p:cNvPicPr>
          <p:nvPr/>
        </p:nvPicPr>
        <p:blipFill>
          <a:blip r:embed="rId3"/>
          <a:stretch>
            <a:fillRect/>
          </a:stretch>
        </p:blipFill>
        <p:spPr>
          <a:xfrm>
            <a:off x="6684264" y="1783080"/>
            <a:ext cx="4572000" cy="1853738"/>
          </a:xfrm>
          <a:prstGeom prst="rect">
            <a:avLst/>
          </a:prstGeom>
        </p:spPr>
      </p:pic>
      <p:sp>
        <p:nvSpPr>
          <p:cNvPr id="12" name="TextBox 11"/>
          <p:cNvSpPr txBox="1"/>
          <p:nvPr/>
        </p:nvSpPr>
        <p:spPr>
          <a:xfrm>
            <a:off x="6245352" y="4288536"/>
            <a:ext cx="5440680" cy="1097280"/>
          </a:xfrm>
          <a:prstGeom prst="rect">
            <a:avLst/>
          </a:prstGeom>
          <a:noFill/>
        </p:spPr>
        <p:txBody>
          <a:bodyPr wrap="square" anchor="t" lIns="36576" rIns="36576" tIns="0" bIns="0">
            <a:spAutoFit/>
          </a:bodyPr>
          <a:lstStyle/>
          <a:p>
            <a:pPr algn="l">
              <a:lnSpc>
                <a:spcPct val="125000"/>
              </a:lnSpc>
              <a:spcAft>
                <a:spcPts val="0"/>
              </a:spcAft>
            </a:pPr>
            <a:r>
              <a:rPr sz="1250" b="0">
                <a:solidFill>
                  <a:srgbClr val="1A1A1A"/>
                </a:solidFill>
                <a:latin typeface="Calibri"/>
                <a:ea typeface="맑은 고딕"/>
                <a:cs typeface="Calibri"/>
              </a:rPr>
              <a:t>Manual greasing swings between too much and too little. Small, frequent doses hold the safe band — which is what automatic lubricators do well, provided somebody still checks them.</a:t>
            </a:r>
          </a:p>
        </p:txBody>
      </p:sp>
      <p:sp>
        <p:nvSpPr>
          <p:cNvPr id="13" name="Rectangle 12"/>
          <p:cNvSpPr/>
          <p:nvPr/>
        </p:nvSpPr>
        <p:spPr>
          <a:xfrm>
            <a:off x="6245352" y="5349240"/>
            <a:ext cx="5440680" cy="685800"/>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5349240"/>
            <a:ext cx="5074920" cy="685800"/>
          </a:xfrm>
          <a:prstGeom prst="rect">
            <a:avLst/>
          </a:prstGeom>
          <a:noFill/>
        </p:spPr>
        <p:txBody>
          <a:bodyPr wrap="square" anchor="ctr" lIns="36576" rIns="36576" tIns="0" bIns="0">
            <a:spAutoFit/>
          </a:bodyPr>
          <a:lstStyle/>
          <a:p>
            <a:pPr algn="l">
              <a:lnSpc>
                <a:spcPct val="125000"/>
              </a:lnSpc>
              <a:spcAft>
                <a:spcPts val="0"/>
              </a:spcAft>
            </a:pPr>
            <a:r>
              <a:rPr sz="1600" b="1">
                <a:solidFill>
                  <a:srgbClr val="172A4A"/>
                </a:solidFill>
                <a:latin typeface="Calibri"/>
                <a:ea typeface="맑은 고딕"/>
                <a:cs typeface="Calibri"/>
              </a:rPr>
              <a:t>Keep it clean, keep it cool, keep it dry.</a:t>
            </a:r>
          </a:p>
        </p:txBody>
      </p:sp>
      <p:sp>
        <p:nvSpPr>
          <p:cNvPr id="15" name="TextBox 14"/>
          <p:cNvSpPr txBox="1"/>
          <p:nvPr/>
        </p:nvSpPr>
        <p:spPr>
          <a:xfrm>
            <a:off x="6245352" y="6099048"/>
            <a:ext cx="5440680" cy="292608"/>
          </a:xfrm>
          <a:prstGeom prst="rect">
            <a:avLst/>
          </a:prstGeom>
          <a:noFill/>
        </p:spPr>
        <p:txBody>
          <a:bodyPr wrap="square" anchor="t" lIns="36576" rIns="36576" tIns="0" bIns="0">
            <a:spAutoFit/>
          </a:bodyPr>
          <a:lstStyle/>
          <a:p>
            <a:pPr algn="l">
              <a:lnSpc>
                <a:spcPct val="120000"/>
              </a:lnSpc>
              <a:spcAft>
                <a:spcPts val="0"/>
              </a:spcAft>
            </a:pPr>
            <a:r>
              <a:rPr sz="1200" b="0">
                <a:solidFill>
                  <a:srgbClr val="595959"/>
                </a:solidFill>
                <a:latin typeface="Calibri"/>
                <a:ea typeface="맑은 고딕"/>
                <a:cs typeface="Calibri"/>
              </a:rPr>
              <a:t>Check the delivery against the order, and do not store drums hot.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